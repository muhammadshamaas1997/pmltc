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Override1.xml" ContentType="application/vnd.openxmlformats-officedocument.themeOverrid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Override2.xml" ContentType="application/vnd.openxmlformats-officedocument.themeOverrid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Override3.xml" ContentType="application/vnd.openxmlformats-officedocument.themeOverrid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1.xml" ContentType="application/vnd.openxmlformats-officedocument.presentationml.tags+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3" r:id="rId1"/>
    <p:sldMasterId id="2147483666" r:id="rId2"/>
    <p:sldMasterId id="2147483681" r:id="rId3"/>
  </p:sldMasterIdLst>
  <p:notesMasterIdLst>
    <p:notesMasterId r:id="rId61"/>
  </p:notesMasterIdLst>
  <p:handoutMasterIdLst>
    <p:handoutMasterId r:id="rId62"/>
  </p:handoutMasterIdLst>
  <p:sldIdLst>
    <p:sldId id="352" r:id="rId4"/>
    <p:sldId id="776" r:id="rId5"/>
    <p:sldId id="778" r:id="rId6"/>
    <p:sldId id="779" r:id="rId7"/>
    <p:sldId id="780" r:id="rId8"/>
    <p:sldId id="782" r:id="rId9"/>
    <p:sldId id="781" r:id="rId10"/>
    <p:sldId id="783" r:id="rId11"/>
    <p:sldId id="784" r:id="rId12"/>
    <p:sldId id="785" r:id="rId13"/>
    <p:sldId id="787" r:id="rId14"/>
    <p:sldId id="788" r:id="rId15"/>
    <p:sldId id="789" r:id="rId16"/>
    <p:sldId id="791" r:id="rId17"/>
    <p:sldId id="846" r:id="rId18"/>
    <p:sldId id="795" r:id="rId19"/>
    <p:sldId id="796" r:id="rId20"/>
    <p:sldId id="797" r:id="rId21"/>
    <p:sldId id="799" r:id="rId22"/>
    <p:sldId id="801" r:id="rId23"/>
    <p:sldId id="805" r:id="rId24"/>
    <p:sldId id="806" r:id="rId25"/>
    <p:sldId id="807" r:id="rId26"/>
    <p:sldId id="808" r:id="rId27"/>
    <p:sldId id="809" r:id="rId28"/>
    <p:sldId id="813" r:id="rId29"/>
    <p:sldId id="815" r:id="rId30"/>
    <p:sldId id="816" r:id="rId31"/>
    <p:sldId id="821" r:id="rId32"/>
    <p:sldId id="822" r:id="rId33"/>
    <p:sldId id="834" r:id="rId34"/>
    <p:sldId id="387" r:id="rId35"/>
    <p:sldId id="388" r:id="rId36"/>
    <p:sldId id="389" r:id="rId37"/>
    <p:sldId id="390" r:id="rId38"/>
    <p:sldId id="757" r:id="rId39"/>
    <p:sldId id="396" r:id="rId40"/>
    <p:sldId id="756" r:id="rId41"/>
    <p:sldId id="868" r:id="rId42"/>
    <p:sldId id="876" r:id="rId43"/>
    <p:sldId id="877" r:id="rId44"/>
    <p:sldId id="878" r:id="rId45"/>
    <p:sldId id="879" r:id="rId46"/>
    <p:sldId id="880" r:id="rId47"/>
    <p:sldId id="881" r:id="rId48"/>
    <p:sldId id="882" r:id="rId49"/>
    <p:sldId id="883" r:id="rId50"/>
    <p:sldId id="884" r:id="rId51"/>
    <p:sldId id="885" r:id="rId52"/>
    <p:sldId id="893" r:id="rId53"/>
    <p:sldId id="894" r:id="rId54"/>
    <p:sldId id="887" r:id="rId55"/>
    <p:sldId id="888" r:id="rId56"/>
    <p:sldId id="889" r:id="rId57"/>
    <p:sldId id="890" r:id="rId58"/>
    <p:sldId id="891" r:id="rId59"/>
    <p:sldId id="775" r:id="rId60"/>
  </p:sldIdLst>
  <p:sldSz cx="9144000" cy="6858000" type="screen4x3"/>
  <p:notesSz cx="6669088" cy="9928225"/>
  <p:defaultTextStyle>
    <a:defPPr>
      <a:defRPr lang="en-GB"/>
    </a:defPPr>
    <a:lvl1pPr algn="ctr" rtl="0" eaLnBrk="0" fontAlgn="base" hangingPunct="0">
      <a:spcBef>
        <a:spcPct val="0"/>
      </a:spcBef>
      <a:spcAft>
        <a:spcPct val="0"/>
      </a:spcAft>
      <a:defRPr kern="1200">
        <a:solidFill>
          <a:schemeClr val="tx1"/>
        </a:solidFill>
        <a:latin typeface="SEOptimist" pitchFamily="2" charset="0"/>
        <a:ea typeface="+mn-ea"/>
        <a:cs typeface="+mn-cs"/>
      </a:defRPr>
    </a:lvl1pPr>
    <a:lvl2pPr marL="457200" algn="ctr" rtl="0" eaLnBrk="0" fontAlgn="base" hangingPunct="0">
      <a:spcBef>
        <a:spcPct val="0"/>
      </a:spcBef>
      <a:spcAft>
        <a:spcPct val="0"/>
      </a:spcAft>
      <a:defRPr kern="1200">
        <a:solidFill>
          <a:schemeClr val="tx1"/>
        </a:solidFill>
        <a:latin typeface="SEOptimist" pitchFamily="2" charset="0"/>
        <a:ea typeface="+mn-ea"/>
        <a:cs typeface="+mn-cs"/>
      </a:defRPr>
    </a:lvl2pPr>
    <a:lvl3pPr marL="914400" algn="ctr" rtl="0" eaLnBrk="0" fontAlgn="base" hangingPunct="0">
      <a:spcBef>
        <a:spcPct val="0"/>
      </a:spcBef>
      <a:spcAft>
        <a:spcPct val="0"/>
      </a:spcAft>
      <a:defRPr kern="1200">
        <a:solidFill>
          <a:schemeClr val="tx1"/>
        </a:solidFill>
        <a:latin typeface="SEOptimist" pitchFamily="2" charset="0"/>
        <a:ea typeface="+mn-ea"/>
        <a:cs typeface="+mn-cs"/>
      </a:defRPr>
    </a:lvl3pPr>
    <a:lvl4pPr marL="1371600" algn="ctr" rtl="0" eaLnBrk="0" fontAlgn="base" hangingPunct="0">
      <a:spcBef>
        <a:spcPct val="0"/>
      </a:spcBef>
      <a:spcAft>
        <a:spcPct val="0"/>
      </a:spcAft>
      <a:defRPr kern="1200">
        <a:solidFill>
          <a:schemeClr val="tx1"/>
        </a:solidFill>
        <a:latin typeface="SEOptimist" pitchFamily="2" charset="0"/>
        <a:ea typeface="+mn-ea"/>
        <a:cs typeface="+mn-cs"/>
      </a:defRPr>
    </a:lvl4pPr>
    <a:lvl5pPr marL="1828800" algn="ctr" rtl="0" eaLnBrk="0" fontAlgn="base" hangingPunct="0">
      <a:spcBef>
        <a:spcPct val="0"/>
      </a:spcBef>
      <a:spcAft>
        <a:spcPct val="0"/>
      </a:spcAft>
      <a:defRPr kern="1200">
        <a:solidFill>
          <a:schemeClr val="tx1"/>
        </a:solidFill>
        <a:latin typeface="SEOptimist" pitchFamily="2" charset="0"/>
        <a:ea typeface="+mn-ea"/>
        <a:cs typeface="+mn-cs"/>
      </a:defRPr>
    </a:lvl5pPr>
    <a:lvl6pPr marL="2286000" algn="l" defTabSz="914400" rtl="0" eaLnBrk="1" latinLnBrk="0" hangingPunct="1">
      <a:defRPr kern="1200">
        <a:solidFill>
          <a:schemeClr val="tx1"/>
        </a:solidFill>
        <a:latin typeface="SEOptimist" pitchFamily="2" charset="0"/>
        <a:ea typeface="+mn-ea"/>
        <a:cs typeface="+mn-cs"/>
      </a:defRPr>
    </a:lvl6pPr>
    <a:lvl7pPr marL="2743200" algn="l" defTabSz="914400" rtl="0" eaLnBrk="1" latinLnBrk="0" hangingPunct="1">
      <a:defRPr kern="1200">
        <a:solidFill>
          <a:schemeClr val="tx1"/>
        </a:solidFill>
        <a:latin typeface="SEOptimist" pitchFamily="2" charset="0"/>
        <a:ea typeface="+mn-ea"/>
        <a:cs typeface="+mn-cs"/>
      </a:defRPr>
    </a:lvl7pPr>
    <a:lvl8pPr marL="3200400" algn="l" defTabSz="914400" rtl="0" eaLnBrk="1" latinLnBrk="0" hangingPunct="1">
      <a:defRPr kern="1200">
        <a:solidFill>
          <a:schemeClr val="tx1"/>
        </a:solidFill>
        <a:latin typeface="SEOptimist" pitchFamily="2" charset="0"/>
        <a:ea typeface="+mn-ea"/>
        <a:cs typeface="+mn-cs"/>
      </a:defRPr>
    </a:lvl8pPr>
    <a:lvl9pPr marL="3657600" algn="l" defTabSz="914400" rtl="0" eaLnBrk="1" latinLnBrk="0" hangingPunct="1">
      <a:defRPr kern="1200">
        <a:solidFill>
          <a:schemeClr val="tx1"/>
        </a:solidFill>
        <a:latin typeface="SEOptimist" pitchFamily="2" charset="0"/>
        <a:ea typeface="+mn-ea"/>
        <a:cs typeface="+mn-cs"/>
      </a:defRPr>
    </a:lvl9pPr>
  </p:defaultTextStyle>
  <p:extLst>
    <p:ext uri="{EFAFB233-063F-42B5-8137-9DF3F51BA10A}">
      <p15:sldGuideLst xmlns:p15="http://schemas.microsoft.com/office/powerpoint/2012/main">
        <p15:guide id="1" orient="horz" pos="3407">
          <p15:clr>
            <a:srgbClr val="A4A3A4"/>
          </p15:clr>
        </p15:guide>
        <p15:guide id="2" pos="663">
          <p15:clr>
            <a:srgbClr val="A4A3A4"/>
          </p15:clr>
        </p15:guide>
      </p15:sldGuideLst>
    </p:ext>
    <p:ext uri="{2D200454-40CA-4A62-9FC3-DE9A4176ACB9}">
      <p15:notesGuideLst xmlns:p15="http://schemas.microsoft.com/office/powerpoint/2012/main">
        <p15:guide id="1" orient="horz" pos="3127">
          <p15:clr>
            <a:srgbClr val="A4A3A4"/>
          </p15:clr>
        </p15:guide>
        <p15:guide id="2" pos="21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7F00"/>
    <a:srgbClr val="87D200"/>
    <a:srgbClr val="FFFF99"/>
    <a:srgbClr val="FBFDFF"/>
    <a:srgbClr val="FFFFFF"/>
    <a:srgbClr val="4FA600"/>
    <a:srgbClr val="626469"/>
    <a:srgbClr val="62C7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54" autoAdjust="0"/>
    <p:restoredTop sz="95084" autoAdjust="0"/>
  </p:normalViewPr>
  <p:slideViewPr>
    <p:cSldViewPr snapToGrid="0">
      <p:cViewPr varScale="1">
        <p:scale>
          <a:sx n="82" d="100"/>
          <a:sy n="82" d="100"/>
        </p:scale>
        <p:origin x="1709" y="58"/>
      </p:cViewPr>
      <p:guideLst>
        <p:guide orient="horz" pos="3407"/>
        <p:guide pos="66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snapToGrid="0">
      <p:cViewPr>
        <p:scale>
          <a:sx n="100" d="100"/>
          <a:sy n="100" d="100"/>
        </p:scale>
        <p:origin x="-924" y="-72"/>
      </p:cViewPr>
      <p:guideLst>
        <p:guide orient="horz" pos="3127"/>
        <p:guide pos="210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8987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998" tIns="45999" rIns="91998" bIns="45999" numCol="1" anchor="t" anchorCtr="0" compatLnSpc="1">
            <a:prstTxWarp prst="textNoShape">
              <a:avLst/>
            </a:prstTxWarp>
            <a:spAutoFit/>
          </a:bodyPr>
          <a:lstStyle>
            <a:lvl1pPr algn="l" defTabSz="920750">
              <a:defRPr sz="1200" noProof="1">
                <a:latin typeface="Arial" panose="020B0604020202020204" pitchFamily="34" charset="0"/>
              </a:defRPr>
            </a:lvl1pPr>
          </a:lstStyle>
          <a:p>
            <a:endParaRPr lang="en-US" altLang="en-US"/>
          </a:p>
        </p:txBody>
      </p:sp>
      <p:sp>
        <p:nvSpPr>
          <p:cNvPr id="29699" name="Rectangle 3"/>
          <p:cNvSpPr>
            <a:spLocks noGrp="1" noChangeArrowheads="1"/>
          </p:cNvSpPr>
          <p:nvPr>
            <p:ph type="dt" sz="quarter" idx="1"/>
          </p:nvPr>
        </p:nvSpPr>
        <p:spPr bwMode="auto">
          <a:xfrm>
            <a:off x="3813175" y="0"/>
            <a:ext cx="28225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998" tIns="45999" rIns="91998" bIns="45999" numCol="1" anchor="t" anchorCtr="0" compatLnSpc="1">
            <a:prstTxWarp prst="textNoShape">
              <a:avLst/>
            </a:prstTxWarp>
            <a:spAutoFit/>
          </a:bodyPr>
          <a:lstStyle>
            <a:lvl1pPr algn="r" defTabSz="920750">
              <a:defRPr sz="1200" noProof="1">
                <a:latin typeface="Arial" panose="020B0604020202020204" pitchFamily="34" charset="0"/>
              </a:defRPr>
            </a:lvl1pPr>
          </a:lstStyle>
          <a:p>
            <a:endParaRPr lang="en-US" altLang="en-US"/>
          </a:p>
        </p:txBody>
      </p:sp>
      <p:sp>
        <p:nvSpPr>
          <p:cNvPr id="29700" name="Rectangle 4"/>
          <p:cNvSpPr>
            <a:spLocks noGrp="1" noChangeArrowheads="1"/>
          </p:cNvSpPr>
          <p:nvPr>
            <p:ph type="ftr" sz="quarter" idx="2"/>
          </p:nvPr>
        </p:nvSpPr>
        <p:spPr bwMode="auto">
          <a:xfrm>
            <a:off x="0" y="9650413"/>
            <a:ext cx="28987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998" tIns="45999" rIns="91998" bIns="45999" numCol="1" anchor="b" anchorCtr="0" compatLnSpc="1">
            <a:prstTxWarp prst="textNoShape">
              <a:avLst/>
            </a:prstTxWarp>
            <a:spAutoFit/>
          </a:bodyPr>
          <a:lstStyle>
            <a:lvl1pPr algn="l" defTabSz="920750">
              <a:defRPr sz="1200" noProof="1">
                <a:latin typeface="Arial" panose="020B0604020202020204" pitchFamily="34" charset="0"/>
              </a:defRPr>
            </a:lvl1pPr>
          </a:lstStyle>
          <a:p>
            <a:endParaRPr lang="en-US" altLang="en-US"/>
          </a:p>
        </p:txBody>
      </p:sp>
      <p:sp>
        <p:nvSpPr>
          <p:cNvPr id="29701" name="Rectangle 5"/>
          <p:cNvSpPr>
            <a:spLocks noGrp="1" noChangeArrowheads="1"/>
          </p:cNvSpPr>
          <p:nvPr>
            <p:ph type="sldNum" sz="quarter" idx="3"/>
          </p:nvPr>
        </p:nvSpPr>
        <p:spPr bwMode="auto">
          <a:xfrm>
            <a:off x="3846513" y="9653588"/>
            <a:ext cx="28225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998" tIns="45999" rIns="91998" bIns="45999" numCol="1" anchor="b" anchorCtr="0" compatLnSpc="1">
            <a:prstTxWarp prst="textNoShape">
              <a:avLst/>
            </a:prstTxWarp>
            <a:spAutoFit/>
          </a:bodyPr>
          <a:lstStyle>
            <a:lvl1pPr algn="r" defTabSz="920750">
              <a:defRPr sz="1200" noProof="1">
                <a:latin typeface="Arial" panose="020B0604020202020204" pitchFamily="34" charset="0"/>
              </a:defRPr>
            </a:lvl1pPr>
          </a:lstStyle>
          <a:p>
            <a:fld id="{1A48F8EE-CDDC-4E63-BAF0-3381A987BB41}" type="slidenum">
              <a:rPr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8987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998" tIns="45999" rIns="91998" bIns="45999" numCol="1" anchor="t" anchorCtr="0" compatLnSpc="1">
            <a:prstTxWarp prst="textNoShape">
              <a:avLst/>
            </a:prstTxWarp>
          </a:bodyPr>
          <a:lstStyle>
            <a:lvl1pPr algn="l" defTabSz="920750">
              <a:defRPr sz="1200" noProof="1">
                <a:latin typeface="FuturaA Md BT" pitchFamily="34" charset="0"/>
              </a:defRPr>
            </a:lvl1pPr>
          </a:lstStyle>
          <a:p>
            <a:endParaRPr lang="en-US" altLang="en-US"/>
          </a:p>
        </p:txBody>
      </p:sp>
      <p:sp>
        <p:nvSpPr>
          <p:cNvPr id="7171" name="Rectangle 3"/>
          <p:cNvSpPr>
            <a:spLocks noGrp="1" noChangeArrowheads="1"/>
          </p:cNvSpPr>
          <p:nvPr>
            <p:ph type="dt" idx="1"/>
          </p:nvPr>
        </p:nvSpPr>
        <p:spPr bwMode="auto">
          <a:xfrm>
            <a:off x="3813175" y="0"/>
            <a:ext cx="28225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998" tIns="45999" rIns="91998" bIns="45999" numCol="1" anchor="t" anchorCtr="0" compatLnSpc="1">
            <a:prstTxWarp prst="textNoShape">
              <a:avLst/>
            </a:prstTxWarp>
          </a:bodyPr>
          <a:lstStyle>
            <a:lvl1pPr algn="r" defTabSz="920750">
              <a:defRPr sz="1200" noProof="1">
                <a:latin typeface="FuturaA Md BT" pitchFamily="34" charset="0"/>
              </a:defRPr>
            </a:lvl1pPr>
          </a:lstStyle>
          <a:p>
            <a:endParaRPr lang="en-US" altLang="en-US"/>
          </a:p>
        </p:txBody>
      </p:sp>
      <p:sp>
        <p:nvSpPr>
          <p:cNvPr id="7172" name="Rectangle 4"/>
          <p:cNvSpPr>
            <a:spLocks noGrp="1" noRot="1" noChangeAspect="1" noChangeArrowheads="1" noTextEdit="1"/>
          </p:cNvSpPr>
          <p:nvPr>
            <p:ph type="sldImg" idx="2"/>
          </p:nvPr>
        </p:nvSpPr>
        <p:spPr bwMode="auto">
          <a:xfrm>
            <a:off x="895350" y="769938"/>
            <a:ext cx="4922838" cy="369252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5"/>
          <p:cNvSpPr>
            <a:spLocks noGrp="1" noChangeArrowheads="1"/>
          </p:cNvSpPr>
          <p:nvPr>
            <p:ph type="body" sz="quarter" idx="3"/>
          </p:nvPr>
        </p:nvSpPr>
        <p:spPr bwMode="auto">
          <a:xfrm>
            <a:off x="915988" y="4692650"/>
            <a:ext cx="4879975" cy="446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998" tIns="45999" rIns="91998" bIns="45999" numCol="1" anchor="t" anchorCtr="0" compatLnSpc="1">
            <a:prstTxWarp prst="textNoShape">
              <a:avLst/>
            </a:prstTxWarp>
          </a:bodyPr>
          <a:lstStyle/>
          <a:p>
            <a:pPr lvl="0"/>
            <a:r>
              <a:rPr lang="en-US" altLang="en-US" noProof="1"/>
              <a:t>Click to edit Master text styles</a:t>
            </a:r>
          </a:p>
          <a:p>
            <a:pPr lvl="1"/>
            <a:r>
              <a:rPr lang="en-US" altLang="en-US" noProof="1"/>
              <a:t>Second level</a:t>
            </a:r>
          </a:p>
          <a:p>
            <a:pPr lvl="2"/>
            <a:r>
              <a:rPr lang="en-US" altLang="en-US" noProof="1"/>
              <a:t>Third level</a:t>
            </a:r>
          </a:p>
          <a:p>
            <a:pPr lvl="3"/>
            <a:r>
              <a:rPr lang="en-US" altLang="en-US" noProof="1"/>
              <a:t>Fourth level</a:t>
            </a:r>
          </a:p>
          <a:p>
            <a:pPr lvl="4"/>
            <a:r>
              <a:rPr lang="en-US" altLang="en-US" noProof="1"/>
              <a:t>Fifth level</a:t>
            </a:r>
          </a:p>
        </p:txBody>
      </p:sp>
      <p:sp>
        <p:nvSpPr>
          <p:cNvPr id="7174" name="Rectangle 6"/>
          <p:cNvSpPr>
            <a:spLocks noGrp="1" noChangeArrowheads="1"/>
          </p:cNvSpPr>
          <p:nvPr>
            <p:ph type="ftr" sz="quarter" idx="4"/>
          </p:nvPr>
        </p:nvSpPr>
        <p:spPr bwMode="auto">
          <a:xfrm>
            <a:off x="0" y="9466263"/>
            <a:ext cx="28987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998" tIns="45999" rIns="91998" bIns="45999" numCol="1" anchor="b" anchorCtr="0" compatLnSpc="1">
            <a:prstTxWarp prst="textNoShape">
              <a:avLst/>
            </a:prstTxWarp>
          </a:bodyPr>
          <a:lstStyle>
            <a:lvl1pPr algn="l" defTabSz="920750">
              <a:defRPr sz="1200" noProof="1">
                <a:latin typeface="FuturaA Md BT" pitchFamily="34" charset="0"/>
              </a:defRPr>
            </a:lvl1pPr>
          </a:lstStyle>
          <a:p>
            <a:endParaRPr lang="en-US" altLang="en-US"/>
          </a:p>
        </p:txBody>
      </p:sp>
      <p:sp>
        <p:nvSpPr>
          <p:cNvPr id="7175" name="Rectangle 7"/>
          <p:cNvSpPr>
            <a:spLocks noGrp="1" noChangeArrowheads="1"/>
          </p:cNvSpPr>
          <p:nvPr>
            <p:ph type="sldNum" sz="quarter" idx="5"/>
          </p:nvPr>
        </p:nvSpPr>
        <p:spPr bwMode="auto">
          <a:xfrm>
            <a:off x="3846513" y="9466263"/>
            <a:ext cx="28225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998" tIns="45999" rIns="91998" bIns="45999" numCol="1" anchor="b" anchorCtr="0" compatLnSpc="1">
            <a:prstTxWarp prst="textNoShape">
              <a:avLst/>
            </a:prstTxWarp>
          </a:bodyPr>
          <a:lstStyle>
            <a:lvl1pPr algn="r" defTabSz="920750">
              <a:defRPr sz="1200" noProof="1">
                <a:latin typeface="FuturaA Md BT" pitchFamily="34" charset="0"/>
              </a:defRPr>
            </a:lvl1pPr>
          </a:lstStyle>
          <a:p>
            <a:fld id="{1680A7B8-DB36-45AA-8736-EC8A6A888890}" type="slidenum">
              <a:rPr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680AEB-A426-46FA-90C5-42ABE0C2B8BE}" type="slidenum">
              <a:rPr altLang="en-US"/>
              <a:pPr/>
              <a:t>1</a:t>
            </a:fld>
            <a:endParaRPr lang="en-US" altLang="en-US"/>
          </a:p>
        </p:txBody>
      </p:sp>
      <p:sp>
        <p:nvSpPr>
          <p:cNvPr id="297986" name="Rectangle 2"/>
          <p:cNvSpPr>
            <a:spLocks noGrp="1" noRot="1" noChangeAspect="1" noChangeArrowheads="1" noTextEdit="1"/>
          </p:cNvSpPr>
          <p:nvPr>
            <p:ph type="sldImg"/>
          </p:nvPr>
        </p:nvSpPr>
        <p:spPr>
          <a:xfrm>
            <a:off x="558800" y="508000"/>
            <a:ext cx="5543550" cy="4157663"/>
          </a:xfrm>
          <a:ln/>
        </p:spPr>
      </p:sp>
      <p:sp>
        <p:nvSpPr>
          <p:cNvPr id="297987" name="Rectangle 3"/>
          <p:cNvSpPr>
            <a:spLocks noGrp="1" noChangeArrowheads="1"/>
          </p:cNvSpPr>
          <p:nvPr>
            <p:ph type="body" idx="1"/>
          </p:nvPr>
        </p:nvSpPr>
        <p:spPr>
          <a:xfrm>
            <a:off x="715963" y="5321300"/>
            <a:ext cx="5297487" cy="3843338"/>
          </a:xfrm>
        </p:spPr>
        <p:txBody>
          <a:bodyPr lIns="87214" tIns="43606" rIns="87214" bIns="43606"/>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961E21-BF3E-4E95-A68E-7193E14DC45C}" type="slidenum">
              <a:rPr lang="en-GB" altLang="en-US"/>
              <a:pPr/>
              <a:t>2</a:t>
            </a:fld>
            <a:endParaRPr lang="en-GB" altLang="en-US"/>
          </a:p>
        </p:txBody>
      </p:sp>
      <p:sp>
        <p:nvSpPr>
          <p:cNvPr id="202754" name="Rectangle 2"/>
          <p:cNvSpPr>
            <a:spLocks noGrp="1" noRot="1" noChangeAspect="1" noChangeArrowheads="1" noTextEdit="1"/>
          </p:cNvSpPr>
          <p:nvPr>
            <p:ph type="sldImg"/>
          </p:nvPr>
        </p:nvSpPr>
        <p:spPr>
          <a:ln/>
        </p:spPr>
      </p:sp>
      <p:sp>
        <p:nvSpPr>
          <p:cNvPr id="2027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5034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1BC209-87E6-4660-9FA7-1FB9E720C5AD}" type="slidenum">
              <a:rPr lang="en-GB" altLang="en-US"/>
              <a:pPr/>
              <a:t>3</a:t>
            </a:fld>
            <a:endParaRPr lang="en-GB" altLang="en-US"/>
          </a:p>
        </p:txBody>
      </p:sp>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086183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5051BF-8B33-49A1-8561-D8B9FFFCC599}" type="slidenum">
              <a:rPr lang="en-GB" altLang="en-US"/>
              <a:pPr/>
              <a:t>4</a:t>
            </a:fld>
            <a:endParaRPr lang="en-GB" altLang="en-US"/>
          </a:p>
        </p:txBody>
      </p:sp>
      <p:sp>
        <p:nvSpPr>
          <p:cNvPr id="205826" name="Rectangle 2"/>
          <p:cNvSpPr>
            <a:spLocks noGrp="1" noRot="1" noChangeAspect="1" noChangeArrowheads="1" noTextEdit="1"/>
          </p:cNvSpPr>
          <p:nvPr>
            <p:ph type="sldImg"/>
          </p:nvPr>
        </p:nvSpPr>
        <p:spPr>
          <a:ln/>
        </p:spPr>
      </p:sp>
      <p:sp>
        <p:nvSpPr>
          <p:cNvPr id="2058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23390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E8CD32-B443-42FA-94D9-8C14978C7DFA}" type="slidenum">
              <a:rPr lang="en-GB" altLang="en-US"/>
              <a:pPr/>
              <a:t>5</a:t>
            </a:fld>
            <a:endParaRPr lang="en-GB" altLang="en-US"/>
          </a:p>
        </p:txBody>
      </p:sp>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81908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7300E6-6116-47B3-8065-05FC8021D443}" type="slidenum">
              <a:rPr lang="en-GB" altLang="en-US"/>
              <a:pPr/>
              <a:t>6</a:t>
            </a:fld>
            <a:endParaRPr lang="en-GB" altLang="en-US"/>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33859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D84F85-EF83-4AE5-A577-C6EFDD96AD87}" type="slidenum">
              <a:rPr lang="en-GB" altLang="en-US"/>
              <a:pPr/>
              <a:t>7</a:t>
            </a:fld>
            <a:endParaRPr lang="en-GB" altLang="en-US"/>
          </a:p>
        </p:txBody>
      </p:sp>
      <p:sp>
        <p:nvSpPr>
          <p:cNvPr id="207874" name="Rectangle 2"/>
          <p:cNvSpPr>
            <a:spLocks noGrp="1" noRot="1" noChangeAspect="1" noChangeArrowheads="1" noTextEdit="1"/>
          </p:cNvSpPr>
          <p:nvPr>
            <p:ph type="sldImg"/>
          </p:nvPr>
        </p:nvSpPr>
        <p:spPr>
          <a:ln/>
        </p:spPr>
      </p:sp>
      <p:sp>
        <p:nvSpPr>
          <p:cNvPr id="2078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25641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EB3FAB-F072-4CD4-B924-CD27EE84E14B}" type="slidenum">
              <a:rPr lang="en-GB" altLang="en-US"/>
              <a:pPr/>
              <a:t>8</a:t>
            </a:fld>
            <a:endParaRPr lang="en-GB" altLang="en-US"/>
          </a:p>
        </p:txBody>
      </p:sp>
      <p:sp>
        <p:nvSpPr>
          <p:cNvPr id="209922" name="Rectangle 2"/>
          <p:cNvSpPr>
            <a:spLocks noGrp="1" noRot="1" noChangeAspect="1" noChangeArrowheads="1" noTextEdit="1"/>
          </p:cNvSpPr>
          <p:nvPr>
            <p:ph type="sldImg"/>
          </p:nvPr>
        </p:nvSpPr>
        <p:spPr>
          <a:ln/>
        </p:spPr>
      </p:sp>
      <p:sp>
        <p:nvSpPr>
          <p:cNvPr id="2099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08039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E50F6F-2FF6-434A-A30C-F565FCE7F6D4}" type="slidenum">
              <a:rPr lang="en-GB" altLang="en-US"/>
              <a:pPr/>
              <a:t>9</a:t>
            </a:fld>
            <a:endParaRPr lang="en-GB" altLang="en-US"/>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77038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B3DF41-97EB-4926-9A7B-7F0273EDE699}" type="slidenum">
              <a:rPr lang="en-GB" altLang="en-US"/>
              <a:pPr/>
              <a:t>10</a:t>
            </a:fld>
            <a:endParaRPr lang="en-GB" altLang="en-US"/>
          </a:p>
        </p:txBody>
      </p:sp>
      <p:sp>
        <p:nvSpPr>
          <p:cNvPr id="211970" name="Rectangle 2"/>
          <p:cNvSpPr>
            <a:spLocks noGrp="1" noRot="1" noChangeAspect="1" noChangeArrowheads="1" noTextEdit="1"/>
          </p:cNvSpPr>
          <p:nvPr>
            <p:ph type="sldImg"/>
          </p:nvPr>
        </p:nvSpPr>
        <p:spPr>
          <a:ln/>
        </p:spPr>
      </p:sp>
      <p:sp>
        <p:nvSpPr>
          <p:cNvPr id="2119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96098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49EA20-6E99-447D-80B7-46F1524BA881}" type="slidenum">
              <a:rPr lang="en-GB" altLang="en-US"/>
              <a:pPr/>
              <a:t>11</a:t>
            </a:fld>
            <a:endParaRPr lang="en-GB" altLang="en-US"/>
          </a:p>
        </p:txBody>
      </p:sp>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29094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0B01F6-0A3C-48A3-B295-294DC4477524}" type="slidenum">
              <a:rPr lang="en-GB" altLang="en-US"/>
              <a:pPr/>
              <a:t>12</a:t>
            </a:fld>
            <a:endParaRPr lang="en-GB" alt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596517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90484F-0A61-42F0-BD73-DA514A376D06}" type="slidenum">
              <a:rPr lang="en-GB" altLang="en-US"/>
              <a:pPr/>
              <a:t>13</a:t>
            </a:fld>
            <a:endParaRPr lang="en-GB" alt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99043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F03C96-24D1-43B9-B81F-C50AE4949EE9}" type="slidenum">
              <a:rPr lang="en-GB" altLang="en-US"/>
              <a:pPr/>
              <a:t>14</a:t>
            </a:fld>
            <a:endParaRPr lang="en-GB" altLang="en-US"/>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900899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defRPr sz="2800" b="1" i="1">
                <a:solidFill>
                  <a:schemeClr val="tx1"/>
                </a:solidFill>
                <a:latin typeface="Arial" panose="020B0604020202020204" pitchFamily="34" charset="0"/>
              </a:defRPr>
            </a:lvl1pPr>
            <a:lvl2pPr marL="742950" indent="-285750" defTabSz="892175">
              <a:defRPr sz="2800" b="1" i="1">
                <a:solidFill>
                  <a:schemeClr val="tx1"/>
                </a:solidFill>
                <a:latin typeface="Arial" panose="020B0604020202020204" pitchFamily="34" charset="0"/>
              </a:defRPr>
            </a:lvl2pPr>
            <a:lvl3pPr marL="1143000" indent="-228600" defTabSz="892175">
              <a:defRPr sz="2800" b="1" i="1">
                <a:solidFill>
                  <a:schemeClr val="tx1"/>
                </a:solidFill>
                <a:latin typeface="Arial" panose="020B0604020202020204" pitchFamily="34" charset="0"/>
              </a:defRPr>
            </a:lvl3pPr>
            <a:lvl4pPr marL="1600200" indent="-228600" defTabSz="892175">
              <a:defRPr sz="2800" b="1" i="1">
                <a:solidFill>
                  <a:schemeClr val="tx1"/>
                </a:solidFill>
                <a:latin typeface="Arial" panose="020B0604020202020204" pitchFamily="34" charset="0"/>
              </a:defRPr>
            </a:lvl4pPr>
            <a:lvl5pPr marL="2057400" indent="-228600" defTabSz="892175">
              <a:defRPr sz="2800" b="1" i="1">
                <a:solidFill>
                  <a:schemeClr val="tx1"/>
                </a:solidFill>
                <a:latin typeface="Arial" panose="020B0604020202020204" pitchFamily="34" charset="0"/>
              </a:defRPr>
            </a:lvl5pPr>
            <a:lvl6pPr marL="2514600" indent="-228600" defTabSz="892175" eaLnBrk="0" fontAlgn="base" hangingPunct="0">
              <a:spcBef>
                <a:spcPct val="0"/>
              </a:spcBef>
              <a:spcAft>
                <a:spcPct val="0"/>
              </a:spcAft>
              <a:defRPr sz="2800" b="1" i="1">
                <a:solidFill>
                  <a:schemeClr val="tx1"/>
                </a:solidFill>
                <a:latin typeface="Arial" panose="020B0604020202020204" pitchFamily="34" charset="0"/>
              </a:defRPr>
            </a:lvl6pPr>
            <a:lvl7pPr marL="2971800" indent="-228600" defTabSz="892175" eaLnBrk="0" fontAlgn="base" hangingPunct="0">
              <a:spcBef>
                <a:spcPct val="0"/>
              </a:spcBef>
              <a:spcAft>
                <a:spcPct val="0"/>
              </a:spcAft>
              <a:defRPr sz="2800" b="1" i="1">
                <a:solidFill>
                  <a:schemeClr val="tx1"/>
                </a:solidFill>
                <a:latin typeface="Arial" panose="020B0604020202020204" pitchFamily="34" charset="0"/>
              </a:defRPr>
            </a:lvl7pPr>
            <a:lvl8pPr marL="3429000" indent="-228600" defTabSz="892175" eaLnBrk="0" fontAlgn="base" hangingPunct="0">
              <a:spcBef>
                <a:spcPct val="0"/>
              </a:spcBef>
              <a:spcAft>
                <a:spcPct val="0"/>
              </a:spcAft>
              <a:defRPr sz="2800" b="1" i="1">
                <a:solidFill>
                  <a:schemeClr val="tx1"/>
                </a:solidFill>
                <a:latin typeface="Arial" panose="020B0604020202020204" pitchFamily="34" charset="0"/>
              </a:defRPr>
            </a:lvl8pPr>
            <a:lvl9pPr marL="3886200" indent="-228600" defTabSz="892175" eaLnBrk="0" fontAlgn="base" hangingPunct="0">
              <a:spcBef>
                <a:spcPct val="0"/>
              </a:spcBef>
              <a:spcAft>
                <a:spcPct val="0"/>
              </a:spcAft>
              <a:defRPr sz="2800" b="1" i="1">
                <a:solidFill>
                  <a:schemeClr val="tx1"/>
                </a:solidFill>
                <a:latin typeface="Arial" panose="020B0604020202020204" pitchFamily="34" charset="0"/>
              </a:defRPr>
            </a:lvl9pPr>
          </a:lstStyle>
          <a:p>
            <a:pPr marL="0" marR="0" lvl="0" indent="0" algn="r" defTabSz="892175" rtl="0" eaLnBrk="0" fontAlgn="base" latinLnBrk="0" hangingPunct="0">
              <a:lnSpc>
                <a:spcPct val="85000"/>
              </a:lnSpc>
              <a:spcBef>
                <a:spcPct val="40000"/>
              </a:spcBef>
              <a:spcAft>
                <a:spcPct val="0"/>
              </a:spcAft>
              <a:buClr>
                <a:srgbClr val="FAA61A"/>
              </a:buClr>
              <a:buSzPct val="130000"/>
              <a:buFontTx/>
              <a:buNone/>
              <a:tabLst/>
              <a:defRPr/>
            </a:pPr>
            <a:fld id="{CAAEDFDC-ED73-4D7B-A234-6296EEC27C38}" type="slidenum">
              <a:rPr kumimoji="0" lang="en-GB" altLang="en-US" sz="1100" b="1" i="1"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892175" rtl="0" eaLnBrk="0" fontAlgn="base" latinLnBrk="0" hangingPunct="0">
                <a:lnSpc>
                  <a:spcPct val="85000"/>
                </a:lnSpc>
                <a:spcBef>
                  <a:spcPct val="40000"/>
                </a:spcBef>
                <a:spcAft>
                  <a:spcPct val="0"/>
                </a:spcAft>
                <a:buClr>
                  <a:srgbClr val="FAA61A"/>
                </a:buClr>
                <a:buSzPct val="130000"/>
                <a:buFontTx/>
                <a:buNone/>
                <a:tabLst/>
                <a:defRPr/>
              </a:pPr>
              <a:t>15</a:t>
            </a:fld>
            <a:endParaRPr kumimoji="0" lang="en-GB" altLang="en-US" sz="1100" b="1" i="1"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611180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DA4182-D86A-4612-B882-129B93D7B314}" type="slidenum">
              <a:rPr lang="en-GB" altLang="en-US"/>
              <a:pPr/>
              <a:t>16</a:t>
            </a:fld>
            <a:endParaRPr lang="en-GB" altLang="en-US"/>
          </a:p>
        </p:txBody>
      </p:sp>
      <p:sp>
        <p:nvSpPr>
          <p:cNvPr id="171010" name="Rectangle 2"/>
          <p:cNvSpPr>
            <a:spLocks noGrp="1" noRot="1" noChangeAspect="1" noChangeArrowheads="1" noTextEdit="1"/>
          </p:cNvSpPr>
          <p:nvPr>
            <p:ph type="sldImg"/>
          </p:nvPr>
        </p:nvSpPr>
        <p:spPr>
          <a:xfrm>
            <a:off x="573088" y="506413"/>
            <a:ext cx="5505450" cy="4129087"/>
          </a:xfrm>
          <a:ln/>
        </p:spPr>
      </p:sp>
      <p:sp>
        <p:nvSpPr>
          <p:cNvPr id="171011" name="Rectangle 3"/>
          <p:cNvSpPr>
            <a:spLocks noGrp="1" noChangeArrowheads="1"/>
          </p:cNvSpPr>
          <p:nvPr>
            <p:ph type="body" idx="1"/>
          </p:nvPr>
        </p:nvSpPr>
        <p:spPr>
          <a:xfrm>
            <a:off x="715963" y="5289550"/>
            <a:ext cx="5291137" cy="3819525"/>
          </a:xfrm>
        </p:spPr>
        <p:txBody>
          <a:bodyPr/>
          <a:lstStyle/>
          <a:p>
            <a:endParaRPr lang="en-US" altLang="en-US"/>
          </a:p>
        </p:txBody>
      </p:sp>
    </p:spTree>
    <p:extLst>
      <p:ext uri="{BB962C8B-B14F-4D97-AF65-F5344CB8AC3E}">
        <p14:creationId xmlns:p14="http://schemas.microsoft.com/office/powerpoint/2010/main" val="1018781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0EE5D7-407F-40C5-AF98-D734D81B876F}" type="slidenum">
              <a:rPr lang="en-GB" altLang="en-US"/>
              <a:pPr/>
              <a:t>17</a:t>
            </a:fld>
            <a:endParaRPr lang="en-GB" alt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63632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B81E34-144C-4336-A22F-4BA7F6BD3CC4}" type="slidenum">
              <a:rPr lang="en-GB" altLang="en-US"/>
              <a:pPr/>
              <a:t>18</a:t>
            </a:fld>
            <a:endParaRPr lang="en-GB" altLang="en-US"/>
          </a:p>
        </p:txBody>
      </p:sp>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9990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F8BCA2-50DE-40E5-8BAB-FFAB825F6D94}" type="slidenum">
              <a:rPr lang="en-GB" altLang="en-US"/>
              <a:pPr/>
              <a:t>19</a:t>
            </a:fld>
            <a:endParaRPr lang="en-GB" altLang="en-US"/>
          </a:p>
        </p:txBody>
      </p:sp>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8439122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C3D0AB-2564-42FE-9A2A-A4BE37EA8217}" type="slidenum">
              <a:rPr lang="en-GB" altLang="en-US"/>
              <a:pPr/>
              <a:t>20</a:t>
            </a:fld>
            <a:endParaRPr lang="en-GB" altLang="en-US"/>
          </a:p>
        </p:txBody>
      </p:sp>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655661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2056B6-A1CD-4002-A6A3-3EC197A598AE}" type="slidenum">
              <a:rPr lang="en-GB" altLang="en-US"/>
              <a:pPr/>
              <a:t>21</a:t>
            </a:fld>
            <a:endParaRPr lang="en-GB" altLang="en-US"/>
          </a:p>
        </p:txBody>
      </p:sp>
      <p:sp>
        <p:nvSpPr>
          <p:cNvPr id="174082" name="Rectangle 2"/>
          <p:cNvSpPr>
            <a:spLocks noGrp="1" noRot="1" noChangeAspect="1" noChangeArrowheads="1" noTextEdit="1"/>
          </p:cNvSpPr>
          <p:nvPr>
            <p:ph type="sldImg"/>
          </p:nvPr>
        </p:nvSpPr>
        <p:spPr>
          <a:xfrm>
            <a:off x="573088" y="506413"/>
            <a:ext cx="5505450" cy="4129087"/>
          </a:xfrm>
          <a:ln/>
        </p:spPr>
      </p:sp>
      <p:sp>
        <p:nvSpPr>
          <p:cNvPr id="174083" name="Rectangle 3"/>
          <p:cNvSpPr>
            <a:spLocks noGrp="1" noChangeArrowheads="1"/>
          </p:cNvSpPr>
          <p:nvPr>
            <p:ph type="body" idx="1"/>
          </p:nvPr>
        </p:nvSpPr>
        <p:spPr>
          <a:xfrm>
            <a:off x="715963" y="5289550"/>
            <a:ext cx="5291137" cy="3819525"/>
          </a:xfrm>
        </p:spPr>
        <p:txBody>
          <a:bodyPr/>
          <a:lstStyle/>
          <a:p>
            <a:endParaRPr lang="en-US" altLang="en-US"/>
          </a:p>
        </p:txBody>
      </p:sp>
    </p:spTree>
    <p:extLst>
      <p:ext uri="{BB962C8B-B14F-4D97-AF65-F5344CB8AC3E}">
        <p14:creationId xmlns:p14="http://schemas.microsoft.com/office/powerpoint/2010/main" val="32854614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0B093B-9E1B-49C1-B518-7BFEEBD50402}" type="slidenum">
              <a:rPr lang="en-GB" altLang="en-US"/>
              <a:pPr/>
              <a:t>22</a:t>
            </a:fld>
            <a:endParaRPr lang="en-GB" altLang="en-US"/>
          </a:p>
        </p:txBody>
      </p:sp>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90493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AB7FF8-7F41-4C73-8DB1-7B4D2DAA6973}" type="slidenum">
              <a:rPr lang="en-GB" altLang="en-US"/>
              <a:pPr/>
              <a:t>23</a:t>
            </a:fld>
            <a:endParaRPr lang="en-GB" altLang="en-US"/>
          </a:p>
        </p:txBody>
      </p:sp>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628052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ED58D2-16C7-47F5-ABC2-7769108BC1BF}" type="slidenum">
              <a:rPr lang="en-GB" altLang="en-US"/>
              <a:pPr/>
              <a:t>24</a:t>
            </a:fld>
            <a:endParaRPr lang="en-GB" altLang="en-US"/>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703259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9F029E-515A-47B3-9539-FD9B0E6786AC}" type="slidenum">
              <a:rPr lang="en-GB" altLang="en-US"/>
              <a:pPr/>
              <a:t>25</a:t>
            </a:fld>
            <a:endParaRPr lang="en-GB" altLang="en-US"/>
          </a:p>
        </p:txBody>
      </p:sp>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786428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CB224F-D424-40FA-B0C2-C8709E324BC8}" type="slidenum">
              <a:rPr lang="en-GB" altLang="en-US"/>
              <a:pPr/>
              <a:t>26</a:t>
            </a:fld>
            <a:endParaRPr lang="en-GB" altLang="en-US"/>
          </a:p>
        </p:txBody>
      </p:sp>
      <p:sp>
        <p:nvSpPr>
          <p:cNvPr id="126978" name="Rectangle 2"/>
          <p:cNvSpPr>
            <a:spLocks noGrp="1" noRot="1" noChangeAspect="1" noChangeArrowheads="1" noTextEdit="1"/>
          </p:cNvSpPr>
          <p:nvPr>
            <p:ph type="sldImg"/>
          </p:nvPr>
        </p:nvSpPr>
        <p:spPr>
          <a:ln/>
        </p:spPr>
      </p:sp>
      <p:sp>
        <p:nvSpPr>
          <p:cNvPr id="1269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00550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AE7EBA-1697-4EAE-AD67-8ACD1A2125FF}" type="slidenum">
              <a:rPr lang="en-GB" altLang="en-US"/>
              <a:pPr/>
              <a:t>27</a:t>
            </a:fld>
            <a:endParaRPr lang="en-GB" altLang="en-US"/>
          </a:p>
        </p:txBody>
      </p:sp>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334519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9D7D7E-94C5-411F-8C08-584FF387A956}" type="slidenum">
              <a:rPr lang="en-GB" altLang="en-US"/>
              <a:pPr/>
              <a:t>28</a:t>
            </a:fld>
            <a:endParaRPr lang="en-GB" altLang="en-US"/>
          </a:p>
        </p:txBody>
      </p:sp>
      <p:sp>
        <p:nvSpPr>
          <p:cNvPr id="133122"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873579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033727-CB69-4634-A774-39FAE45624CA}" type="slidenum">
              <a:rPr lang="en-GB" altLang="en-US"/>
              <a:pPr/>
              <a:t>29</a:t>
            </a:fld>
            <a:endParaRPr lang="en-GB" altLang="en-US"/>
          </a:p>
        </p:txBody>
      </p:sp>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21655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8A9318-CC30-4647-A6C2-ECF1524C6CF6}" type="slidenum">
              <a:rPr lang="en-GB" altLang="en-US"/>
              <a:pPr/>
              <a:t>30</a:t>
            </a:fld>
            <a:endParaRPr lang="en-GB" altLang="en-US"/>
          </a:p>
        </p:txBody>
      </p:sp>
      <p:sp>
        <p:nvSpPr>
          <p:cNvPr id="145410" name="Rectangle 2"/>
          <p:cNvSpPr>
            <a:spLocks noGrp="1" noRot="1" noChangeAspect="1" noChangeArrowheads="1" noTextEdit="1"/>
          </p:cNvSpPr>
          <p:nvPr>
            <p:ph type="sldImg"/>
          </p:nvPr>
        </p:nvSpPr>
        <p:spPr>
          <a:ln/>
        </p:spPr>
      </p:sp>
      <p:sp>
        <p:nvSpPr>
          <p:cNvPr id="1454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6284863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02992A-1D6A-4EF7-9507-43190373D480}" type="slidenum">
              <a:rPr lang="en-GB" altLang="en-US"/>
              <a:pPr/>
              <a:t>31</a:t>
            </a:fld>
            <a:endParaRPr lang="en-GB" altLang="en-US"/>
          </a:p>
        </p:txBody>
      </p:sp>
      <p:sp>
        <p:nvSpPr>
          <p:cNvPr id="182274" name="Rectangle 2"/>
          <p:cNvSpPr>
            <a:spLocks noGrp="1" noRot="1" noChangeAspect="1" noChangeArrowheads="1" noTextEdit="1"/>
          </p:cNvSpPr>
          <p:nvPr>
            <p:ph type="sldImg"/>
          </p:nvPr>
        </p:nvSpPr>
        <p:spPr>
          <a:xfrm>
            <a:off x="573088" y="506413"/>
            <a:ext cx="5505450" cy="4129087"/>
          </a:xfrm>
          <a:ln/>
        </p:spPr>
      </p:sp>
      <p:sp>
        <p:nvSpPr>
          <p:cNvPr id="182275" name="Rectangle 3"/>
          <p:cNvSpPr>
            <a:spLocks noGrp="1" noChangeArrowheads="1"/>
          </p:cNvSpPr>
          <p:nvPr>
            <p:ph type="body" idx="1"/>
          </p:nvPr>
        </p:nvSpPr>
        <p:spPr>
          <a:xfrm>
            <a:off x="715963" y="5289550"/>
            <a:ext cx="5291137" cy="3819525"/>
          </a:xfrm>
        </p:spPr>
        <p:txBody>
          <a:bodyPr/>
          <a:lstStyle/>
          <a:p>
            <a:endParaRPr lang="en-US" altLang="en-US"/>
          </a:p>
        </p:txBody>
      </p:sp>
    </p:spTree>
    <p:extLst>
      <p:ext uri="{BB962C8B-B14F-4D97-AF65-F5344CB8AC3E}">
        <p14:creationId xmlns:p14="http://schemas.microsoft.com/office/powerpoint/2010/main" val="28116572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364AB9-EC0B-4EA8-8DC0-EF286AB55D44}" type="slidenum">
              <a:rPr altLang="en-US"/>
              <a:pPr/>
              <a:t>32</a:t>
            </a:fld>
            <a:endParaRPr lang="en-US" altLang="en-US"/>
          </a:p>
        </p:txBody>
      </p:sp>
      <p:sp>
        <p:nvSpPr>
          <p:cNvPr id="368642" name="Rectangle 2"/>
          <p:cNvSpPr>
            <a:spLocks noGrp="1" noRot="1" noChangeAspect="1" noChangeArrowheads="1" noTextEdit="1"/>
          </p:cNvSpPr>
          <p:nvPr>
            <p:ph type="sldImg"/>
          </p:nvPr>
        </p:nvSpPr>
        <p:spPr>
          <a:xfrm>
            <a:off x="557213" y="508000"/>
            <a:ext cx="5543550" cy="4157663"/>
          </a:xfrm>
          <a:ln/>
        </p:spPr>
      </p:sp>
      <p:sp>
        <p:nvSpPr>
          <p:cNvPr id="368643" name="Rectangle 3"/>
          <p:cNvSpPr>
            <a:spLocks noGrp="1" noChangeArrowheads="1"/>
          </p:cNvSpPr>
          <p:nvPr>
            <p:ph type="body" idx="1"/>
          </p:nvPr>
        </p:nvSpPr>
        <p:spPr>
          <a:xfrm>
            <a:off x="714375" y="5321300"/>
            <a:ext cx="5299075" cy="3843338"/>
          </a:xfrm>
        </p:spPr>
        <p:txBody>
          <a:bodyPr/>
          <a:lstStyle/>
          <a:p>
            <a:pPr>
              <a:lnSpc>
                <a:spcPct val="87000"/>
              </a:lnSpc>
            </a:pPr>
            <a:r>
              <a:rPr lang="en-GB" altLang="en-US"/>
              <a:t>Phase selection is necessary to ensure that the right mho/quad elements according to the fault type are allowed to decide whether to trip.</a:t>
            </a:r>
          </a:p>
          <a:p>
            <a:pPr>
              <a:lnSpc>
                <a:spcPct val="87000"/>
              </a:lnSpc>
            </a:pPr>
            <a:r>
              <a:rPr lang="en-GB" altLang="en-US"/>
              <a:t>Phase selection avoids elements on unfaulted phases from tripping, eg:</a:t>
            </a:r>
          </a:p>
          <a:p>
            <a:pPr>
              <a:lnSpc>
                <a:spcPct val="87000"/>
              </a:lnSpc>
              <a:buFontTx/>
              <a:buChar char="•"/>
            </a:pPr>
            <a:r>
              <a:rPr lang="en-GB" altLang="en-US"/>
              <a:t> “A” phase fault presents a “ghost” impedance on phases B and C due to all elements relying on residual current in the fault loop calculation.  Operating on the wrong phase risks a single pole trip being converted wrongly to a 3 phase trip, or worse a forward trip for a reverse fault.</a:t>
            </a:r>
          </a:p>
          <a:p>
            <a:pPr>
              <a:lnSpc>
                <a:spcPct val="87000"/>
              </a:lnSpc>
              <a:buFontTx/>
              <a:buChar char="•"/>
            </a:pPr>
            <a:r>
              <a:rPr lang="en-GB" altLang="en-US"/>
              <a:t> As voltage collapses for a single phase fault, this also collapses certain phase-phase voltages (eg A-phase fault reduces Vab and Vca too).  With heavy remaining load, this can also risk a three phase trip.</a:t>
            </a:r>
          </a:p>
          <a:p>
            <a:pPr>
              <a:lnSpc>
                <a:spcPct val="87000"/>
              </a:lnSpc>
              <a:buFontTx/>
              <a:buChar char="•"/>
            </a:pPr>
            <a:r>
              <a:rPr lang="en-GB" altLang="en-US"/>
              <a:t> In 3 pole tripping applications, bad phase selection might mean wrong fault flagging (targetting).</a:t>
            </a:r>
          </a:p>
          <a:p>
            <a:pPr>
              <a:lnSpc>
                <a:spcPct val="87000"/>
              </a:lnSpc>
            </a:pPr>
            <a:r>
              <a:rPr lang="en-GB" altLang="en-US"/>
              <a:t>Delta I phase selection as in P442 and LFZR is VERY good:</a:t>
            </a:r>
          </a:p>
          <a:p>
            <a:pPr>
              <a:lnSpc>
                <a:spcPct val="87000"/>
              </a:lnSpc>
              <a:buFontTx/>
              <a:buChar char="•"/>
            </a:pPr>
            <a:r>
              <a:rPr lang="en-GB" altLang="en-US"/>
              <a:t> No need to set any I&gt;&gt;, V&lt;, Z&lt; starters to avoid ghost impedances</a:t>
            </a:r>
          </a:p>
          <a:p>
            <a:pPr>
              <a:lnSpc>
                <a:spcPct val="87000"/>
              </a:lnSpc>
              <a:buFontTx/>
              <a:buChar char="•"/>
            </a:pPr>
            <a:r>
              <a:rPr lang="en-GB" altLang="en-US"/>
              <a:t> No settings - the delta is factory set and its sensitivity automatically applied on all systems without any need to set or adjust.</a:t>
            </a:r>
          </a:p>
          <a:p>
            <a:endParaRPr lang="en-GB"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1FFF62-C160-4108-88D0-AB3D18754F3A}" type="slidenum">
              <a:rPr altLang="en-US"/>
              <a:pPr/>
              <a:t>33</a:t>
            </a:fld>
            <a:endParaRPr lang="en-US" altLang="en-US"/>
          </a:p>
        </p:txBody>
      </p:sp>
      <p:sp>
        <p:nvSpPr>
          <p:cNvPr id="370690" name="Rectangle 2"/>
          <p:cNvSpPr>
            <a:spLocks noGrp="1" noRot="1" noChangeAspect="1" noChangeArrowheads="1" noTextEdit="1"/>
          </p:cNvSpPr>
          <p:nvPr>
            <p:ph type="sldImg"/>
          </p:nvPr>
        </p:nvSpPr>
        <p:spPr>
          <a:xfrm>
            <a:off x="557213" y="508000"/>
            <a:ext cx="5543550" cy="4157663"/>
          </a:xfrm>
          <a:ln/>
        </p:spPr>
      </p:sp>
      <p:sp>
        <p:nvSpPr>
          <p:cNvPr id="370691" name="Rectangle 3"/>
          <p:cNvSpPr>
            <a:spLocks noGrp="1" noChangeArrowheads="1"/>
          </p:cNvSpPr>
          <p:nvPr>
            <p:ph type="body" idx="1"/>
          </p:nvPr>
        </p:nvSpPr>
        <p:spPr>
          <a:xfrm>
            <a:off x="714375" y="5321300"/>
            <a:ext cx="5299075" cy="3843338"/>
          </a:xfrm>
        </p:spPr>
        <p:txBody>
          <a:bodyPr/>
          <a:lstStyle/>
          <a:p>
            <a:r>
              <a:rPr lang="en-US" altLang="en-US"/>
              <a:t>The voltage signal (v</a:t>
            </a:r>
            <a:r>
              <a:rPr lang="en-US" altLang="en-US" baseline="-25000"/>
              <a:t>r</a:t>
            </a:r>
            <a:r>
              <a:rPr lang="en-US" altLang="en-US"/>
              <a:t>) equals the unfaulted voltage (v</a:t>
            </a:r>
            <a:r>
              <a:rPr lang="en-US" altLang="en-US" baseline="-25000"/>
              <a:t>pr</a:t>
            </a:r>
            <a:r>
              <a:rPr lang="en-US" altLang="en-US"/>
              <a:t>) plus the superimposed voltage (v</a:t>
            </a:r>
            <a:r>
              <a:rPr lang="en-US" altLang="en-US" baseline="-25000"/>
              <a:t>r</a:t>
            </a:r>
            <a:r>
              <a:rPr lang="en-US" altLang="en-US"/>
              <a:t> ).  The current signal (i</a:t>
            </a:r>
            <a:r>
              <a:rPr lang="en-US" altLang="en-US" baseline="-25000"/>
              <a:t>r</a:t>
            </a:r>
            <a:r>
              <a:rPr lang="en-US" altLang="en-US"/>
              <a:t>) equals the unfaulted current (i</a:t>
            </a:r>
            <a:r>
              <a:rPr lang="en-US" altLang="en-US" baseline="-25000"/>
              <a:t>pr</a:t>
            </a:r>
            <a:r>
              <a:rPr lang="en-US" altLang="en-US"/>
              <a:t>) plus the superimposed current(i</a:t>
            </a:r>
            <a:r>
              <a:rPr lang="en-US" altLang="en-US" baseline="-25000"/>
              <a:t>r </a:t>
            </a:r>
            <a:r>
              <a:rPr lang="en-US" altLang="en-US"/>
              <a:t>).  Prior to the fault the superimposed signals are zero.  The slide shows a forward fault.  Initially the superimposed signals are of opposite polarity, but thereafter the polarity relationship varies with time due to the phase shift introduced by the source angle.</a:t>
            </a:r>
          </a:p>
          <a:p>
            <a:endParaRPr lang="en-US" altLang="en-US"/>
          </a:p>
          <a:p>
            <a:endParaRPr lang="en-GB"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1048C0-CB55-4859-A311-D94DD75B062B}" type="slidenum">
              <a:rPr altLang="en-US"/>
              <a:pPr/>
              <a:t>34</a:t>
            </a:fld>
            <a:endParaRPr lang="en-US" altLang="en-US"/>
          </a:p>
        </p:txBody>
      </p:sp>
      <p:sp>
        <p:nvSpPr>
          <p:cNvPr id="372738" name="Rectangle 2"/>
          <p:cNvSpPr>
            <a:spLocks noGrp="1" noRot="1" noChangeAspect="1" noChangeArrowheads="1" noTextEdit="1"/>
          </p:cNvSpPr>
          <p:nvPr>
            <p:ph type="sldImg"/>
          </p:nvPr>
        </p:nvSpPr>
        <p:spPr>
          <a:xfrm>
            <a:off x="557213" y="508000"/>
            <a:ext cx="5543550" cy="4157663"/>
          </a:xfrm>
          <a:ln/>
        </p:spPr>
      </p:sp>
      <p:sp>
        <p:nvSpPr>
          <p:cNvPr id="372739" name="Rectangle 3"/>
          <p:cNvSpPr>
            <a:spLocks noGrp="1" noChangeArrowheads="1"/>
          </p:cNvSpPr>
          <p:nvPr>
            <p:ph type="body" idx="1"/>
          </p:nvPr>
        </p:nvSpPr>
        <p:spPr>
          <a:xfrm>
            <a:off x="714375" y="5321300"/>
            <a:ext cx="5299075" cy="3843338"/>
          </a:xfrm>
        </p:spPr>
        <p:txBody>
          <a:bodyPr/>
          <a:lstStyle/>
          <a:p>
            <a:pPr>
              <a:lnSpc>
                <a:spcPct val="87000"/>
              </a:lnSpc>
            </a:pPr>
            <a:r>
              <a:rPr lang="en-GB" altLang="en-US"/>
              <a:t>Phase selectors measure phase to phase:  A-B,  B-C, C-A.</a:t>
            </a:r>
          </a:p>
          <a:p>
            <a:pPr>
              <a:lnSpc>
                <a:spcPct val="87000"/>
              </a:lnSpc>
            </a:pPr>
            <a:r>
              <a:rPr lang="en-GB" altLang="en-US"/>
              <a:t>In this case:</a:t>
            </a:r>
          </a:p>
          <a:p>
            <a:pPr>
              <a:lnSpc>
                <a:spcPct val="87000"/>
              </a:lnSpc>
              <a:buFontTx/>
              <a:buChar char="•"/>
            </a:pPr>
            <a:r>
              <a:rPr lang="en-GB" altLang="en-US"/>
              <a:t> CA is the largest delta</a:t>
            </a:r>
          </a:p>
          <a:p>
            <a:pPr>
              <a:lnSpc>
                <a:spcPct val="87000"/>
              </a:lnSpc>
              <a:buFontTx/>
              <a:buChar char="•"/>
            </a:pPr>
            <a:r>
              <a:rPr lang="en-GB" altLang="en-US"/>
              <a:t> BC is above 80% of the largest delta, and so is “included”</a:t>
            </a:r>
          </a:p>
          <a:p>
            <a:pPr>
              <a:lnSpc>
                <a:spcPct val="87000"/>
              </a:lnSpc>
              <a:buFontTx/>
              <a:buChar char="•"/>
            </a:pPr>
            <a:r>
              <a:rPr lang="en-GB" altLang="en-US"/>
              <a:t> AB is less than 80% of CA delta, so is excluded</a:t>
            </a:r>
          </a:p>
          <a:p>
            <a:pPr>
              <a:lnSpc>
                <a:spcPct val="87000"/>
              </a:lnSpc>
              <a:buFontTx/>
              <a:buChar char="•"/>
            </a:pPr>
            <a:r>
              <a:rPr lang="en-GB" altLang="en-US"/>
              <a:t> The common phase in BC and CA is phase “C”</a:t>
            </a:r>
          </a:p>
          <a:p>
            <a:pPr>
              <a:lnSpc>
                <a:spcPct val="87000"/>
              </a:lnSpc>
              <a:buFontTx/>
              <a:buChar char="•"/>
            </a:pPr>
            <a:r>
              <a:rPr lang="en-GB" altLang="en-US"/>
              <a:t> So it is a C phase ground/earth fault</a:t>
            </a:r>
          </a:p>
          <a:p>
            <a:endParaRPr lang="en-GB"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824B99-74AF-4BD1-BB4D-1A6F70B4DBA4}" type="slidenum">
              <a:rPr altLang="en-US"/>
              <a:pPr/>
              <a:t>35</a:t>
            </a:fld>
            <a:endParaRPr lang="en-US" altLang="en-US"/>
          </a:p>
        </p:txBody>
      </p:sp>
      <p:sp>
        <p:nvSpPr>
          <p:cNvPr id="374786" name="Rectangle 2"/>
          <p:cNvSpPr>
            <a:spLocks noGrp="1" noRot="1" noChangeAspect="1" noChangeArrowheads="1" noTextEdit="1"/>
          </p:cNvSpPr>
          <p:nvPr>
            <p:ph type="sldImg"/>
          </p:nvPr>
        </p:nvSpPr>
        <p:spPr>
          <a:xfrm>
            <a:off x="557213" y="508000"/>
            <a:ext cx="5543550" cy="4157663"/>
          </a:xfrm>
          <a:ln/>
        </p:spPr>
      </p:sp>
      <p:sp>
        <p:nvSpPr>
          <p:cNvPr id="374787" name="Rectangle 3"/>
          <p:cNvSpPr>
            <a:spLocks noGrp="1" noChangeArrowheads="1"/>
          </p:cNvSpPr>
          <p:nvPr>
            <p:ph type="body" idx="1"/>
          </p:nvPr>
        </p:nvSpPr>
        <p:spPr>
          <a:xfrm>
            <a:off x="714375" y="5321300"/>
            <a:ext cx="5299075" cy="3843338"/>
          </a:xfrm>
        </p:spPr>
        <p:txBody>
          <a:bodyPr/>
          <a:lstStyle/>
          <a:p>
            <a:pPr>
              <a:lnSpc>
                <a:spcPct val="87000"/>
              </a:lnSpc>
            </a:pPr>
            <a:r>
              <a:rPr lang="en-GB" altLang="en-US"/>
              <a:t>Zone designations are chosen as per P442 family.</a:t>
            </a:r>
          </a:p>
          <a:p>
            <a:pPr>
              <a:lnSpc>
                <a:spcPct val="87000"/>
              </a:lnSpc>
            </a:pPr>
            <a:r>
              <a:rPr lang="en-GB" altLang="en-US"/>
              <a:t>Zone 1, 2 and 3 ALWAYS forward looking.</a:t>
            </a:r>
          </a:p>
          <a:p>
            <a:pPr>
              <a:lnSpc>
                <a:spcPct val="87000"/>
              </a:lnSpc>
            </a:pPr>
            <a:r>
              <a:rPr lang="en-GB" altLang="en-US"/>
              <a:t>Zone 4 ALWAYS reverse looking (eg. For use in channel aided schemes as reverse fault signalling).</a:t>
            </a:r>
          </a:p>
          <a:p>
            <a:pPr>
              <a:lnSpc>
                <a:spcPct val="87000"/>
              </a:lnSpc>
            </a:pPr>
            <a:r>
              <a:rPr lang="en-GB" altLang="en-US"/>
              <a:t>Zone p is programmable to look FWD or REV.</a:t>
            </a:r>
          </a:p>
          <a:p>
            <a:pPr>
              <a:lnSpc>
                <a:spcPct val="87000"/>
              </a:lnSpc>
            </a:pPr>
            <a:r>
              <a:rPr lang="en-GB" altLang="en-US"/>
              <a:t>Note that to ensure tripping for a close-up zero voltage fault, for a switch on to fault (SOTF) where the memory is unavailable, Zone 1 transiently has a reverse offset = 20% of forward reach.</a:t>
            </a:r>
          </a:p>
          <a:p>
            <a:pPr>
              <a:lnSpc>
                <a:spcPct val="87000"/>
              </a:lnSpc>
            </a:pPr>
            <a:r>
              <a:rPr lang="en-GB" altLang="en-US"/>
              <a:t>Zone 3 can be set with a forward or reverse offset from the origin, which is set as a percentage of the forward reach (easier than in LFZR).</a:t>
            </a:r>
          </a:p>
          <a:p>
            <a:endParaRPr lang="en-GB"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41A95C-312C-4AB5-A21F-3B1BBE58E9F7}" type="slidenum">
              <a:rPr altLang="en-US"/>
              <a:pPr/>
              <a:t>36</a:t>
            </a:fld>
            <a:endParaRPr lang="en-US" altLang="en-US"/>
          </a:p>
        </p:txBody>
      </p:sp>
      <p:sp>
        <p:nvSpPr>
          <p:cNvPr id="1041410" name="Rectangle 2"/>
          <p:cNvSpPr>
            <a:spLocks noGrp="1" noRot="1" noChangeAspect="1" noChangeArrowheads="1" noTextEdit="1"/>
          </p:cNvSpPr>
          <p:nvPr>
            <p:ph type="sldImg"/>
          </p:nvPr>
        </p:nvSpPr>
        <p:spPr>
          <a:xfrm>
            <a:off x="557213" y="508000"/>
            <a:ext cx="5543550" cy="4157663"/>
          </a:xfrm>
          <a:ln/>
        </p:spPr>
      </p:sp>
      <p:sp>
        <p:nvSpPr>
          <p:cNvPr id="1041411" name="Rectangle 3"/>
          <p:cNvSpPr>
            <a:spLocks noGrp="1" noChangeArrowheads="1"/>
          </p:cNvSpPr>
          <p:nvPr>
            <p:ph type="body" idx="1"/>
          </p:nvPr>
        </p:nvSpPr>
        <p:spPr>
          <a:xfrm>
            <a:off x="714375" y="5321300"/>
            <a:ext cx="5299075" cy="3843338"/>
          </a:xfrm>
        </p:spPr>
        <p:txBody>
          <a:bodyPr/>
          <a:lstStyle/>
          <a:p>
            <a:pPr>
              <a:lnSpc>
                <a:spcPct val="87000"/>
              </a:lnSpc>
            </a:pPr>
            <a:r>
              <a:rPr lang="en-GB" altLang="en-US"/>
              <a:t>Zone designations are chosen as per P442 family.</a:t>
            </a:r>
          </a:p>
          <a:p>
            <a:pPr>
              <a:lnSpc>
                <a:spcPct val="87000"/>
              </a:lnSpc>
            </a:pPr>
            <a:r>
              <a:rPr lang="en-GB" altLang="en-US"/>
              <a:t>Zone 1, 2 and 3 ALWAYS forward looking.</a:t>
            </a:r>
          </a:p>
          <a:p>
            <a:pPr>
              <a:lnSpc>
                <a:spcPct val="87000"/>
              </a:lnSpc>
            </a:pPr>
            <a:r>
              <a:rPr lang="en-GB" altLang="en-US"/>
              <a:t>Zone 4 ALWAYS reverse looking (eg. For use in channel aided schemes as reverse fault signalling).</a:t>
            </a:r>
          </a:p>
          <a:p>
            <a:pPr>
              <a:lnSpc>
                <a:spcPct val="87000"/>
              </a:lnSpc>
            </a:pPr>
            <a:r>
              <a:rPr lang="en-GB" altLang="en-US"/>
              <a:t>Zone p is programmable to look FWD or REV.</a:t>
            </a:r>
          </a:p>
          <a:p>
            <a:pPr>
              <a:lnSpc>
                <a:spcPct val="87000"/>
              </a:lnSpc>
            </a:pPr>
            <a:r>
              <a:rPr lang="en-GB" altLang="en-US"/>
              <a:t>Note that to ensure tripping for a close-up zero voltage fault, for a switch on to fault (SOTF) where the memory is unavailable, Zone 1 transiently has a reverse offset = 20% of forward reach.</a:t>
            </a:r>
          </a:p>
          <a:p>
            <a:pPr>
              <a:lnSpc>
                <a:spcPct val="87000"/>
              </a:lnSpc>
            </a:pPr>
            <a:r>
              <a:rPr lang="en-GB" altLang="en-US"/>
              <a:t>Zone 3 can be set with a forward or reverse offset from the origin, which is set as a percentage of the forward reach (easier than in LFZR).</a:t>
            </a:r>
          </a:p>
          <a:p>
            <a:endParaRPr lang="en-GB"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AF40E6-16BD-4530-9438-8DA4785096E8}" type="slidenum">
              <a:rPr altLang="en-US"/>
              <a:pPr/>
              <a:t>37</a:t>
            </a:fld>
            <a:endParaRPr lang="en-US" altLang="en-US"/>
          </a:p>
        </p:txBody>
      </p:sp>
      <p:sp>
        <p:nvSpPr>
          <p:cNvPr id="387074" name="Rectangle 2"/>
          <p:cNvSpPr>
            <a:spLocks noGrp="1" noRot="1" noChangeAspect="1" noChangeArrowheads="1" noTextEdit="1"/>
          </p:cNvSpPr>
          <p:nvPr>
            <p:ph type="sldImg"/>
          </p:nvPr>
        </p:nvSpPr>
        <p:spPr>
          <a:xfrm>
            <a:off x="557213" y="508000"/>
            <a:ext cx="5543550" cy="4157663"/>
          </a:xfrm>
          <a:ln/>
        </p:spPr>
      </p:sp>
      <p:sp>
        <p:nvSpPr>
          <p:cNvPr id="387075" name="Rectangle 3"/>
          <p:cNvSpPr>
            <a:spLocks noGrp="1" noChangeArrowheads="1"/>
          </p:cNvSpPr>
          <p:nvPr>
            <p:ph type="body" idx="1"/>
          </p:nvPr>
        </p:nvSpPr>
        <p:spPr>
          <a:xfrm>
            <a:off x="714375" y="5321300"/>
            <a:ext cx="5299075" cy="3843338"/>
          </a:xfrm>
        </p:spPr>
        <p:txBody>
          <a:bodyPr/>
          <a:lstStyle/>
          <a:p>
            <a:r>
              <a:rPr lang="en-GB" altLang="en-US"/>
              <a:t>The blinder is basically formed from an underimpedance circle, with radius set by the user; and two blinder lines crossing through the origin.</a:t>
            </a:r>
          </a:p>
          <a:p>
            <a:r>
              <a:rPr lang="en-GB" altLang="en-US"/>
              <a:t>The blinder cuts a notch out of the side of distance zones, to avoid heavy load.</a:t>
            </a:r>
          </a:p>
          <a:p>
            <a:r>
              <a:rPr lang="en-GB" altLang="en-US"/>
              <a:t>We always recommend that the blinder should be set, for added security.</a:t>
            </a:r>
          </a:p>
          <a:p>
            <a:r>
              <a:rPr lang="en-GB" altLang="en-US"/>
              <a:t>Set the blinder angle half way between the worst case power factor angle, and the line impedance angle.</a:t>
            </a:r>
          </a:p>
          <a:p>
            <a:r>
              <a:rPr lang="en-GB" altLang="en-US"/>
              <a:t>Worst case load angle = (COS) </a:t>
            </a:r>
            <a:r>
              <a:rPr lang="en-GB" altLang="en-US" baseline="30000"/>
              <a:t>-1</a:t>
            </a:r>
            <a:r>
              <a:rPr lang="en-GB" altLang="en-US"/>
              <a:t>  Power Factor</a:t>
            </a:r>
          </a:p>
          <a:p>
            <a:r>
              <a:rPr lang="en-GB" altLang="en-US"/>
              <a:t>Typical Z&lt; setting is to allow 3 or 4 times full load current to flow.</a:t>
            </a:r>
          </a:p>
          <a:p>
            <a:endParaRPr lang="en-GB"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CBE18F-81B9-45F5-8EA1-702E8BA06610}" type="slidenum">
              <a:rPr altLang="en-US"/>
              <a:pPr/>
              <a:t>38</a:t>
            </a:fld>
            <a:endParaRPr lang="en-US" altLang="en-US"/>
          </a:p>
        </p:txBody>
      </p:sp>
      <p:sp>
        <p:nvSpPr>
          <p:cNvPr id="1039362" name="Rectangle 2"/>
          <p:cNvSpPr>
            <a:spLocks noGrp="1" noRot="1" noChangeAspect="1" noChangeArrowheads="1" noTextEdit="1"/>
          </p:cNvSpPr>
          <p:nvPr>
            <p:ph type="sldImg"/>
          </p:nvPr>
        </p:nvSpPr>
        <p:spPr>
          <a:xfrm>
            <a:off x="557213" y="508000"/>
            <a:ext cx="5543550" cy="4157663"/>
          </a:xfrm>
          <a:ln/>
        </p:spPr>
      </p:sp>
      <p:sp>
        <p:nvSpPr>
          <p:cNvPr id="1039363" name="Rectangle 3"/>
          <p:cNvSpPr>
            <a:spLocks noGrp="1" noChangeArrowheads="1"/>
          </p:cNvSpPr>
          <p:nvPr>
            <p:ph type="body" idx="1"/>
          </p:nvPr>
        </p:nvSpPr>
        <p:spPr>
          <a:xfrm>
            <a:off x="714375" y="5321300"/>
            <a:ext cx="5299075" cy="3843338"/>
          </a:xfrm>
        </p:spPr>
        <p:txBody>
          <a:bodyPr/>
          <a:lstStyle/>
          <a:p>
            <a:r>
              <a:rPr lang="en-GB" altLang="en-US"/>
              <a:t>The blinder is basically formed from an underimpedance circle, with radius set by the user; and two blinder lines crossing through the origin.</a:t>
            </a:r>
          </a:p>
          <a:p>
            <a:r>
              <a:rPr lang="en-GB" altLang="en-US"/>
              <a:t>The blinder cuts a notch out of the side of distance zones, to avoid heavy load.</a:t>
            </a:r>
          </a:p>
          <a:p>
            <a:r>
              <a:rPr lang="en-GB" altLang="en-US"/>
              <a:t>We always recommend that the blinder should be set, for added security.</a:t>
            </a:r>
          </a:p>
          <a:p>
            <a:r>
              <a:rPr lang="en-GB" altLang="en-US"/>
              <a:t>Set the blinder angle half way between the worst case power factor angle, and the line impedance angle.</a:t>
            </a:r>
          </a:p>
          <a:p>
            <a:r>
              <a:rPr lang="en-GB" altLang="en-US"/>
              <a:t>Worst case load angle = (COS) </a:t>
            </a:r>
            <a:r>
              <a:rPr lang="en-GB" altLang="en-US" baseline="30000"/>
              <a:t>-1</a:t>
            </a:r>
            <a:r>
              <a:rPr lang="en-GB" altLang="en-US"/>
              <a:t>  Power Factor</a:t>
            </a:r>
          </a:p>
          <a:p>
            <a:r>
              <a:rPr lang="en-GB" altLang="en-US"/>
              <a:t>Typical Z&lt; setting is to allow 3 or 4 times full load current to flow.</a:t>
            </a:r>
          </a:p>
          <a:p>
            <a:endParaRPr lang="en-GB"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23D630-DA50-484E-B623-BA161857B048}" type="slidenum">
              <a:rPr lang="en-GB" altLang="en-US"/>
              <a:pPr/>
              <a:t>39</a:t>
            </a:fld>
            <a:endParaRPr lang="en-GB" altLang="en-US"/>
          </a:p>
        </p:txBody>
      </p:sp>
      <p:sp>
        <p:nvSpPr>
          <p:cNvPr id="72706" name="Rectangle 2"/>
          <p:cNvSpPr>
            <a:spLocks noGrp="1" noRot="1" noChangeAspect="1" noChangeArrowheads="1" noTextEdit="1"/>
          </p:cNvSpPr>
          <p:nvPr>
            <p:ph type="sldImg"/>
          </p:nvPr>
        </p:nvSpPr>
        <p:spPr>
          <a:xfrm>
            <a:off x="692150" y="527050"/>
            <a:ext cx="5708650" cy="4281488"/>
          </a:xfrm>
          <a:ln/>
        </p:spPr>
      </p:sp>
      <p:sp>
        <p:nvSpPr>
          <p:cNvPr id="72707" name="Rectangle 3"/>
          <p:cNvSpPr>
            <a:spLocks noGrp="1" noChangeArrowheads="1"/>
          </p:cNvSpPr>
          <p:nvPr>
            <p:ph type="body" idx="1"/>
          </p:nvPr>
        </p:nvSpPr>
        <p:spPr>
          <a:xfrm>
            <a:off x="765175" y="5486400"/>
            <a:ext cx="5637213" cy="3963988"/>
          </a:xfrm>
        </p:spPr>
        <p:txBody>
          <a:bodyPr lIns="96184" tIns="48091" rIns="96184" bIns="48091"/>
          <a:lstStyle/>
          <a:p>
            <a:endParaRPr lang="en-US" altLang="en-US"/>
          </a:p>
        </p:txBody>
      </p:sp>
    </p:spTree>
    <p:extLst>
      <p:ext uri="{BB962C8B-B14F-4D97-AF65-F5344CB8AC3E}">
        <p14:creationId xmlns:p14="http://schemas.microsoft.com/office/powerpoint/2010/main" val="21567053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7D49DD-B29B-43C7-AD96-0E891362057E}" type="slidenum">
              <a:rPr lang="en-GB" altLang="en-US"/>
              <a:pPr/>
              <a:t>40</a:t>
            </a:fld>
            <a:endParaRPr lang="en-GB" altLang="en-US"/>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2720061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021EEE-2B30-4D5F-AEB3-8778153BDC0D}" type="slidenum">
              <a:rPr lang="en-GB" altLang="en-US"/>
              <a:pPr/>
              <a:t>41</a:t>
            </a:fld>
            <a:endParaRPr lang="en-GB" altLang="en-US"/>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6987953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CBFF27-B9DD-4449-8AC4-A638DCDB5CFD}" type="slidenum">
              <a:rPr lang="en-GB" altLang="en-US"/>
              <a:pPr/>
              <a:t>42</a:t>
            </a:fld>
            <a:endParaRPr lang="en-GB" altLang="en-US"/>
          </a:p>
        </p:txBody>
      </p:sp>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9029754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44DA91-8807-4A3A-ADDC-FA2545A265A0}" type="slidenum">
              <a:rPr lang="en-GB" altLang="en-US"/>
              <a:pPr/>
              <a:t>43</a:t>
            </a:fld>
            <a:endParaRPr lang="en-GB" altLang="en-US"/>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053392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9F419D-A4C9-4821-9F5E-F88841DB3590}" type="slidenum">
              <a:rPr lang="en-GB" altLang="en-US"/>
              <a:pPr/>
              <a:t>44</a:t>
            </a:fld>
            <a:endParaRPr lang="en-GB" altLang="en-US"/>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05833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7400DC-140D-47F9-8D53-3AE506E91919}" type="slidenum">
              <a:rPr lang="en-GB" altLang="en-US"/>
              <a:pPr/>
              <a:t>45</a:t>
            </a:fld>
            <a:endParaRPr lang="en-GB" altLang="en-US"/>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41340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9B09CF-A78F-4D8C-9DAD-44DE92DDD7C3}" type="slidenum">
              <a:rPr lang="en-GB" altLang="en-US"/>
              <a:pPr/>
              <a:t>46</a:t>
            </a:fld>
            <a:endParaRPr lang="en-GB" altLang="en-US"/>
          </a:p>
        </p:txBody>
      </p:sp>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4846522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B8D598-A143-432A-B475-6FEC7DCAE296}" type="slidenum">
              <a:rPr lang="en-GB" altLang="en-US"/>
              <a:pPr/>
              <a:t>47</a:t>
            </a:fld>
            <a:endParaRPr lang="en-GB" alt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076866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5C9410-2047-495A-B6B8-8A013A23354E}" type="slidenum">
              <a:rPr lang="en-GB" altLang="en-US"/>
              <a:pPr/>
              <a:t>48</a:t>
            </a:fld>
            <a:endParaRPr lang="en-GB" altLang="en-US"/>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978446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B80EC8-7EBD-42DE-B6DD-A381BA39046D}" type="slidenum">
              <a:rPr lang="en-GB" altLang="en-US"/>
              <a:pPr/>
              <a:t>49</a:t>
            </a:fld>
            <a:endParaRPr lang="en-GB" altLang="en-US"/>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0513885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5C9410-2047-495A-B6B8-8A013A23354E}" type="slidenum">
              <a:rPr lang="en-GB" altLang="en-US"/>
              <a:pPr/>
              <a:t>50</a:t>
            </a:fld>
            <a:endParaRPr lang="en-GB" altLang="en-US"/>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2023950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AA5AAD-3A61-4DE6-B71D-867D35E3EA75}" type="slidenum">
              <a:rPr lang="en-GB" altLang="en-US"/>
              <a:pPr/>
              <a:t>52</a:t>
            </a:fld>
            <a:endParaRPr lang="en-GB" altLang="en-US"/>
          </a:p>
        </p:txBody>
      </p:sp>
      <p:sp>
        <p:nvSpPr>
          <p:cNvPr id="76802" name="Rectangle 2"/>
          <p:cNvSpPr>
            <a:spLocks noGrp="1" noRot="1" noChangeAspect="1" noChangeArrowheads="1" noTextEdit="1"/>
          </p:cNvSpPr>
          <p:nvPr>
            <p:ph type="sldImg"/>
          </p:nvPr>
        </p:nvSpPr>
        <p:spPr>
          <a:xfrm>
            <a:off x="692150" y="527050"/>
            <a:ext cx="5708650" cy="4281488"/>
          </a:xfrm>
          <a:ln/>
        </p:spPr>
      </p:sp>
      <p:sp>
        <p:nvSpPr>
          <p:cNvPr id="76803" name="Rectangle 3"/>
          <p:cNvSpPr>
            <a:spLocks noGrp="1" noChangeArrowheads="1"/>
          </p:cNvSpPr>
          <p:nvPr>
            <p:ph type="body" idx="1"/>
          </p:nvPr>
        </p:nvSpPr>
        <p:spPr>
          <a:xfrm>
            <a:off x="765175" y="5486400"/>
            <a:ext cx="5637213" cy="3963988"/>
          </a:xfrm>
        </p:spPr>
        <p:txBody>
          <a:bodyPr lIns="96184" tIns="48091" rIns="96184" bIns="48091"/>
          <a:lstStyle/>
          <a:p>
            <a:endParaRPr lang="en-US" altLang="en-US"/>
          </a:p>
        </p:txBody>
      </p:sp>
    </p:spTree>
    <p:extLst>
      <p:ext uri="{BB962C8B-B14F-4D97-AF65-F5344CB8AC3E}">
        <p14:creationId xmlns:p14="http://schemas.microsoft.com/office/powerpoint/2010/main" val="22571125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346877-1945-480E-B55D-1249EEB4ED9E}" type="slidenum">
              <a:rPr lang="en-GB" altLang="en-US"/>
              <a:pPr/>
              <a:t>53</a:t>
            </a:fld>
            <a:endParaRPr lang="en-GB" altLang="en-US"/>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224034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DD593C-37DC-4A35-9905-27C2F9F069C6}" type="slidenum">
              <a:rPr lang="en-GB" altLang="en-US"/>
              <a:pPr/>
              <a:t>54</a:t>
            </a:fld>
            <a:endParaRPr lang="en-GB" altLang="en-US"/>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2666576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FB349E-B6DF-4CA8-8944-3C79105E55AC}" type="slidenum">
              <a:rPr lang="en-GB" altLang="en-US"/>
              <a:pPr/>
              <a:t>55</a:t>
            </a:fld>
            <a:endParaRPr lang="en-GB" altLang="en-US"/>
          </a:p>
        </p:txBody>
      </p:sp>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000224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337CEA-921A-4F1D-82AB-E884629069E7}" type="slidenum">
              <a:rPr lang="en-GB" altLang="en-US"/>
              <a:pPr/>
              <a:t>56</a:t>
            </a:fld>
            <a:endParaRPr lang="en-GB" altLang="en-US"/>
          </a:p>
        </p:txBody>
      </p:sp>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430012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AD4913-DBBA-40FD-94FD-392EFED8FCE2}" type="slidenum">
              <a:rPr altLang="en-US"/>
              <a:pPr/>
              <a:t>57</a:t>
            </a:fld>
            <a:endParaRPr lang="en-US" altLang="en-US"/>
          </a:p>
        </p:txBody>
      </p:sp>
      <p:sp>
        <p:nvSpPr>
          <p:cNvPr id="1086466" name="Rectangle 2"/>
          <p:cNvSpPr>
            <a:spLocks noGrp="1" noRot="1" noChangeAspect="1" noChangeArrowheads="1" noTextEdit="1"/>
          </p:cNvSpPr>
          <p:nvPr>
            <p:ph type="sldImg"/>
          </p:nvPr>
        </p:nvSpPr>
        <p:spPr>
          <a:xfrm>
            <a:off x="423863" y="622300"/>
            <a:ext cx="5826125" cy="4368800"/>
          </a:xfrm>
          <a:ln/>
        </p:spPr>
      </p:sp>
      <p:sp>
        <p:nvSpPr>
          <p:cNvPr id="1086467" name="Rectangle 3"/>
          <p:cNvSpPr>
            <a:spLocks noGrp="1" noChangeArrowheads="1"/>
          </p:cNvSpPr>
          <p:nvPr>
            <p:ph type="body" idx="1"/>
          </p:nvPr>
        </p:nvSpPr>
        <p:spPr>
          <a:xfrm>
            <a:off x="465138" y="5334000"/>
            <a:ext cx="5681662" cy="1222375"/>
          </a:xfrm>
        </p:spPr>
        <p:txBody>
          <a:bodyPr/>
          <a:lstStyle/>
          <a:p>
            <a:endParaRPr lang="de-DE"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themeOverride" Target="../theme/themeOverride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07618" name="Rectangle 2"/>
          <p:cNvSpPr>
            <a:spLocks noGrp="1" noChangeArrowheads="1"/>
          </p:cNvSpPr>
          <p:nvPr>
            <p:ph type="ctrTitle"/>
          </p:nvPr>
        </p:nvSpPr>
        <p:spPr>
          <a:xfrm>
            <a:off x="431800" y="77788"/>
            <a:ext cx="8280400" cy="1550987"/>
          </a:xfrm>
        </p:spPr>
        <p:txBody>
          <a:bodyPr/>
          <a:lstStyle>
            <a:lvl1pPr>
              <a:defRPr sz="4000"/>
            </a:lvl1pPr>
          </a:lstStyle>
          <a:p>
            <a:pPr lvl="0"/>
            <a:r>
              <a:rPr lang="en-GB" altLang="en-US" noProof="0"/>
              <a:t>title</a:t>
            </a:r>
          </a:p>
        </p:txBody>
      </p:sp>
      <p:sp>
        <p:nvSpPr>
          <p:cNvPr id="1007619" name="Rectangle 3"/>
          <p:cNvSpPr>
            <a:spLocks noGrp="1" noChangeArrowheads="1"/>
          </p:cNvSpPr>
          <p:nvPr>
            <p:ph type="subTitle" idx="1"/>
          </p:nvPr>
        </p:nvSpPr>
        <p:spPr>
          <a:xfrm>
            <a:off x="431800" y="1773238"/>
            <a:ext cx="4968875" cy="1655762"/>
          </a:xfrm>
          <a:extLst>
            <a:ext uri="{91240B29-F687-4F45-9708-019B960494DF}">
              <a14:hiddenLine xmlns:a14="http://schemas.microsoft.com/office/drawing/2010/main" w="9525">
                <a:solidFill>
                  <a:schemeClr val="tx1"/>
                </a:solidFill>
                <a:miter lim="800000"/>
                <a:headEnd/>
                <a:tailEnd/>
              </a14:hiddenLine>
            </a:ext>
          </a:extLst>
        </p:spPr>
        <p:txBody>
          <a:bodyPr tIns="45720" rIns="54000" bIns="45720"/>
          <a:lstStyle>
            <a:lvl1pPr marL="0" indent="0">
              <a:buFont typeface="Arial" panose="020B0604020202020204" pitchFamily="34" charset="0"/>
              <a:buNone/>
              <a:defRPr>
                <a:solidFill>
                  <a:schemeClr val="tx1"/>
                </a:solidFill>
              </a:defRPr>
            </a:lvl1pPr>
          </a:lstStyle>
          <a:p>
            <a:pPr lvl="0"/>
            <a:r>
              <a:rPr lang="en-GB" altLang="en-US" noProof="0"/>
              <a:t>sub-title</a:t>
            </a:r>
          </a:p>
        </p:txBody>
      </p:sp>
      <p:sp>
        <p:nvSpPr>
          <p:cNvPr id="1007620" name="Rectangle 4"/>
          <p:cNvSpPr>
            <a:spLocks noGrp="1" noChangeArrowheads="1"/>
          </p:cNvSpPr>
          <p:nvPr>
            <p:ph type="ftr" sz="quarter" idx="3"/>
          </p:nvPr>
        </p:nvSpPr>
        <p:spPr bwMode="auto">
          <a:xfrm>
            <a:off x="6372225" y="5229225"/>
            <a:ext cx="2270125" cy="13684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9600">
                <a:latin typeface="Arial" panose="020B0604020202020204" pitchFamily="34" charset="0"/>
              </a:defRPr>
            </a:lvl1pPr>
          </a:lstStyle>
          <a:p>
            <a:endParaRPr lang="fr-FR" altLang="en-US"/>
          </a:p>
        </p:txBody>
      </p:sp>
      <p:pic>
        <p:nvPicPr>
          <p:cNvPr id="1007621" name="Picture 5" descr="Logo SE A4 Blan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7763" y="5734050"/>
            <a:ext cx="2576512" cy="941388"/>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dk2" tx1="lt1" bg2="dk1"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vl1pPr>
            <a:lvl2pPr>
              <a:defRPr sz="2400"/>
            </a:lvl2pPr>
            <a:lvl3pPr>
              <a:defRPr sz="2400"/>
            </a:lvl3pPr>
            <a:lvl4pPr>
              <a:defRPr sz="2400"/>
            </a:lvl4pPr>
            <a:lvl5pPr>
              <a:defRPr sz="2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10264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4026369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1800" y="1773238"/>
            <a:ext cx="4064000" cy="4525962"/>
          </a:xfrm>
        </p:spPr>
        <p:txBody>
          <a:bodyPr/>
          <a:lstStyle>
            <a:lvl1pPr>
              <a:defRPr sz="2400"/>
            </a:lvl1pPr>
            <a:lvl2pPr>
              <a:defRPr sz="2400"/>
            </a:lvl2pPr>
            <a:lvl3pPr>
              <a:defRPr sz="2400"/>
            </a:lvl3pPr>
            <a:lvl4pPr>
              <a:defRPr sz="2400"/>
            </a:lvl4pPr>
            <a:lvl5pPr>
              <a:defRPr sz="2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773238"/>
            <a:ext cx="4064000" cy="4525962"/>
          </a:xfrm>
        </p:spPr>
        <p:txBody>
          <a:bodyPr/>
          <a:lstStyle>
            <a:lvl1pPr>
              <a:defRPr sz="2400"/>
            </a:lvl1pPr>
            <a:lvl2pPr>
              <a:defRPr sz="2400"/>
            </a:lvl2pPr>
            <a:lvl3pPr>
              <a:defRPr sz="2400"/>
            </a:lvl3pPr>
            <a:lvl4pPr>
              <a:defRPr sz="2400"/>
            </a:lvl4pPr>
            <a:lvl5pPr>
              <a:defRPr sz="2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7393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7104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9291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0077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406233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586264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8854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77788"/>
            <a:ext cx="2070100" cy="62214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1800" y="77788"/>
            <a:ext cx="6057900" cy="62214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2006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AndTx" preserve="1">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31800" y="77788"/>
            <a:ext cx="8280400" cy="1150937"/>
          </a:xfrm>
        </p:spPr>
        <p:txBody>
          <a:bodyPr/>
          <a:lstStyle/>
          <a:p>
            <a:r>
              <a:rPr lang="en-US"/>
              <a:t>Click to edit Master title style</a:t>
            </a:r>
          </a:p>
        </p:txBody>
      </p:sp>
      <p:sp>
        <p:nvSpPr>
          <p:cNvPr id="3" name="Chart Placeholder 2"/>
          <p:cNvSpPr>
            <a:spLocks noGrp="1"/>
          </p:cNvSpPr>
          <p:nvPr>
            <p:ph type="chart" sz="half" idx="1"/>
          </p:nvPr>
        </p:nvSpPr>
        <p:spPr>
          <a:xfrm>
            <a:off x="431800" y="1773238"/>
            <a:ext cx="4064000" cy="4525962"/>
          </a:xfrm>
        </p:spPr>
        <p:txBody>
          <a:bodyPr/>
          <a:lstStyle/>
          <a:p>
            <a:endParaRPr lang="en-US"/>
          </a:p>
        </p:txBody>
      </p:sp>
      <p:sp>
        <p:nvSpPr>
          <p:cNvPr id="4" name="Text Placeholder 3"/>
          <p:cNvSpPr>
            <a:spLocks noGrp="1"/>
          </p:cNvSpPr>
          <p:nvPr>
            <p:ph type="body" sz="half" idx="2"/>
          </p:nvPr>
        </p:nvSpPr>
        <p:spPr>
          <a:xfrm>
            <a:off x="4648200" y="1773238"/>
            <a:ext cx="4064000" cy="4525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910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85725"/>
            <a:ext cx="8077200" cy="990600"/>
          </a:xfrm>
        </p:spPr>
        <p:txBody>
          <a:bodyPr/>
          <a:lstStyle/>
          <a:p>
            <a:r>
              <a:rPr lang="en-US"/>
              <a:t>Click to edit Master title style</a:t>
            </a:r>
          </a:p>
        </p:txBody>
      </p:sp>
      <p:sp>
        <p:nvSpPr>
          <p:cNvPr id="3" name="Content Placeholder 2"/>
          <p:cNvSpPr>
            <a:spLocks noGrp="1"/>
          </p:cNvSpPr>
          <p:nvPr>
            <p:ph sz="half" idx="1"/>
          </p:nvPr>
        </p:nvSpPr>
        <p:spPr>
          <a:xfrm>
            <a:off x="1314450" y="1905000"/>
            <a:ext cx="3609975" cy="47148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76825" y="1905000"/>
            <a:ext cx="3609975" cy="47148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5146868"/>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5" descr="Logo SE A4 Blan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7763" y="5734050"/>
            <a:ext cx="2576512"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7698" name="Rectangle 2"/>
          <p:cNvSpPr>
            <a:spLocks noGrp="1" noChangeArrowheads="1"/>
          </p:cNvSpPr>
          <p:nvPr>
            <p:ph type="ctrTitle"/>
          </p:nvPr>
        </p:nvSpPr>
        <p:spPr>
          <a:xfrm>
            <a:off x="431800" y="77788"/>
            <a:ext cx="8280400" cy="1550987"/>
          </a:xfrm>
        </p:spPr>
        <p:txBody>
          <a:bodyPr/>
          <a:lstStyle>
            <a:lvl1pPr>
              <a:defRPr sz="4800"/>
            </a:lvl1pPr>
          </a:lstStyle>
          <a:p>
            <a:r>
              <a:rPr lang="en-US"/>
              <a:t>title</a:t>
            </a:r>
          </a:p>
        </p:txBody>
      </p:sp>
      <p:sp>
        <p:nvSpPr>
          <p:cNvPr id="797699" name="Rectangle 3"/>
          <p:cNvSpPr>
            <a:spLocks noGrp="1" noChangeArrowheads="1"/>
          </p:cNvSpPr>
          <p:nvPr>
            <p:ph type="subTitle" idx="1"/>
          </p:nvPr>
        </p:nvSpPr>
        <p:spPr>
          <a:xfrm>
            <a:off x="431800" y="1773238"/>
            <a:ext cx="4968875" cy="1655762"/>
          </a:xfrm>
        </p:spPr>
        <p:txBody>
          <a:bodyPr tIns="45720" rIns="54000" bIns="45720"/>
          <a:lstStyle>
            <a:lvl1pPr marL="0" indent="0">
              <a:buFont typeface="Arial" charset="0"/>
              <a:buNone/>
              <a:defRPr>
                <a:solidFill>
                  <a:schemeClr val="tx1"/>
                </a:solidFill>
              </a:defRPr>
            </a:lvl1pPr>
          </a:lstStyle>
          <a:p>
            <a:r>
              <a:rPr lang="en-US"/>
              <a:t>Sub-title</a:t>
            </a:r>
          </a:p>
        </p:txBody>
      </p:sp>
      <p:sp>
        <p:nvSpPr>
          <p:cNvPr id="5" name="Footer Placeholder 4"/>
          <p:cNvSpPr>
            <a:spLocks noGrp="1" noChangeArrowheads="1"/>
          </p:cNvSpPr>
          <p:nvPr>
            <p:ph type="ftr" sz="quarter" idx="10"/>
          </p:nvPr>
        </p:nvSpPr>
        <p:spPr bwMode="auto">
          <a:xfrm>
            <a:off x="6372225" y="5229225"/>
            <a:ext cx="2270125" cy="1368425"/>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ClrTx/>
              <a:buSzTx/>
              <a:buFontTx/>
              <a:buNone/>
              <a:defRPr sz="9600" b="0" i="0">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9600" b="0" i="0" u="none" strike="noStrike" kern="1200" cap="none" spc="0" normalizeH="0" baseline="0" noProof="0">
              <a:ln>
                <a:noFill/>
              </a:ln>
              <a:solidFill>
                <a:srgbClr val="FFFFFF"/>
              </a:solidFill>
              <a:effectLst/>
              <a:uLnTx/>
              <a:uFillTx/>
              <a:latin typeface="Arial" charset="0"/>
              <a:ea typeface="+mn-ea"/>
              <a:cs typeface="+mn-cs"/>
            </a:endParaRPr>
          </a:p>
        </p:txBody>
      </p:sp>
    </p:spTree>
    <p:extLst>
      <p:ext uri="{BB962C8B-B14F-4D97-AF65-F5344CB8AC3E}">
        <p14:creationId xmlns:p14="http://schemas.microsoft.com/office/powerpoint/2010/main" val="3578497852"/>
      </p:ext>
    </p:extLst>
  </p:cSld>
  <p:clrMapOvr>
    <a:overrideClrMapping bg1="dk2" tx1="lt1" bg2="dk1"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0411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204905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1800" y="1773238"/>
            <a:ext cx="40640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73238"/>
            <a:ext cx="40640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8787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19796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873253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573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698590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3919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73492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77788"/>
            <a:ext cx="2070100" cy="62214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1800" y="77788"/>
            <a:ext cx="6057900" cy="62214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8523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1800" y="77788"/>
            <a:ext cx="8280400" cy="1150937"/>
          </a:xfrm>
        </p:spPr>
        <p:txBody>
          <a:bodyPr/>
          <a:lstStyle/>
          <a:p>
            <a:r>
              <a:rPr lang="en-US"/>
              <a:t>Click to edit Master title style</a:t>
            </a:r>
          </a:p>
        </p:txBody>
      </p:sp>
      <p:sp>
        <p:nvSpPr>
          <p:cNvPr id="3" name="Text Placeholder 2"/>
          <p:cNvSpPr>
            <a:spLocks noGrp="1"/>
          </p:cNvSpPr>
          <p:nvPr>
            <p:ph type="body" sz="half" idx="1"/>
          </p:nvPr>
        </p:nvSpPr>
        <p:spPr>
          <a:xfrm>
            <a:off x="431800" y="1773238"/>
            <a:ext cx="4064000" cy="4525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73238"/>
            <a:ext cx="4064000" cy="4525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3013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5" descr="Logo SE A4 Blan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7763" y="5734050"/>
            <a:ext cx="2576512"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7698" name="Rectangle 2"/>
          <p:cNvSpPr>
            <a:spLocks noGrp="1" noChangeArrowheads="1"/>
          </p:cNvSpPr>
          <p:nvPr>
            <p:ph type="ctrTitle"/>
          </p:nvPr>
        </p:nvSpPr>
        <p:spPr>
          <a:xfrm>
            <a:off x="431800" y="77788"/>
            <a:ext cx="8280400" cy="1550987"/>
          </a:xfrm>
        </p:spPr>
        <p:txBody>
          <a:bodyPr/>
          <a:lstStyle>
            <a:lvl1pPr>
              <a:defRPr sz="4800"/>
            </a:lvl1pPr>
          </a:lstStyle>
          <a:p>
            <a:r>
              <a:rPr lang="en-US"/>
              <a:t>title</a:t>
            </a:r>
          </a:p>
        </p:txBody>
      </p:sp>
      <p:sp>
        <p:nvSpPr>
          <p:cNvPr id="797699" name="Rectangle 3"/>
          <p:cNvSpPr>
            <a:spLocks noGrp="1" noChangeArrowheads="1"/>
          </p:cNvSpPr>
          <p:nvPr>
            <p:ph type="subTitle" idx="1"/>
          </p:nvPr>
        </p:nvSpPr>
        <p:spPr>
          <a:xfrm>
            <a:off x="431800" y="1773238"/>
            <a:ext cx="4968875" cy="1655762"/>
          </a:xfrm>
        </p:spPr>
        <p:txBody>
          <a:bodyPr tIns="45720" rIns="54000" bIns="45720"/>
          <a:lstStyle>
            <a:lvl1pPr marL="0" indent="0">
              <a:buFont typeface="Arial" charset="0"/>
              <a:buNone/>
              <a:defRPr>
                <a:solidFill>
                  <a:schemeClr val="tx1"/>
                </a:solidFill>
              </a:defRPr>
            </a:lvl1pPr>
          </a:lstStyle>
          <a:p>
            <a:r>
              <a:rPr lang="en-US"/>
              <a:t>Sub-title</a:t>
            </a:r>
          </a:p>
        </p:txBody>
      </p:sp>
      <p:sp>
        <p:nvSpPr>
          <p:cNvPr id="5" name="Footer Placeholder 4"/>
          <p:cNvSpPr>
            <a:spLocks noGrp="1" noChangeArrowheads="1"/>
          </p:cNvSpPr>
          <p:nvPr>
            <p:ph type="ftr" sz="quarter" idx="10"/>
          </p:nvPr>
        </p:nvSpPr>
        <p:spPr bwMode="auto">
          <a:xfrm>
            <a:off x="6372225" y="5229225"/>
            <a:ext cx="2270125" cy="1368425"/>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ClrTx/>
              <a:buSzTx/>
              <a:buFontTx/>
              <a:buNone/>
              <a:defRPr sz="9600" b="0" i="0">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9600" b="0" i="0" u="none" strike="noStrike" kern="1200" cap="none" spc="0" normalizeH="0" baseline="0" noProof="0">
              <a:ln>
                <a:noFill/>
              </a:ln>
              <a:solidFill>
                <a:srgbClr val="FFFFFF"/>
              </a:solidFill>
              <a:effectLst/>
              <a:uLnTx/>
              <a:uFillTx/>
              <a:latin typeface="Arial" charset="0"/>
              <a:ea typeface="+mn-ea"/>
              <a:cs typeface="+mn-cs"/>
            </a:endParaRPr>
          </a:p>
        </p:txBody>
      </p:sp>
    </p:spTree>
    <p:extLst>
      <p:ext uri="{BB962C8B-B14F-4D97-AF65-F5344CB8AC3E}">
        <p14:creationId xmlns:p14="http://schemas.microsoft.com/office/powerpoint/2010/main" val="1504462140"/>
      </p:ext>
    </p:extLst>
  </p:cSld>
  <p:clrMapOvr>
    <a:overrideClrMapping bg1="dk2" tx1="lt1" bg2="dk1"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55517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992697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1800" y="1773238"/>
            <a:ext cx="40640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73238"/>
            <a:ext cx="40640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15999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19190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923268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00125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925747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451502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84668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77788"/>
            <a:ext cx="2070100" cy="62214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1800" y="77788"/>
            <a:ext cx="6057900" cy="62214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60051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1800" y="77788"/>
            <a:ext cx="8280400" cy="1150937"/>
          </a:xfrm>
        </p:spPr>
        <p:txBody>
          <a:bodyPr/>
          <a:lstStyle/>
          <a:p>
            <a:r>
              <a:rPr lang="en-US"/>
              <a:t>Click to edit Master title style</a:t>
            </a:r>
          </a:p>
        </p:txBody>
      </p:sp>
      <p:sp>
        <p:nvSpPr>
          <p:cNvPr id="3" name="Text Placeholder 2"/>
          <p:cNvSpPr>
            <a:spLocks noGrp="1"/>
          </p:cNvSpPr>
          <p:nvPr>
            <p:ph type="body" sz="half" idx="1"/>
          </p:nvPr>
        </p:nvSpPr>
        <p:spPr>
          <a:xfrm>
            <a:off x="431800" y="1773238"/>
            <a:ext cx="4064000" cy="4525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73238"/>
            <a:ext cx="4064000" cy="4525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8015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06594" name="Rectangle 2"/>
          <p:cNvSpPr>
            <a:spLocks noChangeArrowheads="1"/>
          </p:cNvSpPr>
          <p:nvPr/>
        </p:nvSpPr>
        <p:spPr bwMode="auto">
          <a:xfrm>
            <a:off x="468313" y="6577013"/>
            <a:ext cx="806450"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defTabSz="661988">
              <a:defRPr sz="2400">
                <a:solidFill>
                  <a:schemeClr val="tx1"/>
                </a:solidFill>
                <a:latin typeface="Times New Roman" panose="02020603050405020304" pitchFamily="18" charset="0"/>
              </a:defRPr>
            </a:lvl1pPr>
            <a:lvl2pPr marL="495300" algn="l" defTabSz="661988">
              <a:defRPr sz="2400">
                <a:solidFill>
                  <a:schemeClr val="tx1"/>
                </a:solidFill>
                <a:latin typeface="Times New Roman" panose="02020603050405020304" pitchFamily="18" charset="0"/>
              </a:defRPr>
            </a:lvl2pPr>
            <a:lvl3pPr marL="992188" algn="l" defTabSz="661988">
              <a:defRPr sz="2400">
                <a:solidFill>
                  <a:schemeClr val="tx1"/>
                </a:solidFill>
                <a:latin typeface="Times New Roman" panose="02020603050405020304" pitchFamily="18" charset="0"/>
              </a:defRPr>
            </a:lvl3pPr>
            <a:lvl4pPr marL="1487488" algn="l" defTabSz="661988">
              <a:defRPr sz="2400">
                <a:solidFill>
                  <a:schemeClr val="tx1"/>
                </a:solidFill>
                <a:latin typeface="Times New Roman" panose="02020603050405020304" pitchFamily="18" charset="0"/>
              </a:defRPr>
            </a:lvl4pPr>
            <a:lvl5pPr marL="1984375" algn="l" defTabSz="661988">
              <a:defRPr sz="2400">
                <a:solidFill>
                  <a:schemeClr val="tx1"/>
                </a:solidFill>
                <a:latin typeface="Times New Roman" panose="02020603050405020304" pitchFamily="18" charset="0"/>
              </a:defRPr>
            </a:lvl5pPr>
            <a:lvl6pPr marL="2441575" defTabSz="661988" eaLnBrk="0" fontAlgn="base" hangingPunct="0">
              <a:spcBef>
                <a:spcPct val="0"/>
              </a:spcBef>
              <a:spcAft>
                <a:spcPct val="0"/>
              </a:spcAft>
              <a:defRPr sz="2400">
                <a:solidFill>
                  <a:schemeClr val="tx1"/>
                </a:solidFill>
                <a:latin typeface="Times New Roman" panose="02020603050405020304" pitchFamily="18" charset="0"/>
              </a:defRPr>
            </a:lvl6pPr>
            <a:lvl7pPr marL="2898775" defTabSz="661988" eaLnBrk="0" fontAlgn="base" hangingPunct="0">
              <a:spcBef>
                <a:spcPct val="0"/>
              </a:spcBef>
              <a:spcAft>
                <a:spcPct val="0"/>
              </a:spcAft>
              <a:defRPr sz="2400">
                <a:solidFill>
                  <a:schemeClr val="tx1"/>
                </a:solidFill>
                <a:latin typeface="Times New Roman" panose="02020603050405020304" pitchFamily="18" charset="0"/>
              </a:defRPr>
            </a:lvl7pPr>
            <a:lvl8pPr marL="3355975" defTabSz="661988" eaLnBrk="0" fontAlgn="base" hangingPunct="0">
              <a:spcBef>
                <a:spcPct val="0"/>
              </a:spcBef>
              <a:spcAft>
                <a:spcPct val="0"/>
              </a:spcAft>
              <a:defRPr sz="2400">
                <a:solidFill>
                  <a:schemeClr val="tx1"/>
                </a:solidFill>
                <a:latin typeface="Times New Roman" panose="02020603050405020304" pitchFamily="18" charset="0"/>
              </a:defRPr>
            </a:lvl8pPr>
            <a:lvl9pPr marL="3813175" defTabSz="6619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800">
                <a:solidFill>
                  <a:schemeClr val="bg2"/>
                </a:solidFill>
                <a:latin typeface="SEOptimist" pitchFamily="2" charset="0"/>
              </a:rPr>
              <a:t>Schneider Electric</a:t>
            </a:r>
          </a:p>
        </p:txBody>
      </p:sp>
      <p:sp>
        <p:nvSpPr>
          <p:cNvPr id="1006595" name="Rectangle 3"/>
          <p:cNvSpPr>
            <a:spLocks noChangeArrowheads="1"/>
          </p:cNvSpPr>
          <p:nvPr/>
        </p:nvSpPr>
        <p:spPr bwMode="auto">
          <a:xfrm>
            <a:off x="8604250" y="6599238"/>
            <a:ext cx="288925" cy="6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gn="l" defTabSz="661988">
              <a:defRPr sz="2400">
                <a:solidFill>
                  <a:schemeClr val="tx1"/>
                </a:solidFill>
                <a:latin typeface="Times New Roman" panose="02020603050405020304" pitchFamily="18" charset="0"/>
              </a:defRPr>
            </a:lvl1pPr>
            <a:lvl2pPr marL="495300" algn="l" defTabSz="661988">
              <a:defRPr sz="2400">
                <a:solidFill>
                  <a:schemeClr val="tx1"/>
                </a:solidFill>
                <a:latin typeface="Times New Roman" panose="02020603050405020304" pitchFamily="18" charset="0"/>
              </a:defRPr>
            </a:lvl2pPr>
            <a:lvl3pPr marL="992188" algn="l" defTabSz="661988">
              <a:defRPr sz="2400">
                <a:solidFill>
                  <a:schemeClr val="tx1"/>
                </a:solidFill>
                <a:latin typeface="Times New Roman" panose="02020603050405020304" pitchFamily="18" charset="0"/>
              </a:defRPr>
            </a:lvl3pPr>
            <a:lvl4pPr marL="1487488" algn="l" defTabSz="661988">
              <a:defRPr sz="2400">
                <a:solidFill>
                  <a:schemeClr val="tx1"/>
                </a:solidFill>
                <a:latin typeface="Times New Roman" panose="02020603050405020304" pitchFamily="18" charset="0"/>
              </a:defRPr>
            </a:lvl4pPr>
            <a:lvl5pPr marL="1984375" algn="l" defTabSz="661988">
              <a:defRPr sz="2400">
                <a:solidFill>
                  <a:schemeClr val="tx1"/>
                </a:solidFill>
                <a:latin typeface="Times New Roman" panose="02020603050405020304" pitchFamily="18" charset="0"/>
              </a:defRPr>
            </a:lvl5pPr>
            <a:lvl6pPr marL="2441575" defTabSz="661988" eaLnBrk="0" fontAlgn="base" hangingPunct="0">
              <a:spcBef>
                <a:spcPct val="0"/>
              </a:spcBef>
              <a:spcAft>
                <a:spcPct val="0"/>
              </a:spcAft>
              <a:defRPr sz="2400">
                <a:solidFill>
                  <a:schemeClr val="tx1"/>
                </a:solidFill>
                <a:latin typeface="Times New Roman" panose="02020603050405020304" pitchFamily="18" charset="0"/>
              </a:defRPr>
            </a:lvl6pPr>
            <a:lvl7pPr marL="2898775" defTabSz="661988" eaLnBrk="0" fontAlgn="base" hangingPunct="0">
              <a:spcBef>
                <a:spcPct val="0"/>
              </a:spcBef>
              <a:spcAft>
                <a:spcPct val="0"/>
              </a:spcAft>
              <a:defRPr sz="2400">
                <a:solidFill>
                  <a:schemeClr val="tx1"/>
                </a:solidFill>
                <a:latin typeface="Times New Roman" panose="02020603050405020304" pitchFamily="18" charset="0"/>
              </a:defRPr>
            </a:lvl7pPr>
            <a:lvl8pPr marL="3355975" defTabSz="661988" eaLnBrk="0" fontAlgn="base" hangingPunct="0">
              <a:spcBef>
                <a:spcPct val="0"/>
              </a:spcBef>
              <a:spcAft>
                <a:spcPct val="0"/>
              </a:spcAft>
              <a:defRPr sz="2400">
                <a:solidFill>
                  <a:schemeClr val="tx1"/>
                </a:solidFill>
                <a:latin typeface="Times New Roman" panose="02020603050405020304" pitchFamily="18" charset="0"/>
              </a:defRPr>
            </a:lvl8pPr>
            <a:lvl9pPr marL="3813175" defTabSz="661988" eaLnBrk="0" fontAlgn="base" hangingPunct="0">
              <a:spcBef>
                <a:spcPct val="0"/>
              </a:spcBef>
              <a:spcAft>
                <a:spcPct val="0"/>
              </a:spcAft>
              <a:defRPr sz="2400">
                <a:solidFill>
                  <a:schemeClr val="tx1"/>
                </a:solidFill>
                <a:latin typeface="Times New Roman" panose="02020603050405020304" pitchFamily="18" charset="0"/>
              </a:defRPr>
            </a:lvl9pPr>
          </a:lstStyle>
          <a:p>
            <a:fld id="{DF69C7EF-4EE7-42C8-BF3E-2B2D4064BA65}" type="slidenum">
              <a:rPr lang="en-US" altLang="en-US" sz="800">
                <a:solidFill>
                  <a:schemeClr val="bg2"/>
                </a:solidFill>
                <a:latin typeface="SEOptimist" pitchFamily="2" charset="0"/>
              </a:rPr>
              <a:pPr/>
              <a:t>‹#›</a:t>
            </a:fld>
            <a:endParaRPr lang="en-US" altLang="en-US" sz="800">
              <a:solidFill>
                <a:schemeClr val="bg2"/>
              </a:solidFill>
              <a:latin typeface="SEOptimist" pitchFamily="2" charset="0"/>
            </a:endParaRPr>
          </a:p>
        </p:txBody>
      </p:sp>
      <p:sp>
        <p:nvSpPr>
          <p:cNvPr id="1006596" name="Rectangle 4"/>
          <p:cNvSpPr>
            <a:spLocks noGrp="1" noChangeArrowheads="1"/>
          </p:cNvSpPr>
          <p:nvPr>
            <p:ph type="body" idx="1"/>
          </p:nvPr>
        </p:nvSpPr>
        <p:spPr bwMode="auto">
          <a:xfrm>
            <a:off x="431800" y="1773238"/>
            <a:ext cx="82804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D1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18000" bIns="10800" numCol="1" anchor="t" anchorCtr="0" compatLnSpc="1">
            <a:prstTxWarp prst="textNoShape">
              <a:avLst/>
            </a:prstTxWarp>
          </a:bodyPr>
          <a:lstStyle/>
          <a:p>
            <a:pPr lvl="0"/>
            <a:r>
              <a:rPr lang="en-US" altLang="en-US" dirty="0"/>
              <a:t>First level</a:t>
            </a:r>
          </a:p>
          <a:p>
            <a:pPr lvl="1"/>
            <a:r>
              <a:rPr lang="en-US" altLang="en-US" dirty="0"/>
              <a:t>Second level</a:t>
            </a:r>
          </a:p>
          <a:p>
            <a:pPr lvl="2"/>
            <a:r>
              <a:rPr lang="en-US" altLang="en-US" dirty="0"/>
              <a:t>Third level</a:t>
            </a:r>
          </a:p>
        </p:txBody>
      </p:sp>
      <p:sp>
        <p:nvSpPr>
          <p:cNvPr id="1006597" name="Rectangle 5"/>
          <p:cNvSpPr>
            <a:spLocks noGrp="1" noChangeArrowheads="1"/>
          </p:cNvSpPr>
          <p:nvPr>
            <p:ph type="title"/>
          </p:nvPr>
        </p:nvSpPr>
        <p:spPr bwMode="auto">
          <a:xfrm>
            <a:off x="431800" y="77788"/>
            <a:ext cx="8280400"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800" rIns="0" bIns="10800" numCol="1" anchor="ctr" anchorCtr="0" compatLnSpc="1">
            <a:prstTxWarp prst="textNoShape">
              <a:avLst/>
            </a:prstTxWarp>
          </a:bodyPr>
          <a:lstStyle/>
          <a:p>
            <a:pPr lvl="0"/>
            <a:r>
              <a:rPr lang="en-US" altLang="en-US" dirty="0"/>
              <a:t>Title</a:t>
            </a:r>
          </a:p>
        </p:txBody>
      </p:sp>
      <p:sp>
        <p:nvSpPr>
          <p:cNvPr id="1006598" name="Rectangle 6"/>
          <p:cNvSpPr>
            <a:spLocks noChangeArrowheads="1"/>
          </p:cNvSpPr>
          <p:nvPr/>
        </p:nvSpPr>
        <p:spPr bwMode="auto">
          <a:xfrm>
            <a:off x="1325563" y="6577013"/>
            <a:ext cx="1601787"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defTabSz="661988">
              <a:defRPr sz="2400">
                <a:solidFill>
                  <a:schemeClr val="tx1"/>
                </a:solidFill>
                <a:latin typeface="Times New Roman" panose="02020603050405020304" pitchFamily="18" charset="0"/>
              </a:defRPr>
            </a:lvl1pPr>
            <a:lvl2pPr marL="495300" algn="l" defTabSz="661988">
              <a:defRPr sz="2400">
                <a:solidFill>
                  <a:schemeClr val="tx1"/>
                </a:solidFill>
                <a:latin typeface="Times New Roman" panose="02020603050405020304" pitchFamily="18" charset="0"/>
              </a:defRPr>
            </a:lvl2pPr>
            <a:lvl3pPr marL="992188" algn="l" defTabSz="661988">
              <a:defRPr sz="2400">
                <a:solidFill>
                  <a:schemeClr val="tx1"/>
                </a:solidFill>
                <a:latin typeface="Times New Roman" panose="02020603050405020304" pitchFamily="18" charset="0"/>
              </a:defRPr>
            </a:lvl3pPr>
            <a:lvl4pPr marL="1487488" algn="l" defTabSz="661988">
              <a:defRPr sz="2400">
                <a:solidFill>
                  <a:schemeClr val="tx1"/>
                </a:solidFill>
                <a:latin typeface="Times New Roman" panose="02020603050405020304" pitchFamily="18" charset="0"/>
              </a:defRPr>
            </a:lvl4pPr>
            <a:lvl5pPr marL="1984375" algn="l" defTabSz="661988">
              <a:defRPr sz="2400">
                <a:solidFill>
                  <a:schemeClr val="tx1"/>
                </a:solidFill>
                <a:latin typeface="Times New Roman" panose="02020603050405020304" pitchFamily="18" charset="0"/>
              </a:defRPr>
            </a:lvl5pPr>
            <a:lvl6pPr marL="2441575" defTabSz="661988" eaLnBrk="0" fontAlgn="base" hangingPunct="0">
              <a:spcBef>
                <a:spcPct val="0"/>
              </a:spcBef>
              <a:spcAft>
                <a:spcPct val="0"/>
              </a:spcAft>
              <a:defRPr sz="2400">
                <a:solidFill>
                  <a:schemeClr val="tx1"/>
                </a:solidFill>
                <a:latin typeface="Times New Roman" panose="02020603050405020304" pitchFamily="18" charset="0"/>
              </a:defRPr>
            </a:lvl6pPr>
            <a:lvl7pPr marL="2898775" defTabSz="661988" eaLnBrk="0" fontAlgn="base" hangingPunct="0">
              <a:spcBef>
                <a:spcPct val="0"/>
              </a:spcBef>
              <a:spcAft>
                <a:spcPct val="0"/>
              </a:spcAft>
              <a:defRPr sz="2400">
                <a:solidFill>
                  <a:schemeClr val="tx1"/>
                </a:solidFill>
                <a:latin typeface="Times New Roman" panose="02020603050405020304" pitchFamily="18" charset="0"/>
              </a:defRPr>
            </a:lvl7pPr>
            <a:lvl8pPr marL="3355975" defTabSz="661988" eaLnBrk="0" fontAlgn="base" hangingPunct="0">
              <a:spcBef>
                <a:spcPct val="0"/>
              </a:spcBef>
              <a:spcAft>
                <a:spcPct val="0"/>
              </a:spcAft>
              <a:defRPr sz="2400">
                <a:solidFill>
                  <a:schemeClr val="tx1"/>
                </a:solidFill>
                <a:latin typeface="Times New Roman" panose="02020603050405020304" pitchFamily="18" charset="0"/>
              </a:defRPr>
            </a:lvl8pPr>
            <a:lvl9pPr marL="3813175" defTabSz="6619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800">
                <a:solidFill>
                  <a:schemeClr val="bg2"/>
                </a:solidFill>
                <a:latin typeface="SEOptimist" pitchFamily="2" charset="0"/>
              </a:rPr>
              <a:t>- AFS/M-F – Jens Eilart – March 2012 </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80" r:id="rId13"/>
  </p:sldLayoutIdLst>
  <p:txStyles>
    <p:titleStyle>
      <a:lvl1pPr algn="l" rtl="0" fontAlgn="base">
        <a:spcBef>
          <a:spcPct val="0"/>
        </a:spcBef>
        <a:spcAft>
          <a:spcPct val="0"/>
        </a:spcAft>
        <a:defRPr sz="3200" kern="1200">
          <a:solidFill>
            <a:schemeClr val="accent1"/>
          </a:solidFill>
          <a:latin typeface="Arial" panose="020B0604020202020204" pitchFamily="34" charset="0"/>
          <a:ea typeface="+mj-ea"/>
          <a:cs typeface="Arial" panose="020B0604020202020204" pitchFamily="34" charset="0"/>
        </a:defRPr>
      </a:lvl1pPr>
      <a:lvl2pPr algn="l" rtl="0" fontAlgn="base">
        <a:spcBef>
          <a:spcPct val="0"/>
        </a:spcBef>
        <a:spcAft>
          <a:spcPct val="0"/>
        </a:spcAft>
        <a:defRPr sz="2800">
          <a:solidFill>
            <a:schemeClr val="accent1"/>
          </a:solidFill>
          <a:latin typeface="SEOptimist" pitchFamily="2" charset="0"/>
        </a:defRPr>
      </a:lvl2pPr>
      <a:lvl3pPr algn="l" rtl="0" fontAlgn="base">
        <a:spcBef>
          <a:spcPct val="0"/>
        </a:spcBef>
        <a:spcAft>
          <a:spcPct val="0"/>
        </a:spcAft>
        <a:defRPr sz="2800">
          <a:solidFill>
            <a:schemeClr val="accent1"/>
          </a:solidFill>
          <a:latin typeface="SEOptimist" pitchFamily="2" charset="0"/>
        </a:defRPr>
      </a:lvl3pPr>
      <a:lvl4pPr algn="l" rtl="0" fontAlgn="base">
        <a:spcBef>
          <a:spcPct val="0"/>
        </a:spcBef>
        <a:spcAft>
          <a:spcPct val="0"/>
        </a:spcAft>
        <a:defRPr sz="2800">
          <a:solidFill>
            <a:schemeClr val="accent1"/>
          </a:solidFill>
          <a:latin typeface="SEOptimist" pitchFamily="2" charset="0"/>
        </a:defRPr>
      </a:lvl4pPr>
      <a:lvl5pPr algn="l" rtl="0" fontAlgn="base">
        <a:spcBef>
          <a:spcPct val="0"/>
        </a:spcBef>
        <a:spcAft>
          <a:spcPct val="0"/>
        </a:spcAft>
        <a:defRPr sz="2800">
          <a:solidFill>
            <a:schemeClr val="accent1"/>
          </a:solidFill>
          <a:latin typeface="SEOptimist" pitchFamily="2" charset="0"/>
        </a:defRPr>
      </a:lvl5pPr>
      <a:lvl6pPr marL="457200" algn="l" rtl="0" fontAlgn="base">
        <a:spcBef>
          <a:spcPct val="0"/>
        </a:spcBef>
        <a:spcAft>
          <a:spcPct val="0"/>
        </a:spcAft>
        <a:defRPr sz="2800">
          <a:solidFill>
            <a:schemeClr val="accent1"/>
          </a:solidFill>
          <a:latin typeface="SEOptimist" pitchFamily="2" charset="0"/>
        </a:defRPr>
      </a:lvl6pPr>
      <a:lvl7pPr marL="914400" algn="l" rtl="0" fontAlgn="base">
        <a:spcBef>
          <a:spcPct val="0"/>
        </a:spcBef>
        <a:spcAft>
          <a:spcPct val="0"/>
        </a:spcAft>
        <a:defRPr sz="2800">
          <a:solidFill>
            <a:schemeClr val="accent1"/>
          </a:solidFill>
          <a:latin typeface="SEOptimist" pitchFamily="2" charset="0"/>
        </a:defRPr>
      </a:lvl7pPr>
      <a:lvl8pPr marL="1371600" algn="l" rtl="0" fontAlgn="base">
        <a:spcBef>
          <a:spcPct val="0"/>
        </a:spcBef>
        <a:spcAft>
          <a:spcPct val="0"/>
        </a:spcAft>
        <a:defRPr sz="2800">
          <a:solidFill>
            <a:schemeClr val="accent1"/>
          </a:solidFill>
          <a:latin typeface="SEOptimist" pitchFamily="2" charset="0"/>
        </a:defRPr>
      </a:lvl8pPr>
      <a:lvl9pPr marL="1828800" algn="l" rtl="0" fontAlgn="base">
        <a:spcBef>
          <a:spcPct val="0"/>
        </a:spcBef>
        <a:spcAft>
          <a:spcPct val="0"/>
        </a:spcAft>
        <a:defRPr sz="2800">
          <a:solidFill>
            <a:schemeClr val="accent1"/>
          </a:solidFill>
          <a:latin typeface="SEOptimist" pitchFamily="2" charset="0"/>
        </a:defRPr>
      </a:lvl9pPr>
    </p:titleStyle>
    <p:bodyStyle>
      <a:lvl1pPr marL="180975" indent="-180975" algn="l" rtl="0" fontAlgn="base">
        <a:spcBef>
          <a:spcPct val="20000"/>
        </a:spcBef>
        <a:spcAft>
          <a:spcPct val="0"/>
        </a:spcAft>
        <a:buClr>
          <a:schemeClr val="accent1"/>
        </a:buClr>
        <a:buFont typeface="Arial" panose="020B0604020202020204" pitchFamily="34" charset="0"/>
        <a:buChar char="●"/>
        <a:defRPr sz="2400" kern="1200">
          <a:solidFill>
            <a:schemeClr val="accent1"/>
          </a:solidFill>
          <a:latin typeface="Arial" panose="020B0604020202020204" pitchFamily="34" charset="0"/>
          <a:ea typeface="+mn-ea"/>
          <a:cs typeface="Arial" panose="020B0604020202020204" pitchFamily="34" charset="0"/>
        </a:defRPr>
      </a:lvl1pPr>
      <a:lvl2pPr marL="541338" indent="-180975" algn="l" rtl="0" fontAlgn="base">
        <a:spcBef>
          <a:spcPct val="20000"/>
        </a:spcBef>
        <a:spcAft>
          <a:spcPct val="0"/>
        </a:spcAft>
        <a:buClr>
          <a:schemeClr val="bg2"/>
        </a:buClr>
        <a:buFont typeface="Arial" panose="020B0604020202020204" pitchFamily="34" charset="0"/>
        <a:buChar char="●"/>
        <a:defRPr sz="2400" kern="1200">
          <a:solidFill>
            <a:schemeClr val="bg2"/>
          </a:solidFill>
          <a:latin typeface="Arial" panose="020B0604020202020204" pitchFamily="34" charset="0"/>
          <a:ea typeface="+mn-ea"/>
          <a:cs typeface="Arial" panose="020B0604020202020204" pitchFamily="34" charset="0"/>
        </a:defRPr>
      </a:lvl2pPr>
      <a:lvl3pPr marL="990600" indent="-173038" algn="l" rtl="0" fontAlgn="base">
        <a:spcBef>
          <a:spcPct val="20000"/>
        </a:spcBef>
        <a:spcAft>
          <a:spcPct val="0"/>
        </a:spcAft>
        <a:buClr>
          <a:schemeClr val="bg2"/>
        </a:buClr>
        <a:buFont typeface="Arial" panose="020B0604020202020204" pitchFamily="34" charset="0"/>
        <a:buChar char="●"/>
        <a:defRPr sz="2400" kern="1200">
          <a:solidFill>
            <a:schemeClr val="bg2"/>
          </a:solidFill>
          <a:latin typeface="Arial" panose="020B0604020202020204" pitchFamily="34" charset="0"/>
          <a:ea typeface="+mn-ea"/>
          <a:cs typeface="Arial" panose="020B0604020202020204" pitchFamily="34" charset="0"/>
        </a:defRPr>
      </a:lvl3pPr>
      <a:lvl4pPr marL="1751013" indent="-228600" algn="l" rtl="0" fontAlgn="base">
        <a:spcBef>
          <a:spcPct val="20000"/>
        </a:spcBef>
        <a:spcAft>
          <a:spcPct val="0"/>
        </a:spcAft>
        <a:buChar char="–"/>
        <a:defRPr sz="2000" kern="1200">
          <a:solidFill>
            <a:schemeClr val="tx1"/>
          </a:solidFill>
          <a:latin typeface="Arial" panose="020B0604020202020204" pitchFamily="34" charset="0"/>
          <a:ea typeface="+mn-ea"/>
          <a:cs typeface="+mn-cs"/>
        </a:defRPr>
      </a:lvl4pPr>
      <a:lvl5pPr marL="2159000" indent="-228600" algn="l" rtl="0" fontAlgn="base">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468313" y="6577013"/>
            <a:ext cx="822325"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1pPr>
            <a:lvl2pPr marL="742950" indent="-28575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2pPr>
            <a:lvl3pPr marL="11430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3pPr>
            <a:lvl4pPr marL="16002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4pPr>
            <a:lvl5pPr marL="20574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5pPr>
            <a:lvl6pPr marL="25146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6pPr>
            <a:lvl7pPr marL="29718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7pPr>
            <a:lvl8pPr marL="34290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8pPr>
            <a:lvl9pPr marL="38862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9pPr>
          </a:lstStyle>
          <a:p>
            <a:pPr marL="0" marR="0" lvl="0" indent="0" algn="l" defTabSz="661988"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626469"/>
                </a:solidFill>
                <a:effectLst/>
                <a:uLnTx/>
                <a:uFillTx/>
                <a:latin typeface="Arial" panose="020B0604020202020204" pitchFamily="34" charset="0"/>
                <a:ea typeface="+mn-ea"/>
                <a:cs typeface="+mn-cs"/>
              </a:rPr>
              <a:t>Schneider Electric</a:t>
            </a:r>
          </a:p>
        </p:txBody>
      </p:sp>
      <p:sp>
        <p:nvSpPr>
          <p:cNvPr id="796675" name="Rectangle 3"/>
          <p:cNvSpPr>
            <a:spLocks noChangeArrowheads="1"/>
          </p:cNvSpPr>
          <p:nvPr/>
        </p:nvSpPr>
        <p:spPr bwMode="auto">
          <a:xfrm>
            <a:off x="8604250" y="6599238"/>
            <a:ext cx="288925" cy="69850"/>
          </a:xfrm>
          <a:prstGeom prst="rect">
            <a:avLst/>
          </a:prstGeom>
          <a:noFill/>
          <a:ln w="9525">
            <a:noFill/>
            <a:miter lim="800000"/>
            <a:headEnd/>
            <a:tailEnd/>
          </a:ln>
          <a:effectLst/>
        </p:spPr>
        <p:txBody>
          <a:bodyPr lIns="0" tIns="0" rIns="0" bIns="0"/>
          <a:lstStyle>
            <a:lvl1pPr defTabSz="661988">
              <a:defRPr sz="2800" b="1" i="1">
                <a:solidFill>
                  <a:schemeClr val="tx1"/>
                </a:solidFill>
                <a:latin typeface="Arial" panose="020B0604020202020204" pitchFamily="34" charset="0"/>
              </a:defRPr>
            </a:lvl1pPr>
            <a:lvl2pPr marL="742950" indent="-285750" defTabSz="661988">
              <a:defRPr sz="2800" b="1" i="1">
                <a:solidFill>
                  <a:schemeClr val="tx1"/>
                </a:solidFill>
                <a:latin typeface="Arial" panose="020B0604020202020204" pitchFamily="34" charset="0"/>
              </a:defRPr>
            </a:lvl2pPr>
            <a:lvl3pPr marL="1143000" indent="-228600" defTabSz="661988">
              <a:defRPr sz="2800" b="1" i="1">
                <a:solidFill>
                  <a:schemeClr val="tx1"/>
                </a:solidFill>
                <a:latin typeface="Arial" panose="020B0604020202020204" pitchFamily="34" charset="0"/>
              </a:defRPr>
            </a:lvl3pPr>
            <a:lvl4pPr marL="1600200" indent="-228600" defTabSz="661988">
              <a:defRPr sz="2800" b="1" i="1">
                <a:solidFill>
                  <a:schemeClr val="tx1"/>
                </a:solidFill>
                <a:latin typeface="Arial" panose="020B0604020202020204" pitchFamily="34" charset="0"/>
              </a:defRPr>
            </a:lvl4pPr>
            <a:lvl5pPr marL="2057400" indent="-228600" defTabSz="661988">
              <a:defRPr sz="2800" b="1" i="1">
                <a:solidFill>
                  <a:schemeClr val="tx1"/>
                </a:solidFill>
                <a:latin typeface="Arial" panose="020B0604020202020204" pitchFamily="34" charset="0"/>
              </a:defRPr>
            </a:lvl5pPr>
            <a:lvl6pPr marL="25146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6pPr>
            <a:lvl7pPr marL="29718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7pPr>
            <a:lvl8pPr marL="34290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8pPr>
            <a:lvl9pPr marL="38862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9pPr>
          </a:lstStyle>
          <a:p>
            <a:pPr marL="0" marR="0" lvl="0" indent="0" algn="l" defTabSz="661988" rtl="0" eaLnBrk="0" fontAlgn="base" latinLnBrk="0" hangingPunct="0">
              <a:lnSpc>
                <a:spcPct val="100000"/>
              </a:lnSpc>
              <a:spcBef>
                <a:spcPct val="0"/>
              </a:spcBef>
              <a:spcAft>
                <a:spcPct val="0"/>
              </a:spcAft>
              <a:buClrTx/>
              <a:buSzTx/>
              <a:buFontTx/>
              <a:buNone/>
              <a:tabLst/>
              <a:defRPr/>
            </a:pPr>
            <a:fld id="{8B27341E-57E0-4F2B-B54A-B708A7096D26}" type="slidenum">
              <a:rPr kumimoji="0" lang="en-US" altLang="en-US" sz="800" b="0" i="0" u="none" strike="noStrike" kern="1200" cap="none" spc="0" normalizeH="0" baseline="0" noProof="0" smtClean="0">
                <a:ln>
                  <a:noFill/>
                </a:ln>
                <a:solidFill>
                  <a:srgbClr val="626469"/>
                </a:solidFill>
                <a:effectLst/>
                <a:uLnTx/>
                <a:uFillTx/>
                <a:latin typeface="Arial" panose="020B0604020202020204" pitchFamily="34" charset="0"/>
                <a:ea typeface="+mn-ea"/>
                <a:cs typeface="+mn-cs"/>
              </a:rPr>
              <a:pPr marL="0" marR="0" lvl="0" indent="0" algn="l" defTabSz="661988" rtl="0" eaLnBrk="0" fontAlgn="base" latinLnBrk="0" hangingPunct="0">
                <a:lnSpc>
                  <a:spcPct val="100000"/>
                </a:lnSpc>
                <a:spcBef>
                  <a:spcPct val="0"/>
                </a:spcBef>
                <a:spcAft>
                  <a:spcPct val="0"/>
                </a:spcAft>
                <a:buClrTx/>
                <a:buSzTx/>
                <a:buFontTx/>
                <a:buNone/>
                <a:tabLst/>
                <a:defRPr/>
              </a:pPr>
              <a:t>‹#›</a:t>
            </a:fld>
            <a:endParaRPr kumimoji="0" lang="en-US" altLang="en-US" sz="800" b="0" i="0" u="none" strike="noStrike" kern="1200" cap="none" spc="0" normalizeH="0" baseline="0" noProof="0">
              <a:ln>
                <a:noFill/>
              </a:ln>
              <a:solidFill>
                <a:srgbClr val="626469"/>
              </a:solidFill>
              <a:effectLst/>
              <a:uLnTx/>
              <a:uFillTx/>
              <a:latin typeface="Arial" panose="020B0604020202020204" pitchFamily="34" charset="0"/>
              <a:ea typeface="+mn-ea"/>
              <a:cs typeface="+mn-cs"/>
            </a:endParaRPr>
          </a:p>
        </p:txBody>
      </p:sp>
      <p:sp>
        <p:nvSpPr>
          <p:cNvPr id="1028" name="Rectangle 4"/>
          <p:cNvSpPr>
            <a:spLocks noGrp="1" noChangeArrowheads="1"/>
          </p:cNvSpPr>
          <p:nvPr>
            <p:ph type="body" idx="1"/>
          </p:nvPr>
        </p:nvSpPr>
        <p:spPr bwMode="auto">
          <a:xfrm>
            <a:off x="431800" y="1773238"/>
            <a:ext cx="82804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000" bIns="10800" numCol="1" anchor="t" anchorCtr="0" compatLnSpc="1">
            <a:prstTxWarp prst="textNoShape">
              <a:avLst/>
            </a:prstTxWarp>
          </a:bodyPr>
          <a:lstStyle/>
          <a:p>
            <a:pPr lvl="0"/>
            <a:r>
              <a:rPr lang="en-US" altLang="en-US"/>
              <a:t>First Level</a:t>
            </a:r>
          </a:p>
          <a:p>
            <a:pPr lvl="1"/>
            <a:r>
              <a:rPr lang="en-US" altLang="en-US"/>
              <a:t>Second Level</a:t>
            </a:r>
          </a:p>
          <a:p>
            <a:pPr lvl="2"/>
            <a:r>
              <a:rPr lang="en-US" altLang="en-US"/>
              <a:t>Third Level</a:t>
            </a:r>
          </a:p>
        </p:txBody>
      </p:sp>
      <p:sp>
        <p:nvSpPr>
          <p:cNvPr id="1029" name="Rectangle 5"/>
          <p:cNvSpPr>
            <a:spLocks noGrp="1" noChangeArrowheads="1"/>
          </p:cNvSpPr>
          <p:nvPr>
            <p:ph type="title"/>
          </p:nvPr>
        </p:nvSpPr>
        <p:spPr bwMode="auto">
          <a:xfrm>
            <a:off x="431800" y="77788"/>
            <a:ext cx="8280400"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0800" rIns="0" bIns="10800" numCol="1" anchor="ctr" anchorCtr="0" compatLnSpc="1">
            <a:prstTxWarp prst="textNoShape">
              <a:avLst/>
            </a:prstTxWarp>
          </a:bodyPr>
          <a:lstStyle/>
          <a:p>
            <a:pPr lvl="0"/>
            <a:r>
              <a:rPr lang="en-US" altLang="en-US"/>
              <a:t>Title</a:t>
            </a:r>
          </a:p>
        </p:txBody>
      </p:sp>
      <p:sp>
        <p:nvSpPr>
          <p:cNvPr id="1030" name="Rectangle 6"/>
          <p:cNvSpPr>
            <a:spLocks noChangeArrowheads="1"/>
          </p:cNvSpPr>
          <p:nvPr/>
        </p:nvSpPr>
        <p:spPr bwMode="auto">
          <a:xfrm>
            <a:off x="1325563" y="6577013"/>
            <a:ext cx="1138237"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1pPr>
            <a:lvl2pPr marL="742950" indent="-28575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2pPr>
            <a:lvl3pPr marL="11430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3pPr>
            <a:lvl4pPr marL="16002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4pPr>
            <a:lvl5pPr marL="20574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5pPr>
            <a:lvl6pPr marL="25146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6pPr>
            <a:lvl7pPr marL="29718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7pPr>
            <a:lvl8pPr marL="34290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8pPr>
            <a:lvl9pPr marL="38862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9pPr>
          </a:lstStyle>
          <a:p>
            <a:pPr marL="0" marR="0" lvl="0" indent="0" algn="l" defTabSz="661988"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626469"/>
                </a:solidFill>
                <a:effectLst/>
                <a:uLnTx/>
                <a:uFillTx/>
                <a:latin typeface="Arial" panose="020B0604020202020204" pitchFamily="34" charset="0"/>
                <a:ea typeface="+mn-ea"/>
                <a:cs typeface="+mn-cs"/>
              </a:rPr>
              <a:t>- Division - Name – Date </a:t>
            </a:r>
          </a:p>
        </p:txBody>
      </p:sp>
    </p:spTree>
    <p:extLst>
      <p:ext uri="{BB962C8B-B14F-4D97-AF65-F5344CB8AC3E}">
        <p14:creationId xmlns:p14="http://schemas.microsoft.com/office/powerpoint/2010/main" val="66189174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rtl="0" eaLnBrk="0" fontAlgn="base" hangingPunct="0">
        <a:spcBef>
          <a:spcPct val="0"/>
        </a:spcBef>
        <a:spcAft>
          <a:spcPct val="0"/>
        </a:spcAft>
        <a:defRPr sz="3600">
          <a:solidFill>
            <a:schemeClr val="accent1"/>
          </a:solidFill>
          <a:latin typeface="+mj-lt"/>
          <a:ea typeface="+mj-ea"/>
          <a:cs typeface="+mj-cs"/>
        </a:defRPr>
      </a:lvl1pPr>
      <a:lvl2pPr algn="l" rtl="0" eaLnBrk="0" fontAlgn="base" hangingPunct="0">
        <a:spcBef>
          <a:spcPct val="0"/>
        </a:spcBef>
        <a:spcAft>
          <a:spcPct val="0"/>
        </a:spcAft>
        <a:defRPr sz="3600">
          <a:solidFill>
            <a:schemeClr val="accent1"/>
          </a:solidFill>
          <a:latin typeface="Arial" charset="0"/>
        </a:defRPr>
      </a:lvl2pPr>
      <a:lvl3pPr algn="l" rtl="0" eaLnBrk="0" fontAlgn="base" hangingPunct="0">
        <a:spcBef>
          <a:spcPct val="0"/>
        </a:spcBef>
        <a:spcAft>
          <a:spcPct val="0"/>
        </a:spcAft>
        <a:defRPr sz="3600">
          <a:solidFill>
            <a:schemeClr val="accent1"/>
          </a:solidFill>
          <a:latin typeface="Arial" charset="0"/>
        </a:defRPr>
      </a:lvl3pPr>
      <a:lvl4pPr algn="l" rtl="0" eaLnBrk="0" fontAlgn="base" hangingPunct="0">
        <a:spcBef>
          <a:spcPct val="0"/>
        </a:spcBef>
        <a:spcAft>
          <a:spcPct val="0"/>
        </a:spcAft>
        <a:defRPr sz="3600">
          <a:solidFill>
            <a:schemeClr val="accent1"/>
          </a:solidFill>
          <a:latin typeface="Arial" charset="0"/>
        </a:defRPr>
      </a:lvl4pPr>
      <a:lvl5pPr algn="l" rtl="0" eaLnBrk="0" fontAlgn="base" hangingPunct="0">
        <a:spcBef>
          <a:spcPct val="0"/>
        </a:spcBef>
        <a:spcAft>
          <a:spcPct val="0"/>
        </a:spcAft>
        <a:defRPr sz="3600">
          <a:solidFill>
            <a:schemeClr val="accent1"/>
          </a:solidFill>
          <a:latin typeface="Arial" charset="0"/>
        </a:defRPr>
      </a:lvl5pPr>
      <a:lvl6pPr marL="457200" algn="l" rtl="0" fontAlgn="base">
        <a:spcBef>
          <a:spcPct val="0"/>
        </a:spcBef>
        <a:spcAft>
          <a:spcPct val="0"/>
        </a:spcAft>
        <a:defRPr sz="3600">
          <a:solidFill>
            <a:schemeClr val="accent1"/>
          </a:solidFill>
          <a:latin typeface="Arial" charset="0"/>
        </a:defRPr>
      </a:lvl6pPr>
      <a:lvl7pPr marL="914400" algn="l" rtl="0" fontAlgn="base">
        <a:spcBef>
          <a:spcPct val="0"/>
        </a:spcBef>
        <a:spcAft>
          <a:spcPct val="0"/>
        </a:spcAft>
        <a:defRPr sz="3600">
          <a:solidFill>
            <a:schemeClr val="accent1"/>
          </a:solidFill>
          <a:latin typeface="Arial" charset="0"/>
        </a:defRPr>
      </a:lvl7pPr>
      <a:lvl8pPr marL="1371600" algn="l" rtl="0" fontAlgn="base">
        <a:spcBef>
          <a:spcPct val="0"/>
        </a:spcBef>
        <a:spcAft>
          <a:spcPct val="0"/>
        </a:spcAft>
        <a:defRPr sz="3600">
          <a:solidFill>
            <a:schemeClr val="accent1"/>
          </a:solidFill>
          <a:latin typeface="Arial" charset="0"/>
        </a:defRPr>
      </a:lvl8pPr>
      <a:lvl9pPr marL="1828800" algn="l" rtl="0" fontAlgn="base">
        <a:spcBef>
          <a:spcPct val="0"/>
        </a:spcBef>
        <a:spcAft>
          <a:spcPct val="0"/>
        </a:spcAft>
        <a:defRPr sz="3600">
          <a:solidFill>
            <a:schemeClr val="accent1"/>
          </a:solidFill>
          <a:latin typeface="Arial" charset="0"/>
        </a:defRPr>
      </a:lvl9pPr>
    </p:titleStyle>
    <p:bodyStyle>
      <a:lvl1pPr marL="180975" indent="-180975" algn="l" rtl="0" eaLnBrk="0" fontAlgn="base" hangingPunct="0">
        <a:spcBef>
          <a:spcPct val="20000"/>
        </a:spcBef>
        <a:spcAft>
          <a:spcPct val="0"/>
        </a:spcAft>
        <a:buClr>
          <a:schemeClr val="accent1"/>
        </a:buClr>
        <a:buFont typeface="Arial" panose="020B0604020202020204" pitchFamily="34" charset="0"/>
        <a:buChar char="●"/>
        <a:defRPr sz="2000">
          <a:solidFill>
            <a:schemeClr val="accent1"/>
          </a:solidFill>
          <a:latin typeface="+mn-lt"/>
          <a:ea typeface="+mn-ea"/>
          <a:cs typeface="+mn-cs"/>
        </a:defRPr>
      </a:lvl1pPr>
      <a:lvl2pPr marL="541338" indent="-180975" algn="l" rtl="0" eaLnBrk="0" fontAlgn="base" hangingPunct="0">
        <a:spcBef>
          <a:spcPct val="20000"/>
        </a:spcBef>
        <a:spcAft>
          <a:spcPct val="0"/>
        </a:spcAft>
        <a:buClr>
          <a:schemeClr val="bg2"/>
        </a:buClr>
        <a:buFont typeface="Arial" panose="020B0604020202020204" pitchFamily="34" charset="0"/>
        <a:buChar char="●"/>
        <a:defRPr>
          <a:solidFill>
            <a:schemeClr val="bg2"/>
          </a:solidFill>
          <a:latin typeface="+mn-lt"/>
        </a:defRPr>
      </a:lvl2pPr>
      <a:lvl3pPr marL="901700" indent="-84138" algn="l" rtl="0" eaLnBrk="0" fontAlgn="base" hangingPunct="0">
        <a:spcBef>
          <a:spcPct val="20000"/>
        </a:spcBef>
        <a:spcAft>
          <a:spcPct val="0"/>
        </a:spcAft>
        <a:buClr>
          <a:schemeClr val="bg2"/>
        </a:buClr>
        <a:buFont typeface="Arial" panose="020B0604020202020204" pitchFamily="34" charset="0"/>
        <a:buChar char="●"/>
        <a:defRPr>
          <a:solidFill>
            <a:schemeClr val="bg2"/>
          </a:solidFill>
          <a:latin typeface="+mn-lt"/>
        </a:defRPr>
      </a:lvl3pPr>
      <a:lvl4pPr marL="1751013" indent="-228600" algn="l" rtl="0" eaLnBrk="0" fontAlgn="base" hangingPunct="0">
        <a:spcBef>
          <a:spcPct val="20000"/>
        </a:spcBef>
        <a:spcAft>
          <a:spcPct val="0"/>
        </a:spcAft>
        <a:buChar char="–"/>
        <a:defRPr sz="2000">
          <a:solidFill>
            <a:schemeClr val="tx1"/>
          </a:solidFill>
          <a:latin typeface="+mn-lt"/>
        </a:defRPr>
      </a:lvl4pPr>
      <a:lvl5pPr marL="2159000" indent="-228600" algn="l" rtl="0" eaLnBrk="0" fontAlgn="base" hangingPunct="0">
        <a:spcBef>
          <a:spcPct val="20000"/>
        </a:spcBef>
        <a:spcAft>
          <a:spcPct val="0"/>
        </a:spcAft>
        <a:buChar char="»"/>
        <a:defRPr sz="2000">
          <a:solidFill>
            <a:schemeClr val="tx1"/>
          </a:solidFill>
          <a:latin typeface="+mn-lt"/>
        </a:defRPr>
      </a:lvl5pPr>
      <a:lvl6pPr marL="2616200" indent="-228600" algn="l" rtl="0" fontAlgn="base">
        <a:spcBef>
          <a:spcPct val="20000"/>
        </a:spcBef>
        <a:spcAft>
          <a:spcPct val="0"/>
        </a:spcAft>
        <a:buChar char="»"/>
        <a:defRPr sz="2000">
          <a:solidFill>
            <a:schemeClr val="tx1"/>
          </a:solidFill>
          <a:latin typeface="+mn-lt"/>
        </a:defRPr>
      </a:lvl6pPr>
      <a:lvl7pPr marL="3073400" indent="-228600" algn="l" rtl="0" fontAlgn="base">
        <a:spcBef>
          <a:spcPct val="20000"/>
        </a:spcBef>
        <a:spcAft>
          <a:spcPct val="0"/>
        </a:spcAft>
        <a:buChar char="»"/>
        <a:defRPr sz="2000">
          <a:solidFill>
            <a:schemeClr val="tx1"/>
          </a:solidFill>
          <a:latin typeface="+mn-lt"/>
        </a:defRPr>
      </a:lvl7pPr>
      <a:lvl8pPr marL="3530600" indent="-228600" algn="l" rtl="0" fontAlgn="base">
        <a:spcBef>
          <a:spcPct val="20000"/>
        </a:spcBef>
        <a:spcAft>
          <a:spcPct val="0"/>
        </a:spcAft>
        <a:buChar char="»"/>
        <a:defRPr sz="2000">
          <a:solidFill>
            <a:schemeClr val="tx1"/>
          </a:solidFill>
          <a:latin typeface="+mn-lt"/>
        </a:defRPr>
      </a:lvl8pPr>
      <a:lvl9pPr marL="39878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468313" y="6577013"/>
            <a:ext cx="822325"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1pPr>
            <a:lvl2pPr marL="742950" indent="-28575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2pPr>
            <a:lvl3pPr marL="11430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3pPr>
            <a:lvl4pPr marL="16002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4pPr>
            <a:lvl5pPr marL="20574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5pPr>
            <a:lvl6pPr marL="25146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6pPr>
            <a:lvl7pPr marL="29718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7pPr>
            <a:lvl8pPr marL="34290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8pPr>
            <a:lvl9pPr marL="38862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9pPr>
          </a:lstStyle>
          <a:p>
            <a:pPr marL="0" marR="0" lvl="0" indent="0" algn="l" defTabSz="661988"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626469"/>
                </a:solidFill>
                <a:effectLst/>
                <a:uLnTx/>
                <a:uFillTx/>
                <a:latin typeface="Arial" panose="020B0604020202020204" pitchFamily="34" charset="0"/>
                <a:ea typeface="+mn-ea"/>
                <a:cs typeface="+mn-cs"/>
              </a:rPr>
              <a:t>Schneider Electric</a:t>
            </a:r>
          </a:p>
        </p:txBody>
      </p:sp>
      <p:sp>
        <p:nvSpPr>
          <p:cNvPr id="796675" name="Rectangle 3"/>
          <p:cNvSpPr>
            <a:spLocks noChangeArrowheads="1"/>
          </p:cNvSpPr>
          <p:nvPr/>
        </p:nvSpPr>
        <p:spPr bwMode="auto">
          <a:xfrm>
            <a:off x="8604250" y="6599238"/>
            <a:ext cx="288925" cy="69850"/>
          </a:xfrm>
          <a:prstGeom prst="rect">
            <a:avLst/>
          </a:prstGeom>
          <a:noFill/>
          <a:ln w="9525">
            <a:noFill/>
            <a:miter lim="800000"/>
            <a:headEnd/>
            <a:tailEnd/>
          </a:ln>
          <a:effectLst/>
        </p:spPr>
        <p:txBody>
          <a:bodyPr lIns="0" tIns="0" rIns="0" bIns="0"/>
          <a:lstStyle>
            <a:lvl1pPr defTabSz="661988">
              <a:defRPr sz="2800" b="1" i="1">
                <a:solidFill>
                  <a:schemeClr val="tx1"/>
                </a:solidFill>
                <a:latin typeface="Arial" panose="020B0604020202020204" pitchFamily="34" charset="0"/>
              </a:defRPr>
            </a:lvl1pPr>
            <a:lvl2pPr marL="742950" indent="-285750" defTabSz="661988">
              <a:defRPr sz="2800" b="1" i="1">
                <a:solidFill>
                  <a:schemeClr val="tx1"/>
                </a:solidFill>
                <a:latin typeface="Arial" panose="020B0604020202020204" pitchFamily="34" charset="0"/>
              </a:defRPr>
            </a:lvl2pPr>
            <a:lvl3pPr marL="1143000" indent="-228600" defTabSz="661988">
              <a:defRPr sz="2800" b="1" i="1">
                <a:solidFill>
                  <a:schemeClr val="tx1"/>
                </a:solidFill>
                <a:latin typeface="Arial" panose="020B0604020202020204" pitchFamily="34" charset="0"/>
              </a:defRPr>
            </a:lvl3pPr>
            <a:lvl4pPr marL="1600200" indent="-228600" defTabSz="661988">
              <a:defRPr sz="2800" b="1" i="1">
                <a:solidFill>
                  <a:schemeClr val="tx1"/>
                </a:solidFill>
                <a:latin typeface="Arial" panose="020B0604020202020204" pitchFamily="34" charset="0"/>
              </a:defRPr>
            </a:lvl4pPr>
            <a:lvl5pPr marL="2057400" indent="-228600" defTabSz="661988">
              <a:defRPr sz="2800" b="1" i="1">
                <a:solidFill>
                  <a:schemeClr val="tx1"/>
                </a:solidFill>
                <a:latin typeface="Arial" panose="020B0604020202020204" pitchFamily="34" charset="0"/>
              </a:defRPr>
            </a:lvl5pPr>
            <a:lvl6pPr marL="25146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6pPr>
            <a:lvl7pPr marL="29718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7pPr>
            <a:lvl8pPr marL="34290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8pPr>
            <a:lvl9pPr marL="38862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9pPr>
          </a:lstStyle>
          <a:p>
            <a:pPr marL="0" marR="0" lvl="0" indent="0" algn="l" defTabSz="661988" rtl="0" eaLnBrk="0" fontAlgn="base" latinLnBrk="0" hangingPunct="0">
              <a:lnSpc>
                <a:spcPct val="100000"/>
              </a:lnSpc>
              <a:spcBef>
                <a:spcPct val="0"/>
              </a:spcBef>
              <a:spcAft>
                <a:spcPct val="0"/>
              </a:spcAft>
              <a:buClrTx/>
              <a:buSzTx/>
              <a:buFontTx/>
              <a:buNone/>
              <a:tabLst/>
              <a:defRPr/>
            </a:pPr>
            <a:fld id="{8B27341E-57E0-4F2B-B54A-B708A7096D26}" type="slidenum">
              <a:rPr kumimoji="0" lang="en-US" altLang="en-US" sz="800" b="0" i="0" u="none" strike="noStrike" kern="1200" cap="none" spc="0" normalizeH="0" baseline="0" noProof="0" smtClean="0">
                <a:ln>
                  <a:noFill/>
                </a:ln>
                <a:solidFill>
                  <a:srgbClr val="626469"/>
                </a:solidFill>
                <a:effectLst/>
                <a:uLnTx/>
                <a:uFillTx/>
                <a:latin typeface="Arial" panose="020B0604020202020204" pitchFamily="34" charset="0"/>
                <a:ea typeface="+mn-ea"/>
                <a:cs typeface="+mn-cs"/>
              </a:rPr>
              <a:pPr marL="0" marR="0" lvl="0" indent="0" algn="l" defTabSz="661988" rtl="0" eaLnBrk="0" fontAlgn="base" latinLnBrk="0" hangingPunct="0">
                <a:lnSpc>
                  <a:spcPct val="100000"/>
                </a:lnSpc>
                <a:spcBef>
                  <a:spcPct val="0"/>
                </a:spcBef>
                <a:spcAft>
                  <a:spcPct val="0"/>
                </a:spcAft>
                <a:buClrTx/>
                <a:buSzTx/>
                <a:buFontTx/>
                <a:buNone/>
                <a:tabLst/>
                <a:defRPr/>
              </a:pPr>
              <a:t>‹#›</a:t>
            </a:fld>
            <a:endParaRPr kumimoji="0" lang="en-US" altLang="en-US" sz="800" b="0" i="0" u="none" strike="noStrike" kern="1200" cap="none" spc="0" normalizeH="0" baseline="0" noProof="0">
              <a:ln>
                <a:noFill/>
              </a:ln>
              <a:solidFill>
                <a:srgbClr val="626469"/>
              </a:solidFill>
              <a:effectLst/>
              <a:uLnTx/>
              <a:uFillTx/>
              <a:latin typeface="Arial" panose="020B0604020202020204" pitchFamily="34" charset="0"/>
              <a:ea typeface="+mn-ea"/>
              <a:cs typeface="+mn-cs"/>
            </a:endParaRPr>
          </a:p>
        </p:txBody>
      </p:sp>
      <p:sp>
        <p:nvSpPr>
          <p:cNvPr id="1028" name="Rectangle 4"/>
          <p:cNvSpPr>
            <a:spLocks noGrp="1" noChangeArrowheads="1"/>
          </p:cNvSpPr>
          <p:nvPr>
            <p:ph type="body" idx="1"/>
          </p:nvPr>
        </p:nvSpPr>
        <p:spPr bwMode="auto">
          <a:xfrm>
            <a:off x="431800" y="1773238"/>
            <a:ext cx="82804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000" bIns="10800" numCol="1" anchor="t" anchorCtr="0" compatLnSpc="1">
            <a:prstTxWarp prst="textNoShape">
              <a:avLst/>
            </a:prstTxWarp>
          </a:bodyPr>
          <a:lstStyle/>
          <a:p>
            <a:pPr lvl="0"/>
            <a:r>
              <a:rPr lang="en-US" altLang="en-US"/>
              <a:t>First Level</a:t>
            </a:r>
          </a:p>
          <a:p>
            <a:pPr lvl="1"/>
            <a:r>
              <a:rPr lang="en-US" altLang="en-US"/>
              <a:t>Second Level</a:t>
            </a:r>
          </a:p>
          <a:p>
            <a:pPr lvl="2"/>
            <a:r>
              <a:rPr lang="en-US" altLang="en-US"/>
              <a:t>Third Level</a:t>
            </a:r>
          </a:p>
        </p:txBody>
      </p:sp>
      <p:sp>
        <p:nvSpPr>
          <p:cNvPr id="1029" name="Rectangle 5"/>
          <p:cNvSpPr>
            <a:spLocks noGrp="1" noChangeArrowheads="1"/>
          </p:cNvSpPr>
          <p:nvPr>
            <p:ph type="title"/>
          </p:nvPr>
        </p:nvSpPr>
        <p:spPr bwMode="auto">
          <a:xfrm>
            <a:off x="431800" y="77788"/>
            <a:ext cx="8280400"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0800" rIns="0" bIns="10800" numCol="1" anchor="ctr" anchorCtr="0" compatLnSpc="1">
            <a:prstTxWarp prst="textNoShape">
              <a:avLst/>
            </a:prstTxWarp>
          </a:bodyPr>
          <a:lstStyle/>
          <a:p>
            <a:pPr lvl="0"/>
            <a:r>
              <a:rPr lang="en-US" altLang="en-US"/>
              <a:t>Title</a:t>
            </a:r>
          </a:p>
        </p:txBody>
      </p:sp>
      <p:sp>
        <p:nvSpPr>
          <p:cNvPr id="1030" name="Rectangle 6"/>
          <p:cNvSpPr>
            <a:spLocks noChangeArrowheads="1"/>
          </p:cNvSpPr>
          <p:nvPr/>
        </p:nvSpPr>
        <p:spPr bwMode="auto">
          <a:xfrm>
            <a:off x="1325563" y="6577013"/>
            <a:ext cx="1138237"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1pPr>
            <a:lvl2pPr marL="742950" indent="-28575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2pPr>
            <a:lvl3pPr marL="11430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3pPr>
            <a:lvl4pPr marL="16002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4pPr>
            <a:lvl5pPr marL="2057400" indent="-228600" algn="ctr" defTabSz="661988">
              <a:lnSpc>
                <a:spcPct val="85000"/>
              </a:lnSpc>
              <a:spcBef>
                <a:spcPct val="40000"/>
              </a:spcBef>
              <a:buClr>
                <a:schemeClr val="accent2"/>
              </a:buClr>
              <a:buSzPct val="130000"/>
              <a:buChar char="»"/>
              <a:defRPr sz="2800" b="1" i="1">
                <a:solidFill>
                  <a:schemeClr val="tx1"/>
                </a:solidFill>
                <a:latin typeface="Arial" panose="020B0604020202020204" pitchFamily="34" charset="0"/>
              </a:defRPr>
            </a:lvl5pPr>
            <a:lvl6pPr marL="25146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6pPr>
            <a:lvl7pPr marL="29718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7pPr>
            <a:lvl8pPr marL="34290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8pPr>
            <a:lvl9pPr marL="3886200" indent="-228600" algn="ctr" defTabSz="661988" eaLnBrk="0" fontAlgn="base" hangingPunct="0">
              <a:lnSpc>
                <a:spcPct val="85000"/>
              </a:lnSpc>
              <a:spcBef>
                <a:spcPct val="40000"/>
              </a:spcBef>
              <a:spcAft>
                <a:spcPct val="0"/>
              </a:spcAft>
              <a:buClr>
                <a:schemeClr val="accent2"/>
              </a:buClr>
              <a:buSzPct val="130000"/>
              <a:buChar char="»"/>
              <a:defRPr sz="2800" b="1" i="1">
                <a:solidFill>
                  <a:schemeClr val="tx1"/>
                </a:solidFill>
                <a:latin typeface="Arial" panose="020B0604020202020204" pitchFamily="34" charset="0"/>
              </a:defRPr>
            </a:lvl9pPr>
          </a:lstStyle>
          <a:p>
            <a:pPr marL="0" marR="0" lvl="0" indent="0" algn="l" defTabSz="661988"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626469"/>
                </a:solidFill>
                <a:effectLst/>
                <a:uLnTx/>
                <a:uFillTx/>
                <a:latin typeface="Arial" panose="020B0604020202020204" pitchFamily="34" charset="0"/>
                <a:ea typeface="+mn-ea"/>
                <a:cs typeface="+mn-cs"/>
              </a:rPr>
              <a:t>- Division - Name – Date </a:t>
            </a:r>
          </a:p>
        </p:txBody>
      </p:sp>
    </p:spTree>
    <p:extLst>
      <p:ext uri="{BB962C8B-B14F-4D97-AF65-F5344CB8AC3E}">
        <p14:creationId xmlns:p14="http://schemas.microsoft.com/office/powerpoint/2010/main" val="3010386128"/>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Lst>
  <p:txStyles>
    <p:titleStyle>
      <a:lvl1pPr algn="l" rtl="0" eaLnBrk="0" fontAlgn="base" hangingPunct="0">
        <a:spcBef>
          <a:spcPct val="0"/>
        </a:spcBef>
        <a:spcAft>
          <a:spcPct val="0"/>
        </a:spcAft>
        <a:defRPr sz="3600">
          <a:solidFill>
            <a:schemeClr val="accent1"/>
          </a:solidFill>
          <a:latin typeface="+mj-lt"/>
          <a:ea typeface="+mj-ea"/>
          <a:cs typeface="+mj-cs"/>
        </a:defRPr>
      </a:lvl1pPr>
      <a:lvl2pPr algn="l" rtl="0" eaLnBrk="0" fontAlgn="base" hangingPunct="0">
        <a:spcBef>
          <a:spcPct val="0"/>
        </a:spcBef>
        <a:spcAft>
          <a:spcPct val="0"/>
        </a:spcAft>
        <a:defRPr sz="3600">
          <a:solidFill>
            <a:schemeClr val="accent1"/>
          </a:solidFill>
          <a:latin typeface="Arial" charset="0"/>
        </a:defRPr>
      </a:lvl2pPr>
      <a:lvl3pPr algn="l" rtl="0" eaLnBrk="0" fontAlgn="base" hangingPunct="0">
        <a:spcBef>
          <a:spcPct val="0"/>
        </a:spcBef>
        <a:spcAft>
          <a:spcPct val="0"/>
        </a:spcAft>
        <a:defRPr sz="3600">
          <a:solidFill>
            <a:schemeClr val="accent1"/>
          </a:solidFill>
          <a:latin typeface="Arial" charset="0"/>
        </a:defRPr>
      </a:lvl3pPr>
      <a:lvl4pPr algn="l" rtl="0" eaLnBrk="0" fontAlgn="base" hangingPunct="0">
        <a:spcBef>
          <a:spcPct val="0"/>
        </a:spcBef>
        <a:spcAft>
          <a:spcPct val="0"/>
        </a:spcAft>
        <a:defRPr sz="3600">
          <a:solidFill>
            <a:schemeClr val="accent1"/>
          </a:solidFill>
          <a:latin typeface="Arial" charset="0"/>
        </a:defRPr>
      </a:lvl4pPr>
      <a:lvl5pPr algn="l" rtl="0" eaLnBrk="0" fontAlgn="base" hangingPunct="0">
        <a:spcBef>
          <a:spcPct val="0"/>
        </a:spcBef>
        <a:spcAft>
          <a:spcPct val="0"/>
        </a:spcAft>
        <a:defRPr sz="3600">
          <a:solidFill>
            <a:schemeClr val="accent1"/>
          </a:solidFill>
          <a:latin typeface="Arial" charset="0"/>
        </a:defRPr>
      </a:lvl5pPr>
      <a:lvl6pPr marL="457200" algn="l" rtl="0" fontAlgn="base">
        <a:spcBef>
          <a:spcPct val="0"/>
        </a:spcBef>
        <a:spcAft>
          <a:spcPct val="0"/>
        </a:spcAft>
        <a:defRPr sz="3600">
          <a:solidFill>
            <a:schemeClr val="accent1"/>
          </a:solidFill>
          <a:latin typeface="Arial" charset="0"/>
        </a:defRPr>
      </a:lvl6pPr>
      <a:lvl7pPr marL="914400" algn="l" rtl="0" fontAlgn="base">
        <a:spcBef>
          <a:spcPct val="0"/>
        </a:spcBef>
        <a:spcAft>
          <a:spcPct val="0"/>
        </a:spcAft>
        <a:defRPr sz="3600">
          <a:solidFill>
            <a:schemeClr val="accent1"/>
          </a:solidFill>
          <a:latin typeface="Arial" charset="0"/>
        </a:defRPr>
      </a:lvl7pPr>
      <a:lvl8pPr marL="1371600" algn="l" rtl="0" fontAlgn="base">
        <a:spcBef>
          <a:spcPct val="0"/>
        </a:spcBef>
        <a:spcAft>
          <a:spcPct val="0"/>
        </a:spcAft>
        <a:defRPr sz="3600">
          <a:solidFill>
            <a:schemeClr val="accent1"/>
          </a:solidFill>
          <a:latin typeface="Arial" charset="0"/>
        </a:defRPr>
      </a:lvl8pPr>
      <a:lvl9pPr marL="1828800" algn="l" rtl="0" fontAlgn="base">
        <a:spcBef>
          <a:spcPct val="0"/>
        </a:spcBef>
        <a:spcAft>
          <a:spcPct val="0"/>
        </a:spcAft>
        <a:defRPr sz="3600">
          <a:solidFill>
            <a:schemeClr val="accent1"/>
          </a:solidFill>
          <a:latin typeface="Arial" charset="0"/>
        </a:defRPr>
      </a:lvl9pPr>
    </p:titleStyle>
    <p:bodyStyle>
      <a:lvl1pPr marL="180975" indent="-180975" algn="l" rtl="0" eaLnBrk="0" fontAlgn="base" hangingPunct="0">
        <a:spcBef>
          <a:spcPct val="20000"/>
        </a:spcBef>
        <a:spcAft>
          <a:spcPct val="0"/>
        </a:spcAft>
        <a:buClr>
          <a:schemeClr val="accent1"/>
        </a:buClr>
        <a:buFont typeface="Arial" panose="020B0604020202020204" pitchFamily="34" charset="0"/>
        <a:buChar char="●"/>
        <a:defRPr sz="2000">
          <a:solidFill>
            <a:schemeClr val="accent1"/>
          </a:solidFill>
          <a:latin typeface="+mn-lt"/>
          <a:ea typeface="+mn-ea"/>
          <a:cs typeface="+mn-cs"/>
        </a:defRPr>
      </a:lvl1pPr>
      <a:lvl2pPr marL="541338" indent="-180975" algn="l" rtl="0" eaLnBrk="0" fontAlgn="base" hangingPunct="0">
        <a:spcBef>
          <a:spcPct val="20000"/>
        </a:spcBef>
        <a:spcAft>
          <a:spcPct val="0"/>
        </a:spcAft>
        <a:buClr>
          <a:schemeClr val="bg2"/>
        </a:buClr>
        <a:buFont typeface="Arial" panose="020B0604020202020204" pitchFamily="34" charset="0"/>
        <a:buChar char="●"/>
        <a:defRPr>
          <a:solidFill>
            <a:schemeClr val="bg2"/>
          </a:solidFill>
          <a:latin typeface="+mn-lt"/>
        </a:defRPr>
      </a:lvl2pPr>
      <a:lvl3pPr marL="901700" indent="-84138" algn="l" rtl="0" eaLnBrk="0" fontAlgn="base" hangingPunct="0">
        <a:spcBef>
          <a:spcPct val="20000"/>
        </a:spcBef>
        <a:spcAft>
          <a:spcPct val="0"/>
        </a:spcAft>
        <a:buClr>
          <a:schemeClr val="bg2"/>
        </a:buClr>
        <a:buFont typeface="Arial" panose="020B0604020202020204" pitchFamily="34" charset="0"/>
        <a:buChar char="●"/>
        <a:defRPr>
          <a:solidFill>
            <a:schemeClr val="bg2"/>
          </a:solidFill>
          <a:latin typeface="+mn-lt"/>
        </a:defRPr>
      </a:lvl3pPr>
      <a:lvl4pPr marL="1751013" indent="-228600" algn="l" rtl="0" eaLnBrk="0" fontAlgn="base" hangingPunct="0">
        <a:spcBef>
          <a:spcPct val="20000"/>
        </a:spcBef>
        <a:spcAft>
          <a:spcPct val="0"/>
        </a:spcAft>
        <a:buChar char="–"/>
        <a:defRPr sz="2000">
          <a:solidFill>
            <a:schemeClr val="tx1"/>
          </a:solidFill>
          <a:latin typeface="+mn-lt"/>
        </a:defRPr>
      </a:lvl4pPr>
      <a:lvl5pPr marL="2159000" indent="-228600" algn="l" rtl="0" eaLnBrk="0" fontAlgn="base" hangingPunct="0">
        <a:spcBef>
          <a:spcPct val="20000"/>
        </a:spcBef>
        <a:spcAft>
          <a:spcPct val="0"/>
        </a:spcAft>
        <a:buChar char="»"/>
        <a:defRPr sz="2000">
          <a:solidFill>
            <a:schemeClr val="tx1"/>
          </a:solidFill>
          <a:latin typeface="+mn-lt"/>
        </a:defRPr>
      </a:lvl5pPr>
      <a:lvl6pPr marL="2616200" indent="-228600" algn="l" rtl="0" fontAlgn="base">
        <a:spcBef>
          <a:spcPct val="20000"/>
        </a:spcBef>
        <a:spcAft>
          <a:spcPct val="0"/>
        </a:spcAft>
        <a:buChar char="»"/>
        <a:defRPr sz="2000">
          <a:solidFill>
            <a:schemeClr val="tx1"/>
          </a:solidFill>
          <a:latin typeface="+mn-lt"/>
        </a:defRPr>
      </a:lvl6pPr>
      <a:lvl7pPr marL="3073400" indent="-228600" algn="l" rtl="0" fontAlgn="base">
        <a:spcBef>
          <a:spcPct val="20000"/>
        </a:spcBef>
        <a:spcAft>
          <a:spcPct val="0"/>
        </a:spcAft>
        <a:buChar char="»"/>
        <a:defRPr sz="2000">
          <a:solidFill>
            <a:schemeClr val="tx1"/>
          </a:solidFill>
          <a:latin typeface="+mn-lt"/>
        </a:defRPr>
      </a:lvl7pPr>
      <a:lvl8pPr marL="3530600" indent="-228600" algn="l" rtl="0" fontAlgn="base">
        <a:spcBef>
          <a:spcPct val="20000"/>
        </a:spcBef>
        <a:spcAft>
          <a:spcPct val="0"/>
        </a:spcAft>
        <a:buChar char="»"/>
        <a:defRPr sz="2000">
          <a:solidFill>
            <a:schemeClr val="tx1"/>
          </a:solidFill>
          <a:latin typeface="+mn-lt"/>
        </a:defRPr>
      </a:lvl8pPr>
      <a:lvl9pPr marL="39878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vmlDrawing" Target="../drawings/vmlDrawing3.v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vmlDrawing" Target="../drawings/vmlDrawing4.v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vmlDrawing" Target="../drawings/vmlDrawing5.vml"/><Relationship Id="rId5" Type="http://schemas.openxmlformats.org/officeDocument/2006/relationships/image" Target="../media/image5.emf"/><Relationship Id="rId4" Type="http://schemas.openxmlformats.org/officeDocument/2006/relationships/oleObject" Target="../embeddings/oleObject5.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vmlDrawing" Target="../drawings/vmlDrawing6.vml"/><Relationship Id="rId6" Type="http://schemas.openxmlformats.org/officeDocument/2006/relationships/image" Target="../media/image11.emf"/><Relationship Id="rId5" Type="http://schemas.openxmlformats.org/officeDocument/2006/relationships/oleObject" Target="../embeddings/oleObject6.bin"/><Relationship Id="rId4"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ctrTitle"/>
          </p:nvPr>
        </p:nvSpPr>
        <p:spPr>
          <a:xfrm>
            <a:off x="774700" y="1295400"/>
            <a:ext cx="7659688" cy="11271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800" rIns="0" bIns="10800" numCol="1" anchor="ctr" anchorCtr="0" compatLnSpc="1">
            <a:prstTxWarp prst="textNoShape">
              <a:avLst/>
            </a:prstTxWarp>
          </a:bodyPr>
          <a:lstStyle/>
          <a:p>
            <a:r>
              <a:rPr lang="fr-FR" altLang="en-US" sz="5400" noProof="1"/>
              <a:t>Distance Protection</a:t>
            </a:r>
            <a:endParaRPr lang="en-GB" altLang="en-US" sz="5400" dirty="0"/>
          </a:p>
        </p:txBody>
      </p:sp>
      <p:sp>
        <p:nvSpPr>
          <p:cNvPr id="296965" name="Rectangle 5"/>
          <p:cNvSpPr>
            <a:spLocks noChangeArrowheads="1"/>
          </p:cNvSpPr>
          <p:nvPr/>
        </p:nvSpPr>
        <p:spPr bwMode="auto">
          <a:xfrm>
            <a:off x="1855788" y="3406775"/>
            <a:ext cx="6604000"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folHlink"/>
                  </a:outerShdw>
                </a:effectLst>
              </a14:hiddenEffects>
            </a:ext>
          </a:extLst>
        </p:spPr>
        <p:txBody>
          <a:bodyPr/>
          <a:lstStyle/>
          <a:p>
            <a:pPr algn="r">
              <a:lnSpc>
                <a:spcPct val="85000"/>
              </a:lnSpc>
              <a:spcBef>
                <a:spcPct val="40000"/>
              </a:spcBef>
              <a:buClr>
                <a:schemeClr val="accent2"/>
              </a:buClr>
              <a:buSzPct val="130000"/>
            </a:pPr>
            <a:endParaRPr lang="fr-FR" altLang="en-US" sz="2000" b="1" i="1">
              <a:solidFill>
                <a:schemeClr val="bg2"/>
              </a:solidFill>
              <a:latin typeface="Times New Roman" panose="02020603050405020304" pitchFamily="18" charset="0"/>
            </a:endParaRP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5"/>
          <p:cNvSpPr>
            <a:spLocks noGrp="1" noChangeArrowheads="1"/>
          </p:cNvSpPr>
          <p:nvPr>
            <p:ph type="title"/>
          </p:nvPr>
        </p:nvSpPr>
        <p:spPr bwMode="auto">
          <a:xfrm>
            <a:off x="238125" y="76200"/>
            <a:ext cx="8634413" cy="587375"/>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dirty="0"/>
              <a:t>Distance Protection</a:t>
            </a:r>
          </a:p>
        </p:txBody>
      </p:sp>
      <p:sp>
        <p:nvSpPr>
          <p:cNvPr id="7879" name="Rectangle 711"/>
          <p:cNvSpPr>
            <a:spLocks noGrp="1" noChangeArrowheads="1"/>
          </p:cNvSpPr>
          <p:nvPr>
            <p:ph type="body" idx="1"/>
          </p:nvPr>
        </p:nvSpPr>
        <p:spPr bwMode="auto">
          <a:xfrm>
            <a:off x="450642" y="1295470"/>
            <a:ext cx="8421896" cy="392588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marL="374650" indent="-374650">
              <a:lnSpc>
                <a:spcPct val="110000"/>
              </a:lnSpc>
              <a:spcBef>
                <a:spcPct val="45000"/>
              </a:spcBef>
            </a:pPr>
            <a:r>
              <a:rPr lang="en-GB" altLang="en-US" sz="2400" dirty="0">
                <a:solidFill>
                  <a:schemeClr val="tx2"/>
                </a:solidFill>
              </a:rPr>
              <a:t>Popular, widely used on Sub-Transmission and Transmission Systems</a:t>
            </a:r>
          </a:p>
          <a:p>
            <a:pPr marL="374650" indent="-374650">
              <a:lnSpc>
                <a:spcPct val="110000"/>
              </a:lnSpc>
              <a:spcBef>
                <a:spcPct val="45000"/>
              </a:spcBef>
            </a:pPr>
            <a:r>
              <a:rPr lang="en-GB" altLang="en-US" sz="2400" dirty="0">
                <a:solidFill>
                  <a:schemeClr val="tx2"/>
                </a:solidFill>
              </a:rPr>
              <a:t>Virtually independent of Fault Current Level (Z</a:t>
            </a:r>
            <a:r>
              <a:rPr lang="en-GB" altLang="en-US" sz="2400" baseline="-25000" dirty="0">
                <a:solidFill>
                  <a:schemeClr val="tx2"/>
                </a:solidFill>
              </a:rPr>
              <a:t>S</a:t>
            </a:r>
            <a:r>
              <a:rPr lang="en-GB" altLang="en-US" sz="2400" dirty="0">
                <a:solidFill>
                  <a:schemeClr val="tx2"/>
                </a:solidFill>
              </a:rPr>
              <a:t>/Z</a:t>
            </a:r>
            <a:r>
              <a:rPr lang="en-GB" altLang="en-US" sz="2400" baseline="-25000" dirty="0">
                <a:solidFill>
                  <a:schemeClr val="tx2"/>
                </a:solidFill>
              </a:rPr>
              <a:t>L</a:t>
            </a:r>
            <a:r>
              <a:rPr lang="en-GB" altLang="en-US" sz="2400" dirty="0">
                <a:solidFill>
                  <a:schemeClr val="tx2"/>
                </a:solidFill>
              </a:rPr>
              <a:t> ratios)</a:t>
            </a:r>
          </a:p>
          <a:p>
            <a:pPr marL="374650" indent="-374650">
              <a:lnSpc>
                <a:spcPct val="110000"/>
              </a:lnSpc>
              <a:spcBef>
                <a:spcPct val="45000"/>
              </a:spcBef>
            </a:pPr>
            <a:r>
              <a:rPr lang="en-GB" altLang="en-US" sz="2400" dirty="0">
                <a:solidFill>
                  <a:schemeClr val="tx2"/>
                </a:solidFill>
              </a:rPr>
              <a:t>Fast Discriminative Protection:-  </a:t>
            </a:r>
            <a:br>
              <a:rPr lang="en-GB" altLang="en-US" sz="2400" dirty="0">
                <a:solidFill>
                  <a:schemeClr val="tx2"/>
                </a:solidFill>
              </a:rPr>
            </a:br>
            <a:r>
              <a:rPr lang="en-GB" altLang="en-US" sz="2400" dirty="0">
                <a:solidFill>
                  <a:schemeClr val="tx2"/>
                </a:solidFill>
              </a:rPr>
              <a:t>Zone 1 or ‘Aided’ Distance Scheme</a:t>
            </a:r>
          </a:p>
          <a:p>
            <a:pPr marL="374650" indent="-374650">
              <a:lnSpc>
                <a:spcPct val="110000"/>
              </a:lnSpc>
              <a:spcBef>
                <a:spcPct val="45000"/>
              </a:spcBef>
            </a:pPr>
            <a:r>
              <a:rPr lang="en-GB" altLang="en-US" sz="2400" dirty="0">
                <a:solidFill>
                  <a:schemeClr val="tx2"/>
                </a:solidFill>
              </a:rPr>
              <a:t>Time Delayed Remote Back-Up</a:t>
            </a:r>
            <a:r>
              <a:rPr lang="en-GB" altLang="en-US" dirty="0">
                <a:solidFill>
                  <a:schemeClr val="tx2"/>
                </a:solidFill>
              </a:rPr>
              <a:t>.</a:t>
            </a:r>
            <a:endParaRPr lang="en-GB" altLang="en-US" sz="2400" dirty="0">
              <a:solidFill>
                <a:schemeClr val="tx2"/>
              </a:solidFill>
            </a:endParaRPr>
          </a:p>
        </p:txBody>
      </p:sp>
    </p:spTree>
    <p:extLst>
      <p:ext uri="{BB962C8B-B14F-4D97-AF65-F5344CB8AC3E}">
        <p14:creationId xmlns:p14="http://schemas.microsoft.com/office/powerpoint/2010/main" val="2659213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79">
                                            <p:txEl>
                                              <p:pRg st="0" end="0"/>
                                            </p:txEl>
                                          </p:spTgt>
                                        </p:tgtEl>
                                        <p:attrNameLst>
                                          <p:attrName>style.visibility</p:attrName>
                                        </p:attrNameLst>
                                      </p:cBhvr>
                                      <p:to>
                                        <p:strVal val="visible"/>
                                      </p:to>
                                    </p:set>
                                    <p:animEffect transition="in" filter="blinds(horizontal)">
                                      <p:cBhvr>
                                        <p:cTn id="7" dur="500"/>
                                        <p:tgtEl>
                                          <p:spTgt spid="78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879">
                                            <p:txEl>
                                              <p:pRg st="1" end="1"/>
                                            </p:txEl>
                                          </p:spTgt>
                                        </p:tgtEl>
                                        <p:attrNameLst>
                                          <p:attrName>style.visibility</p:attrName>
                                        </p:attrNameLst>
                                      </p:cBhvr>
                                      <p:to>
                                        <p:strVal val="visible"/>
                                      </p:to>
                                    </p:set>
                                    <p:animEffect transition="in" filter="blinds(horizontal)">
                                      <p:cBhvr>
                                        <p:cTn id="12" dur="500"/>
                                        <p:tgtEl>
                                          <p:spTgt spid="78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879">
                                            <p:txEl>
                                              <p:pRg st="2" end="2"/>
                                            </p:txEl>
                                          </p:spTgt>
                                        </p:tgtEl>
                                        <p:attrNameLst>
                                          <p:attrName>style.visibility</p:attrName>
                                        </p:attrNameLst>
                                      </p:cBhvr>
                                      <p:to>
                                        <p:strVal val="visible"/>
                                      </p:to>
                                    </p:set>
                                    <p:animEffect transition="in" filter="blinds(horizontal)">
                                      <p:cBhvr>
                                        <p:cTn id="17" dur="500"/>
                                        <p:tgtEl>
                                          <p:spTgt spid="78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879">
                                            <p:txEl>
                                              <p:pRg st="3" end="3"/>
                                            </p:txEl>
                                          </p:spTgt>
                                        </p:tgtEl>
                                        <p:attrNameLst>
                                          <p:attrName>style.visibility</p:attrName>
                                        </p:attrNameLst>
                                      </p:cBhvr>
                                      <p:to>
                                        <p:strVal val="visible"/>
                                      </p:to>
                                    </p:set>
                                    <p:animEffect transition="in" filter="blinds(horizontal)">
                                      <p:cBhvr>
                                        <p:cTn id="22" dur="500"/>
                                        <p:tgtEl>
                                          <p:spTgt spid="78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9"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2" name="Rectangle 110"/>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a:t>Overcurrent weakness for line protection:</a:t>
            </a:r>
          </a:p>
        </p:txBody>
      </p:sp>
      <p:grpSp>
        <p:nvGrpSpPr>
          <p:cNvPr id="3" name="Group 2"/>
          <p:cNvGrpSpPr/>
          <p:nvPr/>
        </p:nvGrpSpPr>
        <p:grpSpPr>
          <a:xfrm rot="231594">
            <a:off x="8352287" y="2311612"/>
            <a:ext cx="373063" cy="766490"/>
            <a:chOff x="8453052" y="3336859"/>
            <a:chExt cx="373063" cy="720725"/>
          </a:xfrm>
        </p:grpSpPr>
        <p:sp>
          <p:nvSpPr>
            <p:cNvPr id="8304" name="Line 112"/>
            <p:cNvSpPr>
              <a:spLocks noChangeShapeType="1"/>
            </p:cNvSpPr>
            <p:nvPr/>
          </p:nvSpPr>
          <p:spPr bwMode="auto">
            <a:xfrm flipV="1">
              <a:off x="8562945" y="3503547"/>
              <a:ext cx="98425" cy="250825"/>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2" name="Group 1"/>
            <p:cNvGrpSpPr/>
            <p:nvPr/>
          </p:nvGrpSpPr>
          <p:grpSpPr>
            <a:xfrm>
              <a:off x="8453052" y="3336859"/>
              <a:ext cx="373063" cy="720725"/>
              <a:chOff x="8321679" y="2473327"/>
              <a:chExt cx="373063" cy="720725"/>
            </a:xfrm>
          </p:grpSpPr>
          <p:sp>
            <p:nvSpPr>
              <p:cNvPr id="8303" name="Line 111"/>
              <p:cNvSpPr>
                <a:spLocks noChangeShapeType="1"/>
              </p:cNvSpPr>
              <p:nvPr/>
            </p:nvSpPr>
            <p:spPr bwMode="auto">
              <a:xfrm>
                <a:off x="8321679" y="2473327"/>
                <a:ext cx="117475" cy="417513"/>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05" name="Line 113"/>
              <p:cNvSpPr>
                <a:spLocks noChangeShapeType="1"/>
              </p:cNvSpPr>
              <p:nvPr/>
            </p:nvSpPr>
            <p:spPr bwMode="auto">
              <a:xfrm>
                <a:off x="8539167" y="2644777"/>
                <a:ext cx="155575" cy="549275"/>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8306" name="Rectangle 114"/>
          <p:cNvSpPr>
            <a:spLocks noChangeArrowheads="1"/>
          </p:cNvSpPr>
          <p:nvPr/>
        </p:nvSpPr>
        <p:spPr bwMode="auto">
          <a:xfrm>
            <a:off x="8439154" y="3057527"/>
            <a:ext cx="43338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en-US" sz="1600" noProof="1">
                <a:latin typeface="Futura Md BT" pitchFamily="34" charset="0"/>
              </a:rPr>
              <a:t>F</a:t>
            </a:r>
            <a:r>
              <a:rPr lang="en-US" altLang="en-US" sz="1800" baseline="-25000" noProof="1">
                <a:latin typeface="Futura Md BT" pitchFamily="34" charset="0"/>
              </a:rPr>
              <a:t>1</a:t>
            </a:r>
            <a:endParaRPr lang="en-US" altLang="en-US" sz="1600" noProof="1">
              <a:latin typeface="Futura Md BT" pitchFamily="34" charset="0"/>
            </a:endParaRPr>
          </a:p>
        </p:txBody>
      </p:sp>
      <p:sp>
        <p:nvSpPr>
          <p:cNvPr id="8307" name="Rectangle 115"/>
          <p:cNvSpPr>
            <a:spLocks noChangeArrowheads="1"/>
          </p:cNvSpPr>
          <p:nvPr/>
        </p:nvSpPr>
        <p:spPr bwMode="auto">
          <a:xfrm>
            <a:off x="3940178" y="3597277"/>
            <a:ext cx="912813"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en-US" sz="1600" noProof="1">
                <a:latin typeface="Futura Md BT" pitchFamily="34" charset="0"/>
              </a:rPr>
              <a:t>115kV</a:t>
            </a:r>
          </a:p>
        </p:txBody>
      </p:sp>
      <p:sp>
        <p:nvSpPr>
          <p:cNvPr id="8308" name="Rectangle 116"/>
          <p:cNvSpPr>
            <a:spLocks noChangeArrowheads="1"/>
          </p:cNvSpPr>
          <p:nvPr/>
        </p:nvSpPr>
        <p:spPr bwMode="auto">
          <a:xfrm>
            <a:off x="5233991" y="3602039"/>
            <a:ext cx="255588" cy="231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en-US" sz="1600" noProof="1">
                <a:latin typeface="Futura Md BT" pitchFamily="34" charset="0"/>
              </a:rPr>
              <a:t>50</a:t>
            </a:r>
          </a:p>
        </p:txBody>
      </p:sp>
      <p:sp>
        <p:nvSpPr>
          <p:cNvPr id="8309" name="Rectangle 117"/>
          <p:cNvSpPr>
            <a:spLocks noChangeArrowheads="1"/>
          </p:cNvSpPr>
          <p:nvPr/>
        </p:nvSpPr>
        <p:spPr bwMode="auto">
          <a:xfrm>
            <a:off x="5980116" y="2998789"/>
            <a:ext cx="43656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en-US" sz="1600" noProof="1">
                <a:latin typeface="Times New Roman" panose="02020603050405020304" pitchFamily="18" charset="0"/>
              </a:rPr>
              <a:t>I</a:t>
            </a:r>
            <a:r>
              <a:rPr lang="en-US" altLang="en-US" sz="1800" baseline="-25000" noProof="1">
                <a:latin typeface="Futura Md BT" pitchFamily="34" charset="0"/>
              </a:rPr>
              <a:t>F1</a:t>
            </a:r>
            <a:endParaRPr lang="en-US" altLang="en-US" sz="1600" noProof="1">
              <a:latin typeface="Futura Md BT" pitchFamily="34" charset="0"/>
            </a:endParaRPr>
          </a:p>
        </p:txBody>
      </p:sp>
      <p:sp>
        <p:nvSpPr>
          <p:cNvPr id="8310" name="Rectangle 118"/>
          <p:cNvSpPr>
            <a:spLocks noChangeArrowheads="1"/>
          </p:cNvSpPr>
          <p:nvPr/>
        </p:nvSpPr>
        <p:spPr bwMode="auto">
          <a:xfrm>
            <a:off x="2098677" y="2781302"/>
            <a:ext cx="11525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en-US" sz="1600" noProof="1">
                <a:latin typeface="Futura Md BT" pitchFamily="34" charset="0"/>
              </a:rPr>
              <a:t>Z</a:t>
            </a:r>
            <a:r>
              <a:rPr lang="en-US" altLang="en-US" sz="1800" baseline="-25000" noProof="1">
                <a:latin typeface="Futura Md BT" pitchFamily="34" charset="0"/>
              </a:rPr>
              <a:t>S</a:t>
            </a:r>
            <a:r>
              <a:rPr lang="en-US" altLang="en-US" sz="1600" noProof="1">
                <a:latin typeface="Futura Md BT" pitchFamily="34" charset="0"/>
              </a:rPr>
              <a:t> = 10</a:t>
            </a:r>
            <a:r>
              <a:rPr lang="en-GB" altLang="en-US" sz="1600">
                <a:latin typeface="Futura Md BT" pitchFamily="34" charset="0"/>
              </a:rPr>
              <a:t>   </a:t>
            </a:r>
            <a:r>
              <a:rPr lang="en-GB" altLang="en-US" sz="2000" b="1">
                <a:latin typeface="Futura Md BT" pitchFamily="34" charset="0"/>
                <a:sym typeface="Symbol" panose="05050102010706020507" pitchFamily="18" charset="2"/>
              </a:rPr>
              <a:t></a:t>
            </a:r>
            <a:endParaRPr lang="en-GB" altLang="en-US" sz="2000" b="1" noProof="1">
              <a:latin typeface="Futura Md BT" pitchFamily="34" charset="0"/>
            </a:endParaRPr>
          </a:p>
        </p:txBody>
      </p:sp>
      <p:grpSp>
        <p:nvGrpSpPr>
          <p:cNvPr id="8311" name="Group 119"/>
          <p:cNvGrpSpPr>
            <a:grpSpLocks/>
          </p:cNvGrpSpPr>
          <p:nvPr/>
        </p:nvGrpSpPr>
        <p:grpSpPr bwMode="auto">
          <a:xfrm>
            <a:off x="3760790" y="2349502"/>
            <a:ext cx="168275" cy="179388"/>
            <a:chOff x="0" y="0"/>
            <a:chExt cx="20000" cy="20000"/>
          </a:xfrm>
        </p:grpSpPr>
        <p:sp>
          <p:nvSpPr>
            <p:cNvPr id="8312" name="Line 120"/>
            <p:cNvSpPr>
              <a:spLocks noChangeShapeType="1"/>
            </p:cNvSpPr>
            <p:nvPr/>
          </p:nvSpPr>
          <p:spPr bwMode="auto">
            <a:xfrm>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13" name="Line 121"/>
            <p:cNvSpPr>
              <a:spLocks noChangeShapeType="1"/>
            </p:cNvSpPr>
            <p:nvPr/>
          </p:nvSpPr>
          <p:spPr bwMode="auto">
            <a:xfrm flipH="1">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314" name="Line 122"/>
          <p:cNvSpPr>
            <a:spLocks noChangeShapeType="1"/>
          </p:cNvSpPr>
          <p:nvPr/>
        </p:nvSpPr>
        <p:spPr bwMode="auto">
          <a:xfrm>
            <a:off x="1627189" y="2438402"/>
            <a:ext cx="731838"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15" name="Line 123"/>
          <p:cNvSpPr>
            <a:spLocks noChangeShapeType="1"/>
          </p:cNvSpPr>
          <p:nvPr/>
        </p:nvSpPr>
        <p:spPr bwMode="auto">
          <a:xfrm>
            <a:off x="3362327" y="2438402"/>
            <a:ext cx="361950"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16" name="Line 124"/>
          <p:cNvSpPr>
            <a:spLocks noChangeShapeType="1"/>
          </p:cNvSpPr>
          <p:nvPr/>
        </p:nvSpPr>
        <p:spPr bwMode="auto">
          <a:xfrm>
            <a:off x="3963990" y="2438402"/>
            <a:ext cx="392113"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17" name="Line 125"/>
          <p:cNvSpPr>
            <a:spLocks noChangeShapeType="1"/>
          </p:cNvSpPr>
          <p:nvPr/>
        </p:nvSpPr>
        <p:spPr bwMode="auto">
          <a:xfrm>
            <a:off x="4356103" y="2260602"/>
            <a:ext cx="0" cy="1344613"/>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318" name="Group 126"/>
          <p:cNvGrpSpPr>
            <a:grpSpLocks/>
          </p:cNvGrpSpPr>
          <p:nvPr/>
        </p:nvGrpSpPr>
        <p:grpSpPr bwMode="auto">
          <a:xfrm>
            <a:off x="3760790" y="3338514"/>
            <a:ext cx="168275" cy="179388"/>
            <a:chOff x="0" y="0"/>
            <a:chExt cx="20000" cy="20000"/>
          </a:xfrm>
        </p:grpSpPr>
        <p:sp>
          <p:nvSpPr>
            <p:cNvPr id="8319" name="Line 127"/>
            <p:cNvSpPr>
              <a:spLocks noChangeShapeType="1"/>
            </p:cNvSpPr>
            <p:nvPr/>
          </p:nvSpPr>
          <p:spPr bwMode="auto">
            <a:xfrm>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20" name="Line 128"/>
            <p:cNvSpPr>
              <a:spLocks noChangeShapeType="1"/>
            </p:cNvSpPr>
            <p:nvPr/>
          </p:nvSpPr>
          <p:spPr bwMode="auto">
            <a:xfrm flipH="1">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321" name="Line 129"/>
          <p:cNvSpPr>
            <a:spLocks noChangeShapeType="1"/>
          </p:cNvSpPr>
          <p:nvPr/>
        </p:nvSpPr>
        <p:spPr bwMode="auto">
          <a:xfrm flipV="1">
            <a:off x="1627189" y="3422652"/>
            <a:ext cx="741363"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22" name="Line 130"/>
          <p:cNvSpPr>
            <a:spLocks noChangeShapeType="1"/>
          </p:cNvSpPr>
          <p:nvPr/>
        </p:nvSpPr>
        <p:spPr bwMode="auto">
          <a:xfrm flipV="1">
            <a:off x="3362327" y="3422652"/>
            <a:ext cx="376238"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23" name="Line 131"/>
          <p:cNvSpPr>
            <a:spLocks noChangeShapeType="1"/>
          </p:cNvSpPr>
          <p:nvPr/>
        </p:nvSpPr>
        <p:spPr bwMode="auto">
          <a:xfrm flipV="1">
            <a:off x="3957640" y="3422652"/>
            <a:ext cx="395288"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324" name="Group 132"/>
          <p:cNvGrpSpPr>
            <a:grpSpLocks/>
          </p:cNvGrpSpPr>
          <p:nvPr/>
        </p:nvGrpSpPr>
        <p:grpSpPr bwMode="auto">
          <a:xfrm>
            <a:off x="4768853" y="2894014"/>
            <a:ext cx="166688" cy="182563"/>
            <a:chOff x="0" y="0"/>
            <a:chExt cx="20000" cy="20000"/>
          </a:xfrm>
        </p:grpSpPr>
        <p:sp>
          <p:nvSpPr>
            <p:cNvPr id="8325" name="Line 133"/>
            <p:cNvSpPr>
              <a:spLocks noChangeShapeType="1"/>
            </p:cNvSpPr>
            <p:nvPr/>
          </p:nvSpPr>
          <p:spPr bwMode="auto">
            <a:xfrm>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26" name="Line 134"/>
            <p:cNvSpPr>
              <a:spLocks noChangeShapeType="1"/>
            </p:cNvSpPr>
            <p:nvPr/>
          </p:nvSpPr>
          <p:spPr bwMode="auto">
            <a:xfrm flipH="1">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327" name="Line 135"/>
          <p:cNvSpPr>
            <a:spLocks noChangeShapeType="1"/>
          </p:cNvSpPr>
          <p:nvPr/>
        </p:nvSpPr>
        <p:spPr bwMode="auto">
          <a:xfrm>
            <a:off x="4356103" y="2984502"/>
            <a:ext cx="382588"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28" name="Line 136"/>
          <p:cNvSpPr>
            <a:spLocks noChangeShapeType="1"/>
          </p:cNvSpPr>
          <p:nvPr/>
        </p:nvSpPr>
        <p:spPr bwMode="auto">
          <a:xfrm>
            <a:off x="4970466" y="2984502"/>
            <a:ext cx="1887538"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329" name="Group 137"/>
          <p:cNvGrpSpPr>
            <a:grpSpLocks/>
          </p:cNvGrpSpPr>
          <p:nvPr/>
        </p:nvGrpSpPr>
        <p:grpSpPr bwMode="auto">
          <a:xfrm>
            <a:off x="5116516" y="2867027"/>
            <a:ext cx="434975" cy="217488"/>
            <a:chOff x="4904" y="4465"/>
            <a:chExt cx="2691" cy="1249"/>
          </a:xfrm>
        </p:grpSpPr>
        <p:sp>
          <p:nvSpPr>
            <p:cNvPr id="8330" name="Arc 138"/>
            <p:cNvSpPr>
              <a:spLocks/>
            </p:cNvSpPr>
            <p:nvPr/>
          </p:nvSpPr>
          <p:spPr bwMode="auto">
            <a:xfrm>
              <a:off x="6903" y="4472"/>
              <a:ext cx="686" cy="77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31" name="Arc 139"/>
            <p:cNvSpPr>
              <a:spLocks/>
            </p:cNvSpPr>
            <p:nvPr/>
          </p:nvSpPr>
          <p:spPr bwMode="auto">
            <a:xfrm flipH="1">
              <a:off x="6241" y="4471"/>
              <a:ext cx="664" cy="76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32" name="Freeform 140"/>
            <p:cNvSpPr>
              <a:spLocks/>
            </p:cNvSpPr>
            <p:nvPr/>
          </p:nvSpPr>
          <p:spPr bwMode="auto">
            <a:xfrm>
              <a:off x="6252" y="5214"/>
              <a:ext cx="6" cy="493"/>
            </a:xfrm>
            <a:custGeom>
              <a:avLst/>
              <a:gdLst>
                <a:gd name="T0" fmla="*/ 0 w 20000"/>
                <a:gd name="T1" fmla="*/ 19770 h 20000"/>
                <a:gd name="T2" fmla="*/ 0 w 20000"/>
                <a:gd name="T3" fmla="*/ 0 h 20000"/>
              </a:gdLst>
              <a:ahLst/>
              <a:cxnLst>
                <a:cxn ang="0">
                  <a:pos x="T0" y="T1"/>
                </a:cxn>
                <a:cxn ang="0">
                  <a:pos x="T2" y="T3"/>
                </a:cxn>
              </a:cxnLst>
              <a:rect l="0" t="0" r="r" b="b"/>
              <a:pathLst>
                <a:path w="20000" h="20000">
                  <a:moveTo>
                    <a:pt x="0" y="1977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33" name="Arc 141"/>
            <p:cNvSpPr>
              <a:spLocks/>
            </p:cNvSpPr>
            <p:nvPr/>
          </p:nvSpPr>
          <p:spPr bwMode="auto">
            <a:xfrm>
              <a:off x="5560" y="4465"/>
              <a:ext cx="687" cy="78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34" name="Arc 142"/>
            <p:cNvSpPr>
              <a:spLocks/>
            </p:cNvSpPr>
            <p:nvPr/>
          </p:nvSpPr>
          <p:spPr bwMode="auto">
            <a:xfrm flipH="1">
              <a:off x="4904" y="4465"/>
              <a:ext cx="664" cy="78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35" name="Freeform 143"/>
            <p:cNvSpPr>
              <a:spLocks/>
            </p:cNvSpPr>
            <p:nvPr/>
          </p:nvSpPr>
          <p:spPr bwMode="auto">
            <a:xfrm>
              <a:off x="4910" y="5151"/>
              <a:ext cx="5" cy="562"/>
            </a:xfrm>
            <a:custGeom>
              <a:avLst/>
              <a:gdLst>
                <a:gd name="T0" fmla="*/ 0 w 20000"/>
                <a:gd name="T1" fmla="*/ 0 h 20000"/>
                <a:gd name="T2" fmla="*/ 0 w 20000"/>
                <a:gd name="T3" fmla="*/ 19798 h 20000"/>
              </a:gdLst>
              <a:ahLst/>
              <a:cxnLst>
                <a:cxn ang="0">
                  <a:pos x="T0" y="T1"/>
                </a:cxn>
                <a:cxn ang="0">
                  <a:pos x="T2" y="T3"/>
                </a:cxn>
              </a:cxnLst>
              <a:rect l="0" t="0" r="r" b="b"/>
              <a:pathLst>
                <a:path w="20000" h="20000">
                  <a:moveTo>
                    <a:pt x="0" y="0"/>
                  </a:moveTo>
                  <a:lnTo>
                    <a:pt x="0" y="1979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36" name="Freeform 144"/>
            <p:cNvSpPr>
              <a:spLocks/>
            </p:cNvSpPr>
            <p:nvPr/>
          </p:nvSpPr>
          <p:spPr bwMode="auto">
            <a:xfrm>
              <a:off x="7589" y="5261"/>
              <a:ext cx="6" cy="453"/>
            </a:xfrm>
            <a:custGeom>
              <a:avLst/>
              <a:gdLst>
                <a:gd name="T0" fmla="*/ 0 w 20000"/>
                <a:gd name="T1" fmla="*/ 19750 h 20000"/>
                <a:gd name="T2" fmla="*/ 0 w 20000"/>
                <a:gd name="T3" fmla="*/ 0 h 20000"/>
              </a:gdLst>
              <a:ahLst/>
              <a:cxnLst>
                <a:cxn ang="0">
                  <a:pos x="T0" y="T1"/>
                </a:cxn>
                <a:cxn ang="0">
                  <a:pos x="T2" y="T3"/>
                </a:cxn>
              </a:cxnLst>
              <a:rect l="0" t="0" r="r" b="b"/>
              <a:pathLst>
                <a:path w="20000" h="20000">
                  <a:moveTo>
                    <a:pt x="0" y="1975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8337" name="Group 145"/>
          <p:cNvGrpSpPr>
            <a:grpSpLocks/>
          </p:cNvGrpSpPr>
          <p:nvPr/>
        </p:nvGrpSpPr>
        <p:grpSpPr bwMode="auto">
          <a:xfrm>
            <a:off x="6900866" y="2892427"/>
            <a:ext cx="166688" cy="180975"/>
            <a:chOff x="0" y="0"/>
            <a:chExt cx="20000" cy="20000"/>
          </a:xfrm>
        </p:grpSpPr>
        <p:sp>
          <p:nvSpPr>
            <p:cNvPr id="8338" name="Line 146"/>
            <p:cNvSpPr>
              <a:spLocks noChangeShapeType="1"/>
            </p:cNvSpPr>
            <p:nvPr/>
          </p:nvSpPr>
          <p:spPr bwMode="auto">
            <a:xfrm>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39" name="Line 147"/>
            <p:cNvSpPr>
              <a:spLocks noChangeShapeType="1"/>
            </p:cNvSpPr>
            <p:nvPr/>
          </p:nvSpPr>
          <p:spPr bwMode="auto">
            <a:xfrm flipH="1">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340" name="Line 148"/>
          <p:cNvSpPr>
            <a:spLocks noChangeShapeType="1"/>
          </p:cNvSpPr>
          <p:nvPr/>
        </p:nvSpPr>
        <p:spPr bwMode="auto">
          <a:xfrm>
            <a:off x="7131054" y="2984502"/>
            <a:ext cx="412750"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41" name="Line 149"/>
          <p:cNvSpPr>
            <a:spLocks noChangeShapeType="1"/>
          </p:cNvSpPr>
          <p:nvPr/>
        </p:nvSpPr>
        <p:spPr bwMode="auto">
          <a:xfrm>
            <a:off x="7556504" y="2292352"/>
            <a:ext cx="0" cy="1344613"/>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8342" name="Group 150"/>
          <p:cNvGrpSpPr>
            <a:grpSpLocks/>
          </p:cNvGrpSpPr>
          <p:nvPr/>
        </p:nvGrpSpPr>
        <p:grpSpPr bwMode="auto">
          <a:xfrm>
            <a:off x="7969254" y="2384427"/>
            <a:ext cx="165100" cy="179388"/>
            <a:chOff x="0" y="0"/>
            <a:chExt cx="20000" cy="20000"/>
          </a:xfrm>
        </p:grpSpPr>
        <p:sp>
          <p:nvSpPr>
            <p:cNvPr id="8343" name="Line 151"/>
            <p:cNvSpPr>
              <a:spLocks noChangeShapeType="1"/>
            </p:cNvSpPr>
            <p:nvPr/>
          </p:nvSpPr>
          <p:spPr bwMode="auto">
            <a:xfrm>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44" name="Line 152"/>
            <p:cNvSpPr>
              <a:spLocks noChangeShapeType="1"/>
            </p:cNvSpPr>
            <p:nvPr/>
          </p:nvSpPr>
          <p:spPr bwMode="auto">
            <a:xfrm flipH="1">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345" name="Line 153"/>
          <p:cNvSpPr>
            <a:spLocks noChangeShapeType="1"/>
          </p:cNvSpPr>
          <p:nvPr/>
        </p:nvSpPr>
        <p:spPr bwMode="auto">
          <a:xfrm flipV="1">
            <a:off x="7556504" y="2466977"/>
            <a:ext cx="392113" cy="635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46" name="Line 154"/>
          <p:cNvSpPr>
            <a:spLocks noChangeShapeType="1"/>
          </p:cNvSpPr>
          <p:nvPr/>
        </p:nvSpPr>
        <p:spPr bwMode="auto">
          <a:xfrm flipV="1">
            <a:off x="8154992" y="2471739"/>
            <a:ext cx="677863"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47" name="Line 155"/>
          <p:cNvSpPr>
            <a:spLocks noChangeShapeType="1"/>
          </p:cNvSpPr>
          <p:nvPr/>
        </p:nvSpPr>
        <p:spPr bwMode="auto">
          <a:xfrm>
            <a:off x="5340353" y="3157539"/>
            <a:ext cx="0" cy="2794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48" name="Line 156"/>
          <p:cNvSpPr>
            <a:spLocks noChangeShapeType="1"/>
          </p:cNvSpPr>
          <p:nvPr/>
        </p:nvSpPr>
        <p:spPr bwMode="auto">
          <a:xfrm flipH="1">
            <a:off x="3346452" y="2938464"/>
            <a:ext cx="638175" cy="0"/>
          </a:xfrm>
          <a:prstGeom prst="line">
            <a:avLst/>
          </a:prstGeom>
          <a:noFill/>
          <a:ln w="28575">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49" name="Line 157"/>
          <p:cNvSpPr>
            <a:spLocks noChangeShapeType="1"/>
          </p:cNvSpPr>
          <p:nvPr/>
        </p:nvSpPr>
        <p:spPr bwMode="auto">
          <a:xfrm flipH="1">
            <a:off x="6029328" y="2982914"/>
            <a:ext cx="257175" cy="1588"/>
          </a:xfrm>
          <a:prstGeom prst="line">
            <a:avLst/>
          </a:prstGeom>
          <a:noFill/>
          <a:ln w="28575">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50" name="Line 158"/>
          <p:cNvSpPr>
            <a:spLocks noChangeShapeType="1"/>
          </p:cNvSpPr>
          <p:nvPr/>
        </p:nvSpPr>
        <p:spPr bwMode="auto">
          <a:xfrm>
            <a:off x="1292227" y="2928939"/>
            <a:ext cx="638175" cy="1588"/>
          </a:xfrm>
          <a:prstGeom prst="line">
            <a:avLst/>
          </a:prstGeom>
          <a:noFill/>
          <a:ln w="28575">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51" name="Freeform 159"/>
          <p:cNvSpPr>
            <a:spLocks/>
          </p:cNvSpPr>
          <p:nvPr/>
        </p:nvSpPr>
        <p:spPr bwMode="auto">
          <a:xfrm>
            <a:off x="1169989" y="3355977"/>
            <a:ext cx="341313" cy="150813"/>
          </a:xfrm>
          <a:custGeom>
            <a:avLst/>
            <a:gdLst>
              <a:gd name="T0" fmla="*/ 0 w 1668"/>
              <a:gd name="T1" fmla="*/ 345 h 684"/>
              <a:gd name="T2" fmla="*/ 3 w 1668"/>
              <a:gd name="T3" fmla="*/ 291 h 684"/>
              <a:gd name="T4" fmla="*/ 27 w 1668"/>
              <a:gd name="T5" fmla="*/ 228 h 684"/>
              <a:gd name="T6" fmla="*/ 54 w 1668"/>
              <a:gd name="T7" fmla="*/ 180 h 684"/>
              <a:gd name="T8" fmla="*/ 96 w 1668"/>
              <a:gd name="T9" fmla="*/ 132 h 684"/>
              <a:gd name="T10" fmla="*/ 129 w 1668"/>
              <a:gd name="T11" fmla="*/ 96 h 684"/>
              <a:gd name="T12" fmla="*/ 180 w 1668"/>
              <a:gd name="T13" fmla="*/ 60 h 684"/>
              <a:gd name="T14" fmla="*/ 243 w 1668"/>
              <a:gd name="T15" fmla="*/ 30 h 684"/>
              <a:gd name="T16" fmla="*/ 315 w 1668"/>
              <a:gd name="T17" fmla="*/ 9 h 684"/>
              <a:gd name="T18" fmla="*/ 369 w 1668"/>
              <a:gd name="T19" fmla="*/ 0 h 684"/>
              <a:gd name="T20" fmla="*/ 444 w 1668"/>
              <a:gd name="T21" fmla="*/ 0 h 684"/>
              <a:gd name="T22" fmla="*/ 537 w 1668"/>
              <a:gd name="T23" fmla="*/ 12 h 684"/>
              <a:gd name="T24" fmla="*/ 612 w 1668"/>
              <a:gd name="T25" fmla="*/ 39 h 684"/>
              <a:gd name="T26" fmla="*/ 669 w 1668"/>
              <a:gd name="T27" fmla="*/ 72 h 684"/>
              <a:gd name="T28" fmla="*/ 717 w 1668"/>
              <a:gd name="T29" fmla="*/ 108 h 684"/>
              <a:gd name="T30" fmla="*/ 768 w 1668"/>
              <a:gd name="T31" fmla="*/ 162 h 684"/>
              <a:gd name="T32" fmla="*/ 801 w 1668"/>
              <a:gd name="T33" fmla="*/ 210 h 684"/>
              <a:gd name="T34" fmla="*/ 819 w 1668"/>
              <a:gd name="T35" fmla="*/ 267 h 684"/>
              <a:gd name="T36" fmla="*/ 834 w 1668"/>
              <a:gd name="T37" fmla="*/ 333 h 684"/>
              <a:gd name="T38" fmla="*/ 843 w 1668"/>
              <a:gd name="T39" fmla="*/ 396 h 684"/>
              <a:gd name="T40" fmla="*/ 864 w 1668"/>
              <a:gd name="T41" fmla="*/ 462 h 684"/>
              <a:gd name="T42" fmla="*/ 897 w 1668"/>
              <a:gd name="T43" fmla="*/ 507 h 684"/>
              <a:gd name="T44" fmla="*/ 939 w 1668"/>
              <a:gd name="T45" fmla="*/ 561 h 684"/>
              <a:gd name="T46" fmla="*/ 990 w 1668"/>
              <a:gd name="T47" fmla="*/ 603 h 684"/>
              <a:gd name="T48" fmla="*/ 1044 w 1668"/>
              <a:gd name="T49" fmla="*/ 630 h 684"/>
              <a:gd name="T50" fmla="*/ 1101 w 1668"/>
              <a:gd name="T51" fmla="*/ 660 h 684"/>
              <a:gd name="T52" fmla="*/ 1182 w 1668"/>
              <a:gd name="T53" fmla="*/ 675 h 684"/>
              <a:gd name="T54" fmla="*/ 1269 w 1668"/>
              <a:gd name="T55" fmla="*/ 684 h 684"/>
              <a:gd name="T56" fmla="*/ 1350 w 1668"/>
              <a:gd name="T57" fmla="*/ 672 h 684"/>
              <a:gd name="T58" fmla="*/ 1425 w 1668"/>
              <a:gd name="T59" fmla="*/ 648 h 684"/>
              <a:gd name="T60" fmla="*/ 1491 w 1668"/>
              <a:gd name="T61" fmla="*/ 618 h 684"/>
              <a:gd name="T62" fmla="*/ 1545 w 1668"/>
              <a:gd name="T63" fmla="*/ 576 h 684"/>
              <a:gd name="T64" fmla="*/ 1596 w 1668"/>
              <a:gd name="T65" fmla="*/ 525 h 684"/>
              <a:gd name="T66" fmla="*/ 1629 w 1668"/>
              <a:gd name="T67" fmla="*/ 483 h 684"/>
              <a:gd name="T68" fmla="*/ 1641 w 1668"/>
              <a:gd name="T69" fmla="*/ 444 h 684"/>
              <a:gd name="T70" fmla="*/ 1659 w 1668"/>
              <a:gd name="T71" fmla="*/ 384 h 684"/>
              <a:gd name="T72" fmla="*/ 1668 w 1668"/>
              <a:gd name="T73" fmla="*/ 336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68" h="684">
                <a:moveTo>
                  <a:pt x="0" y="345"/>
                </a:moveTo>
                <a:lnTo>
                  <a:pt x="3" y="291"/>
                </a:lnTo>
                <a:lnTo>
                  <a:pt x="27" y="228"/>
                </a:lnTo>
                <a:lnTo>
                  <a:pt x="54" y="180"/>
                </a:lnTo>
                <a:lnTo>
                  <a:pt x="96" y="132"/>
                </a:lnTo>
                <a:lnTo>
                  <a:pt x="129" y="96"/>
                </a:lnTo>
                <a:lnTo>
                  <a:pt x="180" y="60"/>
                </a:lnTo>
                <a:lnTo>
                  <a:pt x="243" y="30"/>
                </a:lnTo>
                <a:lnTo>
                  <a:pt x="315" y="9"/>
                </a:lnTo>
                <a:lnTo>
                  <a:pt x="369" y="0"/>
                </a:lnTo>
                <a:lnTo>
                  <a:pt x="444" y="0"/>
                </a:lnTo>
                <a:lnTo>
                  <a:pt x="537" y="12"/>
                </a:lnTo>
                <a:lnTo>
                  <a:pt x="612" y="39"/>
                </a:lnTo>
                <a:lnTo>
                  <a:pt x="669" y="72"/>
                </a:lnTo>
                <a:lnTo>
                  <a:pt x="717" y="108"/>
                </a:lnTo>
                <a:lnTo>
                  <a:pt x="768" y="162"/>
                </a:lnTo>
                <a:lnTo>
                  <a:pt x="801" y="210"/>
                </a:lnTo>
                <a:lnTo>
                  <a:pt x="819" y="267"/>
                </a:lnTo>
                <a:lnTo>
                  <a:pt x="834" y="333"/>
                </a:lnTo>
                <a:lnTo>
                  <a:pt x="843" y="396"/>
                </a:lnTo>
                <a:lnTo>
                  <a:pt x="864" y="462"/>
                </a:lnTo>
                <a:lnTo>
                  <a:pt x="897" y="507"/>
                </a:lnTo>
                <a:lnTo>
                  <a:pt x="939" y="561"/>
                </a:lnTo>
                <a:lnTo>
                  <a:pt x="990" y="603"/>
                </a:lnTo>
                <a:lnTo>
                  <a:pt x="1044" y="630"/>
                </a:lnTo>
                <a:lnTo>
                  <a:pt x="1101" y="660"/>
                </a:lnTo>
                <a:lnTo>
                  <a:pt x="1182" y="675"/>
                </a:lnTo>
                <a:lnTo>
                  <a:pt x="1269" y="684"/>
                </a:lnTo>
                <a:lnTo>
                  <a:pt x="1350" y="672"/>
                </a:lnTo>
                <a:lnTo>
                  <a:pt x="1425" y="648"/>
                </a:lnTo>
                <a:lnTo>
                  <a:pt x="1491" y="618"/>
                </a:lnTo>
                <a:lnTo>
                  <a:pt x="1545" y="576"/>
                </a:lnTo>
                <a:lnTo>
                  <a:pt x="1596" y="525"/>
                </a:lnTo>
                <a:lnTo>
                  <a:pt x="1629" y="483"/>
                </a:lnTo>
                <a:lnTo>
                  <a:pt x="1641" y="444"/>
                </a:lnTo>
                <a:lnTo>
                  <a:pt x="1659" y="384"/>
                </a:lnTo>
                <a:lnTo>
                  <a:pt x="1668" y="336"/>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8352" name="Oval 160"/>
          <p:cNvSpPr>
            <a:spLocks noChangeArrowheads="1"/>
          </p:cNvSpPr>
          <p:nvPr/>
        </p:nvSpPr>
        <p:spPr bwMode="auto">
          <a:xfrm>
            <a:off x="1036639" y="3136902"/>
            <a:ext cx="588963" cy="587375"/>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353" name="Oval 161"/>
          <p:cNvSpPr>
            <a:spLocks noChangeArrowheads="1"/>
          </p:cNvSpPr>
          <p:nvPr/>
        </p:nvSpPr>
        <p:spPr bwMode="auto">
          <a:xfrm>
            <a:off x="1041402" y="2154239"/>
            <a:ext cx="587375" cy="588963"/>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354" name="Freeform 162"/>
          <p:cNvSpPr>
            <a:spLocks/>
          </p:cNvSpPr>
          <p:nvPr/>
        </p:nvSpPr>
        <p:spPr bwMode="auto">
          <a:xfrm>
            <a:off x="1160464" y="2370139"/>
            <a:ext cx="341313" cy="150813"/>
          </a:xfrm>
          <a:custGeom>
            <a:avLst/>
            <a:gdLst>
              <a:gd name="T0" fmla="*/ 0 w 1668"/>
              <a:gd name="T1" fmla="*/ 345 h 684"/>
              <a:gd name="T2" fmla="*/ 3 w 1668"/>
              <a:gd name="T3" fmla="*/ 291 h 684"/>
              <a:gd name="T4" fmla="*/ 27 w 1668"/>
              <a:gd name="T5" fmla="*/ 228 h 684"/>
              <a:gd name="T6" fmla="*/ 54 w 1668"/>
              <a:gd name="T7" fmla="*/ 180 h 684"/>
              <a:gd name="T8" fmla="*/ 96 w 1668"/>
              <a:gd name="T9" fmla="*/ 132 h 684"/>
              <a:gd name="T10" fmla="*/ 129 w 1668"/>
              <a:gd name="T11" fmla="*/ 96 h 684"/>
              <a:gd name="T12" fmla="*/ 180 w 1668"/>
              <a:gd name="T13" fmla="*/ 60 h 684"/>
              <a:gd name="T14" fmla="*/ 243 w 1668"/>
              <a:gd name="T15" fmla="*/ 30 h 684"/>
              <a:gd name="T16" fmla="*/ 315 w 1668"/>
              <a:gd name="T17" fmla="*/ 9 h 684"/>
              <a:gd name="T18" fmla="*/ 369 w 1668"/>
              <a:gd name="T19" fmla="*/ 0 h 684"/>
              <a:gd name="T20" fmla="*/ 444 w 1668"/>
              <a:gd name="T21" fmla="*/ 0 h 684"/>
              <a:gd name="T22" fmla="*/ 537 w 1668"/>
              <a:gd name="T23" fmla="*/ 12 h 684"/>
              <a:gd name="T24" fmla="*/ 612 w 1668"/>
              <a:gd name="T25" fmla="*/ 39 h 684"/>
              <a:gd name="T26" fmla="*/ 669 w 1668"/>
              <a:gd name="T27" fmla="*/ 72 h 684"/>
              <a:gd name="T28" fmla="*/ 717 w 1668"/>
              <a:gd name="T29" fmla="*/ 108 h 684"/>
              <a:gd name="T30" fmla="*/ 768 w 1668"/>
              <a:gd name="T31" fmla="*/ 162 h 684"/>
              <a:gd name="T32" fmla="*/ 801 w 1668"/>
              <a:gd name="T33" fmla="*/ 210 h 684"/>
              <a:gd name="T34" fmla="*/ 819 w 1668"/>
              <a:gd name="T35" fmla="*/ 267 h 684"/>
              <a:gd name="T36" fmla="*/ 834 w 1668"/>
              <a:gd name="T37" fmla="*/ 333 h 684"/>
              <a:gd name="T38" fmla="*/ 843 w 1668"/>
              <a:gd name="T39" fmla="*/ 396 h 684"/>
              <a:gd name="T40" fmla="*/ 864 w 1668"/>
              <a:gd name="T41" fmla="*/ 462 h 684"/>
              <a:gd name="T42" fmla="*/ 897 w 1668"/>
              <a:gd name="T43" fmla="*/ 507 h 684"/>
              <a:gd name="T44" fmla="*/ 939 w 1668"/>
              <a:gd name="T45" fmla="*/ 561 h 684"/>
              <a:gd name="T46" fmla="*/ 990 w 1668"/>
              <a:gd name="T47" fmla="*/ 603 h 684"/>
              <a:gd name="T48" fmla="*/ 1044 w 1668"/>
              <a:gd name="T49" fmla="*/ 630 h 684"/>
              <a:gd name="T50" fmla="*/ 1101 w 1668"/>
              <a:gd name="T51" fmla="*/ 660 h 684"/>
              <a:gd name="T52" fmla="*/ 1182 w 1668"/>
              <a:gd name="T53" fmla="*/ 675 h 684"/>
              <a:gd name="T54" fmla="*/ 1269 w 1668"/>
              <a:gd name="T55" fmla="*/ 684 h 684"/>
              <a:gd name="T56" fmla="*/ 1350 w 1668"/>
              <a:gd name="T57" fmla="*/ 672 h 684"/>
              <a:gd name="T58" fmla="*/ 1425 w 1668"/>
              <a:gd name="T59" fmla="*/ 648 h 684"/>
              <a:gd name="T60" fmla="*/ 1491 w 1668"/>
              <a:gd name="T61" fmla="*/ 618 h 684"/>
              <a:gd name="T62" fmla="*/ 1545 w 1668"/>
              <a:gd name="T63" fmla="*/ 576 h 684"/>
              <a:gd name="T64" fmla="*/ 1596 w 1668"/>
              <a:gd name="T65" fmla="*/ 525 h 684"/>
              <a:gd name="T66" fmla="*/ 1629 w 1668"/>
              <a:gd name="T67" fmla="*/ 483 h 684"/>
              <a:gd name="T68" fmla="*/ 1641 w 1668"/>
              <a:gd name="T69" fmla="*/ 444 h 684"/>
              <a:gd name="T70" fmla="*/ 1659 w 1668"/>
              <a:gd name="T71" fmla="*/ 384 h 684"/>
              <a:gd name="T72" fmla="*/ 1668 w 1668"/>
              <a:gd name="T73" fmla="*/ 336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68" h="684">
                <a:moveTo>
                  <a:pt x="0" y="345"/>
                </a:moveTo>
                <a:lnTo>
                  <a:pt x="3" y="291"/>
                </a:lnTo>
                <a:lnTo>
                  <a:pt x="27" y="228"/>
                </a:lnTo>
                <a:lnTo>
                  <a:pt x="54" y="180"/>
                </a:lnTo>
                <a:lnTo>
                  <a:pt x="96" y="132"/>
                </a:lnTo>
                <a:lnTo>
                  <a:pt x="129" y="96"/>
                </a:lnTo>
                <a:lnTo>
                  <a:pt x="180" y="60"/>
                </a:lnTo>
                <a:lnTo>
                  <a:pt x="243" y="30"/>
                </a:lnTo>
                <a:lnTo>
                  <a:pt x="315" y="9"/>
                </a:lnTo>
                <a:lnTo>
                  <a:pt x="369" y="0"/>
                </a:lnTo>
                <a:lnTo>
                  <a:pt x="444" y="0"/>
                </a:lnTo>
                <a:lnTo>
                  <a:pt x="537" y="12"/>
                </a:lnTo>
                <a:lnTo>
                  <a:pt x="612" y="39"/>
                </a:lnTo>
                <a:lnTo>
                  <a:pt x="669" y="72"/>
                </a:lnTo>
                <a:lnTo>
                  <a:pt x="717" y="108"/>
                </a:lnTo>
                <a:lnTo>
                  <a:pt x="768" y="162"/>
                </a:lnTo>
                <a:lnTo>
                  <a:pt x="801" y="210"/>
                </a:lnTo>
                <a:lnTo>
                  <a:pt x="819" y="267"/>
                </a:lnTo>
                <a:lnTo>
                  <a:pt x="834" y="333"/>
                </a:lnTo>
                <a:lnTo>
                  <a:pt x="843" y="396"/>
                </a:lnTo>
                <a:lnTo>
                  <a:pt x="864" y="462"/>
                </a:lnTo>
                <a:lnTo>
                  <a:pt x="897" y="507"/>
                </a:lnTo>
                <a:lnTo>
                  <a:pt x="939" y="561"/>
                </a:lnTo>
                <a:lnTo>
                  <a:pt x="990" y="603"/>
                </a:lnTo>
                <a:lnTo>
                  <a:pt x="1044" y="630"/>
                </a:lnTo>
                <a:lnTo>
                  <a:pt x="1101" y="660"/>
                </a:lnTo>
                <a:lnTo>
                  <a:pt x="1182" y="675"/>
                </a:lnTo>
                <a:lnTo>
                  <a:pt x="1269" y="684"/>
                </a:lnTo>
                <a:lnTo>
                  <a:pt x="1350" y="672"/>
                </a:lnTo>
                <a:lnTo>
                  <a:pt x="1425" y="648"/>
                </a:lnTo>
                <a:lnTo>
                  <a:pt x="1491" y="618"/>
                </a:lnTo>
                <a:lnTo>
                  <a:pt x="1545" y="576"/>
                </a:lnTo>
                <a:lnTo>
                  <a:pt x="1596" y="525"/>
                </a:lnTo>
                <a:lnTo>
                  <a:pt x="1629" y="483"/>
                </a:lnTo>
                <a:lnTo>
                  <a:pt x="1641" y="444"/>
                </a:lnTo>
                <a:lnTo>
                  <a:pt x="1659" y="384"/>
                </a:lnTo>
                <a:lnTo>
                  <a:pt x="1668" y="336"/>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8355" name="Oval 163"/>
          <p:cNvSpPr>
            <a:spLocks noChangeArrowheads="1"/>
          </p:cNvSpPr>
          <p:nvPr/>
        </p:nvSpPr>
        <p:spPr bwMode="auto">
          <a:xfrm>
            <a:off x="2360615" y="2146302"/>
            <a:ext cx="588963" cy="587375"/>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356" name="Oval 164"/>
          <p:cNvSpPr>
            <a:spLocks noChangeArrowheads="1"/>
          </p:cNvSpPr>
          <p:nvPr/>
        </p:nvSpPr>
        <p:spPr bwMode="auto">
          <a:xfrm>
            <a:off x="2771777" y="2141539"/>
            <a:ext cx="588963" cy="588963"/>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357" name="Oval 165"/>
          <p:cNvSpPr>
            <a:spLocks noChangeArrowheads="1"/>
          </p:cNvSpPr>
          <p:nvPr/>
        </p:nvSpPr>
        <p:spPr bwMode="auto">
          <a:xfrm>
            <a:off x="2360615" y="3119439"/>
            <a:ext cx="588963" cy="588963"/>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358" name="Oval 166"/>
          <p:cNvSpPr>
            <a:spLocks noChangeArrowheads="1"/>
          </p:cNvSpPr>
          <p:nvPr/>
        </p:nvSpPr>
        <p:spPr bwMode="auto">
          <a:xfrm>
            <a:off x="2771777" y="3114677"/>
            <a:ext cx="588963" cy="588963"/>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359" name="Oval 167"/>
          <p:cNvSpPr>
            <a:spLocks noChangeArrowheads="1"/>
          </p:cNvSpPr>
          <p:nvPr/>
        </p:nvSpPr>
        <p:spPr bwMode="auto">
          <a:xfrm>
            <a:off x="5043491" y="3425827"/>
            <a:ext cx="588963" cy="588963"/>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360" name="Rectangle 168"/>
          <p:cNvSpPr>
            <a:spLocks noChangeArrowheads="1"/>
          </p:cNvSpPr>
          <p:nvPr/>
        </p:nvSpPr>
        <p:spPr bwMode="auto">
          <a:xfrm>
            <a:off x="2058989" y="1766889"/>
            <a:ext cx="11525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en-US" sz="1600" noProof="1">
                <a:latin typeface="Futura Md BT" pitchFamily="34" charset="0"/>
              </a:rPr>
              <a:t>Z</a:t>
            </a:r>
            <a:r>
              <a:rPr lang="en-US" altLang="en-US" sz="1800" baseline="-25000" noProof="1">
                <a:latin typeface="Futura Md BT" pitchFamily="34" charset="0"/>
              </a:rPr>
              <a:t>S</a:t>
            </a:r>
            <a:r>
              <a:rPr lang="en-US" altLang="en-US" sz="1600" noProof="1">
                <a:latin typeface="Futura Md BT" pitchFamily="34" charset="0"/>
              </a:rPr>
              <a:t> = 10</a:t>
            </a:r>
            <a:r>
              <a:rPr lang="en-GB" altLang="en-US" sz="1600">
                <a:latin typeface="Futura Md BT" pitchFamily="34" charset="0"/>
              </a:rPr>
              <a:t>   </a:t>
            </a:r>
            <a:r>
              <a:rPr lang="en-GB" altLang="en-US" sz="2000" b="1">
                <a:latin typeface="Futura Md BT" pitchFamily="34" charset="0"/>
                <a:sym typeface="Symbol" panose="05050102010706020507" pitchFamily="18" charset="2"/>
              </a:rPr>
              <a:t></a:t>
            </a:r>
            <a:endParaRPr lang="en-GB" altLang="en-US" sz="2000" b="1" noProof="1">
              <a:latin typeface="Futura Md BT" pitchFamily="34" charset="0"/>
            </a:endParaRPr>
          </a:p>
        </p:txBody>
      </p:sp>
      <p:sp>
        <p:nvSpPr>
          <p:cNvPr id="8361" name="Line 169"/>
          <p:cNvSpPr>
            <a:spLocks noChangeShapeType="1"/>
          </p:cNvSpPr>
          <p:nvPr/>
        </p:nvSpPr>
        <p:spPr bwMode="auto">
          <a:xfrm flipH="1">
            <a:off x="3306765" y="1922464"/>
            <a:ext cx="638175" cy="0"/>
          </a:xfrm>
          <a:prstGeom prst="line">
            <a:avLst/>
          </a:prstGeom>
          <a:noFill/>
          <a:ln w="28575">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62" name="Line 170"/>
          <p:cNvSpPr>
            <a:spLocks noChangeShapeType="1"/>
          </p:cNvSpPr>
          <p:nvPr/>
        </p:nvSpPr>
        <p:spPr bwMode="auto">
          <a:xfrm flipV="1">
            <a:off x="1252539" y="1911352"/>
            <a:ext cx="635000" cy="3175"/>
          </a:xfrm>
          <a:prstGeom prst="line">
            <a:avLst/>
          </a:prstGeom>
          <a:noFill/>
          <a:ln w="28575">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363" name="Rectangle 171"/>
          <p:cNvSpPr>
            <a:spLocks noChangeArrowheads="1"/>
          </p:cNvSpPr>
          <p:nvPr/>
        </p:nvSpPr>
        <p:spPr bwMode="auto">
          <a:xfrm>
            <a:off x="5764216" y="2517777"/>
            <a:ext cx="11525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en-US" sz="1600" noProof="1">
                <a:latin typeface="Futura Md BT" pitchFamily="34" charset="0"/>
              </a:rPr>
              <a:t>Z</a:t>
            </a:r>
            <a:r>
              <a:rPr lang="en-GB" altLang="en-US" sz="1800" baseline="-25000">
                <a:latin typeface="Futura Md BT" pitchFamily="34" charset="0"/>
              </a:rPr>
              <a:t>L</a:t>
            </a:r>
            <a:r>
              <a:rPr lang="en-GB" altLang="en-US" sz="1600" noProof="1">
                <a:latin typeface="Futura Md BT" pitchFamily="34" charset="0"/>
              </a:rPr>
              <a:t> = </a:t>
            </a:r>
            <a:r>
              <a:rPr lang="en-GB" altLang="en-US" sz="1600">
                <a:latin typeface="Futura Md BT" pitchFamily="34" charset="0"/>
              </a:rPr>
              <a:t>4   </a:t>
            </a:r>
            <a:r>
              <a:rPr lang="en-GB" altLang="en-US" sz="2000" b="1">
                <a:latin typeface="Futura Md BT" pitchFamily="34" charset="0"/>
                <a:sym typeface="Symbol" panose="05050102010706020507" pitchFamily="18" charset="2"/>
              </a:rPr>
              <a:t></a:t>
            </a:r>
            <a:endParaRPr lang="en-GB" altLang="en-US" sz="2000" b="1" noProof="1">
              <a:latin typeface="Futura Md BT" pitchFamily="34" charset="0"/>
            </a:endParaRPr>
          </a:p>
        </p:txBody>
      </p:sp>
      <p:sp>
        <p:nvSpPr>
          <p:cNvPr id="8365" name="Rectangle 173"/>
          <p:cNvSpPr>
            <a:spLocks noChangeArrowheads="1"/>
          </p:cNvSpPr>
          <p:nvPr/>
        </p:nvSpPr>
        <p:spPr bwMode="auto">
          <a:xfrm>
            <a:off x="2578102" y="4610102"/>
            <a:ext cx="4522789"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lr>
                <a:srgbClr val="C4122F"/>
              </a:buClr>
              <a:buFont typeface="Wingdings 3" panose="05040102010807070707" pitchFamily="18" charset="2"/>
              <a:buChar char="u"/>
              <a:defRPr sz="2000" b="1">
                <a:solidFill>
                  <a:schemeClr val="tx1"/>
                </a:solidFill>
                <a:latin typeface="Arial" panose="020B0604020202020204" pitchFamily="34" charset="0"/>
              </a:defRPr>
            </a:lvl1pPr>
            <a:lvl2pPr marL="742950" indent="-285750">
              <a:spcBef>
                <a:spcPct val="20000"/>
              </a:spcBef>
              <a:buClr>
                <a:srgbClr val="FAA61A"/>
              </a:buClr>
              <a:buFont typeface="Wingdings" panose="05000000000000000000" pitchFamily="2" charset="2"/>
              <a:buChar char="w"/>
              <a:defRPr b="1">
                <a:solidFill>
                  <a:schemeClr val="tx1"/>
                </a:solidFill>
                <a:latin typeface="Arial" panose="020B0604020202020204" pitchFamily="34" charset="0"/>
              </a:defRPr>
            </a:lvl2pPr>
            <a:lvl3pPr marL="1143000" indent="-228600">
              <a:spcBef>
                <a:spcPct val="20000"/>
              </a:spcBef>
              <a:buClr>
                <a:srgbClr val="C4122F"/>
              </a:buClr>
              <a:buSzPct val="60000"/>
              <a:buFont typeface="Wingdings" panose="05000000000000000000" pitchFamily="2" charset="2"/>
              <a:buChar char="l"/>
              <a:defRPr sz="1600" b="1">
                <a:solidFill>
                  <a:schemeClr val="tx1"/>
                </a:solidFill>
                <a:latin typeface="Arial" panose="020B0604020202020204" pitchFamily="34" charset="0"/>
              </a:defRPr>
            </a:lvl3pPr>
            <a:lvl4pPr marL="1600200" indent="-228600">
              <a:spcBef>
                <a:spcPct val="20000"/>
              </a:spcBef>
              <a:buClr>
                <a:srgbClr val="C4122F"/>
              </a:buClr>
              <a:buSzPct val="130000"/>
              <a:buChar char="-"/>
              <a:defRPr sz="1400" b="1">
                <a:solidFill>
                  <a:schemeClr val="tx1"/>
                </a:solidFill>
                <a:latin typeface="Arial" panose="020B0604020202020204" pitchFamily="34" charset="0"/>
              </a:defRPr>
            </a:lvl4pPr>
            <a:lvl5pPr marL="2057400" indent="-228600">
              <a:spcBef>
                <a:spcPct val="20000"/>
              </a:spcBef>
              <a:buChar char="»"/>
              <a:defRPr sz="2000">
                <a:solidFill>
                  <a:srgbClr val="000099"/>
                </a:solidFill>
                <a:latin typeface="FuturaA Md BT" pitchFamily="34" charset="0"/>
              </a:defRPr>
            </a:lvl5pPr>
            <a:lvl6pPr marL="2514600" indent="-228600" eaLnBrk="0" fontAlgn="base" hangingPunct="0">
              <a:spcBef>
                <a:spcPct val="20000"/>
              </a:spcBef>
              <a:spcAft>
                <a:spcPct val="0"/>
              </a:spcAft>
              <a:buChar char="»"/>
              <a:defRPr sz="2000">
                <a:solidFill>
                  <a:srgbClr val="000099"/>
                </a:solidFill>
                <a:latin typeface="FuturaA Md BT" pitchFamily="34" charset="0"/>
              </a:defRPr>
            </a:lvl6pPr>
            <a:lvl7pPr marL="2971800" indent="-228600" eaLnBrk="0" fontAlgn="base" hangingPunct="0">
              <a:spcBef>
                <a:spcPct val="20000"/>
              </a:spcBef>
              <a:spcAft>
                <a:spcPct val="0"/>
              </a:spcAft>
              <a:buChar char="»"/>
              <a:defRPr sz="2000">
                <a:solidFill>
                  <a:srgbClr val="000099"/>
                </a:solidFill>
                <a:latin typeface="FuturaA Md BT" pitchFamily="34" charset="0"/>
              </a:defRPr>
            </a:lvl7pPr>
            <a:lvl8pPr marL="3429000" indent="-228600" eaLnBrk="0" fontAlgn="base" hangingPunct="0">
              <a:spcBef>
                <a:spcPct val="20000"/>
              </a:spcBef>
              <a:spcAft>
                <a:spcPct val="0"/>
              </a:spcAft>
              <a:buChar char="»"/>
              <a:defRPr sz="2000">
                <a:solidFill>
                  <a:srgbClr val="000099"/>
                </a:solidFill>
                <a:latin typeface="FuturaA Md BT" pitchFamily="34" charset="0"/>
              </a:defRPr>
            </a:lvl8pPr>
            <a:lvl9pPr marL="3886200" indent="-228600" eaLnBrk="0" fontAlgn="base" hangingPunct="0">
              <a:spcBef>
                <a:spcPct val="20000"/>
              </a:spcBef>
              <a:spcAft>
                <a:spcPct val="0"/>
              </a:spcAft>
              <a:buChar char="»"/>
              <a:defRPr sz="2000">
                <a:solidFill>
                  <a:srgbClr val="000099"/>
                </a:solidFill>
                <a:latin typeface="FuturaA Md BT" pitchFamily="34" charset="0"/>
              </a:defRPr>
            </a:lvl9pPr>
          </a:lstStyle>
          <a:p>
            <a:pPr>
              <a:lnSpc>
                <a:spcPct val="110000"/>
              </a:lnSpc>
              <a:spcBef>
                <a:spcPct val="45000"/>
              </a:spcBef>
              <a:buFont typeface="Wingdings 3" panose="05040102010807070707" pitchFamily="18" charset="2"/>
              <a:buNone/>
            </a:pPr>
            <a:r>
              <a:rPr lang="en-GB" altLang="en-US" sz="2400" b="0">
                <a:latin typeface="Times New Roman" panose="02020603050405020304" pitchFamily="18" charset="0"/>
              </a:rPr>
              <a:t>I</a:t>
            </a:r>
            <a:r>
              <a:rPr lang="en-GB" altLang="en-US" sz="2400" b="0" baseline="-25000">
                <a:latin typeface="Futura Md BT" pitchFamily="34" charset="0"/>
              </a:rPr>
              <a:t>F1 </a:t>
            </a:r>
            <a:r>
              <a:rPr lang="en-GB" altLang="en-US" sz="2400" b="0">
                <a:latin typeface="Futura Md BT" pitchFamily="34" charset="0"/>
              </a:rPr>
              <a:t> =  115kV/</a:t>
            </a:r>
            <a:r>
              <a:rPr lang="en-GB" altLang="en-US" sz="2400" b="0">
                <a:latin typeface="Futura Md BT" pitchFamily="34" charset="0"/>
                <a:sym typeface="Symbol" panose="05050102010706020507" pitchFamily="18" charset="2"/>
              </a:rPr>
              <a:t>3(5+4)  =  7380A</a:t>
            </a:r>
          </a:p>
          <a:p>
            <a:pPr>
              <a:lnSpc>
                <a:spcPct val="110000"/>
              </a:lnSpc>
              <a:spcBef>
                <a:spcPct val="45000"/>
              </a:spcBef>
              <a:buFont typeface="Wingdings 3" panose="05040102010807070707" pitchFamily="18" charset="2"/>
              <a:buNone/>
            </a:pPr>
            <a:r>
              <a:rPr lang="en-GB" altLang="en-US" sz="2400" b="0">
                <a:latin typeface="Futura Md BT" pitchFamily="34" charset="0"/>
                <a:sym typeface="Symbol" panose="05050102010706020507" pitchFamily="18" charset="2"/>
              </a:rPr>
              <a:t>  </a:t>
            </a:r>
            <a:r>
              <a:rPr lang="en-GB" altLang="en-US" sz="2400" b="0">
                <a:latin typeface="Times New Roman" panose="02020603050405020304" pitchFamily="18" charset="0"/>
                <a:sym typeface="Symbol" panose="05050102010706020507" pitchFamily="18" charset="2"/>
              </a:rPr>
              <a:t>I</a:t>
            </a:r>
            <a:r>
              <a:rPr lang="en-GB" altLang="en-US" sz="2400" b="0" baseline="-25000">
                <a:latin typeface="Futura Md BT" pitchFamily="34" charset="0"/>
                <a:sym typeface="Symbol" panose="05050102010706020507" pitchFamily="18" charset="2"/>
              </a:rPr>
              <a:t>s</a:t>
            </a:r>
            <a:r>
              <a:rPr lang="en-GB" altLang="en-US" sz="2400" b="0">
                <a:latin typeface="Futura Md BT" pitchFamily="34" charset="0"/>
                <a:sym typeface="Symbol" panose="05050102010706020507" pitchFamily="18" charset="2"/>
              </a:rPr>
              <a:t>  &gt;  7380A</a:t>
            </a:r>
          </a:p>
          <a:p>
            <a:pPr>
              <a:lnSpc>
                <a:spcPct val="110000"/>
              </a:lnSpc>
              <a:spcBef>
                <a:spcPct val="45000"/>
              </a:spcBef>
              <a:buFont typeface="Wingdings 3" panose="05040102010807070707" pitchFamily="18" charset="2"/>
              <a:buNone/>
            </a:pPr>
            <a:endParaRPr lang="en-GB" altLang="en-US" b="0">
              <a:latin typeface="Futura Md BT" pitchFamily="34" charset="0"/>
            </a:endParaRPr>
          </a:p>
        </p:txBody>
      </p:sp>
    </p:spTree>
    <p:extLst>
      <p:ext uri="{BB962C8B-B14F-4D97-AF65-F5344CB8AC3E}">
        <p14:creationId xmlns:p14="http://schemas.microsoft.com/office/powerpoint/2010/main" val="2441150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Rectangle 7"/>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dirty="0"/>
              <a:t>Advantages of Distance Protection</a:t>
            </a:r>
          </a:p>
        </p:txBody>
      </p:sp>
      <p:sp>
        <p:nvSpPr>
          <p:cNvPr id="9224" name="Line 8"/>
          <p:cNvSpPr>
            <a:spLocks noChangeShapeType="1"/>
          </p:cNvSpPr>
          <p:nvPr/>
        </p:nvSpPr>
        <p:spPr bwMode="auto">
          <a:xfrm flipH="1">
            <a:off x="3060355" y="2336457"/>
            <a:ext cx="617538" cy="0"/>
          </a:xfrm>
          <a:prstGeom prst="line">
            <a:avLst/>
          </a:prstGeom>
          <a:noFill/>
          <a:ln w="28575">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25" name="Line 9"/>
          <p:cNvSpPr>
            <a:spLocks noChangeShapeType="1"/>
          </p:cNvSpPr>
          <p:nvPr/>
        </p:nvSpPr>
        <p:spPr bwMode="auto">
          <a:xfrm>
            <a:off x="1066455" y="2268194"/>
            <a:ext cx="615950" cy="1588"/>
          </a:xfrm>
          <a:prstGeom prst="line">
            <a:avLst/>
          </a:prstGeom>
          <a:noFill/>
          <a:ln w="28575">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26" name="Rectangle 10"/>
          <p:cNvSpPr>
            <a:spLocks noChangeArrowheads="1"/>
          </p:cNvSpPr>
          <p:nvPr/>
        </p:nvSpPr>
        <p:spPr bwMode="auto">
          <a:xfrm>
            <a:off x="5438430" y="3408019"/>
            <a:ext cx="41910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en-US" sz="1600" noProof="1">
                <a:solidFill>
                  <a:schemeClr val="tx2"/>
                </a:solidFill>
                <a:latin typeface="Futura Md BT" pitchFamily="34" charset="0"/>
              </a:rPr>
              <a:t>F</a:t>
            </a:r>
            <a:r>
              <a:rPr lang="en-US" altLang="en-US" sz="1600" baseline="-25000" noProof="1">
                <a:solidFill>
                  <a:schemeClr val="tx2"/>
                </a:solidFill>
                <a:latin typeface="Futura Md BT" pitchFamily="34" charset="0"/>
              </a:rPr>
              <a:t>2</a:t>
            </a:r>
            <a:endParaRPr lang="en-US" altLang="en-US" sz="1600" noProof="1">
              <a:solidFill>
                <a:schemeClr val="tx2"/>
              </a:solidFill>
              <a:latin typeface="Futura Md BT" pitchFamily="34" charset="0"/>
            </a:endParaRPr>
          </a:p>
        </p:txBody>
      </p:sp>
      <p:sp>
        <p:nvSpPr>
          <p:cNvPr id="9227" name="Rectangle 11"/>
          <p:cNvSpPr>
            <a:spLocks noChangeArrowheads="1"/>
          </p:cNvSpPr>
          <p:nvPr/>
        </p:nvSpPr>
        <p:spPr bwMode="auto">
          <a:xfrm>
            <a:off x="4976467" y="3763619"/>
            <a:ext cx="4191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en-US" sz="1600" noProof="1">
                <a:solidFill>
                  <a:schemeClr val="tx2"/>
                </a:solidFill>
                <a:latin typeface="Futura Md BT" pitchFamily="34" charset="0"/>
              </a:rPr>
              <a:t>50</a:t>
            </a:r>
          </a:p>
        </p:txBody>
      </p:sp>
      <p:sp>
        <p:nvSpPr>
          <p:cNvPr id="9228" name="Rectangle 12"/>
          <p:cNvSpPr>
            <a:spLocks noChangeArrowheads="1"/>
          </p:cNvSpPr>
          <p:nvPr/>
        </p:nvSpPr>
        <p:spPr bwMode="auto">
          <a:xfrm>
            <a:off x="4509742" y="2844457"/>
            <a:ext cx="41910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en-US" sz="1600" noProof="1">
                <a:solidFill>
                  <a:schemeClr val="tx2"/>
                </a:solidFill>
                <a:latin typeface="Times New Roman" panose="02020603050405020304" pitchFamily="18" charset="0"/>
              </a:rPr>
              <a:t>I</a:t>
            </a:r>
            <a:r>
              <a:rPr lang="en-US" altLang="en-US" sz="1600" baseline="-25000" noProof="1">
                <a:solidFill>
                  <a:schemeClr val="tx2"/>
                </a:solidFill>
                <a:latin typeface="Futura Md BT" pitchFamily="34" charset="0"/>
              </a:rPr>
              <a:t>F2</a:t>
            </a:r>
            <a:endParaRPr lang="en-US" altLang="en-US" sz="1600" noProof="1">
              <a:solidFill>
                <a:schemeClr val="tx2"/>
              </a:solidFill>
              <a:latin typeface="Futura Md BT" pitchFamily="34" charset="0"/>
            </a:endParaRPr>
          </a:p>
        </p:txBody>
      </p:sp>
      <p:sp>
        <p:nvSpPr>
          <p:cNvPr id="9229" name="Oval 13"/>
          <p:cNvSpPr>
            <a:spLocks noChangeArrowheads="1"/>
          </p:cNvSpPr>
          <p:nvPr/>
        </p:nvSpPr>
        <p:spPr bwMode="auto">
          <a:xfrm>
            <a:off x="763242" y="2409482"/>
            <a:ext cx="560388" cy="561975"/>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9230" name="Group 14"/>
          <p:cNvGrpSpPr>
            <a:grpSpLocks/>
          </p:cNvGrpSpPr>
          <p:nvPr/>
        </p:nvGrpSpPr>
        <p:grpSpPr bwMode="auto">
          <a:xfrm>
            <a:off x="3396905" y="2615857"/>
            <a:ext cx="160338" cy="161925"/>
            <a:chOff x="0" y="0"/>
            <a:chExt cx="20000" cy="20000"/>
          </a:xfrm>
        </p:grpSpPr>
        <p:sp>
          <p:nvSpPr>
            <p:cNvPr id="9231" name="Line 15"/>
            <p:cNvSpPr>
              <a:spLocks noChangeShapeType="1"/>
            </p:cNvSpPr>
            <p:nvPr/>
          </p:nvSpPr>
          <p:spPr bwMode="auto">
            <a:xfrm>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32" name="Line 16"/>
            <p:cNvSpPr>
              <a:spLocks noChangeShapeType="1"/>
            </p:cNvSpPr>
            <p:nvPr/>
          </p:nvSpPr>
          <p:spPr bwMode="auto">
            <a:xfrm flipH="1">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9233" name="Oval 17"/>
          <p:cNvSpPr>
            <a:spLocks noChangeArrowheads="1"/>
          </p:cNvSpPr>
          <p:nvPr/>
        </p:nvSpPr>
        <p:spPr bwMode="auto">
          <a:xfrm>
            <a:off x="2039592" y="2403132"/>
            <a:ext cx="560388" cy="56038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34" name="Oval 18"/>
          <p:cNvSpPr>
            <a:spLocks noChangeArrowheads="1"/>
          </p:cNvSpPr>
          <p:nvPr/>
        </p:nvSpPr>
        <p:spPr bwMode="auto">
          <a:xfrm>
            <a:off x="2441230" y="2403132"/>
            <a:ext cx="557213" cy="56038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35" name="Line 19"/>
          <p:cNvSpPr>
            <a:spLocks noChangeShapeType="1"/>
          </p:cNvSpPr>
          <p:nvPr/>
        </p:nvSpPr>
        <p:spPr bwMode="auto">
          <a:xfrm flipV="1">
            <a:off x="1322042" y="2693644"/>
            <a:ext cx="719138"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36" name="Line 20"/>
          <p:cNvSpPr>
            <a:spLocks noChangeShapeType="1"/>
          </p:cNvSpPr>
          <p:nvPr/>
        </p:nvSpPr>
        <p:spPr bwMode="auto">
          <a:xfrm flipV="1">
            <a:off x="2996855" y="2693644"/>
            <a:ext cx="363538"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37" name="Line 21"/>
          <p:cNvSpPr>
            <a:spLocks noChangeShapeType="1"/>
          </p:cNvSpPr>
          <p:nvPr/>
        </p:nvSpPr>
        <p:spPr bwMode="auto">
          <a:xfrm flipV="1">
            <a:off x="3592167" y="2693644"/>
            <a:ext cx="360363"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38" name="Line 22"/>
          <p:cNvSpPr>
            <a:spLocks noChangeShapeType="1"/>
          </p:cNvSpPr>
          <p:nvPr/>
        </p:nvSpPr>
        <p:spPr bwMode="auto">
          <a:xfrm flipH="1">
            <a:off x="3954116" y="2536482"/>
            <a:ext cx="1" cy="10541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9239" name="Group 23"/>
          <p:cNvGrpSpPr>
            <a:grpSpLocks/>
          </p:cNvGrpSpPr>
          <p:nvPr/>
        </p:nvGrpSpPr>
        <p:grpSpPr bwMode="auto">
          <a:xfrm>
            <a:off x="4109692" y="3103219"/>
            <a:ext cx="160338" cy="158750"/>
            <a:chOff x="0" y="0"/>
            <a:chExt cx="20000" cy="20000"/>
          </a:xfrm>
        </p:grpSpPr>
        <p:sp>
          <p:nvSpPr>
            <p:cNvPr id="9240" name="Line 24"/>
            <p:cNvSpPr>
              <a:spLocks noChangeShapeType="1"/>
            </p:cNvSpPr>
            <p:nvPr/>
          </p:nvSpPr>
          <p:spPr bwMode="auto">
            <a:xfrm>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1" name="Line 25"/>
            <p:cNvSpPr>
              <a:spLocks noChangeShapeType="1"/>
            </p:cNvSpPr>
            <p:nvPr/>
          </p:nvSpPr>
          <p:spPr bwMode="auto">
            <a:xfrm flipH="1">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9242" name="Line 26"/>
          <p:cNvSpPr>
            <a:spLocks noChangeShapeType="1"/>
          </p:cNvSpPr>
          <p:nvPr/>
        </p:nvSpPr>
        <p:spPr bwMode="auto">
          <a:xfrm>
            <a:off x="3954117" y="3181007"/>
            <a:ext cx="149225"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3" name="Line 27"/>
          <p:cNvSpPr>
            <a:spLocks noChangeShapeType="1"/>
          </p:cNvSpPr>
          <p:nvPr/>
        </p:nvSpPr>
        <p:spPr bwMode="auto">
          <a:xfrm>
            <a:off x="4297017" y="3181007"/>
            <a:ext cx="2128838"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9244" name="Group 28"/>
          <p:cNvGrpSpPr>
            <a:grpSpLocks/>
          </p:cNvGrpSpPr>
          <p:nvPr/>
        </p:nvGrpSpPr>
        <p:grpSpPr bwMode="auto">
          <a:xfrm>
            <a:off x="6432205" y="3101632"/>
            <a:ext cx="161925" cy="158750"/>
            <a:chOff x="0" y="0"/>
            <a:chExt cx="20000" cy="20000"/>
          </a:xfrm>
        </p:grpSpPr>
        <p:sp>
          <p:nvSpPr>
            <p:cNvPr id="9245" name="Line 29"/>
            <p:cNvSpPr>
              <a:spLocks noChangeShapeType="1"/>
            </p:cNvSpPr>
            <p:nvPr/>
          </p:nvSpPr>
          <p:spPr bwMode="auto">
            <a:xfrm>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6" name="Line 30"/>
            <p:cNvSpPr>
              <a:spLocks noChangeShapeType="1"/>
            </p:cNvSpPr>
            <p:nvPr/>
          </p:nvSpPr>
          <p:spPr bwMode="auto">
            <a:xfrm flipH="1">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9247" name="Line 31"/>
          <p:cNvSpPr>
            <a:spLocks noChangeShapeType="1"/>
          </p:cNvSpPr>
          <p:nvPr/>
        </p:nvSpPr>
        <p:spPr bwMode="auto">
          <a:xfrm>
            <a:off x="6632230" y="3181007"/>
            <a:ext cx="398463"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48" name="Line 32"/>
          <p:cNvSpPr>
            <a:spLocks noChangeShapeType="1"/>
          </p:cNvSpPr>
          <p:nvPr/>
        </p:nvSpPr>
        <p:spPr bwMode="auto">
          <a:xfrm>
            <a:off x="7043392" y="2563469"/>
            <a:ext cx="0" cy="777875"/>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9249" name="Group 33"/>
          <p:cNvGrpSpPr>
            <a:grpSpLocks/>
          </p:cNvGrpSpPr>
          <p:nvPr/>
        </p:nvGrpSpPr>
        <p:grpSpPr bwMode="auto">
          <a:xfrm>
            <a:off x="7443442" y="2641257"/>
            <a:ext cx="158750" cy="158750"/>
            <a:chOff x="0" y="0"/>
            <a:chExt cx="20000" cy="20000"/>
          </a:xfrm>
        </p:grpSpPr>
        <p:sp>
          <p:nvSpPr>
            <p:cNvPr id="9250" name="Line 34"/>
            <p:cNvSpPr>
              <a:spLocks noChangeShapeType="1"/>
            </p:cNvSpPr>
            <p:nvPr/>
          </p:nvSpPr>
          <p:spPr bwMode="auto">
            <a:xfrm>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1" name="Line 35"/>
            <p:cNvSpPr>
              <a:spLocks noChangeShapeType="1"/>
            </p:cNvSpPr>
            <p:nvPr/>
          </p:nvSpPr>
          <p:spPr bwMode="auto">
            <a:xfrm flipH="1">
              <a:off x="0" y="0"/>
              <a:ext cx="20000"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9252" name="Line 36"/>
          <p:cNvSpPr>
            <a:spLocks noChangeShapeType="1"/>
          </p:cNvSpPr>
          <p:nvPr/>
        </p:nvSpPr>
        <p:spPr bwMode="auto">
          <a:xfrm>
            <a:off x="7043392" y="2726982"/>
            <a:ext cx="381000"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3" name="Line 37"/>
          <p:cNvSpPr>
            <a:spLocks noChangeShapeType="1"/>
          </p:cNvSpPr>
          <p:nvPr/>
        </p:nvSpPr>
        <p:spPr bwMode="auto">
          <a:xfrm>
            <a:off x="7637117" y="2726982"/>
            <a:ext cx="633413"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4" name="Oval 38"/>
          <p:cNvSpPr>
            <a:spLocks noChangeArrowheads="1"/>
          </p:cNvSpPr>
          <p:nvPr/>
        </p:nvSpPr>
        <p:spPr bwMode="auto">
          <a:xfrm>
            <a:off x="4903442" y="3595344"/>
            <a:ext cx="560388" cy="56038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5" name="Line 39"/>
          <p:cNvSpPr>
            <a:spLocks noChangeShapeType="1"/>
          </p:cNvSpPr>
          <p:nvPr/>
        </p:nvSpPr>
        <p:spPr bwMode="auto">
          <a:xfrm>
            <a:off x="5186017" y="3327057"/>
            <a:ext cx="3175" cy="263525"/>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6" name="Arc 40"/>
          <p:cNvSpPr>
            <a:spLocks/>
          </p:cNvSpPr>
          <p:nvPr/>
        </p:nvSpPr>
        <p:spPr bwMode="auto">
          <a:xfrm>
            <a:off x="5286030" y="3076232"/>
            <a:ext cx="111125" cy="1254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7" name="Arc 41"/>
          <p:cNvSpPr>
            <a:spLocks/>
          </p:cNvSpPr>
          <p:nvPr/>
        </p:nvSpPr>
        <p:spPr bwMode="auto">
          <a:xfrm flipH="1">
            <a:off x="5179667" y="3076232"/>
            <a:ext cx="106363" cy="1238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8" name="Freeform 42"/>
          <p:cNvSpPr>
            <a:spLocks/>
          </p:cNvSpPr>
          <p:nvPr/>
        </p:nvSpPr>
        <p:spPr bwMode="auto">
          <a:xfrm>
            <a:off x="5182842" y="3198469"/>
            <a:ext cx="0" cy="79375"/>
          </a:xfrm>
          <a:custGeom>
            <a:avLst/>
            <a:gdLst>
              <a:gd name="T0" fmla="*/ 0 w 20000"/>
              <a:gd name="T1" fmla="*/ 19770 h 20000"/>
              <a:gd name="T2" fmla="*/ 0 w 20000"/>
              <a:gd name="T3" fmla="*/ 0 h 20000"/>
            </a:gdLst>
            <a:ahLst/>
            <a:cxnLst>
              <a:cxn ang="0">
                <a:pos x="T0" y="T1"/>
              </a:cxn>
              <a:cxn ang="0">
                <a:pos x="T2" y="T3"/>
              </a:cxn>
            </a:cxnLst>
            <a:rect l="0" t="0" r="r" b="b"/>
            <a:pathLst>
              <a:path w="20000" h="20000">
                <a:moveTo>
                  <a:pt x="0" y="1977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59" name="Arc 43"/>
          <p:cNvSpPr>
            <a:spLocks/>
          </p:cNvSpPr>
          <p:nvPr/>
        </p:nvSpPr>
        <p:spPr bwMode="auto">
          <a:xfrm>
            <a:off x="5068542" y="3076232"/>
            <a:ext cx="114300" cy="1254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60" name="Arc 44"/>
          <p:cNvSpPr>
            <a:spLocks/>
          </p:cNvSpPr>
          <p:nvPr/>
        </p:nvSpPr>
        <p:spPr bwMode="auto">
          <a:xfrm flipH="1">
            <a:off x="4965355" y="3076232"/>
            <a:ext cx="106363" cy="1254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61" name="Freeform 45"/>
          <p:cNvSpPr>
            <a:spLocks/>
          </p:cNvSpPr>
          <p:nvPr/>
        </p:nvSpPr>
        <p:spPr bwMode="auto">
          <a:xfrm>
            <a:off x="4965355" y="3187357"/>
            <a:ext cx="1588" cy="90488"/>
          </a:xfrm>
          <a:custGeom>
            <a:avLst/>
            <a:gdLst>
              <a:gd name="T0" fmla="*/ 0 w 20000"/>
              <a:gd name="T1" fmla="*/ 0 h 20000"/>
              <a:gd name="T2" fmla="*/ 0 w 20000"/>
              <a:gd name="T3" fmla="*/ 19798 h 20000"/>
            </a:gdLst>
            <a:ahLst/>
            <a:cxnLst>
              <a:cxn ang="0">
                <a:pos x="T0" y="T1"/>
              </a:cxn>
              <a:cxn ang="0">
                <a:pos x="T2" y="T3"/>
              </a:cxn>
            </a:cxnLst>
            <a:rect l="0" t="0" r="r" b="b"/>
            <a:pathLst>
              <a:path w="20000" h="20000">
                <a:moveTo>
                  <a:pt x="0" y="0"/>
                </a:moveTo>
                <a:lnTo>
                  <a:pt x="0" y="1979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62" name="Freeform 46"/>
          <p:cNvSpPr>
            <a:spLocks/>
          </p:cNvSpPr>
          <p:nvPr/>
        </p:nvSpPr>
        <p:spPr bwMode="auto">
          <a:xfrm flipH="1">
            <a:off x="5251105" y="3146082"/>
            <a:ext cx="139700" cy="139700"/>
          </a:xfrm>
          <a:custGeom>
            <a:avLst/>
            <a:gdLst>
              <a:gd name="T0" fmla="*/ 0 w 20000"/>
              <a:gd name="T1" fmla="*/ 19750 h 20000"/>
              <a:gd name="T2" fmla="*/ 0 w 20000"/>
              <a:gd name="T3" fmla="*/ 0 h 20000"/>
            </a:gdLst>
            <a:ahLst/>
            <a:cxnLst>
              <a:cxn ang="0">
                <a:pos x="T0" y="T1"/>
              </a:cxn>
              <a:cxn ang="0">
                <a:pos x="T2" y="T3"/>
              </a:cxn>
            </a:cxnLst>
            <a:rect l="0" t="0" r="r" b="b"/>
            <a:pathLst>
              <a:path w="20000" h="20000">
                <a:moveTo>
                  <a:pt x="0" y="1975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266" name="Freeform 50"/>
          <p:cNvSpPr>
            <a:spLocks/>
          </p:cNvSpPr>
          <p:nvPr/>
        </p:nvSpPr>
        <p:spPr bwMode="auto">
          <a:xfrm>
            <a:off x="874367" y="2622207"/>
            <a:ext cx="350838" cy="155575"/>
          </a:xfrm>
          <a:custGeom>
            <a:avLst/>
            <a:gdLst>
              <a:gd name="T0" fmla="*/ 0 w 1668"/>
              <a:gd name="T1" fmla="*/ 345 h 684"/>
              <a:gd name="T2" fmla="*/ 3 w 1668"/>
              <a:gd name="T3" fmla="*/ 291 h 684"/>
              <a:gd name="T4" fmla="*/ 27 w 1668"/>
              <a:gd name="T5" fmla="*/ 228 h 684"/>
              <a:gd name="T6" fmla="*/ 54 w 1668"/>
              <a:gd name="T7" fmla="*/ 180 h 684"/>
              <a:gd name="T8" fmla="*/ 96 w 1668"/>
              <a:gd name="T9" fmla="*/ 132 h 684"/>
              <a:gd name="T10" fmla="*/ 129 w 1668"/>
              <a:gd name="T11" fmla="*/ 96 h 684"/>
              <a:gd name="T12" fmla="*/ 180 w 1668"/>
              <a:gd name="T13" fmla="*/ 60 h 684"/>
              <a:gd name="T14" fmla="*/ 243 w 1668"/>
              <a:gd name="T15" fmla="*/ 30 h 684"/>
              <a:gd name="T16" fmla="*/ 315 w 1668"/>
              <a:gd name="T17" fmla="*/ 9 h 684"/>
              <a:gd name="T18" fmla="*/ 369 w 1668"/>
              <a:gd name="T19" fmla="*/ 0 h 684"/>
              <a:gd name="T20" fmla="*/ 444 w 1668"/>
              <a:gd name="T21" fmla="*/ 0 h 684"/>
              <a:gd name="T22" fmla="*/ 537 w 1668"/>
              <a:gd name="T23" fmla="*/ 12 h 684"/>
              <a:gd name="T24" fmla="*/ 612 w 1668"/>
              <a:gd name="T25" fmla="*/ 39 h 684"/>
              <a:gd name="T26" fmla="*/ 669 w 1668"/>
              <a:gd name="T27" fmla="*/ 72 h 684"/>
              <a:gd name="T28" fmla="*/ 717 w 1668"/>
              <a:gd name="T29" fmla="*/ 108 h 684"/>
              <a:gd name="T30" fmla="*/ 768 w 1668"/>
              <a:gd name="T31" fmla="*/ 162 h 684"/>
              <a:gd name="T32" fmla="*/ 801 w 1668"/>
              <a:gd name="T33" fmla="*/ 210 h 684"/>
              <a:gd name="T34" fmla="*/ 819 w 1668"/>
              <a:gd name="T35" fmla="*/ 267 h 684"/>
              <a:gd name="T36" fmla="*/ 834 w 1668"/>
              <a:gd name="T37" fmla="*/ 333 h 684"/>
              <a:gd name="T38" fmla="*/ 843 w 1668"/>
              <a:gd name="T39" fmla="*/ 396 h 684"/>
              <a:gd name="T40" fmla="*/ 864 w 1668"/>
              <a:gd name="T41" fmla="*/ 462 h 684"/>
              <a:gd name="T42" fmla="*/ 897 w 1668"/>
              <a:gd name="T43" fmla="*/ 507 h 684"/>
              <a:gd name="T44" fmla="*/ 939 w 1668"/>
              <a:gd name="T45" fmla="*/ 561 h 684"/>
              <a:gd name="T46" fmla="*/ 990 w 1668"/>
              <a:gd name="T47" fmla="*/ 603 h 684"/>
              <a:gd name="T48" fmla="*/ 1044 w 1668"/>
              <a:gd name="T49" fmla="*/ 630 h 684"/>
              <a:gd name="T50" fmla="*/ 1101 w 1668"/>
              <a:gd name="T51" fmla="*/ 660 h 684"/>
              <a:gd name="T52" fmla="*/ 1182 w 1668"/>
              <a:gd name="T53" fmla="*/ 675 h 684"/>
              <a:gd name="T54" fmla="*/ 1269 w 1668"/>
              <a:gd name="T55" fmla="*/ 684 h 684"/>
              <a:gd name="T56" fmla="*/ 1350 w 1668"/>
              <a:gd name="T57" fmla="*/ 672 h 684"/>
              <a:gd name="T58" fmla="*/ 1425 w 1668"/>
              <a:gd name="T59" fmla="*/ 648 h 684"/>
              <a:gd name="T60" fmla="*/ 1491 w 1668"/>
              <a:gd name="T61" fmla="*/ 618 h 684"/>
              <a:gd name="T62" fmla="*/ 1545 w 1668"/>
              <a:gd name="T63" fmla="*/ 576 h 684"/>
              <a:gd name="T64" fmla="*/ 1596 w 1668"/>
              <a:gd name="T65" fmla="*/ 525 h 684"/>
              <a:gd name="T66" fmla="*/ 1629 w 1668"/>
              <a:gd name="T67" fmla="*/ 483 h 684"/>
              <a:gd name="T68" fmla="*/ 1641 w 1668"/>
              <a:gd name="T69" fmla="*/ 444 h 684"/>
              <a:gd name="T70" fmla="*/ 1659 w 1668"/>
              <a:gd name="T71" fmla="*/ 384 h 684"/>
              <a:gd name="T72" fmla="*/ 1668 w 1668"/>
              <a:gd name="T73" fmla="*/ 336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68" h="684">
                <a:moveTo>
                  <a:pt x="0" y="345"/>
                </a:moveTo>
                <a:lnTo>
                  <a:pt x="3" y="291"/>
                </a:lnTo>
                <a:lnTo>
                  <a:pt x="27" y="228"/>
                </a:lnTo>
                <a:lnTo>
                  <a:pt x="54" y="180"/>
                </a:lnTo>
                <a:lnTo>
                  <a:pt x="96" y="132"/>
                </a:lnTo>
                <a:lnTo>
                  <a:pt x="129" y="96"/>
                </a:lnTo>
                <a:lnTo>
                  <a:pt x="180" y="60"/>
                </a:lnTo>
                <a:lnTo>
                  <a:pt x="243" y="30"/>
                </a:lnTo>
                <a:lnTo>
                  <a:pt x="315" y="9"/>
                </a:lnTo>
                <a:lnTo>
                  <a:pt x="369" y="0"/>
                </a:lnTo>
                <a:lnTo>
                  <a:pt x="444" y="0"/>
                </a:lnTo>
                <a:lnTo>
                  <a:pt x="537" y="12"/>
                </a:lnTo>
                <a:lnTo>
                  <a:pt x="612" y="39"/>
                </a:lnTo>
                <a:lnTo>
                  <a:pt x="669" y="72"/>
                </a:lnTo>
                <a:lnTo>
                  <a:pt x="717" y="108"/>
                </a:lnTo>
                <a:lnTo>
                  <a:pt x="768" y="162"/>
                </a:lnTo>
                <a:lnTo>
                  <a:pt x="801" y="210"/>
                </a:lnTo>
                <a:lnTo>
                  <a:pt x="819" y="267"/>
                </a:lnTo>
                <a:lnTo>
                  <a:pt x="834" y="333"/>
                </a:lnTo>
                <a:lnTo>
                  <a:pt x="843" y="396"/>
                </a:lnTo>
                <a:lnTo>
                  <a:pt x="864" y="462"/>
                </a:lnTo>
                <a:lnTo>
                  <a:pt x="897" y="507"/>
                </a:lnTo>
                <a:lnTo>
                  <a:pt x="939" y="561"/>
                </a:lnTo>
                <a:lnTo>
                  <a:pt x="990" y="603"/>
                </a:lnTo>
                <a:lnTo>
                  <a:pt x="1044" y="630"/>
                </a:lnTo>
                <a:lnTo>
                  <a:pt x="1101" y="660"/>
                </a:lnTo>
                <a:lnTo>
                  <a:pt x="1182" y="675"/>
                </a:lnTo>
                <a:lnTo>
                  <a:pt x="1269" y="684"/>
                </a:lnTo>
                <a:lnTo>
                  <a:pt x="1350" y="672"/>
                </a:lnTo>
                <a:lnTo>
                  <a:pt x="1425" y="648"/>
                </a:lnTo>
                <a:lnTo>
                  <a:pt x="1491" y="618"/>
                </a:lnTo>
                <a:lnTo>
                  <a:pt x="1545" y="576"/>
                </a:lnTo>
                <a:lnTo>
                  <a:pt x="1596" y="525"/>
                </a:lnTo>
                <a:lnTo>
                  <a:pt x="1629" y="483"/>
                </a:lnTo>
                <a:lnTo>
                  <a:pt x="1641" y="444"/>
                </a:lnTo>
                <a:lnTo>
                  <a:pt x="1659" y="384"/>
                </a:lnTo>
                <a:lnTo>
                  <a:pt x="1668" y="336"/>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9267" name="Rectangle 51"/>
          <p:cNvSpPr>
            <a:spLocks noChangeArrowheads="1"/>
          </p:cNvSpPr>
          <p:nvPr/>
        </p:nvSpPr>
        <p:spPr bwMode="auto">
          <a:xfrm>
            <a:off x="1763367" y="1991969"/>
            <a:ext cx="1670050"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en-US" sz="1600" noProof="1">
                <a:solidFill>
                  <a:schemeClr val="tx2"/>
                </a:solidFill>
                <a:latin typeface="Futura Md BT" pitchFamily="34" charset="0"/>
              </a:rPr>
              <a:t>Z</a:t>
            </a:r>
            <a:r>
              <a:rPr lang="en-US" altLang="en-US" sz="1800" baseline="-25000" noProof="1">
                <a:solidFill>
                  <a:schemeClr val="tx2"/>
                </a:solidFill>
                <a:latin typeface="Futura Md BT" pitchFamily="34" charset="0"/>
              </a:rPr>
              <a:t>S</a:t>
            </a:r>
            <a:r>
              <a:rPr lang="en-US" altLang="en-US" sz="1600" noProof="1">
                <a:solidFill>
                  <a:schemeClr val="tx2"/>
                </a:solidFill>
                <a:latin typeface="Futura Md BT" pitchFamily="34" charset="0"/>
              </a:rPr>
              <a:t> = 10</a:t>
            </a:r>
            <a:r>
              <a:rPr lang="en-GB" altLang="en-US" sz="1600">
                <a:solidFill>
                  <a:schemeClr val="tx2"/>
                </a:solidFill>
                <a:latin typeface="Futura Md BT" pitchFamily="34" charset="0"/>
              </a:rPr>
              <a:t>   </a:t>
            </a:r>
            <a:r>
              <a:rPr lang="en-GB" altLang="en-US" sz="2000" b="1">
                <a:solidFill>
                  <a:schemeClr val="tx2"/>
                </a:solidFill>
                <a:latin typeface="Futura Md BT" pitchFamily="34" charset="0"/>
                <a:sym typeface="Symbol" panose="05050102010706020507" pitchFamily="18" charset="2"/>
              </a:rPr>
              <a:t></a:t>
            </a:r>
            <a:endParaRPr lang="en-GB" altLang="en-US" sz="2000" b="1" noProof="1">
              <a:solidFill>
                <a:schemeClr val="tx2"/>
              </a:solidFill>
              <a:latin typeface="Futura Md BT" pitchFamily="34" charset="0"/>
            </a:endParaRPr>
          </a:p>
        </p:txBody>
      </p:sp>
      <p:sp>
        <p:nvSpPr>
          <p:cNvPr id="9268" name="Line 52"/>
          <p:cNvSpPr>
            <a:spLocks noChangeShapeType="1"/>
          </p:cNvSpPr>
          <p:nvPr/>
        </p:nvSpPr>
        <p:spPr bwMode="auto">
          <a:xfrm flipH="1">
            <a:off x="4495455" y="3182594"/>
            <a:ext cx="282575" cy="1588"/>
          </a:xfrm>
          <a:prstGeom prst="line">
            <a:avLst/>
          </a:prstGeom>
          <a:noFill/>
          <a:ln w="28575">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50" name="Group 49"/>
          <p:cNvGrpSpPr/>
          <p:nvPr/>
        </p:nvGrpSpPr>
        <p:grpSpPr>
          <a:xfrm rot="231594">
            <a:off x="5471329" y="2746814"/>
            <a:ext cx="373063" cy="766490"/>
            <a:chOff x="8453052" y="3336859"/>
            <a:chExt cx="373063" cy="720725"/>
          </a:xfrm>
        </p:grpSpPr>
        <p:sp>
          <p:nvSpPr>
            <p:cNvPr id="51" name="Line 112"/>
            <p:cNvSpPr>
              <a:spLocks noChangeShapeType="1"/>
            </p:cNvSpPr>
            <p:nvPr/>
          </p:nvSpPr>
          <p:spPr bwMode="auto">
            <a:xfrm flipV="1">
              <a:off x="8562945" y="3503547"/>
              <a:ext cx="98425" cy="250825"/>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52" name="Group 51"/>
            <p:cNvGrpSpPr/>
            <p:nvPr/>
          </p:nvGrpSpPr>
          <p:grpSpPr>
            <a:xfrm>
              <a:off x="8453052" y="3336859"/>
              <a:ext cx="373063" cy="720725"/>
              <a:chOff x="8321679" y="2473327"/>
              <a:chExt cx="373063" cy="720725"/>
            </a:xfrm>
          </p:grpSpPr>
          <p:sp>
            <p:nvSpPr>
              <p:cNvPr id="53" name="Line 111"/>
              <p:cNvSpPr>
                <a:spLocks noChangeShapeType="1"/>
              </p:cNvSpPr>
              <p:nvPr/>
            </p:nvSpPr>
            <p:spPr bwMode="auto">
              <a:xfrm>
                <a:off x="8321679" y="2473327"/>
                <a:ext cx="117475" cy="417513"/>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4" name="Line 113"/>
              <p:cNvSpPr>
                <a:spLocks noChangeShapeType="1"/>
              </p:cNvSpPr>
              <p:nvPr/>
            </p:nvSpPr>
            <p:spPr bwMode="auto">
              <a:xfrm>
                <a:off x="8539167" y="2644777"/>
                <a:ext cx="155575" cy="549275"/>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55" name="Rectangle 711"/>
          <p:cNvSpPr txBox="1">
            <a:spLocks noChangeArrowheads="1"/>
          </p:cNvSpPr>
          <p:nvPr/>
        </p:nvSpPr>
        <p:spPr bwMode="auto">
          <a:xfrm>
            <a:off x="450642" y="1295470"/>
            <a:ext cx="8209377" cy="553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180975" indent="-180975" algn="l" rtl="0" fontAlgn="base">
              <a:spcBef>
                <a:spcPct val="20000"/>
              </a:spcBef>
              <a:spcAft>
                <a:spcPct val="0"/>
              </a:spcAft>
              <a:buClr>
                <a:schemeClr val="accent1"/>
              </a:buClr>
              <a:buFont typeface="Arial" panose="020B0604020202020204" pitchFamily="34" charset="0"/>
              <a:buChar char="●"/>
              <a:defRPr sz="2400" kern="1200">
                <a:solidFill>
                  <a:schemeClr val="accent1"/>
                </a:solidFill>
                <a:latin typeface="Arial" panose="020B0604020202020204" pitchFamily="34" charset="0"/>
                <a:ea typeface="+mn-ea"/>
                <a:cs typeface="Arial" panose="020B0604020202020204" pitchFamily="34" charset="0"/>
              </a:defRPr>
            </a:lvl1pPr>
            <a:lvl2pPr marL="541338" indent="-180975" algn="l" rtl="0" fontAlgn="base">
              <a:spcBef>
                <a:spcPct val="20000"/>
              </a:spcBef>
              <a:spcAft>
                <a:spcPct val="0"/>
              </a:spcAft>
              <a:buClr>
                <a:schemeClr val="bg2"/>
              </a:buClr>
              <a:buFont typeface="Arial" panose="020B0604020202020204" pitchFamily="34" charset="0"/>
              <a:buChar char="●"/>
              <a:defRPr sz="2400" kern="1200">
                <a:solidFill>
                  <a:schemeClr val="bg2"/>
                </a:solidFill>
                <a:latin typeface="Arial" panose="020B0604020202020204" pitchFamily="34" charset="0"/>
                <a:ea typeface="+mn-ea"/>
                <a:cs typeface="Arial" panose="020B0604020202020204" pitchFamily="34" charset="0"/>
              </a:defRPr>
            </a:lvl2pPr>
            <a:lvl3pPr marL="990600" indent="-173038" algn="l" rtl="0" fontAlgn="base">
              <a:spcBef>
                <a:spcPct val="20000"/>
              </a:spcBef>
              <a:spcAft>
                <a:spcPct val="0"/>
              </a:spcAft>
              <a:buClr>
                <a:schemeClr val="bg2"/>
              </a:buClr>
              <a:buFont typeface="Arial" panose="020B0604020202020204" pitchFamily="34" charset="0"/>
              <a:buChar char="●"/>
              <a:defRPr sz="2400" kern="1200">
                <a:solidFill>
                  <a:schemeClr val="bg2"/>
                </a:solidFill>
                <a:latin typeface="Arial" panose="020B0604020202020204" pitchFamily="34" charset="0"/>
                <a:ea typeface="+mn-ea"/>
                <a:cs typeface="Arial" panose="020B0604020202020204" pitchFamily="34" charset="0"/>
              </a:defRPr>
            </a:lvl3pPr>
            <a:lvl4pPr marL="1751013" indent="-228600" algn="l" rtl="0" fontAlgn="base">
              <a:spcBef>
                <a:spcPct val="20000"/>
              </a:spcBef>
              <a:spcAft>
                <a:spcPct val="0"/>
              </a:spcAft>
              <a:buChar char="–"/>
              <a:defRPr sz="2400" kern="1200">
                <a:solidFill>
                  <a:schemeClr val="tx1"/>
                </a:solidFill>
                <a:latin typeface="Arial" panose="020B0604020202020204" pitchFamily="34" charset="0"/>
                <a:ea typeface="+mn-ea"/>
                <a:cs typeface="+mn-cs"/>
              </a:defRPr>
            </a:lvl4pPr>
            <a:lvl5pPr marL="2159000" indent="-228600" algn="l" rtl="0" fontAlgn="base">
              <a:spcBef>
                <a:spcPct val="20000"/>
              </a:spcBef>
              <a:spcAft>
                <a:spcPct val="0"/>
              </a:spcAft>
              <a:buChar char="»"/>
              <a:defRPr sz="24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74650" indent="-374650" eaLnBrk="1" hangingPunct="1">
              <a:lnSpc>
                <a:spcPct val="110000"/>
              </a:lnSpc>
              <a:spcBef>
                <a:spcPct val="45000"/>
              </a:spcBef>
            </a:pPr>
            <a:r>
              <a:rPr lang="en-GB" altLang="en-US" dirty="0">
                <a:solidFill>
                  <a:schemeClr val="tx2"/>
                </a:solidFill>
              </a:rPr>
              <a:t>Consider One source is out of service</a:t>
            </a:r>
          </a:p>
          <a:p>
            <a:pPr marL="0" indent="0" eaLnBrk="1" hangingPunct="1">
              <a:lnSpc>
                <a:spcPct val="110000"/>
              </a:lnSpc>
              <a:spcBef>
                <a:spcPct val="45000"/>
              </a:spcBef>
              <a:buNone/>
            </a:pPr>
            <a:endParaRPr lang="en-GB" altLang="en-US" dirty="0">
              <a:solidFill>
                <a:schemeClr val="tx2"/>
              </a:solidFill>
            </a:endParaRPr>
          </a:p>
        </p:txBody>
      </p:sp>
      <p:sp>
        <p:nvSpPr>
          <p:cNvPr id="58" name="Rectangle 711"/>
          <p:cNvSpPr txBox="1">
            <a:spLocks noChangeArrowheads="1"/>
          </p:cNvSpPr>
          <p:nvPr/>
        </p:nvSpPr>
        <p:spPr bwMode="auto">
          <a:xfrm>
            <a:off x="763242" y="4411647"/>
            <a:ext cx="8209377" cy="2146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180975" indent="-180975" algn="l" rtl="0" fontAlgn="base">
              <a:spcBef>
                <a:spcPct val="20000"/>
              </a:spcBef>
              <a:spcAft>
                <a:spcPct val="0"/>
              </a:spcAft>
              <a:buClr>
                <a:schemeClr val="accent1"/>
              </a:buClr>
              <a:buFont typeface="Arial" panose="020B0604020202020204" pitchFamily="34" charset="0"/>
              <a:buChar char="●"/>
              <a:defRPr sz="2400" kern="1200">
                <a:solidFill>
                  <a:schemeClr val="accent1"/>
                </a:solidFill>
                <a:latin typeface="Arial" panose="020B0604020202020204" pitchFamily="34" charset="0"/>
                <a:ea typeface="+mn-ea"/>
                <a:cs typeface="Arial" panose="020B0604020202020204" pitchFamily="34" charset="0"/>
              </a:defRPr>
            </a:lvl1pPr>
            <a:lvl2pPr marL="541338" indent="-180975" algn="l" rtl="0" fontAlgn="base">
              <a:spcBef>
                <a:spcPct val="20000"/>
              </a:spcBef>
              <a:spcAft>
                <a:spcPct val="0"/>
              </a:spcAft>
              <a:buClr>
                <a:schemeClr val="bg2"/>
              </a:buClr>
              <a:buFont typeface="Arial" panose="020B0604020202020204" pitchFamily="34" charset="0"/>
              <a:buChar char="●"/>
              <a:defRPr sz="2400" kern="1200">
                <a:solidFill>
                  <a:schemeClr val="bg2"/>
                </a:solidFill>
                <a:latin typeface="Arial" panose="020B0604020202020204" pitchFamily="34" charset="0"/>
                <a:ea typeface="+mn-ea"/>
                <a:cs typeface="Arial" panose="020B0604020202020204" pitchFamily="34" charset="0"/>
              </a:defRPr>
            </a:lvl2pPr>
            <a:lvl3pPr marL="990600" indent="-173038" algn="l" rtl="0" fontAlgn="base">
              <a:spcBef>
                <a:spcPct val="20000"/>
              </a:spcBef>
              <a:spcAft>
                <a:spcPct val="0"/>
              </a:spcAft>
              <a:buClr>
                <a:schemeClr val="bg2"/>
              </a:buClr>
              <a:buFont typeface="Arial" panose="020B0604020202020204" pitchFamily="34" charset="0"/>
              <a:buChar char="●"/>
              <a:defRPr sz="2400" kern="1200">
                <a:solidFill>
                  <a:schemeClr val="bg2"/>
                </a:solidFill>
                <a:latin typeface="Arial" panose="020B0604020202020204" pitchFamily="34" charset="0"/>
                <a:ea typeface="+mn-ea"/>
                <a:cs typeface="Arial" panose="020B0604020202020204" pitchFamily="34" charset="0"/>
              </a:defRPr>
            </a:lvl3pPr>
            <a:lvl4pPr marL="1751013" indent="-228600" algn="l" rtl="0" fontAlgn="base">
              <a:spcBef>
                <a:spcPct val="20000"/>
              </a:spcBef>
              <a:spcAft>
                <a:spcPct val="0"/>
              </a:spcAft>
              <a:buChar char="–"/>
              <a:defRPr sz="2400" kern="1200">
                <a:solidFill>
                  <a:schemeClr val="tx1"/>
                </a:solidFill>
                <a:latin typeface="Arial" panose="020B0604020202020204" pitchFamily="34" charset="0"/>
                <a:ea typeface="+mn-ea"/>
                <a:cs typeface="+mn-cs"/>
              </a:defRPr>
            </a:lvl4pPr>
            <a:lvl5pPr marL="2159000" indent="-228600" algn="l" rtl="0" fontAlgn="base">
              <a:spcBef>
                <a:spcPct val="20000"/>
              </a:spcBef>
              <a:spcAft>
                <a:spcPct val="0"/>
              </a:spcAft>
              <a:buChar char="»"/>
              <a:defRPr sz="24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82600" indent="-482600">
              <a:lnSpc>
                <a:spcPct val="110000"/>
              </a:lnSpc>
              <a:spcBef>
                <a:spcPct val="45000"/>
              </a:spcBef>
              <a:buClr>
                <a:srgbClr val="C4122F"/>
              </a:buClr>
              <a:buFont typeface="Wingdings 3" panose="05040102010807070707" pitchFamily="18" charset="2"/>
              <a:buNone/>
            </a:pPr>
            <a:r>
              <a:rPr lang="en-GB" altLang="en-US" b="1" dirty="0">
                <a:latin typeface="Times New Roman" panose="02020603050405020304" pitchFamily="18" charset="0"/>
              </a:rPr>
              <a:t>I</a:t>
            </a:r>
            <a:r>
              <a:rPr lang="en-GB" altLang="en-US" b="1" baseline="-25000" dirty="0"/>
              <a:t>F2</a:t>
            </a:r>
            <a:r>
              <a:rPr lang="en-GB" altLang="en-US" b="1" dirty="0"/>
              <a:t>  =  115kV/</a:t>
            </a:r>
            <a:r>
              <a:rPr lang="en-GB" altLang="en-US" b="1" dirty="0">
                <a:sym typeface="Symbol" panose="05050102010706020507" pitchFamily="18" charset="2"/>
              </a:rPr>
              <a:t>3 x 10  =  6640A</a:t>
            </a:r>
          </a:p>
          <a:p>
            <a:pPr marL="482600" indent="-482600">
              <a:lnSpc>
                <a:spcPct val="110000"/>
              </a:lnSpc>
              <a:spcBef>
                <a:spcPct val="45000"/>
              </a:spcBef>
              <a:buClr>
                <a:srgbClr val="C4122F"/>
              </a:buClr>
              <a:buFont typeface="Wingdings 3" panose="05040102010807070707" pitchFamily="18" charset="2"/>
              <a:buNone/>
            </a:pPr>
            <a:r>
              <a:rPr lang="en-GB" altLang="en-US" b="1" dirty="0">
                <a:sym typeface="Symbol" panose="05050102010706020507" pitchFamily="18" charset="2"/>
              </a:rPr>
              <a:t>                     </a:t>
            </a:r>
            <a:r>
              <a:rPr lang="en-GB" altLang="en-US" b="1" dirty="0">
                <a:latin typeface="Times New Roman" panose="02020603050405020304" pitchFamily="18" charset="0"/>
                <a:sym typeface="Symbol" panose="05050102010706020507" pitchFamily="18" charset="2"/>
              </a:rPr>
              <a:t>I</a:t>
            </a:r>
            <a:r>
              <a:rPr lang="en-GB" altLang="en-US" b="1" baseline="-25000" dirty="0">
                <a:sym typeface="Symbol" panose="05050102010706020507" pitchFamily="18" charset="2"/>
              </a:rPr>
              <a:t>s</a:t>
            </a:r>
            <a:r>
              <a:rPr lang="en-GB" altLang="en-US" b="1" dirty="0">
                <a:sym typeface="Symbol" panose="05050102010706020507" pitchFamily="18" charset="2"/>
              </a:rPr>
              <a:t>	&lt;6640A </a:t>
            </a:r>
          </a:p>
          <a:p>
            <a:pPr marL="482600" indent="-482600">
              <a:lnSpc>
                <a:spcPct val="110000"/>
              </a:lnSpc>
              <a:spcBef>
                <a:spcPct val="45000"/>
              </a:spcBef>
              <a:buClr>
                <a:srgbClr val="C4122F"/>
              </a:buClr>
              <a:buFont typeface="Wingdings 3" panose="05040102010807070707" pitchFamily="18" charset="2"/>
              <a:buNone/>
            </a:pPr>
            <a:r>
              <a:rPr lang="en-GB" altLang="en-US" b="1" dirty="0">
                <a:sym typeface="Symbol" panose="05050102010706020507" pitchFamily="18" charset="2"/>
              </a:rPr>
              <a:t>                                 &gt;7380A     -  </a:t>
            </a:r>
            <a:r>
              <a:rPr lang="en-GB" altLang="en-US" b="1" dirty="0">
                <a:solidFill>
                  <a:srgbClr val="FF0000"/>
                </a:solidFill>
                <a:sym typeface="Symbol" panose="05050102010706020507" pitchFamily="18" charset="2"/>
              </a:rPr>
              <a:t>IMPRACTICAL</a:t>
            </a:r>
            <a:endParaRPr lang="en-GB" altLang="en-US" b="1" dirty="0">
              <a:solidFill>
                <a:srgbClr val="FF0000"/>
              </a:solidFill>
            </a:endParaRPr>
          </a:p>
          <a:p>
            <a:pPr marL="374650" indent="-374650" eaLnBrk="1" hangingPunct="1">
              <a:lnSpc>
                <a:spcPct val="110000"/>
              </a:lnSpc>
              <a:spcBef>
                <a:spcPct val="45000"/>
              </a:spcBef>
            </a:pPr>
            <a:endParaRPr lang="en-GB" altLang="en-US" dirty="0">
              <a:solidFill>
                <a:schemeClr val="tx2"/>
              </a:solidFill>
            </a:endParaRPr>
          </a:p>
        </p:txBody>
      </p:sp>
      <p:sp>
        <p:nvSpPr>
          <p:cNvPr id="59" name="Oval 13"/>
          <p:cNvSpPr>
            <a:spLocks noChangeArrowheads="1"/>
          </p:cNvSpPr>
          <p:nvPr/>
        </p:nvSpPr>
        <p:spPr bwMode="auto">
          <a:xfrm>
            <a:off x="740540" y="3213637"/>
            <a:ext cx="560388" cy="561975"/>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3" name="Oval 17"/>
          <p:cNvSpPr>
            <a:spLocks noChangeArrowheads="1"/>
          </p:cNvSpPr>
          <p:nvPr/>
        </p:nvSpPr>
        <p:spPr bwMode="auto">
          <a:xfrm>
            <a:off x="2016890" y="3207287"/>
            <a:ext cx="560388" cy="56038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4" name="Oval 18"/>
          <p:cNvSpPr>
            <a:spLocks noChangeArrowheads="1"/>
          </p:cNvSpPr>
          <p:nvPr/>
        </p:nvSpPr>
        <p:spPr bwMode="auto">
          <a:xfrm>
            <a:off x="2418528" y="3207287"/>
            <a:ext cx="557213" cy="56038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5" name="Line 19"/>
          <p:cNvSpPr>
            <a:spLocks noChangeShapeType="1"/>
          </p:cNvSpPr>
          <p:nvPr/>
        </p:nvSpPr>
        <p:spPr bwMode="auto">
          <a:xfrm flipV="1">
            <a:off x="1299340" y="3497799"/>
            <a:ext cx="719138"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6" name="Line 20"/>
          <p:cNvSpPr>
            <a:spLocks noChangeShapeType="1"/>
          </p:cNvSpPr>
          <p:nvPr/>
        </p:nvSpPr>
        <p:spPr bwMode="auto">
          <a:xfrm flipV="1">
            <a:off x="2974153" y="3497799"/>
            <a:ext cx="363538"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7" name="Freeform 50"/>
          <p:cNvSpPr>
            <a:spLocks/>
          </p:cNvSpPr>
          <p:nvPr/>
        </p:nvSpPr>
        <p:spPr bwMode="auto">
          <a:xfrm>
            <a:off x="851665" y="3426362"/>
            <a:ext cx="350838" cy="155575"/>
          </a:xfrm>
          <a:custGeom>
            <a:avLst/>
            <a:gdLst>
              <a:gd name="T0" fmla="*/ 0 w 1668"/>
              <a:gd name="T1" fmla="*/ 345 h 684"/>
              <a:gd name="T2" fmla="*/ 3 w 1668"/>
              <a:gd name="T3" fmla="*/ 291 h 684"/>
              <a:gd name="T4" fmla="*/ 27 w 1668"/>
              <a:gd name="T5" fmla="*/ 228 h 684"/>
              <a:gd name="T6" fmla="*/ 54 w 1668"/>
              <a:gd name="T7" fmla="*/ 180 h 684"/>
              <a:gd name="T8" fmla="*/ 96 w 1668"/>
              <a:gd name="T9" fmla="*/ 132 h 684"/>
              <a:gd name="T10" fmla="*/ 129 w 1668"/>
              <a:gd name="T11" fmla="*/ 96 h 684"/>
              <a:gd name="T12" fmla="*/ 180 w 1668"/>
              <a:gd name="T13" fmla="*/ 60 h 684"/>
              <a:gd name="T14" fmla="*/ 243 w 1668"/>
              <a:gd name="T15" fmla="*/ 30 h 684"/>
              <a:gd name="T16" fmla="*/ 315 w 1668"/>
              <a:gd name="T17" fmla="*/ 9 h 684"/>
              <a:gd name="T18" fmla="*/ 369 w 1668"/>
              <a:gd name="T19" fmla="*/ 0 h 684"/>
              <a:gd name="T20" fmla="*/ 444 w 1668"/>
              <a:gd name="T21" fmla="*/ 0 h 684"/>
              <a:gd name="T22" fmla="*/ 537 w 1668"/>
              <a:gd name="T23" fmla="*/ 12 h 684"/>
              <a:gd name="T24" fmla="*/ 612 w 1668"/>
              <a:gd name="T25" fmla="*/ 39 h 684"/>
              <a:gd name="T26" fmla="*/ 669 w 1668"/>
              <a:gd name="T27" fmla="*/ 72 h 684"/>
              <a:gd name="T28" fmla="*/ 717 w 1668"/>
              <a:gd name="T29" fmla="*/ 108 h 684"/>
              <a:gd name="T30" fmla="*/ 768 w 1668"/>
              <a:gd name="T31" fmla="*/ 162 h 684"/>
              <a:gd name="T32" fmla="*/ 801 w 1668"/>
              <a:gd name="T33" fmla="*/ 210 h 684"/>
              <a:gd name="T34" fmla="*/ 819 w 1668"/>
              <a:gd name="T35" fmla="*/ 267 h 684"/>
              <a:gd name="T36" fmla="*/ 834 w 1668"/>
              <a:gd name="T37" fmla="*/ 333 h 684"/>
              <a:gd name="T38" fmla="*/ 843 w 1668"/>
              <a:gd name="T39" fmla="*/ 396 h 684"/>
              <a:gd name="T40" fmla="*/ 864 w 1668"/>
              <a:gd name="T41" fmla="*/ 462 h 684"/>
              <a:gd name="T42" fmla="*/ 897 w 1668"/>
              <a:gd name="T43" fmla="*/ 507 h 684"/>
              <a:gd name="T44" fmla="*/ 939 w 1668"/>
              <a:gd name="T45" fmla="*/ 561 h 684"/>
              <a:gd name="T46" fmla="*/ 990 w 1668"/>
              <a:gd name="T47" fmla="*/ 603 h 684"/>
              <a:gd name="T48" fmla="*/ 1044 w 1668"/>
              <a:gd name="T49" fmla="*/ 630 h 684"/>
              <a:gd name="T50" fmla="*/ 1101 w 1668"/>
              <a:gd name="T51" fmla="*/ 660 h 684"/>
              <a:gd name="T52" fmla="*/ 1182 w 1668"/>
              <a:gd name="T53" fmla="*/ 675 h 684"/>
              <a:gd name="T54" fmla="*/ 1269 w 1668"/>
              <a:gd name="T55" fmla="*/ 684 h 684"/>
              <a:gd name="T56" fmla="*/ 1350 w 1668"/>
              <a:gd name="T57" fmla="*/ 672 h 684"/>
              <a:gd name="T58" fmla="*/ 1425 w 1668"/>
              <a:gd name="T59" fmla="*/ 648 h 684"/>
              <a:gd name="T60" fmla="*/ 1491 w 1668"/>
              <a:gd name="T61" fmla="*/ 618 h 684"/>
              <a:gd name="T62" fmla="*/ 1545 w 1668"/>
              <a:gd name="T63" fmla="*/ 576 h 684"/>
              <a:gd name="T64" fmla="*/ 1596 w 1668"/>
              <a:gd name="T65" fmla="*/ 525 h 684"/>
              <a:gd name="T66" fmla="*/ 1629 w 1668"/>
              <a:gd name="T67" fmla="*/ 483 h 684"/>
              <a:gd name="T68" fmla="*/ 1641 w 1668"/>
              <a:gd name="T69" fmla="*/ 444 h 684"/>
              <a:gd name="T70" fmla="*/ 1659 w 1668"/>
              <a:gd name="T71" fmla="*/ 384 h 684"/>
              <a:gd name="T72" fmla="*/ 1668 w 1668"/>
              <a:gd name="T73" fmla="*/ 336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68" h="684">
                <a:moveTo>
                  <a:pt x="0" y="345"/>
                </a:moveTo>
                <a:lnTo>
                  <a:pt x="3" y="291"/>
                </a:lnTo>
                <a:lnTo>
                  <a:pt x="27" y="228"/>
                </a:lnTo>
                <a:lnTo>
                  <a:pt x="54" y="180"/>
                </a:lnTo>
                <a:lnTo>
                  <a:pt x="96" y="132"/>
                </a:lnTo>
                <a:lnTo>
                  <a:pt x="129" y="96"/>
                </a:lnTo>
                <a:lnTo>
                  <a:pt x="180" y="60"/>
                </a:lnTo>
                <a:lnTo>
                  <a:pt x="243" y="30"/>
                </a:lnTo>
                <a:lnTo>
                  <a:pt x="315" y="9"/>
                </a:lnTo>
                <a:lnTo>
                  <a:pt x="369" y="0"/>
                </a:lnTo>
                <a:lnTo>
                  <a:pt x="444" y="0"/>
                </a:lnTo>
                <a:lnTo>
                  <a:pt x="537" y="12"/>
                </a:lnTo>
                <a:lnTo>
                  <a:pt x="612" y="39"/>
                </a:lnTo>
                <a:lnTo>
                  <a:pt x="669" y="72"/>
                </a:lnTo>
                <a:lnTo>
                  <a:pt x="717" y="108"/>
                </a:lnTo>
                <a:lnTo>
                  <a:pt x="768" y="162"/>
                </a:lnTo>
                <a:lnTo>
                  <a:pt x="801" y="210"/>
                </a:lnTo>
                <a:lnTo>
                  <a:pt x="819" y="267"/>
                </a:lnTo>
                <a:lnTo>
                  <a:pt x="834" y="333"/>
                </a:lnTo>
                <a:lnTo>
                  <a:pt x="843" y="396"/>
                </a:lnTo>
                <a:lnTo>
                  <a:pt x="864" y="462"/>
                </a:lnTo>
                <a:lnTo>
                  <a:pt x="897" y="507"/>
                </a:lnTo>
                <a:lnTo>
                  <a:pt x="939" y="561"/>
                </a:lnTo>
                <a:lnTo>
                  <a:pt x="990" y="603"/>
                </a:lnTo>
                <a:lnTo>
                  <a:pt x="1044" y="630"/>
                </a:lnTo>
                <a:lnTo>
                  <a:pt x="1101" y="660"/>
                </a:lnTo>
                <a:lnTo>
                  <a:pt x="1182" y="675"/>
                </a:lnTo>
                <a:lnTo>
                  <a:pt x="1269" y="684"/>
                </a:lnTo>
                <a:lnTo>
                  <a:pt x="1350" y="672"/>
                </a:lnTo>
                <a:lnTo>
                  <a:pt x="1425" y="648"/>
                </a:lnTo>
                <a:lnTo>
                  <a:pt x="1491" y="618"/>
                </a:lnTo>
                <a:lnTo>
                  <a:pt x="1545" y="576"/>
                </a:lnTo>
                <a:lnTo>
                  <a:pt x="1596" y="525"/>
                </a:lnTo>
                <a:lnTo>
                  <a:pt x="1629" y="483"/>
                </a:lnTo>
                <a:lnTo>
                  <a:pt x="1641" y="444"/>
                </a:lnTo>
                <a:lnTo>
                  <a:pt x="1659" y="384"/>
                </a:lnTo>
                <a:lnTo>
                  <a:pt x="1668" y="336"/>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69" name="Line 21"/>
          <p:cNvSpPr>
            <a:spLocks noChangeShapeType="1"/>
          </p:cNvSpPr>
          <p:nvPr/>
        </p:nvSpPr>
        <p:spPr bwMode="auto">
          <a:xfrm flipV="1">
            <a:off x="3569659" y="3528417"/>
            <a:ext cx="360363" cy="15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Tree>
    <p:extLst>
      <p:ext uri="{BB962C8B-B14F-4D97-AF65-F5344CB8AC3E}">
        <p14:creationId xmlns:p14="http://schemas.microsoft.com/office/powerpoint/2010/main" val="726676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7" name="Rectangle 719"/>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a:t>Simplified Line Diagram</a:t>
            </a:r>
          </a:p>
        </p:txBody>
      </p:sp>
      <p:sp>
        <p:nvSpPr>
          <p:cNvPr id="59098" name="Rectangle 730"/>
          <p:cNvSpPr>
            <a:spLocks noChangeArrowheads="1"/>
          </p:cNvSpPr>
          <p:nvPr/>
        </p:nvSpPr>
        <p:spPr bwMode="auto">
          <a:xfrm>
            <a:off x="781844" y="5761722"/>
            <a:ext cx="40719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GB" altLang="en-US" sz="2400" dirty="0">
                <a:solidFill>
                  <a:schemeClr val="tx2"/>
                </a:solidFill>
                <a:latin typeface="Arial" panose="020B0604020202020204" pitchFamily="34" charset="0"/>
                <a:cs typeface="Arial" panose="020B0604020202020204" pitchFamily="34" charset="0"/>
              </a:rPr>
              <a:t>at  F</a:t>
            </a:r>
            <a:r>
              <a:rPr lang="en-GB" altLang="en-US" sz="2400" baseline="-25000" dirty="0">
                <a:solidFill>
                  <a:schemeClr val="tx2"/>
                </a:solidFill>
                <a:latin typeface="Arial" panose="020B0604020202020204" pitchFamily="34" charset="0"/>
                <a:cs typeface="Arial" panose="020B0604020202020204" pitchFamily="34" charset="0"/>
              </a:rPr>
              <a:t>N </a:t>
            </a:r>
            <a:r>
              <a:rPr lang="en-GB" altLang="en-US" sz="2400" dirty="0">
                <a:solidFill>
                  <a:schemeClr val="tx2"/>
                </a:solidFill>
                <a:latin typeface="Arial" panose="020B0604020202020204" pitchFamily="34" charset="0"/>
                <a:cs typeface="Arial" panose="020B0604020202020204" pitchFamily="34" charset="0"/>
              </a:rPr>
              <a:t>(60Hz)     X</a:t>
            </a:r>
            <a:r>
              <a:rPr lang="en-GB" altLang="en-US" sz="2400" baseline="-25000" dirty="0">
                <a:solidFill>
                  <a:schemeClr val="tx2"/>
                </a:solidFill>
                <a:latin typeface="Arial" panose="020B0604020202020204" pitchFamily="34" charset="0"/>
                <a:cs typeface="Arial" panose="020B0604020202020204" pitchFamily="34" charset="0"/>
              </a:rPr>
              <a:t>C  </a:t>
            </a:r>
            <a:r>
              <a:rPr lang="en-GB" altLang="en-US" sz="2400" dirty="0">
                <a:solidFill>
                  <a:schemeClr val="tx2"/>
                </a:solidFill>
                <a:latin typeface="Arial" panose="020B0604020202020204" pitchFamily="34" charset="0"/>
                <a:cs typeface="Arial" panose="020B0604020202020204" pitchFamily="34" charset="0"/>
              </a:rPr>
              <a:t>=  large </a:t>
            </a:r>
          </a:p>
        </p:txBody>
      </p:sp>
      <p:grpSp>
        <p:nvGrpSpPr>
          <p:cNvPr id="3" name="Group 2"/>
          <p:cNvGrpSpPr/>
          <p:nvPr/>
        </p:nvGrpSpPr>
        <p:grpSpPr>
          <a:xfrm>
            <a:off x="935038" y="1512888"/>
            <a:ext cx="7610475" cy="1044575"/>
            <a:chOff x="935038" y="1512888"/>
            <a:chExt cx="7610475" cy="1044575"/>
          </a:xfrm>
        </p:grpSpPr>
        <p:sp>
          <p:nvSpPr>
            <p:cNvPr id="59099" name="Rectangle 731"/>
            <p:cNvSpPr>
              <a:spLocks noChangeArrowheads="1"/>
            </p:cNvSpPr>
            <p:nvPr/>
          </p:nvSpPr>
          <p:spPr bwMode="auto">
            <a:xfrm>
              <a:off x="7334250" y="1668463"/>
              <a:ext cx="185737"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00" name="Rectangle 732"/>
            <p:cNvSpPr>
              <a:spLocks noChangeArrowheads="1"/>
            </p:cNvSpPr>
            <p:nvPr/>
          </p:nvSpPr>
          <p:spPr bwMode="auto">
            <a:xfrm>
              <a:off x="7364413" y="1679576"/>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600">
                  <a:solidFill>
                    <a:schemeClr val="tx2"/>
                  </a:solidFill>
                  <a:latin typeface="Futura Md BT" pitchFamily="34" charset="0"/>
                </a:rPr>
                <a:t>L</a:t>
              </a:r>
              <a:endParaRPr lang="en-GB" altLang="en-US" sz="1600" b="1" baseline="-25000">
                <a:solidFill>
                  <a:schemeClr val="tx2"/>
                </a:solidFill>
                <a:latin typeface="Futura Md BT" pitchFamily="34" charset="0"/>
              </a:endParaRPr>
            </a:p>
          </p:txBody>
        </p:sp>
        <p:sp>
          <p:nvSpPr>
            <p:cNvPr id="59101" name="Rectangle 733"/>
            <p:cNvSpPr>
              <a:spLocks noChangeArrowheads="1"/>
            </p:cNvSpPr>
            <p:nvPr/>
          </p:nvSpPr>
          <p:spPr bwMode="auto">
            <a:xfrm>
              <a:off x="3194050" y="1765301"/>
              <a:ext cx="18573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02" name="Rectangle 734"/>
            <p:cNvSpPr>
              <a:spLocks noChangeArrowheads="1"/>
            </p:cNvSpPr>
            <p:nvPr/>
          </p:nvSpPr>
          <p:spPr bwMode="auto">
            <a:xfrm>
              <a:off x="3224213" y="1773238"/>
              <a:ext cx="1412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GB" altLang="en-US" sz="1600">
                  <a:solidFill>
                    <a:schemeClr val="tx2"/>
                  </a:solidFill>
                  <a:latin typeface="Futura Md BT" pitchFamily="34" charset="0"/>
                </a:rPr>
                <a:t>R</a:t>
              </a:r>
              <a:endParaRPr lang="en-GB" altLang="en-US" sz="1600" b="1" baseline="-25000">
                <a:solidFill>
                  <a:schemeClr val="tx2"/>
                </a:solidFill>
                <a:latin typeface="Futura Md BT" pitchFamily="34" charset="0"/>
              </a:endParaRPr>
            </a:p>
          </p:txBody>
        </p:sp>
        <p:sp>
          <p:nvSpPr>
            <p:cNvPr id="59103" name="Rectangle 735"/>
            <p:cNvSpPr>
              <a:spLocks noChangeArrowheads="1"/>
            </p:cNvSpPr>
            <p:nvPr/>
          </p:nvSpPr>
          <p:spPr bwMode="auto">
            <a:xfrm>
              <a:off x="4824413" y="1752601"/>
              <a:ext cx="188912"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04" name="Rectangle 736"/>
            <p:cNvSpPr>
              <a:spLocks noChangeArrowheads="1"/>
            </p:cNvSpPr>
            <p:nvPr/>
          </p:nvSpPr>
          <p:spPr bwMode="auto">
            <a:xfrm>
              <a:off x="4868863" y="1785938"/>
              <a:ext cx="146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600">
                  <a:solidFill>
                    <a:schemeClr val="tx2"/>
                  </a:solidFill>
                  <a:latin typeface="Futura Md BT" pitchFamily="34" charset="0"/>
                </a:rPr>
                <a:t>R</a:t>
              </a:r>
              <a:endParaRPr lang="en-GB" altLang="en-US" sz="1600" b="1" baseline="-25000">
                <a:solidFill>
                  <a:schemeClr val="tx2"/>
                </a:solidFill>
                <a:latin typeface="Futura Md BT" pitchFamily="34" charset="0"/>
              </a:endParaRPr>
            </a:p>
          </p:txBody>
        </p:sp>
        <p:sp>
          <p:nvSpPr>
            <p:cNvPr id="59105" name="Rectangle 737"/>
            <p:cNvSpPr>
              <a:spLocks noChangeArrowheads="1"/>
            </p:cNvSpPr>
            <p:nvPr/>
          </p:nvSpPr>
          <p:spPr bwMode="auto">
            <a:xfrm>
              <a:off x="6472238" y="1752601"/>
              <a:ext cx="184150"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06" name="Rectangle 738"/>
            <p:cNvSpPr>
              <a:spLocks noChangeArrowheads="1"/>
            </p:cNvSpPr>
            <p:nvPr/>
          </p:nvSpPr>
          <p:spPr bwMode="auto">
            <a:xfrm>
              <a:off x="6511925" y="1785938"/>
              <a:ext cx="146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600">
                  <a:solidFill>
                    <a:schemeClr val="tx2"/>
                  </a:solidFill>
                  <a:latin typeface="Futura Md BT" pitchFamily="34" charset="0"/>
                </a:rPr>
                <a:t>R</a:t>
              </a:r>
              <a:endParaRPr lang="en-GB" altLang="en-US" sz="1600" b="1" baseline="-25000">
                <a:solidFill>
                  <a:schemeClr val="tx2"/>
                </a:solidFill>
                <a:latin typeface="Futura Md BT" pitchFamily="34" charset="0"/>
              </a:endParaRPr>
            </a:p>
          </p:txBody>
        </p:sp>
        <p:sp>
          <p:nvSpPr>
            <p:cNvPr id="59107" name="Rectangle 739"/>
            <p:cNvSpPr>
              <a:spLocks noChangeArrowheads="1"/>
            </p:cNvSpPr>
            <p:nvPr/>
          </p:nvSpPr>
          <p:spPr bwMode="auto">
            <a:xfrm>
              <a:off x="8128000" y="1765301"/>
              <a:ext cx="18573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08" name="Rectangle 740"/>
            <p:cNvSpPr>
              <a:spLocks noChangeArrowheads="1"/>
            </p:cNvSpPr>
            <p:nvPr/>
          </p:nvSpPr>
          <p:spPr bwMode="auto">
            <a:xfrm>
              <a:off x="8158163" y="1760538"/>
              <a:ext cx="146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GB" altLang="en-US" sz="1600">
                  <a:solidFill>
                    <a:schemeClr val="tx2"/>
                  </a:solidFill>
                  <a:latin typeface="Futura Md BT" pitchFamily="34" charset="0"/>
                </a:rPr>
                <a:t>R</a:t>
              </a:r>
              <a:endParaRPr lang="en-GB" altLang="en-US" sz="1600" b="1" baseline="-25000">
                <a:solidFill>
                  <a:schemeClr val="tx2"/>
                </a:solidFill>
                <a:latin typeface="Futura Md BT" pitchFamily="34" charset="0"/>
              </a:endParaRPr>
            </a:p>
          </p:txBody>
        </p:sp>
        <p:sp>
          <p:nvSpPr>
            <p:cNvPr id="59109" name="Rectangle 741"/>
            <p:cNvSpPr>
              <a:spLocks noChangeArrowheads="1"/>
            </p:cNvSpPr>
            <p:nvPr/>
          </p:nvSpPr>
          <p:spPr bwMode="auto">
            <a:xfrm>
              <a:off x="5678488" y="1681163"/>
              <a:ext cx="185737"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10" name="Rectangle 742"/>
            <p:cNvSpPr>
              <a:spLocks noChangeArrowheads="1"/>
            </p:cNvSpPr>
            <p:nvPr/>
          </p:nvSpPr>
          <p:spPr bwMode="auto">
            <a:xfrm>
              <a:off x="5718175" y="1711326"/>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600">
                  <a:solidFill>
                    <a:schemeClr val="tx2"/>
                  </a:solidFill>
                  <a:latin typeface="Futura Md BT" pitchFamily="34" charset="0"/>
                </a:rPr>
                <a:t>L</a:t>
              </a:r>
              <a:endParaRPr lang="en-GB" altLang="en-US" sz="1600" b="1" baseline="-25000">
                <a:solidFill>
                  <a:schemeClr val="tx2"/>
                </a:solidFill>
                <a:latin typeface="Futura Md BT" pitchFamily="34" charset="0"/>
              </a:endParaRPr>
            </a:p>
          </p:txBody>
        </p:sp>
        <p:sp>
          <p:nvSpPr>
            <p:cNvPr id="59111" name="Rectangle 743"/>
            <p:cNvSpPr>
              <a:spLocks noChangeArrowheads="1"/>
            </p:cNvSpPr>
            <p:nvPr/>
          </p:nvSpPr>
          <p:spPr bwMode="auto">
            <a:xfrm>
              <a:off x="4044950" y="1681163"/>
              <a:ext cx="185737"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12" name="Rectangle 744"/>
            <p:cNvSpPr>
              <a:spLocks noChangeArrowheads="1"/>
            </p:cNvSpPr>
            <p:nvPr/>
          </p:nvSpPr>
          <p:spPr bwMode="auto">
            <a:xfrm>
              <a:off x="4086225" y="1716088"/>
              <a:ext cx="1412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GB" altLang="en-US" sz="1600">
                  <a:solidFill>
                    <a:schemeClr val="tx2"/>
                  </a:solidFill>
                  <a:latin typeface="Futura Md BT" pitchFamily="34" charset="0"/>
                </a:rPr>
                <a:t>L</a:t>
              </a:r>
              <a:endParaRPr lang="en-GB" altLang="en-US" sz="1600" b="1" baseline="-25000">
                <a:solidFill>
                  <a:schemeClr val="tx2"/>
                </a:solidFill>
                <a:latin typeface="Futura Md BT" pitchFamily="34" charset="0"/>
              </a:endParaRPr>
            </a:p>
          </p:txBody>
        </p:sp>
        <p:sp>
          <p:nvSpPr>
            <p:cNvPr id="59113" name="Rectangle 745"/>
            <p:cNvSpPr>
              <a:spLocks noChangeArrowheads="1"/>
            </p:cNvSpPr>
            <p:nvPr/>
          </p:nvSpPr>
          <p:spPr bwMode="auto">
            <a:xfrm>
              <a:off x="2386013" y="1689101"/>
              <a:ext cx="1905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14" name="Rectangle 746"/>
            <p:cNvSpPr>
              <a:spLocks noChangeArrowheads="1"/>
            </p:cNvSpPr>
            <p:nvPr/>
          </p:nvSpPr>
          <p:spPr bwMode="auto">
            <a:xfrm>
              <a:off x="2447925" y="1735138"/>
              <a:ext cx="1254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GB" altLang="en-US" sz="1600">
                  <a:solidFill>
                    <a:schemeClr val="tx2"/>
                  </a:solidFill>
                  <a:latin typeface="Futura Md BT" pitchFamily="34" charset="0"/>
                </a:rPr>
                <a:t>L</a:t>
              </a:r>
              <a:endParaRPr lang="en-GB" altLang="en-US" sz="1600" b="1" baseline="-25000">
                <a:solidFill>
                  <a:schemeClr val="tx2"/>
                </a:solidFill>
                <a:latin typeface="Futura Md BT" pitchFamily="34" charset="0"/>
              </a:endParaRPr>
            </a:p>
          </p:txBody>
        </p:sp>
        <p:sp>
          <p:nvSpPr>
            <p:cNvPr id="59115" name="Rectangle 747"/>
            <p:cNvSpPr>
              <a:spLocks noChangeArrowheads="1"/>
            </p:cNvSpPr>
            <p:nvPr/>
          </p:nvSpPr>
          <p:spPr bwMode="auto">
            <a:xfrm>
              <a:off x="6632575" y="1985963"/>
              <a:ext cx="1873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16" name="Rectangle 748"/>
            <p:cNvSpPr>
              <a:spLocks noChangeArrowheads="1"/>
            </p:cNvSpPr>
            <p:nvPr/>
          </p:nvSpPr>
          <p:spPr bwMode="auto">
            <a:xfrm>
              <a:off x="6662738" y="1997076"/>
              <a:ext cx="146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600">
                  <a:solidFill>
                    <a:schemeClr val="tx2"/>
                  </a:solidFill>
                  <a:latin typeface="Futura Md BT" pitchFamily="34" charset="0"/>
                </a:rPr>
                <a:t>C</a:t>
              </a:r>
              <a:endParaRPr lang="en-GB" altLang="en-US" sz="1600" b="1" baseline="-25000">
                <a:solidFill>
                  <a:schemeClr val="tx2"/>
                </a:solidFill>
                <a:latin typeface="Futura Md BT" pitchFamily="34" charset="0"/>
              </a:endParaRPr>
            </a:p>
          </p:txBody>
        </p:sp>
        <p:sp>
          <p:nvSpPr>
            <p:cNvPr id="59117" name="Rectangle 749"/>
            <p:cNvSpPr>
              <a:spLocks noChangeArrowheads="1"/>
            </p:cNvSpPr>
            <p:nvPr/>
          </p:nvSpPr>
          <p:spPr bwMode="auto">
            <a:xfrm>
              <a:off x="5026025" y="1985963"/>
              <a:ext cx="18573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18" name="Rectangle 750"/>
            <p:cNvSpPr>
              <a:spLocks noChangeArrowheads="1"/>
            </p:cNvSpPr>
            <p:nvPr/>
          </p:nvSpPr>
          <p:spPr bwMode="auto">
            <a:xfrm>
              <a:off x="5026025" y="1997076"/>
              <a:ext cx="146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600">
                  <a:solidFill>
                    <a:schemeClr val="tx2"/>
                  </a:solidFill>
                  <a:latin typeface="Futura Md BT" pitchFamily="34" charset="0"/>
                </a:rPr>
                <a:t>C</a:t>
              </a:r>
              <a:endParaRPr lang="en-GB" altLang="en-US" sz="1600" b="1" baseline="-25000">
                <a:solidFill>
                  <a:schemeClr val="tx2"/>
                </a:solidFill>
                <a:latin typeface="Futura Md BT" pitchFamily="34" charset="0"/>
              </a:endParaRPr>
            </a:p>
          </p:txBody>
        </p:sp>
        <p:sp>
          <p:nvSpPr>
            <p:cNvPr id="59119" name="Rectangle 751"/>
            <p:cNvSpPr>
              <a:spLocks noChangeArrowheads="1"/>
            </p:cNvSpPr>
            <p:nvPr/>
          </p:nvSpPr>
          <p:spPr bwMode="auto">
            <a:xfrm>
              <a:off x="3414713" y="1998663"/>
              <a:ext cx="1873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20" name="Rectangle 752"/>
            <p:cNvSpPr>
              <a:spLocks noChangeArrowheads="1"/>
            </p:cNvSpPr>
            <p:nvPr/>
          </p:nvSpPr>
          <p:spPr bwMode="auto">
            <a:xfrm>
              <a:off x="3417888" y="1989138"/>
              <a:ext cx="1301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GB" altLang="en-US" sz="1600">
                  <a:solidFill>
                    <a:schemeClr val="tx2"/>
                  </a:solidFill>
                  <a:latin typeface="Futura Md BT" pitchFamily="34" charset="0"/>
                </a:rPr>
                <a:t>C</a:t>
              </a:r>
              <a:endParaRPr lang="en-GB" altLang="en-US" sz="1600" b="1" baseline="-25000">
                <a:solidFill>
                  <a:schemeClr val="tx2"/>
                </a:solidFill>
                <a:latin typeface="Futura Md BT" pitchFamily="34" charset="0"/>
              </a:endParaRPr>
            </a:p>
          </p:txBody>
        </p:sp>
        <p:sp>
          <p:nvSpPr>
            <p:cNvPr id="59121" name="Line 753"/>
            <p:cNvSpPr>
              <a:spLocks noChangeShapeType="1"/>
            </p:cNvSpPr>
            <p:nvPr/>
          </p:nvSpPr>
          <p:spPr bwMode="auto">
            <a:xfrm>
              <a:off x="2817813" y="1687513"/>
              <a:ext cx="982662" cy="15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22" name="Freeform 754"/>
            <p:cNvSpPr>
              <a:spLocks/>
            </p:cNvSpPr>
            <p:nvPr/>
          </p:nvSpPr>
          <p:spPr bwMode="auto">
            <a:xfrm>
              <a:off x="1865313" y="2471738"/>
              <a:ext cx="6680200" cy="85725"/>
            </a:xfrm>
            <a:custGeom>
              <a:avLst/>
              <a:gdLst>
                <a:gd name="T0" fmla="*/ 0 w 7200"/>
                <a:gd name="T1" fmla="*/ 0 h 91"/>
                <a:gd name="T2" fmla="*/ 0 w 7200"/>
                <a:gd name="T3" fmla="*/ 90 h 91"/>
                <a:gd name="T4" fmla="*/ 7200 w 7200"/>
                <a:gd name="T5" fmla="*/ 91 h 91"/>
                <a:gd name="T6" fmla="*/ 7200 w 7200"/>
                <a:gd name="T7" fmla="*/ 1 h 91"/>
                <a:gd name="T8" fmla="*/ 0 w 7200"/>
                <a:gd name="T9" fmla="*/ 0 h 91"/>
              </a:gdLst>
              <a:ahLst/>
              <a:cxnLst>
                <a:cxn ang="0">
                  <a:pos x="T0" y="T1"/>
                </a:cxn>
                <a:cxn ang="0">
                  <a:pos x="T2" y="T3"/>
                </a:cxn>
                <a:cxn ang="0">
                  <a:pos x="T4" y="T5"/>
                </a:cxn>
                <a:cxn ang="0">
                  <a:pos x="T6" y="T7"/>
                </a:cxn>
                <a:cxn ang="0">
                  <a:pos x="T8" y="T9"/>
                </a:cxn>
              </a:cxnLst>
              <a:rect l="0" t="0" r="r" b="b"/>
              <a:pathLst>
                <a:path w="7200" h="91">
                  <a:moveTo>
                    <a:pt x="0" y="0"/>
                  </a:moveTo>
                  <a:lnTo>
                    <a:pt x="0" y="90"/>
                  </a:lnTo>
                  <a:lnTo>
                    <a:pt x="7200" y="91"/>
                  </a:lnTo>
                  <a:lnTo>
                    <a:pt x="7200" y="1"/>
                  </a:lnTo>
                  <a:lnTo>
                    <a:pt x="0" y="0"/>
                  </a:lnTo>
                  <a:close/>
                </a:path>
              </a:pathLst>
            </a:custGeom>
            <a:solidFill>
              <a:schemeClr val="tx2"/>
            </a:solidFill>
            <a:ln w="28575" cmpd="sng">
              <a:solidFill>
                <a:schemeClr val="tx2"/>
              </a:solidFill>
              <a:round/>
              <a:headEnd/>
              <a:tailEnd/>
            </a:ln>
          </p:spPr>
          <p:txBody>
            <a:bodyPr/>
            <a:lstStyle/>
            <a:p>
              <a:endParaRPr lang="en-US"/>
            </a:p>
          </p:txBody>
        </p:sp>
        <p:sp>
          <p:nvSpPr>
            <p:cNvPr id="59123" name="Line 755"/>
            <p:cNvSpPr>
              <a:spLocks noChangeShapeType="1"/>
            </p:cNvSpPr>
            <p:nvPr/>
          </p:nvSpPr>
          <p:spPr bwMode="auto">
            <a:xfrm>
              <a:off x="1960563" y="1520826"/>
              <a:ext cx="6350" cy="3270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24" name="Line 756"/>
            <p:cNvSpPr>
              <a:spLocks noChangeShapeType="1"/>
            </p:cNvSpPr>
            <p:nvPr/>
          </p:nvSpPr>
          <p:spPr bwMode="auto">
            <a:xfrm flipV="1">
              <a:off x="1870075" y="1682751"/>
              <a:ext cx="285750" cy="317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25" name="Line 757"/>
            <p:cNvSpPr>
              <a:spLocks noChangeShapeType="1"/>
            </p:cNvSpPr>
            <p:nvPr/>
          </p:nvSpPr>
          <p:spPr bwMode="auto">
            <a:xfrm flipH="1">
              <a:off x="3684588" y="1687513"/>
              <a:ext cx="3175" cy="3635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26" name="Rectangle 758"/>
            <p:cNvSpPr>
              <a:spLocks noChangeArrowheads="1"/>
            </p:cNvSpPr>
            <p:nvPr/>
          </p:nvSpPr>
          <p:spPr bwMode="auto">
            <a:xfrm>
              <a:off x="3032125" y="1604963"/>
              <a:ext cx="488950" cy="153988"/>
            </a:xfrm>
            <a:prstGeom prst="rect">
              <a:avLst/>
            </a:prstGeom>
            <a:solidFill>
              <a:srgbClr val="FFFFFF"/>
            </a:solidFill>
            <a:ln w="28575">
              <a:solidFill>
                <a:schemeClr val="tx2"/>
              </a:solidFill>
              <a:miter lim="800000"/>
              <a:headEnd/>
              <a:tailEnd/>
            </a:ln>
          </p:spPr>
          <p:txBody>
            <a:bodyPr/>
            <a:lstStyle/>
            <a:p>
              <a:endParaRPr lang="en-US"/>
            </a:p>
          </p:txBody>
        </p:sp>
        <p:sp>
          <p:nvSpPr>
            <p:cNvPr id="59127" name="Line 759"/>
            <p:cNvSpPr>
              <a:spLocks noChangeShapeType="1"/>
            </p:cNvSpPr>
            <p:nvPr/>
          </p:nvSpPr>
          <p:spPr bwMode="auto">
            <a:xfrm>
              <a:off x="4486275" y="1684338"/>
              <a:ext cx="952500" cy="317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28" name="Rectangle 760"/>
            <p:cNvSpPr>
              <a:spLocks noChangeArrowheads="1"/>
            </p:cNvSpPr>
            <p:nvPr/>
          </p:nvSpPr>
          <p:spPr bwMode="auto">
            <a:xfrm>
              <a:off x="4673600" y="1611313"/>
              <a:ext cx="487362" cy="133350"/>
            </a:xfrm>
            <a:prstGeom prst="rect">
              <a:avLst/>
            </a:prstGeom>
            <a:solidFill>
              <a:srgbClr val="FFFFFF"/>
            </a:solidFill>
            <a:ln w="28575">
              <a:solidFill>
                <a:schemeClr val="tx2"/>
              </a:solidFill>
              <a:miter lim="800000"/>
              <a:headEnd/>
              <a:tailEnd/>
            </a:ln>
          </p:spPr>
          <p:txBody>
            <a:bodyPr/>
            <a:lstStyle/>
            <a:p>
              <a:endParaRPr lang="en-US"/>
            </a:p>
          </p:txBody>
        </p:sp>
        <p:sp>
          <p:nvSpPr>
            <p:cNvPr id="59129" name="Line 761"/>
            <p:cNvSpPr>
              <a:spLocks noChangeShapeType="1"/>
            </p:cNvSpPr>
            <p:nvPr/>
          </p:nvSpPr>
          <p:spPr bwMode="auto">
            <a:xfrm>
              <a:off x="6102350" y="1684338"/>
              <a:ext cx="987425" cy="317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30" name="Rectangle 762"/>
            <p:cNvSpPr>
              <a:spLocks noChangeArrowheads="1"/>
            </p:cNvSpPr>
            <p:nvPr/>
          </p:nvSpPr>
          <p:spPr bwMode="auto">
            <a:xfrm>
              <a:off x="6318250" y="1611313"/>
              <a:ext cx="487362" cy="133350"/>
            </a:xfrm>
            <a:prstGeom prst="rect">
              <a:avLst/>
            </a:prstGeom>
            <a:solidFill>
              <a:srgbClr val="FFFFFF"/>
            </a:solidFill>
            <a:ln w="28575">
              <a:solidFill>
                <a:schemeClr val="tx2"/>
              </a:solidFill>
              <a:miter lim="800000"/>
              <a:headEnd/>
              <a:tailEnd/>
            </a:ln>
          </p:spPr>
          <p:txBody>
            <a:bodyPr/>
            <a:lstStyle/>
            <a:p>
              <a:endParaRPr lang="en-US"/>
            </a:p>
          </p:txBody>
        </p:sp>
        <p:sp>
          <p:nvSpPr>
            <p:cNvPr id="59131" name="Line 763"/>
            <p:cNvSpPr>
              <a:spLocks noChangeShapeType="1"/>
            </p:cNvSpPr>
            <p:nvPr/>
          </p:nvSpPr>
          <p:spPr bwMode="auto">
            <a:xfrm>
              <a:off x="7748588" y="1684338"/>
              <a:ext cx="796925" cy="317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32" name="Rectangle 764"/>
            <p:cNvSpPr>
              <a:spLocks noChangeArrowheads="1"/>
            </p:cNvSpPr>
            <p:nvPr/>
          </p:nvSpPr>
          <p:spPr bwMode="auto">
            <a:xfrm>
              <a:off x="7962900" y="1604963"/>
              <a:ext cx="488950" cy="146050"/>
            </a:xfrm>
            <a:prstGeom prst="rect">
              <a:avLst/>
            </a:prstGeom>
            <a:solidFill>
              <a:srgbClr val="FFFFFF"/>
            </a:solidFill>
            <a:ln w="28575">
              <a:solidFill>
                <a:schemeClr val="tx2"/>
              </a:solidFill>
              <a:miter lim="800000"/>
              <a:headEnd/>
              <a:tailEnd/>
            </a:ln>
          </p:spPr>
          <p:txBody>
            <a:bodyPr/>
            <a:lstStyle/>
            <a:p>
              <a:endParaRPr lang="en-US"/>
            </a:p>
          </p:txBody>
        </p:sp>
        <p:sp>
          <p:nvSpPr>
            <p:cNvPr id="59133" name="Line 765"/>
            <p:cNvSpPr>
              <a:spLocks noChangeShapeType="1"/>
            </p:cNvSpPr>
            <p:nvPr/>
          </p:nvSpPr>
          <p:spPr bwMode="auto">
            <a:xfrm>
              <a:off x="3584575" y="2054226"/>
              <a:ext cx="203200" cy="15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34" name="Line 766"/>
            <p:cNvSpPr>
              <a:spLocks noChangeShapeType="1"/>
            </p:cNvSpPr>
            <p:nvPr/>
          </p:nvSpPr>
          <p:spPr bwMode="auto">
            <a:xfrm flipV="1">
              <a:off x="3598863" y="2149476"/>
              <a:ext cx="188912" cy="15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35" name="Line 767"/>
            <p:cNvSpPr>
              <a:spLocks noChangeShapeType="1"/>
            </p:cNvSpPr>
            <p:nvPr/>
          </p:nvSpPr>
          <p:spPr bwMode="auto">
            <a:xfrm>
              <a:off x="5205413" y="2054226"/>
              <a:ext cx="201612" cy="15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36" name="Line 768"/>
            <p:cNvSpPr>
              <a:spLocks noChangeShapeType="1"/>
            </p:cNvSpPr>
            <p:nvPr/>
          </p:nvSpPr>
          <p:spPr bwMode="auto">
            <a:xfrm flipV="1">
              <a:off x="5219700" y="2149476"/>
              <a:ext cx="187325" cy="15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37" name="Line 769"/>
            <p:cNvSpPr>
              <a:spLocks noChangeShapeType="1"/>
            </p:cNvSpPr>
            <p:nvPr/>
          </p:nvSpPr>
          <p:spPr bwMode="auto">
            <a:xfrm>
              <a:off x="6823075" y="2054226"/>
              <a:ext cx="204787" cy="15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38" name="Line 770"/>
            <p:cNvSpPr>
              <a:spLocks noChangeShapeType="1"/>
            </p:cNvSpPr>
            <p:nvPr/>
          </p:nvSpPr>
          <p:spPr bwMode="auto">
            <a:xfrm flipV="1">
              <a:off x="6832600" y="2149476"/>
              <a:ext cx="195262" cy="15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39" name="Oval 771"/>
            <p:cNvSpPr>
              <a:spLocks noChangeArrowheads="1"/>
            </p:cNvSpPr>
            <p:nvPr/>
          </p:nvSpPr>
          <p:spPr bwMode="auto">
            <a:xfrm>
              <a:off x="3659188" y="1660526"/>
              <a:ext cx="57150" cy="53975"/>
            </a:xfrm>
            <a:prstGeom prst="ellipse">
              <a:avLst/>
            </a:prstGeom>
            <a:solidFill>
              <a:srgbClr val="000000"/>
            </a:solidFill>
            <a:ln w="28575">
              <a:solidFill>
                <a:schemeClr val="tx2"/>
              </a:solidFill>
              <a:round/>
              <a:headEnd/>
              <a:tailEnd/>
            </a:ln>
          </p:spPr>
          <p:txBody>
            <a:bodyPr/>
            <a:lstStyle/>
            <a:p>
              <a:endParaRPr lang="en-US"/>
            </a:p>
          </p:txBody>
        </p:sp>
        <p:sp>
          <p:nvSpPr>
            <p:cNvPr id="59140" name="Oval 772"/>
            <p:cNvSpPr>
              <a:spLocks noChangeArrowheads="1"/>
            </p:cNvSpPr>
            <p:nvPr/>
          </p:nvSpPr>
          <p:spPr bwMode="auto">
            <a:xfrm>
              <a:off x="5275263" y="1660526"/>
              <a:ext cx="60325" cy="53975"/>
            </a:xfrm>
            <a:prstGeom prst="ellipse">
              <a:avLst/>
            </a:prstGeom>
            <a:solidFill>
              <a:srgbClr val="000000"/>
            </a:solidFill>
            <a:ln w="28575">
              <a:solidFill>
                <a:schemeClr val="tx2"/>
              </a:solidFill>
              <a:round/>
              <a:headEnd/>
              <a:tailEnd/>
            </a:ln>
          </p:spPr>
          <p:txBody>
            <a:bodyPr/>
            <a:lstStyle/>
            <a:p>
              <a:endParaRPr lang="en-US"/>
            </a:p>
          </p:txBody>
        </p:sp>
        <p:sp>
          <p:nvSpPr>
            <p:cNvPr id="59141" name="Oval 773"/>
            <p:cNvSpPr>
              <a:spLocks noChangeArrowheads="1"/>
            </p:cNvSpPr>
            <p:nvPr/>
          </p:nvSpPr>
          <p:spPr bwMode="auto">
            <a:xfrm>
              <a:off x="6899275" y="1660526"/>
              <a:ext cx="58737" cy="53975"/>
            </a:xfrm>
            <a:prstGeom prst="ellipse">
              <a:avLst/>
            </a:prstGeom>
            <a:solidFill>
              <a:srgbClr val="000000"/>
            </a:solidFill>
            <a:ln w="28575">
              <a:solidFill>
                <a:schemeClr val="tx2"/>
              </a:solidFill>
              <a:round/>
              <a:headEnd/>
              <a:tailEnd/>
            </a:ln>
          </p:spPr>
          <p:txBody>
            <a:bodyPr/>
            <a:lstStyle/>
            <a:p>
              <a:endParaRPr lang="en-US"/>
            </a:p>
          </p:txBody>
        </p:sp>
        <p:grpSp>
          <p:nvGrpSpPr>
            <p:cNvPr id="59142" name="Group 774"/>
            <p:cNvGrpSpPr>
              <a:grpSpLocks/>
            </p:cNvGrpSpPr>
            <p:nvPr/>
          </p:nvGrpSpPr>
          <p:grpSpPr bwMode="auto">
            <a:xfrm>
              <a:off x="935038" y="1751013"/>
              <a:ext cx="500062" cy="623888"/>
              <a:chOff x="980" y="1390"/>
              <a:chExt cx="270" cy="336"/>
            </a:xfrm>
          </p:grpSpPr>
          <p:sp>
            <p:nvSpPr>
              <p:cNvPr id="59143" name="Freeform 775"/>
              <p:cNvSpPr>
                <a:spLocks/>
              </p:cNvSpPr>
              <p:nvPr/>
            </p:nvSpPr>
            <p:spPr bwMode="auto">
              <a:xfrm>
                <a:off x="982" y="1390"/>
                <a:ext cx="263" cy="161"/>
              </a:xfrm>
              <a:custGeom>
                <a:avLst/>
                <a:gdLst>
                  <a:gd name="T0" fmla="*/ 0 w 525"/>
                  <a:gd name="T1" fmla="*/ 322 h 322"/>
                  <a:gd name="T2" fmla="*/ 53 w 525"/>
                  <a:gd name="T3" fmla="*/ 320 h 322"/>
                  <a:gd name="T4" fmla="*/ 107 w 525"/>
                  <a:gd name="T5" fmla="*/ 315 h 322"/>
                  <a:gd name="T6" fmla="*/ 156 w 525"/>
                  <a:gd name="T7" fmla="*/ 308 h 322"/>
                  <a:gd name="T8" fmla="*/ 204 w 525"/>
                  <a:gd name="T9" fmla="*/ 297 h 322"/>
                  <a:gd name="T10" fmla="*/ 252 w 525"/>
                  <a:gd name="T11" fmla="*/ 283 h 322"/>
                  <a:gd name="T12" fmla="*/ 293 w 525"/>
                  <a:gd name="T13" fmla="*/ 266 h 322"/>
                  <a:gd name="T14" fmla="*/ 335 w 525"/>
                  <a:gd name="T15" fmla="*/ 248 h 322"/>
                  <a:gd name="T16" fmla="*/ 373 w 525"/>
                  <a:gd name="T17" fmla="*/ 229 h 322"/>
                  <a:gd name="T18" fmla="*/ 406 w 525"/>
                  <a:gd name="T19" fmla="*/ 205 h 322"/>
                  <a:gd name="T20" fmla="*/ 436 w 525"/>
                  <a:gd name="T21" fmla="*/ 180 h 322"/>
                  <a:gd name="T22" fmla="*/ 462 w 525"/>
                  <a:gd name="T23" fmla="*/ 153 h 322"/>
                  <a:gd name="T24" fmla="*/ 484 w 525"/>
                  <a:gd name="T25" fmla="*/ 126 h 322"/>
                  <a:gd name="T26" fmla="*/ 502 w 525"/>
                  <a:gd name="T27" fmla="*/ 95 h 322"/>
                  <a:gd name="T28" fmla="*/ 515 w 525"/>
                  <a:gd name="T29" fmla="*/ 65 h 322"/>
                  <a:gd name="T30" fmla="*/ 523 w 525"/>
                  <a:gd name="T31" fmla="*/ 32 h 322"/>
                  <a:gd name="T32" fmla="*/ 525 w 525"/>
                  <a:gd name="T33" fmla="*/ 0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5" h="322">
                    <a:moveTo>
                      <a:pt x="0" y="322"/>
                    </a:moveTo>
                    <a:lnTo>
                      <a:pt x="53" y="320"/>
                    </a:lnTo>
                    <a:lnTo>
                      <a:pt x="107" y="315"/>
                    </a:lnTo>
                    <a:lnTo>
                      <a:pt x="156" y="308"/>
                    </a:lnTo>
                    <a:lnTo>
                      <a:pt x="204" y="297"/>
                    </a:lnTo>
                    <a:lnTo>
                      <a:pt x="252" y="283"/>
                    </a:lnTo>
                    <a:lnTo>
                      <a:pt x="293" y="266"/>
                    </a:lnTo>
                    <a:lnTo>
                      <a:pt x="335" y="248"/>
                    </a:lnTo>
                    <a:lnTo>
                      <a:pt x="373" y="229"/>
                    </a:lnTo>
                    <a:lnTo>
                      <a:pt x="406" y="205"/>
                    </a:lnTo>
                    <a:lnTo>
                      <a:pt x="436" y="180"/>
                    </a:lnTo>
                    <a:lnTo>
                      <a:pt x="462" y="153"/>
                    </a:lnTo>
                    <a:lnTo>
                      <a:pt x="484" y="126"/>
                    </a:lnTo>
                    <a:lnTo>
                      <a:pt x="502" y="95"/>
                    </a:lnTo>
                    <a:lnTo>
                      <a:pt x="515" y="65"/>
                    </a:lnTo>
                    <a:lnTo>
                      <a:pt x="523" y="32"/>
                    </a:lnTo>
                    <a:lnTo>
                      <a:pt x="525"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44" name="Freeform 776"/>
              <p:cNvSpPr>
                <a:spLocks/>
              </p:cNvSpPr>
              <p:nvPr/>
            </p:nvSpPr>
            <p:spPr bwMode="auto">
              <a:xfrm>
                <a:off x="980" y="1554"/>
                <a:ext cx="263" cy="162"/>
              </a:xfrm>
              <a:custGeom>
                <a:avLst/>
                <a:gdLst>
                  <a:gd name="T0" fmla="*/ 0 w 525"/>
                  <a:gd name="T1" fmla="*/ 0 h 324"/>
                  <a:gd name="T2" fmla="*/ 53 w 525"/>
                  <a:gd name="T3" fmla="*/ 2 h 324"/>
                  <a:gd name="T4" fmla="*/ 105 w 525"/>
                  <a:gd name="T5" fmla="*/ 8 h 324"/>
                  <a:gd name="T6" fmla="*/ 156 w 525"/>
                  <a:gd name="T7" fmla="*/ 15 h 324"/>
                  <a:gd name="T8" fmla="*/ 204 w 525"/>
                  <a:gd name="T9" fmla="*/ 26 h 324"/>
                  <a:gd name="T10" fmla="*/ 250 w 525"/>
                  <a:gd name="T11" fmla="*/ 40 h 324"/>
                  <a:gd name="T12" fmla="*/ 293 w 525"/>
                  <a:gd name="T13" fmla="*/ 56 h 324"/>
                  <a:gd name="T14" fmla="*/ 333 w 525"/>
                  <a:gd name="T15" fmla="*/ 74 h 324"/>
                  <a:gd name="T16" fmla="*/ 371 w 525"/>
                  <a:gd name="T17" fmla="*/ 96 h 324"/>
                  <a:gd name="T18" fmla="*/ 404 w 525"/>
                  <a:gd name="T19" fmla="*/ 119 h 324"/>
                  <a:gd name="T20" fmla="*/ 436 w 525"/>
                  <a:gd name="T21" fmla="*/ 144 h 324"/>
                  <a:gd name="T22" fmla="*/ 462 w 525"/>
                  <a:gd name="T23" fmla="*/ 170 h 324"/>
                  <a:gd name="T24" fmla="*/ 484 w 525"/>
                  <a:gd name="T25" fmla="*/ 198 h 324"/>
                  <a:gd name="T26" fmla="*/ 502 w 525"/>
                  <a:gd name="T27" fmla="*/ 229 h 324"/>
                  <a:gd name="T28" fmla="*/ 515 w 525"/>
                  <a:gd name="T29" fmla="*/ 260 h 324"/>
                  <a:gd name="T30" fmla="*/ 523 w 525"/>
                  <a:gd name="T31" fmla="*/ 292 h 324"/>
                  <a:gd name="T32" fmla="*/ 525 w 525"/>
                  <a:gd name="T33" fmla="*/ 32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5" h="324">
                    <a:moveTo>
                      <a:pt x="0" y="0"/>
                    </a:moveTo>
                    <a:lnTo>
                      <a:pt x="53" y="2"/>
                    </a:lnTo>
                    <a:lnTo>
                      <a:pt x="105" y="8"/>
                    </a:lnTo>
                    <a:lnTo>
                      <a:pt x="156" y="15"/>
                    </a:lnTo>
                    <a:lnTo>
                      <a:pt x="204" y="26"/>
                    </a:lnTo>
                    <a:lnTo>
                      <a:pt x="250" y="40"/>
                    </a:lnTo>
                    <a:lnTo>
                      <a:pt x="293" y="56"/>
                    </a:lnTo>
                    <a:lnTo>
                      <a:pt x="333" y="74"/>
                    </a:lnTo>
                    <a:lnTo>
                      <a:pt x="371" y="96"/>
                    </a:lnTo>
                    <a:lnTo>
                      <a:pt x="404" y="119"/>
                    </a:lnTo>
                    <a:lnTo>
                      <a:pt x="436" y="144"/>
                    </a:lnTo>
                    <a:lnTo>
                      <a:pt x="462" y="170"/>
                    </a:lnTo>
                    <a:lnTo>
                      <a:pt x="484" y="198"/>
                    </a:lnTo>
                    <a:lnTo>
                      <a:pt x="502" y="229"/>
                    </a:lnTo>
                    <a:lnTo>
                      <a:pt x="515" y="260"/>
                    </a:lnTo>
                    <a:lnTo>
                      <a:pt x="523" y="292"/>
                    </a:lnTo>
                    <a:lnTo>
                      <a:pt x="525" y="324"/>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9145" name="Group 777"/>
              <p:cNvGrpSpPr>
                <a:grpSpLocks/>
              </p:cNvGrpSpPr>
              <p:nvPr/>
            </p:nvGrpSpPr>
            <p:grpSpPr bwMode="auto">
              <a:xfrm>
                <a:off x="1204" y="1474"/>
                <a:ext cx="46" cy="159"/>
                <a:chOff x="1204" y="1474"/>
                <a:chExt cx="46" cy="159"/>
              </a:xfrm>
            </p:grpSpPr>
            <p:sp>
              <p:nvSpPr>
                <p:cNvPr id="59146" name="Freeform 778"/>
                <p:cNvSpPr>
                  <a:spLocks/>
                </p:cNvSpPr>
                <p:nvPr/>
              </p:nvSpPr>
              <p:spPr bwMode="auto">
                <a:xfrm>
                  <a:off x="1204" y="1474"/>
                  <a:ext cx="46" cy="81"/>
                </a:xfrm>
                <a:custGeom>
                  <a:avLst/>
                  <a:gdLst>
                    <a:gd name="T0" fmla="*/ 0 w 91"/>
                    <a:gd name="T1" fmla="*/ 0 h 162"/>
                    <a:gd name="T2" fmla="*/ 18 w 91"/>
                    <a:gd name="T3" fmla="*/ 4 h 162"/>
                    <a:gd name="T4" fmla="*/ 36 w 91"/>
                    <a:gd name="T5" fmla="*/ 13 h 162"/>
                    <a:gd name="T6" fmla="*/ 52 w 91"/>
                    <a:gd name="T7" fmla="*/ 27 h 162"/>
                    <a:gd name="T8" fmla="*/ 64 w 91"/>
                    <a:gd name="T9" fmla="*/ 47 h 162"/>
                    <a:gd name="T10" fmla="*/ 75 w 91"/>
                    <a:gd name="T11" fmla="*/ 72 h 162"/>
                    <a:gd name="T12" fmla="*/ 83 w 91"/>
                    <a:gd name="T13" fmla="*/ 99 h 162"/>
                    <a:gd name="T14" fmla="*/ 89 w 91"/>
                    <a:gd name="T15" fmla="*/ 130 h 162"/>
                    <a:gd name="T16" fmla="*/ 91 w 91"/>
                    <a:gd name="T17" fmla="*/ 16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162">
                      <a:moveTo>
                        <a:pt x="0" y="0"/>
                      </a:moveTo>
                      <a:lnTo>
                        <a:pt x="18" y="4"/>
                      </a:lnTo>
                      <a:lnTo>
                        <a:pt x="36" y="13"/>
                      </a:lnTo>
                      <a:lnTo>
                        <a:pt x="52" y="27"/>
                      </a:lnTo>
                      <a:lnTo>
                        <a:pt x="64" y="47"/>
                      </a:lnTo>
                      <a:lnTo>
                        <a:pt x="75" y="72"/>
                      </a:lnTo>
                      <a:lnTo>
                        <a:pt x="83" y="99"/>
                      </a:lnTo>
                      <a:lnTo>
                        <a:pt x="89" y="130"/>
                      </a:lnTo>
                      <a:lnTo>
                        <a:pt x="91" y="162"/>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47" name="Freeform 779"/>
                <p:cNvSpPr>
                  <a:spLocks/>
                </p:cNvSpPr>
                <p:nvPr/>
              </p:nvSpPr>
              <p:spPr bwMode="auto">
                <a:xfrm>
                  <a:off x="1204" y="1552"/>
                  <a:ext cx="46" cy="81"/>
                </a:xfrm>
                <a:custGeom>
                  <a:avLst/>
                  <a:gdLst>
                    <a:gd name="T0" fmla="*/ 0 w 91"/>
                    <a:gd name="T1" fmla="*/ 162 h 162"/>
                    <a:gd name="T2" fmla="*/ 18 w 91"/>
                    <a:gd name="T3" fmla="*/ 158 h 162"/>
                    <a:gd name="T4" fmla="*/ 36 w 91"/>
                    <a:gd name="T5" fmla="*/ 149 h 162"/>
                    <a:gd name="T6" fmla="*/ 52 w 91"/>
                    <a:gd name="T7" fmla="*/ 135 h 162"/>
                    <a:gd name="T8" fmla="*/ 64 w 91"/>
                    <a:gd name="T9" fmla="*/ 115 h 162"/>
                    <a:gd name="T10" fmla="*/ 75 w 91"/>
                    <a:gd name="T11" fmla="*/ 90 h 162"/>
                    <a:gd name="T12" fmla="*/ 83 w 91"/>
                    <a:gd name="T13" fmla="*/ 63 h 162"/>
                    <a:gd name="T14" fmla="*/ 89 w 91"/>
                    <a:gd name="T15" fmla="*/ 32 h 162"/>
                    <a:gd name="T16" fmla="*/ 91 w 91"/>
                    <a:gd name="T17"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162">
                      <a:moveTo>
                        <a:pt x="0" y="162"/>
                      </a:moveTo>
                      <a:lnTo>
                        <a:pt x="18" y="158"/>
                      </a:lnTo>
                      <a:lnTo>
                        <a:pt x="36" y="149"/>
                      </a:lnTo>
                      <a:lnTo>
                        <a:pt x="52" y="135"/>
                      </a:lnTo>
                      <a:lnTo>
                        <a:pt x="64" y="115"/>
                      </a:lnTo>
                      <a:lnTo>
                        <a:pt x="75" y="90"/>
                      </a:lnTo>
                      <a:lnTo>
                        <a:pt x="83" y="63"/>
                      </a:lnTo>
                      <a:lnTo>
                        <a:pt x="89" y="32"/>
                      </a:lnTo>
                      <a:lnTo>
                        <a:pt x="91"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148" name="Freeform 780"/>
              <p:cNvSpPr>
                <a:spLocks/>
              </p:cNvSpPr>
              <p:nvPr/>
            </p:nvSpPr>
            <p:spPr bwMode="auto">
              <a:xfrm>
                <a:off x="1207" y="1393"/>
                <a:ext cx="18" cy="63"/>
              </a:xfrm>
              <a:custGeom>
                <a:avLst/>
                <a:gdLst>
                  <a:gd name="T0" fmla="*/ 0 w 36"/>
                  <a:gd name="T1" fmla="*/ 126 h 126"/>
                  <a:gd name="T2" fmla="*/ 8 w 36"/>
                  <a:gd name="T3" fmla="*/ 124 h 126"/>
                  <a:gd name="T4" fmla="*/ 14 w 36"/>
                  <a:gd name="T5" fmla="*/ 117 h 126"/>
                  <a:gd name="T6" fmla="*/ 20 w 36"/>
                  <a:gd name="T7" fmla="*/ 105 h 126"/>
                  <a:gd name="T8" fmla="*/ 26 w 36"/>
                  <a:gd name="T9" fmla="*/ 90 h 126"/>
                  <a:gd name="T10" fmla="*/ 30 w 36"/>
                  <a:gd name="T11" fmla="*/ 70 h 126"/>
                  <a:gd name="T12" fmla="*/ 34 w 36"/>
                  <a:gd name="T13" fmla="*/ 49 h 126"/>
                  <a:gd name="T14" fmla="*/ 36 w 36"/>
                  <a:gd name="T15" fmla="*/ 25 h 126"/>
                  <a:gd name="T16" fmla="*/ 36 w 36"/>
                  <a:gd name="T17"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26">
                    <a:moveTo>
                      <a:pt x="0" y="126"/>
                    </a:moveTo>
                    <a:lnTo>
                      <a:pt x="8" y="124"/>
                    </a:lnTo>
                    <a:lnTo>
                      <a:pt x="14" y="117"/>
                    </a:lnTo>
                    <a:lnTo>
                      <a:pt x="20" y="105"/>
                    </a:lnTo>
                    <a:lnTo>
                      <a:pt x="26" y="90"/>
                    </a:lnTo>
                    <a:lnTo>
                      <a:pt x="30" y="70"/>
                    </a:lnTo>
                    <a:lnTo>
                      <a:pt x="34" y="49"/>
                    </a:lnTo>
                    <a:lnTo>
                      <a:pt x="36" y="25"/>
                    </a:lnTo>
                    <a:lnTo>
                      <a:pt x="36"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49" name="Freeform 781"/>
              <p:cNvSpPr>
                <a:spLocks/>
              </p:cNvSpPr>
              <p:nvPr/>
            </p:nvSpPr>
            <p:spPr bwMode="auto">
              <a:xfrm>
                <a:off x="1200" y="1397"/>
                <a:ext cx="4" cy="59"/>
              </a:xfrm>
              <a:custGeom>
                <a:avLst/>
                <a:gdLst>
                  <a:gd name="T0" fmla="*/ 0 w 8"/>
                  <a:gd name="T1" fmla="*/ 119 h 119"/>
                  <a:gd name="T2" fmla="*/ 2 w 8"/>
                  <a:gd name="T3" fmla="*/ 117 h 119"/>
                  <a:gd name="T4" fmla="*/ 4 w 8"/>
                  <a:gd name="T5" fmla="*/ 110 h 119"/>
                  <a:gd name="T6" fmla="*/ 4 w 8"/>
                  <a:gd name="T7" fmla="*/ 99 h 119"/>
                  <a:gd name="T8" fmla="*/ 6 w 8"/>
                  <a:gd name="T9" fmla="*/ 85 h 119"/>
                  <a:gd name="T10" fmla="*/ 6 w 8"/>
                  <a:gd name="T11" fmla="*/ 67 h 119"/>
                  <a:gd name="T12" fmla="*/ 8 w 8"/>
                  <a:gd name="T13" fmla="*/ 47 h 119"/>
                  <a:gd name="T14" fmla="*/ 8 w 8"/>
                  <a:gd name="T15" fmla="*/ 24 h 119"/>
                  <a:gd name="T16" fmla="*/ 8 w 8"/>
                  <a:gd name="T17"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19">
                    <a:moveTo>
                      <a:pt x="0" y="119"/>
                    </a:moveTo>
                    <a:lnTo>
                      <a:pt x="2" y="117"/>
                    </a:lnTo>
                    <a:lnTo>
                      <a:pt x="4" y="110"/>
                    </a:lnTo>
                    <a:lnTo>
                      <a:pt x="4" y="99"/>
                    </a:lnTo>
                    <a:lnTo>
                      <a:pt x="6" y="85"/>
                    </a:lnTo>
                    <a:lnTo>
                      <a:pt x="6" y="67"/>
                    </a:lnTo>
                    <a:lnTo>
                      <a:pt x="8" y="47"/>
                    </a:lnTo>
                    <a:lnTo>
                      <a:pt x="8" y="24"/>
                    </a:lnTo>
                    <a:lnTo>
                      <a:pt x="8"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50" name="Freeform 782"/>
              <p:cNvSpPr>
                <a:spLocks/>
              </p:cNvSpPr>
              <p:nvPr/>
            </p:nvSpPr>
            <p:spPr bwMode="auto">
              <a:xfrm>
                <a:off x="1218" y="1665"/>
                <a:ext cx="9" cy="61"/>
              </a:xfrm>
              <a:custGeom>
                <a:avLst/>
                <a:gdLst>
                  <a:gd name="T0" fmla="*/ 0 w 18"/>
                  <a:gd name="T1" fmla="*/ 0 h 122"/>
                  <a:gd name="T2" fmla="*/ 4 w 18"/>
                  <a:gd name="T3" fmla="*/ 2 h 122"/>
                  <a:gd name="T4" fmla="*/ 8 w 18"/>
                  <a:gd name="T5" fmla="*/ 9 h 122"/>
                  <a:gd name="T6" fmla="*/ 10 w 18"/>
                  <a:gd name="T7" fmla="*/ 21 h 122"/>
                  <a:gd name="T8" fmla="*/ 12 w 18"/>
                  <a:gd name="T9" fmla="*/ 36 h 122"/>
                  <a:gd name="T10" fmla="*/ 16 w 18"/>
                  <a:gd name="T11" fmla="*/ 54 h 122"/>
                  <a:gd name="T12" fmla="*/ 16 w 18"/>
                  <a:gd name="T13" fmla="*/ 75 h 122"/>
                  <a:gd name="T14" fmla="*/ 18 w 18"/>
                  <a:gd name="T15" fmla="*/ 97 h 122"/>
                  <a:gd name="T16" fmla="*/ 18 w 18"/>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22">
                    <a:moveTo>
                      <a:pt x="0" y="0"/>
                    </a:moveTo>
                    <a:lnTo>
                      <a:pt x="4" y="2"/>
                    </a:lnTo>
                    <a:lnTo>
                      <a:pt x="8" y="9"/>
                    </a:lnTo>
                    <a:lnTo>
                      <a:pt x="10" y="21"/>
                    </a:lnTo>
                    <a:lnTo>
                      <a:pt x="12" y="36"/>
                    </a:lnTo>
                    <a:lnTo>
                      <a:pt x="16" y="54"/>
                    </a:lnTo>
                    <a:lnTo>
                      <a:pt x="16" y="75"/>
                    </a:lnTo>
                    <a:lnTo>
                      <a:pt x="18" y="97"/>
                    </a:lnTo>
                    <a:lnTo>
                      <a:pt x="18" y="122"/>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51" name="Freeform 783"/>
              <p:cNvSpPr>
                <a:spLocks/>
              </p:cNvSpPr>
              <p:nvPr/>
            </p:nvSpPr>
            <p:spPr bwMode="auto">
              <a:xfrm>
                <a:off x="1202" y="1671"/>
                <a:ext cx="9" cy="55"/>
              </a:xfrm>
              <a:custGeom>
                <a:avLst/>
                <a:gdLst>
                  <a:gd name="T0" fmla="*/ 0 w 18"/>
                  <a:gd name="T1" fmla="*/ 110 h 110"/>
                  <a:gd name="T2" fmla="*/ 4 w 18"/>
                  <a:gd name="T3" fmla="*/ 108 h 110"/>
                  <a:gd name="T4" fmla="*/ 8 w 18"/>
                  <a:gd name="T5" fmla="*/ 101 h 110"/>
                  <a:gd name="T6" fmla="*/ 10 w 18"/>
                  <a:gd name="T7" fmla="*/ 92 h 110"/>
                  <a:gd name="T8" fmla="*/ 12 w 18"/>
                  <a:gd name="T9" fmla="*/ 78 h 110"/>
                  <a:gd name="T10" fmla="*/ 16 w 18"/>
                  <a:gd name="T11" fmla="*/ 62 h 110"/>
                  <a:gd name="T12" fmla="*/ 16 w 18"/>
                  <a:gd name="T13" fmla="*/ 44 h 110"/>
                  <a:gd name="T14" fmla="*/ 18 w 18"/>
                  <a:gd name="T15" fmla="*/ 22 h 110"/>
                  <a:gd name="T16" fmla="*/ 18 w 18"/>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10">
                    <a:moveTo>
                      <a:pt x="0" y="110"/>
                    </a:moveTo>
                    <a:lnTo>
                      <a:pt x="4" y="108"/>
                    </a:lnTo>
                    <a:lnTo>
                      <a:pt x="8" y="101"/>
                    </a:lnTo>
                    <a:lnTo>
                      <a:pt x="10" y="92"/>
                    </a:lnTo>
                    <a:lnTo>
                      <a:pt x="12" y="78"/>
                    </a:lnTo>
                    <a:lnTo>
                      <a:pt x="16" y="62"/>
                    </a:lnTo>
                    <a:lnTo>
                      <a:pt x="16" y="44"/>
                    </a:lnTo>
                    <a:lnTo>
                      <a:pt x="18" y="22"/>
                    </a:lnTo>
                    <a:lnTo>
                      <a:pt x="18"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9152" name="Group 784"/>
              <p:cNvGrpSpPr>
                <a:grpSpLocks/>
              </p:cNvGrpSpPr>
              <p:nvPr/>
            </p:nvGrpSpPr>
            <p:grpSpPr bwMode="auto">
              <a:xfrm>
                <a:off x="1191" y="1509"/>
                <a:ext cx="49" cy="86"/>
                <a:chOff x="1191" y="1509"/>
                <a:chExt cx="49" cy="86"/>
              </a:xfrm>
            </p:grpSpPr>
            <p:sp>
              <p:nvSpPr>
                <p:cNvPr id="59153" name="Freeform 785"/>
                <p:cNvSpPr>
                  <a:spLocks/>
                </p:cNvSpPr>
                <p:nvPr/>
              </p:nvSpPr>
              <p:spPr bwMode="auto">
                <a:xfrm>
                  <a:off x="1191" y="1551"/>
                  <a:ext cx="48" cy="44"/>
                </a:xfrm>
                <a:custGeom>
                  <a:avLst/>
                  <a:gdLst>
                    <a:gd name="T0" fmla="*/ 95 w 95"/>
                    <a:gd name="T1" fmla="*/ 86 h 86"/>
                    <a:gd name="T2" fmla="*/ 78 w 95"/>
                    <a:gd name="T3" fmla="*/ 85 h 86"/>
                    <a:gd name="T4" fmla="*/ 60 w 95"/>
                    <a:gd name="T5" fmla="*/ 79 h 86"/>
                    <a:gd name="T6" fmla="*/ 42 w 95"/>
                    <a:gd name="T7" fmla="*/ 72 h 86"/>
                    <a:gd name="T8" fmla="*/ 28 w 95"/>
                    <a:gd name="T9" fmla="*/ 61 h 86"/>
                    <a:gd name="T10" fmla="*/ 16 w 95"/>
                    <a:gd name="T11" fmla="*/ 49 h 86"/>
                    <a:gd name="T12" fmla="*/ 8 w 95"/>
                    <a:gd name="T13" fmla="*/ 34 h 86"/>
                    <a:gd name="T14" fmla="*/ 2 w 95"/>
                    <a:gd name="T15" fmla="*/ 18 h 86"/>
                    <a:gd name="T16" fmla="*/ 0 w 95"/>
                    <a:gd name="T17"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86">
                      <a:moveTo>
                        <a:pt x="95" y="86"/>
                      </a:moveTo>
                      <a:lnTo>
                        <a:pt x="78" y="85"/>
                      </a:lnTo>
                      <a:lnTo>
                        <a:pt x="60" y="79"/>
                      </a:lnTo>
                      <a:lnTo>
                        <a:pt x="42" y="72"/>
                      </a:lnTo>
                      <a:lnTo>
                        <a:pt x="28" y="61"/>
                      </a:lnTo>
                      <a:lnTo>
                        <a:pt x="16" y="49"/>
                      </a:lnTo>
                      <a:lnTo>
                        <a:pt x="8" y="34"/>
                      </a:lnTo>
                      <a:lnTo>
                        <a:pt x="2" y="18"/>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54" name="Freeform 786"/>
                <p:cNvSpPr>
                  <a:spLocks/>
                </p:cNvSpPr>
                <p:nvPr/>
              </p:nvSpPr>
              <p:spPr bwMode="auto">
                <a:xfrm>
                  <a:off x="1191" y="1509"/>
                  <a:ext cx="49" cy="44"/>
                </a:xfrm>
                <a:custGeom>
                  <a:avLst/>
                  <a:gdLst>
                    <a:gd name="T0" fmla="*/ 97 w 97"/>
                    <a:gd name="T1" fmla="*/ 0 h 89"/>
                    <a:gd name="T2" fmla="*/ 78 w 97"/>
                    <a:gd name="T3" fmla="*/ 2 h 89"/>
                    <a:gd name="T4" fmla="*/ 60 w 97"/>
                    <a:gd name="T5" fmla="*/ 8 h 89"/>
                    <a:gd name="T6" fmla="*/ 44 w 97"/>
                    <a:gd name="T7" fmla="*/ 15 h 89"/>
                    <a:gd name="T8" fmla="*/ 28 w 97"/>
                    <a:gd name="T9" fmla="*/ 26 h 89"/>
                    <a:gd name="T10" fmla="*/ 16 w 97"/>
                    <a:gd name="T11" fmla="*/ 40 h 89"/>
                    <a:gd name="T12" fmla="*/ 8 w 97"/>
                    <a:gd name="T13" fmla="*/ 54 h 89"/>
                    <a:gd name="T14" fmla="*/ 2 w 97"/>
                    <a:gd name="T15" fmla="*/ 71 h 89"/>
                    <a:gd name="T16" fmla="*/ 0 w 97"/>
                    <a:gd name="T17" fmla="*/ 8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89">
                      <a:moveTo>
                        <a:pt x="97" y="0"/>
                      </a:moveTo>
                      <a:lnTo>
                        <a:pt x="78" y="2"/>
                      </a:lnTo>
                      <a:lnTo>
                        <a:pt x="60" y="8"/>
                      </a:lnTo>
                      <a:lnTo>
                        <a:pt x="44" y="15"/>
                      </a:lnTo>
                      <a:lnTo>
                        <a:pt x="28" y="26"/>
                      </a:lnTo>
                      <a:lnTo>
                        <a:pt x="16" y="40"/>
                      </a:lnTo>
                      <a:lnTo>
                        <a:pt x="8" y="54"/>
                      </a:lnTo>
                      <a:lnTo>
                        <a:pt x="2" y="71"/>
                      </a:lnTo>
                      <a:lnTo>
                        <a:pt x="0" y="89"/>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9155" name="Group 787"/>
              <p:cNvGrpSpPr>
                <a:grpSpLocks/>
              </p:cNvGrpSpPr>
              <p:nvPr/>
            </p:nvGrpSpPr>
            <p:grpSpPr bwMode="auto">
              <a:xfrm>
                <a:off x="1226" y="1536"/>
                <a:ext cx="18" cy="32"/>
                <a:chOff x="1226" y="1536"/>
                <a:chExt cx="18" cy="32"/>
              </a:xfrm>
            </p:grpSpPr>
            <p:grpSp>
              <p:nvGrpSpPr>
                <p:cNvPr id="59156" name="Group 788"/>
                <p:cNvGrpSpPr>
                  <a:grpSpLocks/>
                </p:cNvGrpSpPr>
                <p:nvPr/>
              </p:nvGrpSpPr>
              <p:grpSpPr bwMode="auto">
                <a:xfrm>
                  <a:off x="1226" y="1536"/>
                  <a:ext cx="18" cy="32"/>
                  <a:chOff x="1226" y="1536"/>
                  <a:chExt cx="18" cy="32"/>
                </a:xfrm>
              </p:grpSpPr>
              <p:sp>
                <p:nvSpPr>
                  <p:cNvPr id="59157" name="Freeform 789"/>
                  <p:cNvSpPr>
                    <a:spLocks/>
                  </p:cNvSpPr>
                  <p:nvPr/>
                </p:nvSpPr>
                <p:spPr bwMode="auto">
                  <a:xfrm>
                    <a:off x="1226" y="1536"/>
                    <a:ext cx="18" cy="16"/>
                  </a:xfrm>
                  <a:custGeom>
                    <a:avLst/>
                    <a:gdLst>
                      <a:gd name="T0" fmla="*/ 35 w 35"/>
                      <a:gd name="T1" fmla="*/ 0 h 33"/>
                      <a:gd name="T2" fmla="*/ 21 w 35"/>
                      <a:gd name="T3" fmla="*/ 2 h 33"/>
                      <a:gd name="T4" fmla="*/ 12 w 35"/>
                      <a:gd name="T5" fmla="*/ 9 h 33"/>
                      <a:gd name="T6" fmla="*/ 4 w 35"/>
                      <a:gd name="T7" fmla="*/ 20 h 33"/>
                      <a:gd name="T8" fmla="*/ 0 w 35"/>
                      <a:gd name="T9" fmla="*/ 33 h 33"/>
                    </a:gdLst>
                    <a:ahLst/>
                    <a:cxnLst>
                      <a:cxn ang="0">
                        <a:pos x="T0" y="T1"/>
                      </a:cxn>
                      <a:cxn ang="0">
                        <a:pos x="T2" y="T3"/>
                      </a:cxn>
                      <a:cxn ang="0">
                        <a:pos x="T4" y="T5"/>
                      </a:cxn>
                      <a:cxn ang="0">
                        <a:pos x="T6" y="T7"/>
                      </a:cxn>
                      <a:cxn ang="0">
                        <a:pos x="T8" y="T9"/>
                      </a:cxn>
                    </a:cxnLst>
                    <a:rect l="0" t="0" r="r" b="b"/>
                    <a:pathLst>
                      <a:path w="35" h="33">
                        <a:moveTo>
                          <a:pt x="35" y="0"/>
                        </a:moveTo>
                        <a:lnTo>
                          <a:pt x="21" y="2"/>
                        </a:lnTo>
                        <a:lnTo>
                          <a:pt x="12" y="9"/>
                        </a:lnTo>
                        <a:lnTo>
                          <a:pt x="4" y="20"/>
                        </a:lnTo>
                        <a:lnTo>
                          <a:pt x="0" y="33"/>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58" name="Freeform 790"/>
                  <p:cNvSpPr>
                    <a:spLocks/>
                  </p:cNvSpPr>
                  <p:nvPr/>
                </p:nvSpPr>
                <p:spPr bwMode="auto">
                  <a:xfrm>
                    <a:off x="1226" y="1552"/>
                    <a:ext cx="18" cy="16"/>
                  </a:xfrm>
                  <a:custGeom>
                    <a:avLst/>
                    <a:gdLst>
                      <a:gd name="T0" fmla="*/ 35 w 35"/>
                      <a:gd name="T1" fmla="*/ 30 h 30"/>
                      <a:gd name="T2" fmla="*/ 21 w 35"/>
                      <a:gd name="T3" fmla="*/ 29 h 30"/>
                      <a:gd name="T4" fmla="*/ 12 w 35"/>
                      <a:gd name="T5" fmla="*/ 21 h 30"/>
                      <a:gd name="T6" fmla="*/ 4 w 35"/>
                      <a:gd name="T7" fmla="*/ 11 h 30"/>
                      <a:gd name="T8" fmla="*/ 0 w 35"/>
                      <a:gd name="T9" fmla="*/ 0 h 30"/>
                    </a:gdLst>
                    <a:ahLst/>
                    <a:cxnLst>
                      <a:cxn ang="0">
                        <a:pos x="T0" y="T1"/>
                      </a:cxn>
                      <a:cxn ang="0">
                        <a:pos x="T2" y="T3"/>
                      </a:cxn>
                      <a:cxn ang="0">
                        <a:pos x="T4" y="T5"/>
                      </a:cxn>
                      <a:cxn ang="0">
                        <a:pos x="T6" y="T7"/>
                      </a:cxn>
                      <a:cxn ang="0">
                        <a:pos x="T8" y="T9"/>
                      </a:cxn>
                    </a:cxnLst>
                    <a:rect l="0" t="0" r="r" b="b"/>
                    <a:pathLst>
                      <a:path w="35" h="30">
                        <a:moveTo>
                          <a:pt x="35" y="30"/>
                        </a:moveTo>
                        <a:lnTo>
                          <a:pt x="21" y="29"/>
                        </a:lnTo>
                        <a:lnTo>
                          <a:pt x="12" y="21"/>
                        </a:lnTo>
                        <a:lnTo>
                          <a:pt x="4" y="11"/>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159" name="Freeform 791"/>
                <p:cNvSpPr>
                  <a:spLocks/>
                </p:cNvSpPr>
                <p:nvPr/>
              </p:nvSpPr>
              <p:spPr bwMode="auto">
                <a:xfrm>
                  <a:off x="1226" y="1536"/>
                  <a:ext cx="18" cy="32"/>
                </a:xfrm>
                <a:custGeom>
                  <a:avLst/>
                  <a:gdLst>
                    <a:gd name="T0" fmla="*/ 35 w 35"/>
                    <a:gd name="T1" fmla="*/ 63 h 63"/>
                    <a:gd name="T2" fmla="*/ 35 w 35"/>
                    <a:gd name="T3" fmla="*/ 0 h 63"/>
                    <a:gd name="T4" fmla="*/ 31 w 35"/>
                    <a:gd name="T5" fmla="*/ 0 h 63"/>
                    <a:gd name="T6" fmla="*/ 21 w 35"/>
                    <a:gd name="T7" fmla="*/ 4 h 63"/>
                    <a:gd name="T8" fmla="*/ 16 w 35"/>
                    <a:gd name="T9" fmla="*/ 8 h 63"/>
                    <a:gd name="T10" fmla="*/ 10 w 35"/>
                    <a:gd name="T11" fmla="*/ 11 h 63"/>
                    <a:gd name="T12" fmla="*/ 4 w 35"/>
                    <a:gd name="T13" fmla="*/ 18 h 63"/>
                    <a:gd name="T14" fmla="*/ 2 w 35"/>
                    <a:gd name="T15" fmla="*/ 26 h 63"/>
                    <a:gd name="T16" fmla="*/ 2 w 35"/>
                    <a:gd name="T17" fmla="*/ 33 h 63"/>
                    <a:gd name="T18" fmla="*/ 0 w 35"/>
                    <a:gd name="T19" fmla="*/ 33 h 63"/>
                    <a:gd name="T20" fmla="*/ 2 w 35"/>
                    <a:gd name="T21" fmla="*/ 40 h 63"/>
                    <a:gd name="T22" fmla="*/ 6 w 35"/>
                    <a:gd name="T23" fmla="*/ 47 h 63"/>
                    <a:gd name="T24" fmla="*/ 10 w 35"/>
                    <a:gd name="T25" fmla="*/ 53 h 63"/>
                    <a:gd name="T26" fmla="*/ 16 w 35"/>
                    <a:gd name="T27" fmla="*/ 58 h 63"/>
                    <a:gd name="T28" fmla="*/ 21 w 35"/>
                    <a:gd name="T29" fmla="*/ 62 h 63"/>
                    <a:gd name="T30" fmla="*/ 29 w 35"/>
                    <a:gd name="T31" fmla="*/ 63 h 63"/>
                    <a:gd name="T32" fmla="*/ 35 w 35"/>
                    <a:gd name="T33" fmla="*/ 6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63">
                      <a:moveTo>
                        <a:pt x="35" y="63"/>
                      </a:moveTo>
                      <a:lnTo>
                        <a:pt x="35" y="0"/>
                      </a:lnTo>
                      <a:lnTo>
                        <a:pt x="31" y="0"/>
                      </a:lnTo>
                      <a:lnTo>
                        <a:pt x="21" y="4"/>
                      </a:lnTo>
                      <a:lnTo>
                        <a:pt x="16" y="8"/>
                      </a:lnTo>
                      <a:lnTo>
                        <a:pt x="10" y="11"/>
                      </a:lnTo>
                      <a:lnTo>
                        <a:pt x="4" y="18"/>
                      </a:lnTo>
                      <a:lnTo>
                        <a:pt x="2" y="26"/>
                      </a:lnTo>
                      <a:lnTo>
                        <a:pt x="2" y="33"/>
                      </a:lnTo>
                      <a:lnTo>
                        <a:pt x="0" y="33"/>
                      </a:lnTo>
                      <a:lnTo>
                        <a:pt x="2" y="40"/>
                      </a:lnTo>
                      <a:lnTo>
                        <a:pt x="6" y="47"/>
                      </a:lnTo>
                      <a:lnTo>
                        <a:pt x="10" y="53"/>
                      </a:lnTo>
                      <a:lnTo>
                        <a:pt x="16" y="58"/>
                      </a:lnTo>
                      <a:lnTo>
                        <a:pt x="21" y="62"/>
                      </a:lnTo>
                      <a:lnTo>
                        <a:pt x="29" y="63"/>
                      </a:lnTo>
                      <a:lnTo>
                        <a:pt x="35" y="63"/>
                      </a:lnTo>
                      <a:close/>
                    </a:path>
                  </a:pathLst>
                </a:custGeom>
                <a:solidFill>
                  <a:srgbClr val="000000"/>
                </a:solidFill>
                <a:ln w="28575" cmpd="sng">
                  <a:solidFill>
                    <a:schemeClr val="tx2"/>
                  </a:solidFill>
                  <a:prstDash val="solid"/>
                  <a:round/>
                  <a:headEnd/>
                  <a:tailEnd/>
                </a:ln>
              </p:spPr>
              <p:txBody>
                <a:bodyPr/>
                <a:lstStyle/>
                <a:p>
                  <a:endParaRPr lang="en-US"/>
                </a:p>
              </p:txBody>
            </p:sp>
          </p:grpSp>
          <p:sp>
            <p:nvSpPr>
              <p:cNvPr id="59160" name="Line 792"/>
              <p:cNvSpPr>
                <a:spLocks noChangeShapeType="1"/>
              </p:cNvSpPr>
              <p:nvPr/>
            </p:nvSpPr>
            <p:spPr bwMode="auto">
              <a:xfrm flipH="1" flipV="1">
                <a:off x="1214" y="1526"/>
                <a:ext cx="13" cy="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61" name="Line 793"/>
              <p:cNvSpPr>
                <a:spLocks noChangeShapeType="1"/>
              </p:cNvSpPr>
              <p:nvPr/>
            </p:nvSpPr>
            <p:spPr bwMode="auto">
              <a:xfrm flipH="1">
                <a:off x="1202" y="1543"/>
                <a:ext cx="20"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62" name="Line 794"/>
              <p:cNvSpPr>
                <a:spLocks noChangeShapeType="1"/>
              </p:cNvSpPr>
              <p:nvPr/>
            </p:nvSpPr>
            <p:spPr bwMode="auto">
              <a:xfrm flipH="1">
                <a:off x="1202" y="1559"/>
                <a:ext cx="16"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63" name="Line 795"/>
              <p:cNvSpPr>
                <a:spLocks noChangeShapeType="1"/>
              </p:cNvSpPr>
              <p:nvPr/>
            </p:nvSpPr>
            <p:spPr bwMode="auto">
              <a:xfrm flipH="1">
                <a:off x="1216" y="1570"/>
                <a:ext cx="11" cy="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64" name="Line 796"/>
              <p:cNvSpPr>
                <a:spLocks noChangeShapeType="1"/>
              </p:cNvSpPr>
              <p:nvPr/>
            </p:nvSpPr>
            <p:spPr bwMode="auto">
              <a:xfrm flipH="1">
                <a:off x="1234" y="1577"/>
                <a:ext cx="5" cy="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65" name="Line 797"/>
              <p:cNvSpPr>
                <a:spLocks noChangeShapeType="1"/>
              </p:cNvSpPr>
              <p:nvPr/>
            </p:nvSpPr>
            <p:spPr bwMode="auto">
              <a:xfrm flipH="1" flipV="1">
                <a:off x="1236" y="1516"/>
                <a:ext cx="4" cy="1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9203" name="Group 835"/>
            <p:cNvGrpSpPr>
              <a:grpSpLocks/>
            </p:cNvGrpSpPr>
            <p:nvPr/>
          </p:nvGrpSpPr>
          <p:grpSpPr bwMode="auto">
            <a:xfrm>
              <a:off x="2149475" y="1512888"/>
              <a:ext cx="679450" cy="185738"/>
              <a:chOff x="275" y="834"/>
              <a:chExt cx="1404" cy="382"/>
            </a:xfrm>
          </p:grpSpPr>
          <p:sp>
            <p:nvSpPr>
              <p:cNvPr id="59204" name="Freeform 836"/>
              <p:cNvSpPr>
                <a:spLocks/>
              </p:cNvSpPr>
              <p:nvPr/>
            </p:nvSpPr>
            <p:spPr bwMode="auto">
              <a:xfrm>
                <a:off x="506"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05" name="Freeform 837"/>
              <p:cNvSpPr>
                <a:spLocks/>
              </p:cNvSpPr>
              <p:nvPr/>
            </p:nvSpPr>
            <p:spPr bwMode="auto">
              <a:xfrm>
                <a:off x="276"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06" name="Line 838"/>
              <p:cNvSpPr>
                <a:spLocks noChangeShapeType="1"/>
              </p:cNvSpPr>
              <p:nvPr/>
            </p:nvSpPr>
            <p:spPr bwMode="auto">
              <a:xfrm flipH="1">
                <a:off x="275" y="1021"/>
                <a:ext cx="2" cy="19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07" name="Line 839"/>
              <p:cNvSpPr>
                <a:spLocks noChangeShapeType="1"/>
              </p:cNvSpPr>
              <p:nvPr/>
            </p:nvSpPr>
            <p:spPr bwMode="auto">
              <a:xfrm>
                <a:off x="741"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08" name="Freeform 840"/>
              <p:cNvSpPr>
                <a:spLocks/>
              </p:cNvSpPr>
              <p:nvPr/>
            </p:nvSpPr>
            <p:spPr bwMode="auto">
              <a:xfrm>
                <a:off x="977"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09" name="Freeform 841"/>
              <p:cNvSpPr>
                <a:spLocks/>
              </p:cNvSpPr>
              <p:nvPr/>
            </p:nvSpPr>
            <p:spPr bwMode="auto">
              <a:xfrm>
                <a:off x="747"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10" name="Line 842"/>
              <p:cNvSpPr>
                <a:spLocks noChangeShapeType="1"/>
              </p:cNvSpPr>
              <p:nvPr/>
            </p:nvSpPr>
            <p:spPr bwMode="auto">
              <a:xfrm>
                <a:off x="1212"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11" name="Freeform 843"/>
              <p:cNvSpPr>
                <a:spLocks/>
              </p:cNvSpPr>
              <p:nvPr/>
            </p:nvSpPr>
            <p:spPr bwMode="auto">
              <a:xfrm>
                <a:off x="1442"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12" name="Freeform 844"/>
              <p:cNvSpPr>
                <a:spLocks/>
              </p:cNvSpPr>
              <p:nvPr/>
            </p:nvSpPr>
            <p:spPr bwMode="auto">
              <a:xfrm>
                <a:off x="1212"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13" name="Line 845"/>
              <p:cNvSpPr>
                <a:spLocks noChangeShapeType="1"/>
              </p:cNvSpPr>
              <p:nvPr/>
            </p:nvSpPr>
            <p:spPr bwMode="auto">
              <a:xfrm>
                <a:off x="1677"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9214" name="Group 846"/>
            <p:cNvGrpSpPr>
              <a:grpSpLocks/>
            </p:cNvGrpSpPr>
            <p:nvPr/>
          </p:nvGrpSpPr>
          <p:grpSpPr bwMode="auto">
            <a:xfrm>
              <a:off x="3789363" y="1517651"/>
              <a:ext cx="681037" cy="185738"/>
              <a:chOff x="275" y="834"/>
              <a:chExt cx="1404" cy="382"/>
            </a:xfrm>
          </p:grpSpPr>
          <p:sp>
            <p:nvSpPr>
              <p:cNvPr id="59215" name="Freeform 847"/>
              <p:cNvSpPr>
                <a:spLocks/>
              </p:cNvSpPr>
              <p:nvPr/>
            </p:nvSpPr>
            <p:spPr bwMode="auto">
              <a:xfrm>
                <a:off x="506"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16" name="Freeform 848"/>
              <p:cNvSpPr>
                <a:spLocks/>
              </p:cNvSpPr>
              <p:nvPr/>
            </p:nvSpPr>
            <p:spPr bwMode="auto">
              <a:xfrm>
                <a:off x="276"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17" name="Line 849"/>
              <p:cNvSpPr>
                <a:spLocks noChangeShapeType="1"/>
              </p:cNvSpPr>
              <p:nvPr/>
            </p:nvSpPr>
            <p:spPr bwMode="auto">
              <a:xfrm flipH="1">
                <a:off x="275" y="1021"/>
                <a:ext cx="2" cy="19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18" name="Line 850"/>
              <p:cNvSpPr>
                <a:spLocks noChangeShapeType="1"/>
              </p:cNvSpPr>
              <p:nvPr/>
            </p:nvSpPr>
            <p:spPr bwMode="auto">
              <a:xfrm>
                <a:off x="741"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19" name="Freeform 851"/>
              <p:cNvSpPr>
                <a:spLocks/>
              </p:cNvSpPr>
              <p:nvPr/>
            </p:nvSpPr>
            <p:spPr bwMode="auto">
              <a:xfrm>
                <a:off x="977"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20" name="Freeform 852"/>
              <p:cNvSpPr>
                <a:spLocks/>
              </p:cNvSpPr>
              <p:nvPr/>
            </p:nvSpPr>
            <p:spPr bwMode="auto">
              <a:xfrm>
                <a:off x="747"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21" name="Line 853"/>
              <p:cNvSpPr>
                <a:spLocks noChangeShapeType="1"/>
              </p:cNvSpPr>
              <p:nvPr/>
            </p:nvSpPr>
            <p:spPr bwMode="auto">
              <a:xfrm>
                <a:off x="1212"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22" name="Freeform 854"/>
              <p:cNvSpPr>
                <a:spLocks/>
              </p:cNvSpPr>
              <p:nvPr/>
            </p:nvSpPr>
            <p:spPr bwMode="auto">
              <a:xfrm>
                <a:off x="1442"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23" name="Freeform 855"/>
              <p:cNvSpPr>
                <a:spLocks/>
              </p:cNvSpPr>
              <p:nvPr/>
            </p:nvSpPr>
            <p:spPr bwMode="auto">
              <a:xfrm>
                <a:off x="1212"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24" name="Line 856"/>
              <p:cNvSpPr>
                <a:spLocks noChangeShapeType="1"/>
              </p:cNvSpPr>
              <p:nvPr/>
            </p:nvSpPr>
            <p:spPr bwMode="auto">
              <a:xfrm>
                <a:off x="1677"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9225" name="Line 857"/>
            <p:cNvSpPr>
              <a:spLocks noChangeShapeType="1"/>
            </p:cNvSpPr>
            <p:nvPr/>
          </p:nvSpPr>
          <p:spPr bwMode="auto">
            <a:xfrm flipH="1">
              <a:off x="5299075" y="1687513"/>
              <a:ext cx="3175" cy="3635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26" name="Line 858"/>
            <p:cNvSpPr>
              <a:spLocks noChangeShapeType="1"/>
            </p:cNvSpPr>
            <p:nvPr/>
          </p:nvSpPr>
          <p:spPr bwMode="auto">
            <a:xfrm>
              <a:off x="5297488" y="2146301"/>
              <a:ext cx="1587" cy="3698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9227" name="Group 859"/>
            <p:cNvGrpSpPr>
              <a:grpSpLocks/>
            </p:cNvGrpSpPr>
            <p:nvPr/>
          </p:nvGrpSpPr>
          <p:grpSpPr bwMode="auto">
            <a:xfrm>
              <a:off x="5430838" y="1512888"/>
              <a:ext cx="679450" cy="185738"/>
              <a:chOff x="275" y="834"/>
              <a:chExt cx="1404" cy="382"/>
            </a:xfrm>
          </p:grpSpPr>
          <p:sp>
            <p:nvSpPr>
              <p:cNvPr id="59228" name="Freeform 860"/>
              <p:cNvSpPr>
                <a:spLocks/>
              </p:cNvSpPr>
              <p:nvPr/>
            </p:nvSpPr>
            <p:spPr bwMode="auto">
              <a:xfrm>
                <a:off x="506"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29" name="Freeform 861"/>
              <p:cNvSpPr>
                <a:spLocks/>
              </p:cNvSpPr>
              <p:nvPr/>
            </p:nvSpPr>
            <p:spPr bwMode="auto">
              <a:xfrm>
                <a:off x="276"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30" name="Line 862"/>
              <p:cNvSpPr>
                <a:spLocks noChangeShapeType="1"/>
              </p:cNvSpPr>
              <p:nvPr/>
            </p:nvSpPr>
            <p:spPr bwMode="auto">
              <a:xfrm flipH="1">
                <a:off x="275" y="1021"/>
                <a:ext cx="2" cy="19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31" name="Line 863"/>
              <p:cNvSpPr>
                <a:spLocks noChangeShapeType="1"/>
              </p:cNvSpPr>
              <p:nvPr/>
            </p:nvSpPr>
            <p:spPr bwMode="auto">
              <a:xfrm>
                <a:off x="741"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32" name="Freeform 864"/>
              <p:cNvSpPr>
                <a:spLocks/>
              </p:cNvSpPr>
              <p:nvPr/>
            </p:nvSpPr>
            <p:spPr bwMode="auto">
              <a:xfrm>
                <a:off x="977"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33" name="Freeform 865"/>
              <p:cNvSpPr>
                <a:spLocks/>
              </p:cNvSpPr>
              <p:nvPr/>
            </p:nvSpPr>
            <p:spPr bwMode="auto">
              <a:xfrm>
                <a:off x="747"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34" name="Line 866"/>
              <p:cNvSpPr>
                <a:spLocks noChangeShapeType="1"/>
              </p:cNvSpPr>
              <p:nvPr/>
            </p:nvSpPr>
            <p:spPr bwMode="auto">
              <a:xfrm>
                <a:off x="1212"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35" name="Freeform 867"/>
              <p:cNvSpPr>
                <a:spLocks/>
              </p:cNvSpPr>
              <p:nvPr/>
            </p:nvSpPr>
            <p:spPr bwMode="auto">
              <a:xfrm>
                <a:off x="1442"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36" name="Freeform 868"/>
              <p:cNvSpPr>
                <a:spLocks/>
              </p:cNvSpPr>
              <p:nvPr/>
            </p:nvSpPr>
            <p:spPr bwMode="auto">
              <a:xfrm>
                <a:off x="1212"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37" name="Line 869"/>
              <p:cNvSpPr>
                <a:spLocks noChangeShapeType="1"/>
              </p:cNvSpPr>
              <p:nvPr/>
            </p:nvSpPr>
            <p:spPr bwMode="auto">
              <a:xfrm>
                <a:off x="1677"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9238" name="Line 870"/>
            <p:cNvSpPr>
              <a:spLocks noChangeShapeType="1"/>
            </p:cNvSpPr>
            <p:nvPr/>
          </p:nvSpPr>
          <p:spPr bwMode="auto">
            <a:xfrm>
              <a:off x="6929438" y="1690688"/>
              <a:ext cx="1587" cy="3651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9239" name="Group 871"/>
            <p:cNvGrpSpPr>
              <a:grpSpLocks/>
            </p:cNvGrpSpPr>
            <p:nvPr/>
          </p:nvGrpSpPr>
          <p:grpSpPr bwMode="auto">
            <a:xfrm>
              <a:off x="7075488" y="1517651"/>
              <a:ext cx="679450" cy="185738"/>
              <a:chOff x="275" y="834"/>
              <a:chExt cx="1404" cy="382"/>
            </a:xfrm>
          </p:grpSpPr>
          <p:sp>
            <p:nvSpPr>
              <p:cNvPr id="59240" name="Freeform 872"/>
              <p:cNvSpPr>
                <a:spLocks/>
              </p:cNvSpPr>
              <p:nvPr/>
            </p:nvSpPr>
            <p:spPr bwMode="auto">
              <a:xfrm>
                <a:off x="506"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41" name="Freeform 873"/>
              <p:cNvSpPr>
                <a:spLocks/>
              </p:cNvSpPr>
              <p:nvPr/>
            </p:nvSpPr>
            <p:spPr bwMode="auto">
              <a:xfrm>
                <a:off x="276"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42" name="Line 874"/>
              <p:cNvSpPr>
                <a:spLocks noChangeShapeType="1"/>
              </p:cNvSpPr>
              <p:nvPr/>
            </p:nvSpPr>
            <p:spPr bwMode="auto">
              <a:xfrm flipH="1">
                <a:off x="275" y="1021"/>
                <a:ext cx="2" cy="19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43" name="Line 875"/>
              <p:cNvSpPr>
                <a:spLocks noChangeShapeType="1"/>
              </p:cNvSpPr>
              <p:nvPr/>
            </p:nvSpPr>
            <p:spPr bwMode="auto">
              <a:xfrm>
                <a:off x="741"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44" name="Freeform 876"/>
              <p:cNvSpPr>
                <a:spLocks/>
              </p:cNvSpPr>
              <p:nvPr/>
            </p:nvSpPr>
            <p:spPr bwMode="auto">
              <a:xfrm>
                <a:off x="977"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45" name="Freeform 877"/>
              <p:cNvSpPr>
                <a:spLocks/>
              </p:cNvSpPr>
              <p:nvPr/>
            </p:nvSpPr>
            <p:spPr bwMode="auto">
              <a:xfrm>
                <a:off x="747"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46" name="Line 878"/>
              <p:cNvSpPr>
                <a:spLocks noChangeShapeType="1"/>
              </p:cNvSpPr>
              <p:nvPr/>
            </p:nvSpPr>
            <p:spPr bwMode="auto">
              <a:xfrm>
                <a:off x="1212"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47" name="Freeform 879"/>
              <p:cNvSpPr>
                <a:spLocks/>
              </p:cNvSpPr>
              <p:nvPr/>
            </p:nvSpPr>
            <p:spPr bwMode="auto">
              <a:xfrm>
                <a:off x="1442"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48" name="Freeform 880"/>
              <p:cNvSpPr>
                <a:spLocks/>
              </p:cNvSpPr>
              <p:nvPr/>
            </p:nvSpPr>
            <p:spPr bwMode="auto">
              <a:xfrm>
                <a:off x="1212"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49" name="Line 881"/>
              <p:cNvSpPr>
                <a:spLocks noChangeShapeType="1"/>
              </p:cNvSpPr>
              <p:nvPr/>
            </p:nvSpPr>
            <p:spPr bwMode="auto">
              <a:xfrm>
                <a:off x="1677"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9250" name="Line 882"/>
            <p:cNvSpPr>
              <a:spLocks noChangeShapeType="1"/>
            </p:cNvSpPr>
            <p:nvPr/>
          </p:nvSpPr>
          <p:spPr bwMode="auto">
            <a:xfrm flipH="1">
              <a:off x="3690938" y="2160588"/>
              <a:ext cx="3175" cy="3698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51" name="Line 883"/>
            <p:cNvSpPr>
              <a:spLocks noChangeShapeType="1"/>
            </p:cNvSpPr>
            <p:nvPr/>
          </p:nvSpPr>
          <p:spPr bwMode="auto">
            <a:xfrm>
              <a:off x="6927850" y="2160588"/>
              <a:ext cx="1587" cy="3603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 name="Group 3"/>
          <p:cNvGrpSpPr/>
          <p:nvPr/>
        </p:nvGrpSpPr>
        <p:grpSpPr>
          <a:xfrm>
            <a:off x="936280" y="4368456"/>
            <a:ext cx="7621587" cy="1041400"/>
            <a:chOff x="969963" y="4665663"/>
            <a:chExt cx="7621587" cy="1041400"/>
          </a:xfrm>
        </p:grpSpPr>
        <p:sp>
          <p:nvSpPr>
            <p:cNvPr id="59167" name="Rectangle 799"/>
            <p:cNvSpPr>
              <a:spLocks noChangeArrowheads="1"/>
            </p:cNvSpPr>
            <p:nvPr/>
          </p:nvSpPr>
          <p:spPr bwMode="auto">
            <a:xfrm>
              <a:off x="5499100" y="4921251"/>
              <a:ext cx="1873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68" name="Rectangle 800"/>
            <p:cNvSpPr>
              <a:spLocks noChangeArrowheads="1"/>
            </p:cNvSpPr>
            <p:nvPr/>
          </p:nvSpPr>
          <p:spPr bwMode="auto">
            <a:xfrm>
              <a:off x="5510213" y="4941888"/>
              <a:ext cx="146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600">
                  <a:solidFill>
                    <a:schemeClr val="tx2"/>
                  </a:solidFill>
                  <a:latin typeface="Futura Md BT" pitchFamily="34" charset="0"/>
                </a:rPr>
                <a:t>R</a:t>
              </a:r>
              <a:endParaRPr lang="en-GB" altLang="en-US" sz="1600" b="1" baseline="-25000">
                <a:solidFill>
                  <a:schemeClr val="tx2"/>
                </a:solidFill>
                <a:latin typeface="Futura Md BT" pitchFamily="34" charset="0"/>
              </a:endParaRPr>
            </a:p>
          </p:txBody>
        </p:sp>
        <p:sp>
          <p:nvSpPr>
            <p:cNvPr id="59169" name="Rectangle 801"/>
            <p:cNvSpPr>
              <a:spLocks noChangeArrowheads="1"/>
            </p:cNvSpPr>
            <p:nvPr/>
          </p:nvSpPr>
          <p:spPr bwMode="auto">
            <a:xfrm>
              <a:off x="3860800" y="4854576"/>
              <a:ext cx="185737"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Lst>
          </p:spPr>
          <p:txBody>
            <a:bodyPr/>
            <a:lstStyle/>
            <a:p>
              <a:endParaRPr lang="en-US"/>
            </a:p>
          </p:txBody>
        </p:sp>
        <p:sp>
          <p:nvSpPr>
            <p:cNvPr id="59170" name="Rectangle 802"/>
            <p:cNvSpPr>
              <a:spLocks noChangeArrowheads="1"/>
            </p:cNvSpPr>
            <p:nvPr/>
          </p:nvSpPr>
          <p:spPr bwMode="auto">
            <a:xfrm>
              <a:off x="3876675" y="4875213"/>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600">
                  <a:solidFill>
                    <a:schemeClr val="tx2"/>
                  </a:solidFill>
                  <a:latin typeface="Futura Md BT" pitchFamily="34" charset="0"/>
                </a:rPr>
                <a:t>L</a:t>
              </a:r>
              <a:endParaRPr lang="en-GB" altLang="en-US" sz="1600" b="1" baseline="-25000">
                <a:solidFill>
                  <a:schemeClr val="tx2"/>
                </a:solidFill>
                <a:latin typeface="Futura Md BT" pitchFamily="34" charset="0"/>
              </a:endParaRPr>
            </a:p>
          </p:txBody>
        </p:sp>
        <p:sp>
          <p:nvSpPr>
            <p:cNvPr id="59171" name="Line 803"/>
            <p:cNvSpPr>
              <a:spLocks noChangeShapeType="1"/>
            </p:cNvSpPr>
            <p:nvPr/>
          </p:nvSpPr>
          <p:spPr bwMode="auto">
            <a:xfrm>
              <a:off x="4722813" y="4838701"/>
              <a:ext cx="3786187" cy="15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72" name="Rectangle 804"/>
            <p:cNvSpPr>
              <a:spLocks noChangeArrowheads="1"/>
            </p:cNvSpPr>
            <p:nvPr/>
          </p:nvSpPr>
          <p:spPr bwMode="auto">
            <a:xfrm>
              <a:off x="1912938" y="5624513"/>
              <a:ext cx="6678612" cy="82550"/>
            </a:xfrm>
            <a:prstGeom prst="rect">
              <a:avLst/>
            </a:prstGeom>
            <a:solidFill>
              <a:schemeClr val="tx2"/>
            </a:solidFill>
            <a:ln w="28575">
              <a:solidFill>
                <a:schemeClr val="tx2"/>
              </a:solidFill>
              <a:miter lim="800000"/>
              <a:headEnd/>
              <a:tailEnd/>
            </a:ln>
          </p:spPr>
          <p:txBody>
            <a:bodyPr/>
            <a:lstStyle/>
            <a:p>
              <a:endParaRPr lang="en-US"/>
            </a:p>
          </p:txBody>
        </p:sp>
        <p:sp>
          <p:nvSpPr>
            <p:cNvPr id="59173" name="Line 805"/>
            <p:cNvSpPr>
              <a:spLocks noChangeShapeType="1"/>
            </p:cNvSpPr>
            <p:nvPr/>
          </p:nvSpPr>
          <p:spPr bwMode="auto">
            <a:xfrm>
              <a:off x="1912938" y="4830763"/>
              <a:ext cx="1285875" cy="15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74" name="Rectangle 806"/>
            <p:cNvSpPr>
              <a:spLocks noChangeArrowheads="1"/>
            </p:cNvSpPr>
            <p:nvPr/>
          </p:nvSpPr>
          <p:spPr bwMode="auto">
            <a:xfrm>
              <a:off x="5330825" y="4767263"/>
              <a:ext cx="488950" cy="153988"/>
            </a:xfrm>
            <a:prstGeom prst="rect">
              <a:avLst/>
            </a:prstGeom>
            <a:solidFill>
              <a:srgbClr val="FFFFFF"/>
            </a:solidFill>
            <a:ln w="28575">
              <a:solidFill>
                <a:schemeClr val="tx2"/>
              </a:solidFill>
              <a:miter lim="800000"/>
              <a:headEnd/>
              <a:tailEnd/>
            </a:ln>
          </p:spPr>
          <p:txBody>
            <a:bodyPr/>
            <a:lstStyle/>
            <a:p>
              <a:endParaRPr lang="en-US"/>
            </a:p>
          </p:txBody>
        </p:sp>
        <p:grpSp>
          <p:nvGrpSpPr>
            <p:cNvPr id="59175" name="Group 807"/>
            <p:cNvGrpSpPr>
              <a:grpSpLocks/>
            </p:cNvGrpSpPr>
            <p:nvPr/>
          </p:nvGrpSpPr>
          <p:grpSpPr bwMode="auto">
            <a:xfrm>
              <a:off x="969963" y="4902201"/>
              <a:ext cx="498475" cy="623888"/>
              <a:chOff x="999" y="3088"/>
              <a:chExt cx="269" cy="336"/>
            </a:xfrm>
          </p:grpSpPr>
          <p:sp>
            <p:nvSpPr>
              <p:cNvPr id="59176" name="Freeform 808"/>
              <p:cNvSpPr>
                <a:spLocks/>
              </p:cNvSpPr>
              <p:nvPr/>
            </p:nvSpPr>
            <p:spPr bwMode="auto">
              <a:xfrm>
                <a:off x="1001" y="3088"/>
                <a:ext cx="263" cy="162"/>
              </a:xfrm>
              <a:custGeom>
                <a:avLst/>
                <a:gdLst>
                  <a:gd name="T0" fmla="*/ 0 w 526"/>
                  <a:gd name="T1" fmla="*/ 324 h 324"/>
                  <a:gd name="T2" fmla="*/ 54 w 526"/>
                  <a:gd name="T3" fmla="*/ 322 h 324"/>
                  <a:gd name="T4" fmla="*/ 108 w 526"/>
                  <a:gd name="T5" fmla="*/ 317 h 324"/>
                  <a:gd name="T6" fmla="*/ 157 w 526"/>
                  <a:gd name="T7" fmla="*/ 310 h 324"/>
                  <a:gd name="T8" fmla="*/ 205 w 526"/>
                  <a:gd name="T9" fmla="*/ 299 h 324"/>
                  <a:gd name="T10" fmla="*/ 252 w 526"/>
                  <a:gd name="T11" fmla="*/ 284 h 324"/>
                  <a:gd name="T12" fmla="*/ 294 w 526"/>
                  <a:gd name="T13" fmla="*/ 268 h 324"/>
                  <a:gd name="T14" fmla="*/ 336 w 526"/>
                  <a:gd name="T15" fmla="*/ 250 h 324"/>
                  <a:gd name="T16" fmla="*/ 373 w 526"/>
                  <a:gd name="T17" fmla="*/ 229 h 324"/>
                  <a:gd name="T18" fmla="*/ 407 w 526"/>
                  <a:gd name="T19" fmla="*/ 205 h 324"/>
                  <a:gd name="T20" fmla="*/ 437 w 526"/>
                  <a:gd name="T21" fmla="*/ 180 h 324"/>
                  <a:gd name="T22" fmla="*/ 463 w 526"/>
                  <a:gd name="T23" fmla="*/ 155 h 324"/>
                  <a:gd name="T24" fmla="*/ 484 w 526"/>
                  <a:gd name="T25" fmla="*/ 126 h 324"/>
                  <a:gd name="T26" fmla="*/ 502 w 526"/>
                  <a:gd name="T27" fmla="*/ 96 h 324"/>
                  <a:gd name="T28" fmla="*/ 516 w 526"/>
                  <a:gd name="T29" fmla="*/ 65 h 324"/>
                  <a:gd name="T30" fmla="*/ 524 w 526"/>
                  <a:gd name="T31" fmla="*/ 33 h 324"/>
                  <a:gd name="T32" fmla="*/ 526 w 526"/>
                  <a:gd name="T33" fmla="*/ 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6" h="324">
                    <a:moveTo>
                      <a:pt x="0" y="324"/>
                    </a:moveTo>
                    <a:lnTo>
                      <a:pt x="54" y="322"/>
                    </a:lnTo>
                    <a:lnTo>
                      <a:pt x="108" y="317"/>
                    </a:lnTo>
                    <a:lnTo>
                      <a:pt x="157" y="310"/>
                    </a:lnTo>
                    <a:lnTo>
                      <a:pt x="205" y="299"/>
                    </a:lnTo>
                    <a:lnTo>
                      <a:pt x="252" y="284"/>
                    </a:lnTo>
                    <a:lnTo>
                      <a:pt x="294" y="268"/>
                    </a:lnTo>
                    <a:lnTo>
                      <a:pt x="336" y="250"/>
                    </a:lnTo>
                    <a:lnTo>
                      <a:pt x="373" y="229"/>
                    </a:lnTo>
                    <a:lnTo>
                      <a:pt x="407" y="205"/>
                    </a:lnTo>
                    <a:lnTo>
                      <a:pt x="437" y="180"/>
                    </a:lnTo>
                    <a:lnTo>
                      <a:pt x="463" y="155"/>
                    </a:lnTo>
                    <a:lnTo>
                      <a:pt x="484" y="126"/>
                    </a:lnTo>
                    <a:lnTo>
                      <a:pt x="502" y="96"/>
                    </a:lnTo>
                    <a:lnTo>
                      <a:pt x="516" y="65"/>
                    </a:lnTo>
                    <a:lnTo>
                      <a:pt x="524" y="33"/>
                    </a:lnTo>
                    <a:lnTo>
                      <a:pt x="526"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77" name="Freeform 809"/>
              <p:cNvSpPr>
                <a:spLocks/>
              </p:cNvSpPr>
              <p:nvPr/>
            </p:nvSpPr>
            <p:spPr bwMode="auto">
              <a:xfrm>
                <a:off x="999" y="3253"/>
                <a:ext cx="263" cy="162"/>
              </a:xfrm>
              <a:custGeom>
                <a:avLst/>
                <a:gdLst>
                  <a:gd name="T0" fmla="*/ 0 w 526"/>
                  <a:gd name="T1" fmla="*/ 0 h 324"/>
                  <a:gd name="T2" fmla="*/ 54 w 526"/>
                  <a:gd name="T3" fmla="*/ 2 h 324"/>
                  <a:gd name="T4" fmla="*/ 106 w 526"/>
                  <a:gd name="T5" fmla="*/ 7 h 324"/>
                  <a:gd name="T6" fmla="*/ 157 w 526"/>
                  <a:gd name="T7" fmla="*/ 15 h 324"/>
                  <a:gd name="T8" fmla="*/ 205 w 526"/>
                  <a:gd name="T9" fmla="*/ 25 h 324"/>
                  <a:gd name="T10" fmla="*/ 250 w 526"/>
                  <a:gd name="T11" fmla="*/ 40 h 324"/>
                  <a:gd name="T12" fmla="*/ 294 w 526"/>
                  <a:gd name="T13" fmla="*/ 56 h 324"/>
                  <a:gd name="T14" fmla="*/ 334 w 526"/>
                  <a:gd name="T15" fmla="*/ 74 h 324"/>
                  <a:gd name="T16" fmla="*/ 371 w 526"/>
                  <a:gd name="T17" fmla="*/ 96 h 324"/>
                  <a:gd name="T18" fmla="*/ 405 w 526"/>
                  <a:gd name="T19" fmla="*/ 117 h 324"/>
                  <a:gd name="T20" fmla="*/ 437 w 526"/>
                  <a:gd name="T21" fmla="*/ 142 h 324"/>
                  <a:gd name="T22" fmla="*/ 463 w 526"/>
                  <a:gd name="T23" fmla="*/ 169 h 324"/>
                  <a:gd name="T24" fmla="*/ 484 w 526"/>
                  <a:gd name="T25" fmla="*/ 198 h 324"/>
                  <a:gd name="T26" fmla="*/ 502 w 526"/>
                  <a:gd name="T27" fmla="*/ 227 h 324"/>
                  <a:gd name="T28" fmla="*/ 516 w 526"/>
                  <a:gd name="T29" fmla="*/ 259 h 324"/>
                  <a:gd name="T30" fmla="*/ 524 w 526"/>
                  <a:gd name="T31" fmla="*/ 292 h 324"/>
                  <a:gd name="T32" fmla="*/ 526 w 526"/>
                  <a:gd name="T33" fmla="*/ 32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6" h="324">
                    <a:moveTo>
                      <a:pt x="0" y="0"/>
                    </a:moveTo>
                    <a:lnTo>
                      <a:pt x="54" y="2"/>
                    </a:lnTo>
                    <a:lnTo>
                      <a:pt x="106" y="7"/>
                    </a:lnTo>
                    <a:lnTo>
                      <a:pt x="157" y="15"/>
                    </a:lnTo>
                    <a:lnTo>
                      <a:pt x="205" y="25"/>
                    </a:lnTo>
                    <a:lnTo>
                      <a:pt x="250" y="40"/>
                    </a:lnTo>
                    <a:lnTo>
                      <a:pt x="294" y="56"/>
                    </a:lnTo>
                    <a:lnTo>
                      <a:pt x="334" y="74"/>
                    </a:lnTo>
                    <a:lnTo>
                      <a:pt x="371" y="96"/>
                    </a:lnTo>
                    <a:lnTo>
                      <a:pt x="405" y="117"/>
                    </a:lnTo>
                    <a:lnTo>
                      <a:pt x="437" y="142"/>
                    </a:lnTo>
                    <a:lnTo>
                      <a:pt x="463" y="169"/>
                    </a:lnTo>
                    <a:lnTo>
                      <a:pt x="484" y="198"/>
                    </a:lnTo>
                    <a:lnTo>
                      <a:pt x="502" y="227"/>
                    </a:lnTo>
                    <a:lnTo>
                      <a:pt x="516" y="259"/>
                    </a:lnTo>
                    <a:lnTo>
                      <a:pt x="524" y="292"/>
                    </a:lnTo>
                    <a:lnTo>
                      <a:pt x="526" y="324"/>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9178" name="Group 810"/>
              <p:cNvGrpSpPr>
                <a:grpSpLocks/>
              </p:cNvGrpSpPr>
              <p:nvPr/>
            </p:nvGrpSpPr>
            <p:grpSpPr bwMode="auto">
              <a:xfrm>
                <a:off x="1223" y="3172"/>
                <a:ext cx="45" cy="160"/>
                <a:chOff x="1223" y="3172"/>
                <a:chExt cx="45" cy="160"/>
              </a:xfrm>
            </p:grpSpPr>
            <p:sp>
              <p:nvSpPr>
                <p:cNvPr id="59179" name="Freeform 811"/>
                <p:cNvSpPr>
                  <a:spLocks/>
                </p:cNvSpPr>
                <p:nvPr/>
              </p:nvSpPr>
              <p:spPr bwMode="auto">
                <a:xfrm>
                  <a:off x="1223" y="3172"/>
                  <a:ext cx="45" cy="82"/>
                </a:xfrm>
                <a:custGeom>
                  <a:avLst/>
                  <a:gdLst>
                    <a:gd name="T0" fmla="*/ 0 w 91"/>
                    <a:gd name="T1" fmla="*/ 0 h 164"/>
                    <a:gd name="T2" fmla="*/ 18 w 91"/>
                    <a:gd name="T3" fmla="*/ 4 h 164"/>
                    <a:gd name="T4" fmla="*/ 35 w 91"/>
                    <a:gd name="T5" fmla="*/ 13 h 164"/>
                    <a:gd name="T6" fmla="*/ 51 w 91"/>
                    <a:gd name="T7" fmla="*/ 29 h 164"/>
                    <a:gd name="T8" fmla="*/ 63 w 91"/>
                    <a:gd name="T9" fmla="*/ 49 h 164"/>
                    <a:gd name="T10" fmla="*/ 75 w 91"/>
                    <a:gd name="T11" fmla="*/ 72 h 164"/>
                    <a:gd name="T12" fmla="*/ 83 w 91"/>
                    <a:gd name="T13" fmla="*/ 101 h 164"/>
                    <a:gd name="T14" fmla="*/ 89 w 91"/>
                    <a:gd name="T15" fmla="*/ 132 h 164"/>
                    <a:gd name="T16" fmla="*/ 91 w 91"/>
                    <a:gd name="T17"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164">
                      <a:moveTo>
                        <a:pt x="0" y="0"/>
                      </a:moveTo>
                      <a:lnTo>
                        <a:pt x="18" y="4"/>
                      </a:lnTo>
                      <a:lnTo>
                        <a:pt x="35" y="13"/>
                      </a:lnTo>
                      <a:lnTo>
                        <a:pt x="51" y="29"/>
                      </a:lnTo>
                      <a:lnTo>
                        <a:pt x="63" y="49"/>
                      </a:lnTo>
                      <a:lnTo>
                        <a:pt x="75" y="72"/>
                      </a:lnTo>
                      <a:lnTo>
                        <a:pt x="83" y="101"/>
                      </a:lnTo>
                      <a:lnTo>
                        <a:pt x="89" y="132"/>
                      </a:lnTo>
                      <a:lnTo>
                        <a:pt x="91" y="164"/>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80" name="Freeform 812"/>
                <p:cNvSpPr>
                  <a:spLocks/>
                </p:cNvSpPr>
                <p:nvPr/>
              </p:nvSpPr>
              <p:spPr bwMode="auto">
                <a:xfrm>
                  <a:off x="1223" y="3250"/>
                  <a:ext cx="45" cy="82"/>
                </a:xfrm>
                <a:custGeom>
                  <a:avLst/>
                  <a:gdLst>
                    <a:gd name="T0" fmla="*/ 0 w 91"/>
                    <a:gd name="T1" fmla="*/ 164 h 164"/>
                    <a:gd name="T2" fmla="*/ 18 w 91"/>
                    <a:gd name="T3" fmla="*/ 160 h 164"/>
                    <a:gd name="T4" fmla="*/ 35 w 91"/>
                    <a:gd name="T5" fmla="*/ 151 h 164"/>
                    <a:gd name="T6" fmla="*/ 51 w 91"/>
                    <a:gd name="T7" fmla="*/ 135 h 164"/>
                    <a:gd name="T8" fmla="*/ 63 w 91"/>
                    <a:gd name="T9" fmla="*/ 115 h 164"/>
                    <a:gd name="T10" fmla="*/ 75 w 91"/>
                    <a:gd name="T11" fmla="*/ 92 h 164"/>
                    <a:gd name="T12" fmla="*/ 83 w 91"/>
                    <a:gd name="T13" fmla="*/ 63 h 164"/>
                    <a:gd name="T14" fmla="*/ 89 w 91"/>
                    <a:gd name="T15" fmla="*/ 32 h 164"/>
                    <a:gd name="T16" fmla="*/ 91 w 91"/>
                    <a:gd name="T17"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164">
                      <a:moveTo>
                        <a:pt x="0" y="164"/>
                      </a:moveTo>
                      <a:lnTo>
                        <a:pt x="18" y="160"/>
                      </a:lnTo>
                      <a:lnTo>
                        <a:pt x="35" y="151"/>
                      </a:lnTo>
                      <a:lnTo>
                        <a:pt x="51" y="135"/>
                      </a:lnTo>
                      <a:lnTo>
                        <a:pt x="63" y="115"/>
                      </a:lnTo>
                      <a:lnTo>
                        <a:pt x="75" y="92"/>
                      </a:lnTo>
                      <a:lnTo>
                        <a:pt x="83" y="63"/>
                      </a:lnTo>
                      <a:lnTo>
                        <a:pt x="89" y="32"/>
                      </a:lnTo>
                      <a:lnTo>
                        <a:pt x="91"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181" name="Freeform 813"/>
              <p:cNvSpPr>
                <a:spLocks/>
              </p:cNvSpPr>
              <p:nvPr/>
            </p:nvSpPr>
            <p:spPr bwMode="auto">
              <a:xfrm>
                <a:off x="1226" y="3092"/>
                <a:ext cx="18" cy="62"/>
              </a:xfrm>
              <a:custGeom>
                <a:avLst/>
                <a:gdLst>
                  <a:gd name="T0" fmla="*/ 0 w 35"/>
                  <a:gd name="T1" fmla="*/ 124 h 124"/>
                  <a:gd name="T2" fmla="*/ 8 w 35"/>
                  <a:gd name="T3" fmla="*/ 123 h 124"/>
                  <a:gd name="T4" fmla="*/ 14 w 35"/>
                  <a:gd name="T5" fmla="*/ 115 h 124"/>
                  <a:gd name="T6" fmla="*/ 20 w 35"/>
                  <a:gd name="T7" fmla="*/ 103 h 124"/>
                  <a:gd name="T8" fmla="*/ 25 w 35"/>
                  <a:gd name="T9" fmla="*/ 88 h 124"/>
                  <a:gd name="T10" fmla="*/ 29 w 35"/>
                  <a:gd name="T11" fmla="*/ 70 h 124"/>
                  <a:gd name="T12" fmla="*/ 33 w 35"/>
                  <a:gd name="T13" fmla="*/ 49 h 124"/>
                  <a:gd name="T14" fmla="*/ 35 w 35"/>
                  <a:gd name="T15" fmla="*/ 25 h 124"/>
                  <a:gd name="T16" fmla="*/ 35 w 35"/>
                  <a:gd name="T17"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124">
                    <a:moveTo>
                      <a:pt x="0" y="124"/>
                    </a:moveTo>
                    <a:lnTo>
                      <a:pt x="8" y="123"/>
                    </a:lnTo>
                    <a:lnTo>
                      <a:pt x="14" y="115"/>
                    </a:lnTo>
                    <a:lnTo>
                      <a:pt x="20" y="103"/>
                    </a:lnTo>
                    <a:lnTo>
                      <a:pt x="25" y="88"/>
                    </a:lnTo>
                    <a:lnTo>
                      <a:pt x="29" y="70"/>
                    </a:lnTo>
                    <a:lnTo>
                      <a:pt x="33" y="49"/>
                    </a:lnTo>
                    <a:lnTo>
                      <a:pt x="35" y="25"/>
                    </a:lnTo>
                    <a:lnTo>
                      <a:pt x="35"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82" name="Freeform 814"/>
              <p:cNvSpPr>
                <a:spLocks/>
              </p:cNvSpPr>
              <p:nvPr/>
            </p:nvSpPr>
            <p:spPr bwMode="auto">
              <a:xfrm>
                <a:off x="1219" y="3096"/>
                <a:ext cx="5" cy="58"/>
              </a:xfrm>
              <a:custGeom>
                <a:avLst/>
                <a:gdLst>
                  <a:gd name="T0" fmla="*/ 0 w 10"/>
                  <a:gd name="T1" fmla="*/ 117 h 117"/>
                  <a:gd name="T2" fmla="*/ 2 w 10"/>
                  <a:gd name="T3" fmla="*/ 116 h 117"/>
                  <a:gd name="T4" fmla="*/ 4 w 10"/>
                  <a:gd name="T5" fmla="*/ 108 h 117"/>
                  <a:gd name="T6" fmla="*/ 6 w 10"/>
                  <a:gd name="T7" fmla="*/ 98 h 117"/>
                  <a:gd name="T8" fmla="*/ 8 w 10"/>
                  <a:gd name="T9" fmla="*/ 83 h 117"/>
                  <a:gd name="T10" fmla="*/ 8 w 10"/>
                  <a:gd name="T11" fmla="*/ 65 h 117"/>
                  <a:gd name="T12" fmla="*/ 10 w 10"/>
                  <a:gd name="T13" fmla="*/ 45 h 117"/>
                  <a:gd name="T14" fmla="*/ 10 w 10"/>
                  <a:gd name="T15" fmla="*/ 24 h 117"/>
                  <a:gd name="T16" fmla="*/ 10 w 10"/>
                  <a:gd name="T17"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117">
                    <a:moveTo>
                      <a:pt x="0" y="117"/>
                    </a:moveTo>
                    <a:lnTo>
                      <a:pt x="2" y="116"/>
                    </a:lnTo>
                    <a:lnTo>
                      <a:pt x="4" y="108"/>
                    </a:lnTo>
                    <a:lnTo>
                      <a:pt x="6" y="98"/>
                    </a:lnTo>
                    <a:lnTo>
                      <a:pt x="8" y="83"/>
                    </a:lnTo>
                    <a:lnTo>
                      <a:pt x="8" y="65"/>
                    </a:lnTo>
                    <a:lnTo>
                      <a:pt x="10" y="45"/>
                    </a:lnTo>
                    <a:lnTo>
                      <a:pt x="10" y="24"/>
                    </a:lnTo>
                    <a:lnTo>
                      <a:pt x="1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83" name="Freeform 815"/>
              <p:cNvSpPr>
                <a:spLocks/>
              </p:cNvSpPr>
              <p:nvPr/>
            </p:nvSpPr>
            <p:spPr bwMode="auto">
              <a:xfrm>
                <a:off x="1237" y="3364"/>
                <a:ext cx="9" cy="60"/>
              </a:xfrm>
              <a:custGeom>
                <a:avLst/>
                <a:gdLst>
                  <a:gd name="T0" fmla="*/ 0 w 18"/>
                  <a:gd name="T1" fmla="*/ 0 h 120"/>
                  <a:gd name="T2" fmla="*/ 4 w 18"/>
                  <a:gd name="T3" fmla="*/ 1 h 120"/>
                  <a:gd name="T4" fmla="*/ 8 w 18"/>
                  <a:gd name="T5" fmla="*/ 9 h 120"/>
                  <a:gd name="T6" fmla="*/ 10 w 18"/>
                  <a:gd name="T7" fmla="*/ 19 h 120"/>
                  <a:gd name="T8" fmla="*/ 12 w 18"/>
                  <a:gd name="T9" fmla="*/ 36 h 120"/>
                  <a:gd name="T10" fmla="*/ 16 w 18"/>
                  <a:gd name="T11" fmla="*/ 54 h 120"/>
                  <a:gd name="T12" fmla="*/ 16 w 18"/>
                  <a:gd name="T13" fmla="*/ 73 h 120"/>
                  <a:gd name="T14" fmla="*/ 18 w 18"/>
                  <a:gd name="T15" fmla="*/ 97 h 120"/>
                  <a:gd name="T16" fmla="*/ 18 w 18"/>
                  <a:gd name="T17"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20">
                    <a:moveTo>
                      <a:pt x="0" y="0"/>
                    </a:moveTo>
                    <a:lnTo>
                      <a:pt x="4" y="1"/>
                    </a:lnTo>
                    <a:lnTo>
                      <a:pt x="8" y="9"/>
                    </a:lnTo>
                    <a:lnTo>
                      <a:pt x="10" y="19"/>
                    </a:lnTo>
                    <a:lnTo>
                      <a:pt x="12" y="36"/>
                    </a:lnTo>
                    <a:lnTo>
                      <a:pt x="16" y="54"/>
                    </a:lnTo>
                    <a:lnTo>
                      <a:pt x="16" y="73"/>
                    </a:lnTo>
                    <a:lnTo>
                      <a:pt x="18" y="97"/>
                    </a:lnTo>
                    <a:lnTo>
                      <a:pt x="18" y="12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84" name="Freeform 816"/>
              <p:cNvSpPr>
                <a:spLocks/>
              </p:cNvSpPr>
              <p:nvPr/>
            </p:nvSpPr>
            <p:spPr bwMode="auto">
              <a:xfrm>
                <a:off x="1221" y="3370"/>
                <a:ext cx="9" cy="54"/>
              </a:xfrm>
              <a:custGeom>
                <a:avLst/>
                <a:gdLst>
                  <a:gd name="T0" fmla="*/ 0 w 18"/>
                  <a:gd name="T1" fmla="*/ 108 h 108"/>
                  <a:gd name="T2" fmla="*/ 4 w 18"/>
                  <a:gd name="T3" fmla="*/ 106 h 108"/>
                  <a:gd name="T4" fmla="*/ 8 w 18"/>
                  <a:gd name="T5" fmla="*/ 99 h 108"/>
                  <a:gd name="T6" fmla="*/ 10 w 18"/>
                  <a:gd name="T7" fmla="*/ 90 h 108"/>
                  <a:gd name="T8" fmla="*/ 12 w 18"/>
                  <a:gd name="T9" fmla="*/ 76 h 108"/>
                  <a:gd name="T10" fmla="*/ 16 w 18"/>
                  <a:gd name="T11" fmla="*/ 61 h 108"/>
                  <a:gd name="T12" fmla="*/ 16 w 18"/>
                  <a:gd name="T13" fmla="*/ 42 h 108"/>
                  <a:gd name="T14" fmla="*/ 18 w 18"/>
                  <a:gd name="T15" fmla="*/ 22 h 108"/>
                  <a:gd name="T16" fmla="*/ 18 w 18"/>
                  <a:gd name="T17"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08">
                    <a:moveTo>
                      <a:pt x="0" y="108"/>
                    </a:moveTo>
                    <a:lnTo>
                      <a:pt x="4" y="106"/>
                    </a:lnTo>
                    <a:lnTo>
                      <a:pt x="8" y="99"/>
                    </a:lnTo>
                    <a:lnTo>
                      <a:pt x="10" y="90"/>
                    </a:lnTo>
                    <a:lnTo>
                      <a:pt x="12" y="76"/>
                    </a:lnTo>
                    <a:lnTo>
                      <a:pt x="16" y="61"/>
                    </a:lnTo>
                    <a:lnTo>
                      <a:pt x="16" y="42"/>
                    </a:lnTo>
                    <a:lnTo>
                      <a:pt x="18" y="22"/>
                    </a:lnTo>
                    <a:lnTo>
                      <a:pt x="18"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9185" name="Group 817"/>
              <p:cNvGrpSpPr>
                <a:grpSpLocks/>
              </p:cNvGrpSpPr>
              <p:nvPr/>
            </p:nvGrpSpPr>
            <p:grpSpPr bwMode="auto">
              <a:xfrm>
                <a:off x="1210" y="3208"/>
                <a:ext cx="49" cy="86"/>
                <a:chOff x="1210" y="3208"/>
                <a:chExt cx="49" cy="86"/>
              </a:xfrm>
            </p:grpSpPr>
            <p:sp>
              <p:nvSpPr>
                <p:cNvPr id="59186" name="Freeform 818"/>
                <p:cNvSpPr>
                  <a:spLocks/>
                </p:cNvSpPr>
                <p:nvPr/>
              </p:nvSpPr>
              <p:spPr bwMode="auto">
                <a:xfrm>
                  <a:off x="1210" y="3250"/>
                  <a:ext cx="49" cy="44"/>
                </a:xfrm>
                <a:custGeom>
                  <a:avLst/>
                  <a:gdLst>
                    <a:gd name="T0" fmla="*/ 97 w 97"/>
                    <a:gd name="T1" fmla="*/ 86 h 86"/>
                    <a:gd name="T2" fmla="*/ 77 w 97"/>
                    <a:gd name="T3" fmla="*/ 84 h 86"/>
                    <a:gd name="T4" fmla="*/ 59 w 97"/>
                    <a:gd name="T5" fmla="*/ 79 h 86"/>
                    <a:gd name="T6" fmla="*/ 44 w 97"/>
                    <a:gd name="T7" fmla="*/ 72 h 86"/>
                    <a:gd name="T8" fmla="*/ 28 w 97"/>
                    <a:gd name="T9" fmla="*/ 61 h 86"/>
                    <a:gd name="T10" fmla="*/ 16 w 97"/>
                    <a:gd name="T11" fmla="*/ 48 h 86"/>
                    <a:gd name="T12" fmla="*/ 8 w 97"/>
                    <a:gd name="T13" fmla="*/ 34 h 86"/>
                    <a:gd name="T14" fmla="*/ 2 w 97"/>
                    <a:gd name="T15" fmla="*/ 18 h 86"/>
                    <a:gd name="T16" fmla="*/ 0 w 97"/>
                    <a:gd name="T17"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86">
                      <a:moveTo>
                        <a:pt x="97" y="86"/>
                      </a:moveTo>
                      <a:lnTo>
                        <a:pt x="77" y="84"/>
                      </a:lnTo>
                      <a:lnTo>
                        <a:pt x="59" y="79"/>
                      </a:lnTo>
                      <a:lnTo>
                        <a:pt x="44" y="72"/>
                      </a:lnTo>
                      <a:lnTo>
                        <a:pt x="28" y="61"/>
                      </a:lnTo>
                      <a:lnTo>
                        <a:pt x="16" y="48"/>
                      </a:lnTo>
                      <a:lnTo>
                        <a:pt x="8" y="34"/>
                      </a:lnTo>
                      <a:lnTo>
                        <a:pt x="2" y="18"/>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87" name="Freeform 819"/>
                <p:cNvSpPr>
                  <a:spLocks/>
                </p:cNvSpPr>
                <p:nvPr/>
              </p:nvSpPr>
              <p:spPr bwMode="auto">
                <a:xfrm>
                  <a:off x="1211" y="3208"/>
                  <a:ext cx="48" cy="43"/>
                </a:xfrm>
                <a:custGeom>
                  <a:avLst/>
                  <a:gdLst>
                    <a:gd name="T0" fmla="*/ 95 w 95"/>
                    <a:gd name="T1" fmla="*/ 0 h 87"/>
                    <a:gd name="T2" fmla="*/ 75 w 95"/>
                    <a:gd name="T3" fmla="*/ 2 h 87"/>
                    <a:gd name="T4" fmla="*/ 57 w 95"/>
                    <a:gd name="T5" fmla="*/ 7 h 87"/>
                    <a:gd name="T6" fmla="*/ 42 w 95"/>
                    <a:gd name="T7" fmla="*/ 15 h 87"/>
                    <a:gd name="T8" fmla="*/ 28 w 95"/>
                    <a:gd name="T9" fmla="*/ 25 h 87"/>
                    <a:gd name="T10" fmla="*/ 16 w 95"/>
                    <a:gd name="T11" fmla="*/ 38 h 87"/>
                    <a:gd name="T12" fmla="*/ 8 w 95"/>
                    <a:gd name="T13" fmla="*/ 54 h 87"/>
                    <a:gd name="T14" fmla="*/ 2 w 95"/>
                    <a:gd name="T15" fmla="*/ 70 h 87"/>
                    <a:gd name="T16" fmla="*/ 0 w 95"/>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87">
                      <a:moveTo>
                        <a:pt x="95" y="0"/>
                      </a:moveTo>
                      <a:lnTo>
                        <a:pt x="75" y="2"/>
                      </a:lnTo>
                      <a:lnTo>
                        <a:pt x="57" y="7"/>
                      </a:lnTo>
                      <a:lnTo>
                        <a:pt x="42" y="15"/>
                      </a:lnTo>
                      <a:lnTo>
                        <a:pt x="28" y="25"/>
                      </a:lnTo>
                      <a:lnTo>
                        <a:pt x="16" y="38"/>
                      </a:lnTo>
                      <a:lnTo>
                        <a:pt x="8" y="54"/>
                      </a:lnTo>
                      <a:lnTo>
                        <a:pt x="2" y="70"/>
                      </a:lnTo>
                      <a:lnTo>
                        <a:pt x="0" y="8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9188" name="Group 820"/>
              <p:cNvGrpSpPr>
                <a:grpSpLocks/>
              </p:cNvGrpSpPr>
              <p:nvPr/>
            </p:nvGrpSpPr>
            <p:grpSpPr bwMode="auto">
              <a:xfrm>
                <a:off x="1246" y="3235"/>
                <a:ext cx="18" cy="32"/>
                <a:chOff x="1246" y="3235"/>
                <a:chExt cx="18" cy="32"/>
              </a:xfrm>
            </p:grpSpPr>
            <p:grpSp>
              <p:nvGrpSpPr>
                <p:cNvPr id="59189" name="Group 821"/>
                <p:cNvGrpSpPr>
                  <a:grpSpLocks/>
                </p:cNvGrpSpPr>
                <p:nvPr/>
              </p:nvGrpSpPr>
              <p:grpSpPr bwMode="auto">
                <a:xfrm>
                  <a:off x="1246" y="3235"/>
                  <a:ext cx="18" cy="32"/>
                  <a:chOff x="1246" y="3235"/>
                  <a:chExt cx="18" cy="32"/>
                </a:xfrm>
              </p:grpSpPr>
              <p:sp>
                <p:nvSpPr>
                  <p:cNvPr id="59190" name="Freeform 822"/>
                  <p:cNvSpPr>
                    <a:spLocks/>
                  </p:cNvSpPr>
                  <p:nvPr/>
                </p:nvSpPr>
                <p:spPr bwMode="auto">
                  <a:xfrm>
                    <a:off x="1246" y="3235"/>
                    <a:ext cx="18" cy="15"/>
                  </a:xfrm>
                  <a:custGeom>
                    <a:avLst/>
                    <a:gdLst>
                      <a:gd name="T0" fmla="*/ 36 w 36"/>
                      <a:gd name="T1" fmla="*/ 0 h 31"/>
                      <a:gd name="T2" fmla="*/ 22 w 36"/>
                      <a:gd name="T3" fmla="*/ 2 h 31"/>
                      <a:gd name="T4" fmla="*/ 10 w 36"/>
                      <a:gd name="T5" fmla="*/ 9 h 31"/>
                      <a:gd name="T6" fmla="*/ 2 w 36"/>
                      <a:gd name="T7" fmla="*/ 20 h 31"/>
                      <a:gd name="T8" fmla="*/ 0 w 36"/>
                      <a:gd name="T9" fmla="*/ 31 h 31"/>
                    </a:gdLst>
                    <a:ahLst/>
                    <a:cxnLst>
                      <a:cxn ang="0">
                        <a:pos x="T0" y="T1"/>
                      </a:cxn>
                      <a:cxn ang="0">
                        <a:pos x="T2" y="T3"/>
                      </a:cxn>
                      <a:cxn ang="0">
                        <a:pos x="T4" y="T5"/>
                      </a:cxn>
                      <a:cxn ang="0">
                        <a:pos x="T6" y="T7"/>
                      </a:cxn>
                      <a:cxn ang="0">
                        <a:pos x="T8" y="T9"/>
                      </a:cxn>
                    </a:cxnLst>
                    <a:rect l="0" t="0" r="r" b="b"/>
                    <a:pathLst>
                      <a:path w="36" h="31">
                        <a:moveTo>
                          <a:pt x="36" y="0"/>
                        </a:moveTo>
                        <a:lnTo>
                          <a:pt x="22" y="2"/>
                        </a:lnTo>
                        <a:lnTo>
                          <a:pt x="10" y="9"/>
                        </a:lnTo>
                        <a:lnTo>
                          <a:pt x="2" y="20"/>
                        </a:lnTo>
                        <a:lnTo>
                          <a:pt x="0" y="31"/>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91" name="Freeform 823"/>
                  <p:cNvSpPr>
                    <a:spLocks/>
                  </p:cNvSpPr>
                  <p:nvPr/>
                </p:nvSpPr>
                <p:spPr bwMode="auto">
                  <a:xfrm>
                    <a:off x="1246" y="3250"/>
                    <a:ext cx="18" cy="17"/>
                  </a:xfrm>
                  <a:custGeom>
                    <a:avLst/>
                    <a:gdLst>
                      <a:gd name="T0" fmla="*/ 36 w 36"/>
                      <a:gd name="T1" fmla="*/ 32 h 32"/>
                      <a:gd name="T2" fmla="*/ 22 w 36"/>
                      <a:gd name="T3" fmla="*/ 30 h 32"/>
                      <a:gd name="T4" fmla="*/ 10 w 36"/>
                      <a:gd name="T5" fmla="*/ 23 h 32"/>
                      <a:gd name="T6" fmla="*/ 2 w 36"/>
                      <a:gd name="T7" fmla="*/ 12 h 32"/>
                      <a:gd name="T8" fmla="*/ 0 w 36"/>
                      <a:gd name="T9" fmla="*/ 0 h 32"/>
                    </a:gdLst>
                    <a:ahLst/>
                    <a:cxnLst>
                      <a:cxn ang="0">
                        <a:pos x="T0" y="T1"/>
                      </a:cxn>
                      <a:cxn ang="0">
                        <a:pos x="T2" y="T3"/>
                      </a:cxn>
                      <a:cxn ang="0">
                        <a:pos x="T4" y="T5"/>
                      </a:cxn>
                      <a:cxn ang="0">
                        <a:pos x="T6" y="T7"/>
                      </a:cxn>
                      <a:cxn ang="0">
                        <a:pos x="T8" y="T9"/>
                      </a:cxn>
                    </a:cxnLst>
                    <a:rect l="0" t="0" r="r" b="b"/>
                    <a:pathLst>
                      <a:path w="36" h="32">
                        <a:moveTo>
                          <a:pt x="36" y="32"/>
                        </a:moveTo>
                        <a:lnTo>
                          <a:pt x="22" y="30"/>
                        </a:lnTo>
                        <a:lnTo>
                          <a:pt x="10" y="23"/>
                        </a:lnTo>
                        <a:lnTo>
                          <a:pt x="2" y="12"/>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192" name="Freeform 824"/>
                <p:cNvSpPr>
                  <a:spLocks/>
                </p:cNvSpPr>
                <p:nvPr/>
              </p:nvSpPr>
              <p:spPr bwMode="auto">
                <a:xfrm>
                  <a:off x="1246" y="3235"/>
                  <a:ext cx="18" cy="32"/>
                </a:xfrm>
                <a:custGeom>
                  <a:avLst/>
                  <a:gdLst>
                    <a:gd name="T0" fmla="*/ 36 w 36"/>
                    <a:gd name="T1" fmla="*/ 63 h 63"/>
                    <a:gd name="T2" fmla="*/ 36 w 36"/>
                    <a:gd name="T3" fmla="*/ 0 h 63"/>
                    <a:gd name="T4" fmla="*/ 30 w 36"/>
                    <a:gd name="T5" fmla="*/ 0 h 63"/>
                    <a:gd name="T6" fmla="*/ 20 w 36"/>
                    <a:gd name="T7" fmla="*/ 2 h 63"/>
                    <a:gd name="T8" fmla="*/ 14 w 36"/>
                    <a:gd name="T9" fmla="*/ 6 h 63"/>
                    <a:gd name="T10" fmla="*/ 8 w 36"/>
                    <a:gd name="T11" fmla="*/ 11 h 63"/>
                    <a:gd name="T12" fmla="*/ 2 w 36"/>
                    <a:gd name="T13" fmla="*/ 18 h 63"/>
                    <a:gd name="T14" fmla="*/ 0 w 36"/>
                    <a:gd name="T15" fmla="*/ 25 h 63"/>
                    <a:gd name="T16" fmla="*/ 0 w 36"/>
                    <a:gd name="T17" fmla="*/ 33 h 63"/>
                    <a:gd name="T18" fmla="*/ 0 w 36"/>
                    <a:gd name="T19" fmla="*/ 33 h 63"/>
                    <a:gd name="T20" fmla="*/ 0 w 36"/>
                    <a:gd name="T21" fmla="*/ 38 h 63"/>
                    <a:gd name="T22" fmla="*/ 4 w 36"/>
                    <a:gd name="T23" fmla="*/ 45 h 63"/>
                    <a:gd name="T24" fmla="*/ 8 w 36"/>
                    <a:gd name="T25" fmla="*/ 51 h 63"/>
                    <a:gd name="T26" fmla="*/ 14 w 36"/>
                    <a:gd name="T27" fmla="*/ 56 h 63"/>
                    <a:gd name="T28" fmla="*/ 20 w 36"/>
                    <a:gd name="T29" fmla="*/ 60 h 63"/>
                    <a:gd name="T30" fmla="*/ 28 w 36"/>
                    <a:gd name="T31" fmla="*/ 63 h 63"/>
                    <a:gd name="T32" fmla="*/ 36 w 36"/>
                    <a:gd name="T33" fmla="*/ 6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63">
                      <a:moveTo>
                        <a:pt x="36" y="63"/>
                      </a:moveTo>
                      <a:lnTo>
                        <a:pt x="36" y="0"/>
                      </a:lnTo>
                      <a:lnTo>
                        <a:pt x="30" y="0"/>
                      </a:lnTo>
                      <a:lnTo>
                        <a:pt x="20" y="2"/>
                      </a:lnTo>
                      <a:lnTo>
                        <a:pt x="14" y="6"/>
                      </a:lnTo>
                      <a:lnTo>
                        <a:pt x="8" y="11"/>
                      </a:lnTo>
                      <a:lnTo>
                        <a:pt x="2" y="18"/>
                      </a:lnTo>
                      <a:lnTo>
                        <a:pt x="0" y="25"/>
                      </a:lnTo>
                      <a:lnTo>
                        <a:pt x="0" y="33"/>
                      </a:lnTo>
                      <a:lnTo>
                        <a:pt x="0" y="33"/>
                      </a:lnTo>
                      <a:lnTo>
                        <a:pt x="0" y="38"/>
                      </a:lnTo>
                      <a:lnTo>
                        <a:pt x="4" y="45"/>
                      </a:lnTo>
                      <a:lnTo>
                        <a:pt x="8" y="51"/>
                      </a:lnTo>
                      <a:lnTo>
                        <a:pt x="14" y="56"/>
                      </a:lnTo>
                      <a:lnTo>
                        <a:pt x="20" y="60"/>
                      </a:lnTo>
                      <a:lnTo>
                        <a:pt x="28" y="63"/>
                      </a:lnTo>
                      <a:lnTo>
                        <a:pt x="36" y="63"/>
                      </a:lnTo>
                      <a:close/>
                    </a:path>
                  </a:pathLst>
                </a:custGeom>
                <a:solidFill>
                  <a:srgbClr val="000000"/>
                </a:solidFill>
                <a:ln w="28575" cmpd="sng">
                  <a:solidFill>
                    <a:schemeClr val="tx2"/>
                  </a:solidFill>
                  <a:prstDash val="solid"/>
                  <a:round/>
                  <a:headEnd/>
                  <a:tailEnd/>
                </a:ln>
              </p:spPr>
              <p:txBody>
                <a:bodyPr/>
                <a:lstStyle/>
                <a:p>
                  <a:endParaRPr lang="en-US"/>
                </a:p>
              </p:txBody>
            </p:sp>
          </p:grpSp>
          <p:sp>
            <p:nvSpPr>
              <p:cNvPr id="59193" name="Line 825"/>
              <p:cNvSpPr>
                <a:spLocks noChangeShapeType="1"/>
              </p:cNvSpPr>
              <p:nvPr/>
            </p:nvSpPr>
            <p:spPr bwMode="auto">
              <a:xfrm flipH="1" flipV="1">
                <a:off x="1233" y="3225"/>
                <a:ext cx="13" cy="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94" name="Line 826"/>
              <p:cNvSpPr>
                <a:spLocks noChangeShapeType="1"/>
              </p:cNvSpPr>
              <p:nvPr/>
            </p:nvSpPr>
            <p:spPr bwMode="auto">
              <a:xfrm flipH="1">
                <a:off x="1221" y="3241"/>
                <a:ext cx="20"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95" name="Line 827"/>
              <p:cNvSpPr>
                <a:spLocks noChangeShapeType="1"/>
              </p:cNvSpPr>
              <p:nvPr/>
            </p:nvSpPr>
            <p:spPr bwMode="auto">
              <a:xfrm flipH="1">
                <a:off x="1221" y="3257"/>
                <a:ext cx="16"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96" name="Line 828"/>
              <p:cNvSpPr>
                <a:spLocks noChangeShapeType="1"/>
              </p:cNvSpPr>
              <p:nvPr/>
            </p:nvSpPr>
            <p:spPr bwMode="auto">
              <a:xfrm flipH="1">
                <a:off x="1235" y="3268"/>
                <a:ext cx="11" cy="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97" name="Line 829"/>
              <p:cNvSpPr>
                <a:spLocks noChangeShapeType="1"/>
              </p:cNvSpPr>
              <p:nvPr/>
            </p:nvSpPr>
            <p:spPr bwMode="auto">
              <a:xfrm flipH="1">
                <a:off x="1253" y="3276"/>
                <a:ext cx="4" cy="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198" name="Line 830"/>
              <p:cNvSpPr>
                <a:spLocks noChangeShapeType="1"/>
              </p:cNvSpPr>
              <p:nvPr/>
            </p:nvSpPr>
            <p:spPr bwMode="auto">
              <a:xfrm flipH="1" flipV="1">
                <a:off x="1254" y="3214"/>
                <a:ext cx="5" cy="1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9199" name="Line 831"/>
            <p:cNvSpPr>
              <a:spLocks noChangeShapeType="1"/>
            </p:cNvSpPr>
            <p:nvPr/>
          </p:nvSpPr>
          <p:spPr bwMode="auto">
            <a:xfrm flipH="1">
              <a:off x="7800975" y="4840288"/>
              <a:ext cx="41275" cy="2762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00" name="Line 832"/>
            <p:cNvSpPr>
              <a:spLocks noChangeShapeType="1"/>
            </p:cNvSpPr>
            <p:nvPr/>
          </p:nvSpPr>
          <p:spPr bwMode="auto">
            <a:xfrm flipV="1">
              <a:off x="7799388" y="5002213"/>
              <a:ext cx="112712" cy="1222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01" name="Line 833"/>
            <p:cNvSpPr>
              <a:spLocks noChangeShapeType="1"/>
            </p:cNvSpPr>
            <p:nvPr/>
          </p:nvSpPr>
          <p:spPr bwMode="auto">
            <a:xfrm flipH="1">
              <a:off x="7859713" y="5002213"/>
              <a:ext cx="42862" cy="2508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02" name="Freeform 834"/>
            <p:cNvSpPr>
              <a:spLocks/>
            </p:cNvSpPr>
            <p:nvPr/>
          </p:nvSpPr>
          <p:spPr bwMode="auto">
            <a:xfrm>
              <a:off x="7820025" y="5243513"/>
              <a:ext cx="77787" cy="160338"/>
            </a:xfrm>
            <a:custGeom>
              <a:avLst/>
              <a:gdLst>
                <a:gd name="T0" fmla="*/ 0 w 85"/>
                <a:gd name="T1" fmla="*/ 0 h 173"/>
                <a:gd name="T2" fmla="*/ 14 w 85"/>
                <a:gd name="T3" fmla="*/ 173 h 173"/>
                <a:gd name="T4" fmla="*/ 85 w 85"/>
                <a:gd name="T5" fmla="*/ 12 h 173"/>
                <a:gd name="T6" fmla="*/ 0 w 85"/>
                <a:gd name="T7" fmla="*/ 0 h 173"/>
              </a:gdLst>
              <a:ahLst/>
              <a:cxnLst>
                <a:cxn ang="0">
                  <a:pos x="T0" y="T1"/>
                </a:cxn>
                <a:cxn ang="0">
                  <a:pos x="T2" y="T3"/>
                </a:cxn>
                <a:cxn ang="0">
                  <a:pos x="T4" y="T5"/>
                </a:cxn>
                <a:cxn ang="0">
                  <a:pos x="T6" y="T7"/>
                </a:cxn>
              </a:cxnLst>
              <a:rect l="0" t="0" r="r" b="b"/>
              <a:pathLst>
                <a:path w="85" h="173">
                  <a:moveTo>
                    <a:pt x="0" y="0"/>
                  </a:moveTo>
                  <a:lnTo>
                    <a:pt x="14" y="173"/>
                  </a:lnTo>
                  <a:lnTo>
                    <a:pt x="85" y="12"/>
                  </a:lnTo>
                  <a:lnTo>
                    <a:pt x="0" y="0"/>
                  </a:lnTo>
                  <a:close/>
                </a:path>
              </a:pathLst>
            </a:custGeom>
            <a:solidFill>
              <a:schemeClr val="tx2"/>
            </a:solidFill>
            <a:ln w="28575" cmpd="sng">
              <a:solidFill>
                <a:schemeClr val="tx2"/>
              </a:solidFill>
              <a:round/>
              <a:headEnd/>
              <a:tailEnd/>
            </a:ln>
          </p:spPr>
          <p:txBody>
            <a:bodyPr/>
            <a:lstStyle/>
            <a:p>
              <a:endParaRPr lang="en-US"/>
            </a:p>
          </p:txBody>
        </p:sp>
        <p:grpSp>
          <p:nvGrpSpPr>
            <p:cNvPr id="59252" name="Group 884"/>
            <p:cNvGrpSpPr>
              <a:grpSpLocks/>
            </p:cNvGrpSpPr>
            <p:nvPr/>
          </p:nvGrpSpPr>
          <p:grpSpPr bwMode="auto">
            <a:xfrm>
              <a:off x="3198813" y="4665663"/>
              <a:ext cx="660400" cy="180975"/>
              <a:chOff x="275" y="834"/>
              <a:chExt cx="1404" cy="382"/>
            </a:xfrm>
          </p:grpSpPr>
          <p:sp>
            <p:nvSpPr>
              <p:cNvPr id="59253" name="Freeform 885"/>
              <p:cNvSpPr>
                <a:spLocks/>
              </p:cNvSpPr>
              <p:nvPr/>
            </p:nvSpPr>
            <p:spPr bwMode="auto">
              <a:xfrm>
                <a:off x="506"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54" name="Freeform 886"/>
              <p:cNvSpPr>
                <a:spLocks/>
              </p:cNvSpPr>
              <p:nvPr/>
            </p:nvSpPr>
            <p:spPr bwMode="auto">
              <a:xfrm>
                <a:off x="276"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55" name="Line 887"/>
              <p:cNvSpPr>
                <a:spLocks noChangeShapeType="1"/>
              </p:cNvSpPr>
              <p:nvPr/>
            </p:nvSpPr>
            <p:spPr bwMode="auto">
              <a:xfrm flipH="1">
                <a:off x="275" y="1021"/>
                <a:ext cx="2" cy="19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56" name="Line 888"/>
              <p:cNvSpPr>
                <a:spLocks noChangeShapeType="1"/>
              </p:cNvSpPr>
              <p:nvPr/>
            </p:nvSpPr>
            <p:spPr bwMode="auto">
              <a:xfrm>
                <a:off x="741"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57" name="Freeform 889"/>
              <p:cNvSpPr>
                <a:spLocks/>
              </p:cNvSpPr>
              <p:nvPr/>
            </p:nvSpPr>
            <p:spPr bwMode="auto">
              <a:xfrm>
                <a:off x="977"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58" name="Freeform 890"/>
              <p:cNvSpPr>
                <a:spLocks/>
              </p:cNvSpPr>
              <p:nvPr/>
            </p:nvSpPr>
            <p:spPr bwMode="auto">
              <a:xfrm>
                <a:off x="747"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59" name="Line 891"/>
              <p:cNvSpPr>
                <a:spLocks noChangeShapeType="1"/>
              </p:cNvSpPr>
              <p:nvPr/>
            </p:nvSpPr>
            <p:spPr bwMode="auto">
              <a:xfrm>
                <a:off x="1212"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60" name="Freeform 892"/>
              <p:cNvSpPr>
                <a:spLocks/>
              </p:cNvSpPr>
              <p:nvPr/>
            </p:nvSpPr>
            <p:spPr bwMode="auto">
              <a:xfrm>
                <a:off x="1442" y="834"/>
                <a:ext cx="237" cy="199"/>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61" name="Freeform 893"/>
              <p:cNvSpPr>
                <a:spLocks/>
              </p:cNvSpPr>
              <p:nvPr/>
            </p:nvSpPr>
            <p:spPr bwMode="auto">
              <a:xfrm>
                <a:off x="1212" y="836"/>
                <a:ext cx="241" cy="203"/>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62" name="Line 894"/>
              <p:cNvSpPr>
                <a:spLocks noChangeShapeType="1"/>
              </p:cNvSpPr>
              <p:nvPr/>
            </p:nvSpPr>
            <p:spPr bwMode="auto">
              <a:xfrm>
                <a:off x="1677" y="1016"/>
                <a:ext cx="1" cy="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9263" name="Freeform 895"/>
            <p:cNvSpPr>
              <a:spLocks/>
            </p:cNvSpPr>
            <p:nvPr/>
          </p:nvSpPr>
          <p:spPr bwMode="auto">
            <a:xfrm>
              <a:off x="3963988" y="4670426"/>
              <a:ext cx="109537" cy="93663"/>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64" name="Freeform 896"/>
            <p:cNvSpPr>
              <a:spLocks/>
            </p:cNvSpPr>
            <p:nvPr/>
          </p:nvSpPr>
          <p:spPr bwMode="auto">
            <a:xfrm>
              <a:off x="3854450" y="4672013"/>
              <a:ext cx="112712" cy="95250"/>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65" name="Line 897"/>
            <p:cNvSpPr>
              <a:spLocks noChangeShapeType="1"/>
            </p:cNvSpPr>
            <p:nvPr/>
          </p:nvSpPr>
          <p:spPr bwMode="auto">
            <a:xfrm>
              <a:off x="4071938" y="4756151"/>
              <a:ext cx="1587" cy="936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66" name="Freeform 898"/>
            <p:cNvSpPr>
              <a:spLocks/>
            </p:cNvSpPr>
            <p:nvPr/>
          </p:nvSpPr>
          <p:spPr bwMode="auto">
            <a:xfrm>
              <a:off x="4184650" y="4670426"/>
              <a:ext cx="109537" cy="93663"/>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67" name="Freeform 899"/>
            <p:cNvSpPr>
              <a:spLocks/>
            </p:cNvSpPr>
            <p:nvPr/>
          </p:nvSpPr>
          <p:spPr bwMode="auto">
            <a:xfrm>
              <a:off x="4075113" y="4672013"/>
              <a:ext cx="114300" cy="95250"/>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68" name="Line 900"/>
            <p:cNvSpPr>
              <a:spLocks noChangeShapeType="1"/>
            </p:cNvSpPr>
            <p:nvPr/>
          </p:nvSpPr>
          <p:spPr bwMode="auto">
            <a:xfrm>
              <a:off x="4292600" y="4756151"/>
              <a:ext cx="1587" cy="936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69" name="Freeform 901"/>
            <p:cNvSpPr>
              <a:spLocks/>
            </p:cNvSpPr>
            <p:nvPr/>
          </p:nvSpPr>
          <p:spPr bwMode="auto">
            <a:xfrm>
              <a:off x="4402138" y="4670426"/>
              <a:ext cx="111125" cy="93663"/>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70" name="Freeform 902"/>
            <p:cNvSpPr>
              <a:spLocks/>
            </p:cNvSpPr>
            <p:nvPr/>
          </p:nvSpPr>
          <p:spPr bwMode="auto">
            <a:xfrm>
              <a:off x="4292600" y="4672013"/>
              <a:ext cx="114300" cy="95250"/>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71" name="Line 903"/>
            <p:cNvSpPr>
              <a:spLocks noChangeShapeType="1"/>
            </p:cNvSpPr>
            <p:nvPr/>
          </p:nvSpPr>
          <p:spPr bwMode="auto">
            <a:xfrm>
              <a:off x="4511675" y="4756151"/>
              <a:ext cx="1587" cy="936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272" name="Freeform 904"/>
            <p:cNvSpPr>
              <a:spLocks/>
            </p:cNvSpPr>
            <p:nvPr/>
          </p:nvSpPr>
          <p:spPr bwMode="auto">
            <a:xfrm>
              <a:off x="4622800" y="4670426"/>
              <a:ext cx="111125" cy="93663"/>
            </a:xfrm>
            <a:custGeom>
              <a:avLst/>
              <a:gdLst>
                <a:gd name="T0" fmla="*/ 0 w 115"/>
                <a:gd name="T1" fmla="*/ 0 h 96"/>
                <a:gd name="T2" fmla="*/ 24 w 115"/>
                <a:gd name="T3" fmla="*/ 2 h 96"/>
                <a:gd name="T4" fmla="*/ 45 w 115"/>
                <a:gd name="T5" fmla="*/ 8 h 96"/>
                <a:gd name="T6" fmla="*/ 63 w 115"/>
                <a:gd name="T7" fmla="*/ 17 h 96"/>
                <a:gd name="T8" fmla="*/ 81 w 115"/>
                <a:gd name="T9" fmla="*/ 29 h 96"/>
                <a:gd name="T10" fmla="*/ 95 w 115"/>
                <a:gd name="T11" fmla="*/ 44 h 96"/>
                <a:gd name="T12" fmla="*/ 105 w 115"/>
                <a:gd name="T13" fmla="*/ 60 h 96"/>
                <a:gd name="T14" fmla="*/ 113 w 115"/>
                <a:gd name="T15" fmla="*/ 76 h 96"/>
                <a:gd name="T16" fmla="*/ 115 w 115"/>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6">
                  <a:moveTo>
                    <a:pt x="0" y="0"/>
                  </a:moveTo>
                  <a:lnTo>
                    <a:pt x="24" y="2"/>
                  </a:lnTo>
                  <a:lnTo>
                    <a:pt x="45" y="8"/>
                  </a:lnTo>
                  <a:lnTo>
                    <a:pt x="63" y="17"/>
                  </a:lnTo>
                  <a:lnTo>
                    <a:pt x="81" y="29"/>
                  </a:lnTo>
                  <a:lnTo>
                    <a:pt x="95" y="44"/>
                  </a:lnTo>
                  <a:lnTo>
                    <a:pt x="105" y="60"/>
                  </a:lnTo>
                  <a:lnTo>
                    <a:pt x="113" y="76"/>
                  </a:lnTo>
                  <a:lnTo>
                    <a:pt x="115" y="96"/>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73" name="Freeform 905"/>
            <p:cNvSpPr>
              <a:spLocks/>
            </p:cNvSpPr>
            <p:nvPr/>
          </p:nvSpPr>
          <p:spPr bwMode="auto">
            <a:xfrm>
              <a:off x="4514850" y="4672013"/>
              <a:ext cx="112712" cy="95250"/>
            </a:xfrm>
            <a:custGeom>
              <a:avLst/>
              <a:gdLst>
                <a:gd name="T0" fmla="*/ 115 w 115"/>
                <a:gd name="T1" fmla="*/ 0 h 97"/>
                <a:gd name="T2" fmla="*/ 91 w 115"/>
                <a:gd name="T3" fmla="*/ 1 h 97"/>
                <a:gd name="T4" fmla="*/ 69 w 115"/>
                <a:gd name="T5" fmla="*/ 7 h 97"/>
                <a:gd name="T6" fmla="*/ 51 w 115"/>
                <a:gd name="T7" fmla="*/ 16 h 97"/>
                <a:gd name="T8" fmla="*/ 34 w 115"/>
                <a:gd name="T9" fmla="*/ 28 h 97"/>
                <a:gd name="T10" fmla="*/ 20 w 115"/>
                <a:gd name="T11" fmla="*/ 43 h 97"/>
                <a:gd name="T12" fmla="*/ 10 w 115"/>
                <a:gd name="T13" fmla="*/ 59 h 97"/>
                <a:gd name="T14" fmla="*/ 2 w 115"/>
                <a:gd name="T15" fmla="*/ 77 h 97"/>
                <a:gd name="T16" fmla="*/ 0 w 115"/>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97">
                  <a:moveTo>
                    <a:pt x="115" y="0"/>
                  </a:moveTo>
                  <a:lnTo>
                    <a:pt x="91" y="1"/>
                  </a:lnTo>
                  <a:lnTo>
                    <a:pt x="69" y="7"/>
                  </a:lnTo>
                  <a:lnTo>
                    <a:pt x="51" y="16"/>
                  </a:lnTo>
                  <a:lnTo>
                    <a:pt x="34" y="28"/>
                  </a:lnTo>
                  <a:lnTo>
                    <a:pt x="20" y="43"/>
                  </a:lnTo>
                  <a:lnTo>
                    <a:pt x="10" y="59"/>
                  </a:lnTo>
                  <a:lnTo>
                    <a:pt x="2" y="77"/>
                  </a:lnTo>
                  <a:lnTo>
                    <a:pt x="0" y="97"/>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74" name="Line 906"/>
            <p:cNvSpPr>
              <a:spLocks noChangeShapeType="1"/>
            </p:cNvSpPr>
            <p:nvPr/>
          </p:nvSpPr>
          <p:spPr bwMode="auto">
            <a:xfrm>
              <a:off x="4732338" y="4756151"/>
              <a:ext cx="1587" cy="936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pSp>
      <mc:AlternateContent xmlns:mc="http://schemas.openxmlformats.org/markup-compatibility/2006" xmlns:a14="http://schemas.microsoft.com/office/drawing/2010/main">
        <mc:Choice Requires="a14">
          <p:sp>
            <p:nvSpPr>
              <p:cNvPr id="2" name="Rectangle 1"/>
              <p:cNvSpPr/>
              <p:nvPr/>
            </p:nvSpPr>
            <p:spPr>
              <a:xfrm>
                <a:off x="5421786" y="5801548"/>
                <a:ext cx="2180277" cy="461665"/>
              </a:xfrm>
              <a:prstGeom prst="rect">
                <a:avLst/>
              </a:prstGeom>
              <a:solidFill>
                <a:srgbClr val="FFFF00"/>
              </a:solidFill>
              <a:ln>
                <a:solidFill>
                  <a:schemeClr val="tx2"/>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𝑍</m:t>
                      </m:r>
                      <m:r>
                        <a:rPr lang="en-US" sz="2400" i="1" smtClean="0">
                          <a:latin typeface="Cambria Math" panose="02040503050406030204" pitchFamily="18" charset="0"/>
                        </a:rPr>
                        <m:t>𝑙</m:t>
                      </m:r>
                      <m:r>
                        <a:rPr lang="en-US" sz="2400" i="0">
                          <a:latin typeface="Cambria Math" panose="02040503050406030204" pitchFamily="18" charset="0"/>
                        </a:rPr>
                        <m:t>=</m:t>
                      </m:r>
                      <m:r>
                        <a:rPr lang="en-US" sz="2400" b="0" i="1" smtClean="0">
                          <a:latin typeface="Cambria Math" panose="02040503050406030204" pitchFamily="18" charset="0"/>
                        </a:rPr>
                        <m:t>𝑅</m:t>
                      </m:r>
                      <m:r>
                        <a:rPr lang="en-US" sz="2400" b="0" i="1" smtClean="0">
                          <a:latin typeface="Cambria Math" panose="02040503050406030204" pitchFamily="18" charset="0"/>
                        </a:rPr>
                        <m:t>+</m:t>
                      </m:r>
                      <m:r>
                        <a:rPr lang="en-US" sz="2400" i="1">
                          <a:latin typeface="Cambria Math" panose="02040503050406030204" pitchFamily="18" charset="0"/>
                        </a:rPr>
                        <m:t>𝑗</m:t>
                      </m:r>
                      <m:r>
                        <a:rPr lang="en-US" sz="2400" i="0">
                          <a:latin typeface="Cambria Math" panose="02040503050406030204" pitchFamily="18" charset="0"/>
                        </a:rPr>
                        <m:t> </m:t>
                      </m:r>
                      <m:r>
                        <a:rPr lang="en-US" sz="2400" i="1">
                          <a:latin typeface="Cambria Math" panose="02040503050406030204" pitchFamily="18" charset="0"/>
                        </a:rPr>
                        <m:t>𝜔</m:t>
                      </m:r>
                      <m:r>
                        <a:rPr lang="en-US" sz="2400" i="1">
                          <a:latin typeface="Cambria Math" panose="02040503050406030204" pitchFamily="18" charset="0"/>
                        </a:rPr>
                        <m:t>𝐿</m:t>
                      </m:r>
                      <m:r>
                        <a:rPr lang="en-US" sz="2400" i="0">
                          <a:latin typeface="Cambria Math" panose="02040503050406030204" pitchFamily="18" charset="0"/>
                        </a:rPr>
                        <m:t> </m:t>
                      </m:r>
                    </m:oMath>
                  </m:oMathPara>
                </a14:m>
                <a:endParaRPr lang="en-US" sz="2400" dirty="0"/>
              </a:p>
            </p:txBody>
          </p:sp>
        </mc:Choice>
        <mc:Fallback xmlns="">
          <p:sp>
            <p:nvSpPr>
              <p:cNvPr id="2" name="Rectangle 1"/>
              <p:cNvSpPr>
                <a:spLocks noRot="1" noChangeAspect="1" noMove="1" noResize="1" noEditPoints="1" noAdjustHandles="1" noChangeArrowheads="1" noChangeShapeType="1" noTextEdit="1"/>
              </p:cNvSpPr>
              <p:nvPr/>
            </p:nvSpPr>
            <p:spPr>
              <a:xfrm>
                <a:off x="5421786" y="5801548"/>
                <a:ext cx="2180277" cy="461665"/>
              </a:xfrm>
              <a:prstGeom prst="rect">
                <a:avLst/>
              </a:prstGeom>
              <a:blipFill>
                <a:blip r:embed="rId3"/>
                <a:stretch>
                  <a:fillRect t="-1299" b="-2597"/>
                </a:stretch>
              </a:blipFill>
              <a:ln>
                <a:solidFill>
                  <a:schemeClr val="tx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3" name="Rectangle 192"/>
              <p:cNvSpPr/>
              <p:nvPr/>
            </p:nvSpPr>
            <p:spPr>
              <a:xfrm>
                <a:off x="2842286" y="3267110"/>
                <a:ext cx="3592778" cy="7812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𝑋𝑙</m:t>
                      </m:r>
                      <m:r>
                        <a:rPr lang="en-US" sz="2400" i="0">
                          <a:latin typeface="Cambria Math" panose="02040503050406030204" pitchFamily="18" charset="0"/>
                        </a:rPr>
                        <m:t>=</m:t>
                      </m:r>
                      <m:r>
                        <a:rPr lang="en-US" sz="2400" i="1">
                          <a:latin typeface="Cambria Math" panose="02040503050406030204" pitchFamily="18" charset="0"/>
                        </a:rPr>
                        <m:t>𝑗</m:t>
                      </m:r>
                      <m:r>
                        <a:rPr lang="en-US" sz="2400" i="0">
                          <a:latin typeface="Cambria Math" panose="02040503050406030204" pitchFamily="18" charset="0"/>
                        </a:rPr>
                        <m:t> </m:t>
                      </m:r>
                      <m:r>
                        <a:rPr lang="en-US" sz="2400" i="1">
                          <a:latin typeface="Cambria Math" panose="02040503050406030204" pitchFamily="18" charset="0"/>
                        </a:rPr>
                        <m:t>𝜔</m:t>
                      </m:r>
                      <m:r>
                        <a:rPr lang="en-US" sz="2400" i="1">
                          <a:latin typeface="Cambria Math" panose="02040503050406030204" pitchFamily="18" charset="0"/>
                        </a:rPr>
                        <m:t>𝐿</m:t>
                      </m:r>
                      <m:r>
                        <a:rPr lang="en-US" sz="2400" i="0">
                          <a:latin typeface="Cambria Math" panose="02040503050406030204" pitchFamily="18" charset="0"/>
                        </a:rPr>
                        <m:t>,  </m:t>
                      </m:r>
                      <m:r>
                        <a:rPr lang="en-US" sz="2400" i="1">
                          <a:latin typeface="Cambria Math" panose="02040503050406030204" pitchFamily="18" charset="0"/>
                        </a:rPr>
                        <m:t>𝑋𝑐</m:t>
                      </m:r>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m:t>
                          </m:r>
                          <m:r>
                            <a:rPr lang="en-US" sz="2400" i="1">
                              <a:latin typeface="Cambria Math" panose="02040503050406030204" pitchFamily="18" charset="0"/>
                            </a:rPr>
                            <m:t>𝑗</m:t>
                          </m:r>
                          <m:r>
                            <a:rPr lang="en-US" sz="2400" i="0">
                              <a:latin typeface="Cambria Math" panose="02040503050406030204" pitchFamily="18" charset="0"/>
                            </a:rPr>
                            <m:t> </m:t>
                          </m:r>
                        </m:num>
                        <m:den>
                          <m:r>
                            <a:rPr lang="en-US" sz="2400" i="1">
                              <a:latin typeface="Cambria Math" panose="02040503050406030204" pitchFamily="18" charset="0"/>
                            </a:rPr>
                            <m:t>𝜔</m:t>
                          </m:r>
                          <m:r>
                            <a:rPr lang="en-US" sz="2400" i="1">
                              <a:latin typeface="Cambria Math" panose="02040503050406030204" pitchFamily="18" charset="0"/>
                            </a:rPr>
                            <m:t>𝐶</m:t>
                          </m:r>
                          <m:r>
                            <a:rPr lang="en-US" sz="2400" i="0">
                              <a:latin typeface="Cambria Math" panose="02040503050406030204" pitchFamily="18" charset="0"/>
                            </a:rPr>
                            <m:t>  </m:t>
                          </m:r>
                        </m:den>
                      </m:f>
                      <m:r>
                        <a:rPr lang="en-US" sz="2400" i="0">
                          <a:latin typeface="Cambria Math" panose="02040503050406030204" pitchFamily="18" charset="0"/>
                        </a:rPr>
                        <m:t> </m:t>
                      </m:r>
                    </m:oMath>
                  </m:oMathPara>
                </a14:m>
                <a:endParaRPr lang="en-US" sz="2400" dirty="0"/>
              </a:p>
            </p:txBody>
          </p:sp>
        </mc:Choice>
        <mc:Fallback xmlns="">
          <p:sp>
            <p:nvSpPr>
              <p:cNvPr id="193" name="Rectangle 192"/>
              <p:cNvSpPr>
                <a:spLocks noRot="1" noChangeAspect="1" noMove="1" noResize="1" noEditPoints="1" noAdjustHandles="1" noChangeArrowheads="1" noChangeShapeType="1" noTextEdit="1"/>
              </p:cNvSpPr>
              <p:nvPr/>
            </p:nvSpPr>
            <p:spPr>
              <a:xfrm>
                <a:off x="2842286" y="3267110"/>
                <a:ext cx="3592778" cy="78124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64480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3"/>
                                        </p:tgtEl>
                                        <p:attrNameLst>
                                          <p:attrName>style.visibility</p:attrName>
                                        </p:attrNameLst>
                                      </p:cBhvr>
                                      <p:to>
                                        <p:strVal val="visible"/>
                                      </p:to>
                                    </p:set>
                                    <p:animEffect transition="in" filter="wipe(left)">
                                      <p:cBhvr>
                                        <p:cTn id="12" dur="1000"/>
                                        <p:tgtEl>
                                          <p:spTgt spid="1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9098"/>
                                        </p:tgtEl>
                                        <p:attrNameLst>
                                          <p:attrName>style.visibility</p:attrName>
                                        </p:attrNameLst>
                                      </p:cBhvr>
                                      <p:to>
                                        <p:strVal val="visible"/>
                                      </p:to>
                                    </p:set>
                                    <p:animEffect transition="in" filter="wipe(left)">
                                      <p:cBhvr>
                                        <p:cTn id="22" dur="1000"/>
                                        <p:tgtEl>
                                          <p:spTgt spid="5909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98" grpId="0"/>
      <p:bldP spid="2" grpId="0" animBg="1"/>
      <p:bldP spid="19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54" name="Rectangle 38"/>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a:t>Impedance Seen By Measuring Element</a:t>
            </a:r>
          </a:p>
        </p:txBody>
      </p:sp>
      <p:grpSp>
        <p:nvGrpSpPr>
          <p:cNvPr id="60470" name="Group 54"/>
          <p:cNvGrpSpPr>
            <a:grpSpLocks/>
          </p:cNvGrpSpPr>
          <p:nvPr/>
        </p:nvGrpSpPr>
        <p:grpSpPr bwMode="auto">
          <a:xfrm>
            <a:off x="2593975" y="1509713"/>
            <a:ext cx="5407025" cy="4511675"/>
            <a:chOff x="1634" y="951"/>
            <a:chExt cx="3406" cy="2842"/>
          </a:xfrm>
        </p:grpSpPr>
        <p:sp>
          <p:nvSpPr>
            <p:cNvPr id="60457" name="Freeform 41"/>
            <p:cNvSpPr>
              <a:spLocks/>
            </p:cNvSpPr>
            <p:nvPr/>
          </p:nvSpPr>
          <p:spPr bwMode="auto">
            <a:xfrm>
              <a:off x="1634" y="3155"/>
              <a:ext cx="3121" cy="1"/>
            </a:xfrm>
            <a:custGeom>
              <a:avLst/>
              <a:gdLst>
                <a:gd name="T0" fmla="*/ 0 w 3121"/>
                <a:gd name="T1" fmla="*/ 3120 w 3121"/>
                <a:gd name="T2" fmla="*/ 3121 w 3121"/>
              </a:gdLst>
              <a:ahLst/>
              <a:cxnLst>
                <a:cxn ang="0">
                  <a:pos x="T0" y="0"/>
                </a:cxn>
                <a:cxn ang="0">
                  <a:pos x="T1" y="0"/>
                </a:cxn>
                <a:cxn ang="0">
                  <a:pos x="T2" y="0"/>
                </a:cxn>
              </a:cxnLst>
              <a:rect l="0" t="0" r="r" b="b"/>
              <a:pathLst>
                <a:path w="3121">
                  <a:moveTo>
                    <a:pt x="0" y="0"/>
                  </a:moveTo>
                  <a:lnTo>
                    <a:pt x="3120" y="0"/>
                  </a:lnTo>
                  <a:lnTo>
                    <a:pt x="3121"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58" name="Freeform 42"/>
            <p:cNvSpPr>
              <a:spLocks/>
            </p:cNvSpPr>
            <p:nvPr/>
          </p:nvSpPr>
          <p:spPr bwMode="auto">
            <a:xfrm>
              <a:off x="2407" y="1059"/>
              <a:ext cx="1" cy="2734"/>
            </a:xfrm>
            <a:custGeom>
              <a:avLst/>
              <a:gdLst>
                <a:gd name="T0" fmla="*/ 0 h 2734"/>
                <a:gd name="T1" fmla="*/ 2733 h 2734"/>
                <a:gd name="T2" fmla="*/ 2734 h 2734"/>
              </a:gdLst>
              <a:ahLst/>
              <a:cxnLst>
                <a:cxn ang="0">
                  <a:pos x="0" y="T0"/>
                </a:cxn>
                <a:cxn ang="0">
                  <a:pos x="0" y="T1"/>
                </a:cxn>
                <a:cxn ang="0">
                  <a:pos x="0" y="T2"/>
                </a:cxn>
              </a:cxnLst>
              <a:rect l="0" t="0" r="r" b="b"/>
              <a:pathLst>
                <a:path h="2734">
                  <a:moveTo>
                    <a:pt x="0" y="0"/>
                  </a:moveTo>
                  <a:lnTo>
                    <a:pt x="0" y="2733"/>
                  </a:lnTo>
                  <a:lnTo>
                    <a:pt x="0" y="2734"/>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59" name="Freeform 43"/>
            <p:cNvSpPr>
              <a:spLocks/>
            </p:cNvSpPr>
            <p:nvPr/>
          </p:nvSpPr>
          <p:spPr bwMode="auto">
            <a:xfrm>
              <a:off x="2411" y="1117"/>
              <a:ext cx="546" cy="2032"/>
            </a:xfrm>
            <a:custGeom>
              <a:avLst/>
              <a:gdLst>
                <a:gd name="T0" fmla="*/ 546 w 546"/>
                <a:gd name="T1" fmla="*/ 0 h 2032"/>
                <a:gd name="T2" fmla="*/ 1 w 546"/>
                <a:gd name="T3" fmla="*/ 2031 h 2032"/>
                <a:gd name="T4" fmla="*/ 0 w 546"/>
                <a:gd name="T5" fmla="*/ 2032 h 2032"/>
              </a:gdLst>
              <a:ahLst/>
              <a:cxnLst>
                <a:cxn ang="0">
                  <a:pos x="T0" y="T1"/>
                </a:cxn>
                <a:cxn ang="0">
                  <a:pos x="T2" y="T3"/>
                </a:cxn>
                <a:cxn ang="0">
                  <a:pos x="T4" y="T5"/>
                </a:cxn>
              </a:cxnLst>
              <a:rect l="0" t="0" r="r" b="b"/>
              <a:pathLst>
                <a:path w="546" h="2032">
                  <a:moveTo>
                    <a:pt x="546" y="0"/>
                  </a:moveTo>
                  <a:lnTo>
                    <a:pt x="1" y="2031"/>
                  </a:lnTo>
                  <a:lnTo>
                    <a:pt x="0" y="2032"/>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60" name="Freeform 44"/>
            <p:cNvSpPr>
              <a:spLocks/>
            </p:cNvSpPr>
            <p:nvPr/>
          </p:nvSpPr>
          <p:spPr bwMode="auto">
            <a:xfrm>
              <a:off x="2799" y="2057"/>
              <a:ext cx="296" cy="1098"/>
            </a:xfrm>
            <a:custGeom>
              <a:avLst/>
              <a:gdLst>
                <a:gd name="T0" fmla="*/ 0 w 296"/>
                <a:gd name="T1" fmla="*/ 1098 h 1098"/>
                <a:gd name="T2" fmla="*/ 295 w 296"/>
                <a:gd name="T3" fmla="*/ 1 h 1098"/>
                <a:gd name="T4" fmla="*/ 296 w 296"/>
                <a:gd name="T5" fmla="*/ 0 h 1098"/>
              </a:gdLst>
              <a:ahLst/>
              <a:cxnLst>
                <a:cxn ang="0">
                  <a:pos x="T0" y="T1"/>
                </a:cxn>
                <a:cxn ang="0">
                  <a:pos x="T2" y="T3"/>
                </a:cxn>
                <a:cxn ang="0">
                  <a:pos x="T4" y="T5"/>
                </a:cxn>
              </a:cxnLst>
              <a:rect l="0" t="0" r="r" b="b"/>
              <a:pathLst>
                <a:path w="296" h="1098">
                  <a:moveTo>
                    <a:pt x="0" y="1098"/>
                  </a:moveTo>
                  <a:lnTo>
                    <a:pt x="295" y="1"/>
                  </a:lnTo>
                  <a:lnTo>
                    <a:pt x="296"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61" name="Freeform 45"/>
            <p:cNvSpPr>
              <a:spLocks/>
            </p:cNvSpPr>
            <p:nvPr/>
          </p:nvSpPr>
          <p:spPr bwMode="auto">
            <a:xfrm>
              <a:off x="2702" y="2058"/>
              <a:ext cx="392" cy="1"/>
            </a:xfrm>
            <a:custGeom>
              <a:avLst/>
              <a:gdLst>
                <a:gd name="T0" fmla="*/ 392 w 392"/>
                <a:gd name="T1" fmla="*/ 1 w 392"/>
                <a:gd name="T2" fmla="*/ 0 w 392"/>
              </a:gdLst>
              <a:ahLst/>
              <a:cxnLst>
                <a:cxn ang="0">
                  <a:pos x="T0" y="0"/>
                </a:cxn>
                <a:cxn ang="0">
                  <a:pos x="T1" y="0"/>
                </a:cxn>
                <a:cxn ang="0">
                  <a:pos x="T2" y="0"/>
                </a:cxn>
              </a:cxnLst>
              <a:rect l="0" t="0" r="r" b="b"/>
              <a:pathLst>
                <a:path w="392">
                  <a:moveTo>
                    <a:pt x="392" y="0"/>
                  </a:moveTo>
                  <a:lnTo>
                    <a:pt x="1" y="0"/>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62" name="Freeform 46"/>
            <p:cNvSpPr>
              <a:spLocks/>
            </p:cNvSpPr>
            <p:nvPr/>
          </p:nvSpPr>
          <p:spPr bwMode="auto">
            <a:xfrm>
              <a:off x="2411" y="2058"/>
              <a:ext cx="292" cy="1095"/>
            </a:xfrm>
            <a:custGeom>
              <a:avLst/>
              <a:gdLst>
                <a:gd name="T0" fmla="*/ 292 w 292"/>
                <a:gd name="T1" fmla="*/ 0 h 1095"/>
                <a:gd name="T2" fmla="*/ 1 w 292"/>
                <a:gd name="T3" fmla="*/ 1094 h 1095"/>
                <a:gd name="T4" fmla="*/ 0 w 292"/>
                <a:gd name="T5" fmla="*/ 1095 h 1095"/>
              </a:gdLst>
              <a:ahLst/>
              <a:cxnLst>
                <a:cxn ang="0">
                  <a:pos x="T0" y="T1"/>
                </a:cxn>
                <a:cxn ang="0">
                  <a:pos x="T2" y="T3"/>
                </a:cxn>
                <a:cxn ang="0">
                  <a:pos x="T4" y="T5"/>
                </a:cxn>
              </a:cxnLst>
              <a:rect l="0" t="0" r="r" b="b"/>
              <a:pathLst>
                <a:path w="292" h="1095">
                  <a:moveTo>
                    <a:pt x="292" y="0"/>
                  </a:moveTo>
                  <a:lnTo>
                    <a:pt x="1" y="1094"/>
                  </a:lnTo>
                  <a:lnTo>
                    <a:pt x="0" y="1095"/>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63" name="Freeform 47"/>
            <p:cNvSpPr>
              <a:spLocks/>
            </p:cNvSpPr>
            <p:nvPr/>
          </p:nvSpPr>
          <p:spPr bwMode="auto">
            <a:xfrm>
              <a:off x="2412" y="3152"/>
              <a:ext cx="388" cy="4"/>
            </a:xfrm>
            <a:custGeom>
              <a:avLst/>
              <a:gdLst>
                <a:gd name="T0" fmla="*/ 0 w 388"/>
                <a:gd name="T1" fmla="*/ 0 h 4"/>
                <a:gd name="T2" fmla="*/ 387 w 388"/>
                <a:gd name="T3" fmla="*/ 3 h 4"/>
                <a:gd name="T4" fmla="*/ 388 w 388"/>
                <a:gd name="T5" fmla="*/ 4 h 4"/>
              </a:gdLst>
              <a:ahLst/>
              <a:cxnLst>
                <a:cxn ang="0">
                  <a:pos x="T0" y="T1"/>
                </a:cxn>
                <a:cxn ang="0">
                  <a:pos x="T2" y="T3"/>
                </a:cxn>
                <a:cxn ang="0">
                  <a:pos x="T4" y="T5"/>
                </a:cxn>
              </a:cxnLst>
              <a:rect l="0" t="0" r="r" b="b"/>
              <a:pathLst>
                <a:path w="388" h="4">
                  <a:moveTo>
                    <a:pt x="0" y="0"/>
                  </a:moveTo>
                  <a:lnTo>
                    <a:pt x="387" y="3"/>
                  </a:lnTo>
                  <a:lnTo>
                    <a:pt x="388" y="4"/>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64" name="Freeform 48"/>
            <p:cNvSpPr>
              <a:spLocks/>
            </p:cNvSpPr>
            <p:nvPr/>
          </p:nvSpPr>
          <p:spPr bwMode="auto">
            <a:xfrm>
              <a:off x="2412" y="2058"/>
              <a:ext cx="682" cy="1097"/>
            </a:xfrm>
            <a:custGeom>
              <a:avLst/>
              <a:gdLst>
                <a:gd name="T0" fmla="*/ 108 w 682"/>
                <a:gd name="T1" fmla="*/ 686 h 1097"/>
                <a:gd name="T2" fmla="*/ 0 w 682"/>
                <a:gd name="T3" fmla="*/ 1094 h 1097"/>
                <a:gd name="T4" fmla="*/ 330 w 682"/>
                <a:gd name="T5" fmla="*/ 1097 h 1097"/>
                <a:gd name="T6" fmla="*/ 387 w 682"/>
                <a:gd name="T7" fmla="*/ 1097 h 1097"/>
                <a:gd name="T8" fmla="*/ 404 w 682"/>
                <a:gd name="T9" fmla="*/ 1031 h 1097"/>
                <a:gd name="T10" fmla="*/ 682 w 682"/>
                <a:gd name="T11" fmla="*/ 0 h 1097"/>
                <a:gd name="T12" fmla="*/ 293 w 682"/>
                <a:gd name="T13" fmla="*/ 0 h 1097"/>
                <a:gd name="T14" fmla="*/ 108 w 682"/>
                <a:gd name="T15" fmla="*/ 686 h 10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2" h="1097">
                  <a:moveTo>
                    <a:pt x="108" y="686"/>
                  </a:moveTo>
                  <a:lnTo>
                    <a:pt x="0" y="1094"/>
                  </a:lnTo>
                  <a:lnTo>
                    <a:pt x="330" y="1097"/>
                  </a:lnTo>
                  <a:lnTo>
                    <a:pt x="387" y="1097"/>
                  </a:lnTo>
                  <a:lnTo>
                    <a:pt x="404" y="1031"/>
                  </a:lnTo>
                  <a:lnTo>
                    <a:pt x="682" y="0"/>
                  </a:lnTo>
                  <a:lnTo>
                    <a:pt x="293" y="0"/>
                  </a:lnTo>
                  <a:lnTo>
                    <a:pt x="108" y="686"/>
                  </a:lnTo>
                  <a:close/>
                </a:path>
              </a:pathLst>
            </a:custGeom>
            <a:solidFill>
              <a:schemeClr val="tx2"/>
            </a:solidFill>
            <a:ln w="0">
              <a:solidFill>
                <a:srgbClr val="000000"/>
              </a:solidFill>
              <a:prstDash val="solid"/>
              <a:round/>
              <a:headEnd/>
              <a:tailEnd/>
            </a:ln>
          </p:spPr>
          <p:txBody>
            <a:bodyPr/>
            <a:lstStyle/>
            <a:p>
              <a:endParaRPr lang="en-US"/>
            </a:p>
          </p:txBody>
        </p:sp>
        <p:sp>
          <p:nvSpPr>
            <p:cNvPr id="60465" name="Freeform 49"/>
            <p:cNvSpPr>
              <a:spLocks/>
            </p:cNvSpPr>
            <p:nvPr/>
          </p:nvSpPr>
          <p:spPr bwMode="auto">
            <a:xfrm>
              <a:off x="2798" y="2060"/>
              <a:ext cx="297" cy="1096"/>
            </a:xfrm>
            <a:custGeom>
              <a:avLst/>
              <a:gdLst>
                <a:gd name="T0" fmla="*/ 297 w 297"/>
                <a:gd name="T1" fmla="*/ 0 h 1096"/>
                <a:gd name="T2" fmla="*/ 1 w 297"/>
                <a:gd name="T3" fmla="*/ 1095 h 1096"/>
                <a:gd name="T4" fmla="*/ 0 w 297"/>
                <a:gd name="T5" fmla="*/ 1096 h 1096"/>
              </a:gdLst>
              <a:ahLst/>
              <a:cxnLst>
                <a:cxn ang="0">
                  <a:pos x="T0" y="T1"/>
                </a:cxn>
                <a:cxn ang="0">
                  <a:pos x="T2" y="T3"/>
                </a:cxn>
                <a:cxn ang="0">
                  <a:pos x="T4" y="T5"/>
                </a:cxn>
              </a:cxnLst>
              <a:rect l="0" t="0" r="r" b="b"/>
              <a:pathLst>
                <a:path w="297" h="1096">
                  <a:moveTo>
                    <a:pt x="297" y="0"/>
                  </a:moveTo>
                  <a:lnTo>
                    <a:pt x="1" y="1095"/>
                  </a:lnTo>
                  <a:lnTo>
                    <a:pt x="0" y="1096"/>
                  </a:lnTo>
                </a:path>
              </a:pathLst>
            </a:custGeom>
            <a:solidFill>
              <a:schemeClr val="tx2"/>
            </a:solidFill>
            <a:ln w="0">
              <a:solidFill>
                <a:schemeClr val="tx2"/>
              </a:solidFill>
              <a:prstDash val="solid"/>
              <a:round/>
              <a:headEnd/>
              <a:tailEnd/>
            </a:ln>
          </p:spPr>
          <p:txBody>
            <a:bodyPr/>
            <a:lstStyle/>
            <a:p>
              <a:endParaRPr lang="en-US"/>
            </a:p>
          </p:txBody>
        </p:sp>
        <p:sp>
          <p:nvSpPr>
            <p:cNvPr id="60466" name="Text Box 50"/>
            <p:cNvSpPr txBox="1">
              <a:spLocks noChangeArrowheads="1"/>
            </p:cNvSpPr>
            <p:nvPr/>
          </p:nvSpPr>
          <p:spPr bwMode="auto">
            <a:xfrm>
              <a:off x="1925" y="951"/>
              <a:ext cx="363"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chemeClr val="tx2"/>
                  </a:solidFill>
                  <a:latin typeface="Futura Md BT" pitchFamily="34" charset="0"/>
                </a:rPr>
                <a:t>jX</a:t>
              </a:r>
            </a:p>
          </p:txBody>
        </p:sp>
        <p:sp>
          <p:nvSpPr>
            <p:cNvPr id="60467" name="Text Box 51"/>
            <p:cNvSpPr txBox="1">
              <a:spLocks noChangeArrowheads="1"/>
            </p:cNvSpPr>
            <p:nvPr/>
          </p:nvSpPr>
          <p:spPr bwMode="auto">
            <a:xfrm>
              <a:off x="3048" y="1419"/>
              <a:ext cx="304"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a:solidFill>
                    <a:schemeClr val="tx2"/>
                  </a:solidFill>
                  <a:latin typeface="Futura Md BT" pitchFamily="34" charset="0"/>
                </a:rPr>
                <a:t>Z</a:t>
              </a:r>
              <a:r>
                <a:rPr lang="en-GB" altLang="en-US" baseline="-25000">
                  <a:solidFill>
                    <a:schemeClr val="tx2"/>
                  </a:solidFill>
                  <a:latin typeface="Futura Md BT" pitchFamily="34" charset="0"/>
                </a:rPr>
                <a:t>L</a:t>
              </a:r>
              <a:endParaRPr lang="en-GB" altLang="en-US">
                <a:solidFill>
                  <a:schemeClr val="tx2"/>
                </a:solidFill>
                <a:latin typeface="Futura Md BT" pitchFamily="34" charset="0"/>
              </a:endParaRPr>
            </a:p>
          </p:txBody>
        </p:sp>
        <p:sp>
          <p:nvSpPr>
            <p:cNvPr id="60468" name="Text Box 52"/>
            <p:cNvSpPr txBox="1">
              <a:spLocks noChangeArrowheads="1"/>
            </p:cNvSpPr>
            <p:nvPr/>
          </p:nvSpPr>
          <p:spPr bwMode="auto">
            <a:xfrm>
              <a:off x="4785" y="3037"/>
              <a:ext cx="255"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a:solidFill>
                    <a:schemeClr val="tx2"/>
                  </a:solidFill>
                  <a:latin typeface="Futura Md BT" pitchFamily="34" charset="0"/>
                </a:rPr>
                <a:t>R</a:t>
              </a:r>
            </a:p>
          </p:txBody>
        </p:sp>
        <p:sp>
          <p:nvSpPr>
            <p:cNvPr id="60469" name="Line 53"/>
            <p:cNvSpPr>
              <a:spLocks noChangeShapeType="1"/>
            </p:cNvSpPr>
            <p:nvPr/>
          </p:nvSpPr>
          <p:spPr bwMode="auto">
            <a:xfrm>
              <a:off x="2643" y="1724"/>
              <a:ext cx="391"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2797231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36" name="Rectangle 44"/>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a:t>Basic Principle of Distance Protection</a:t>
            </a:r>
          </a:p>
        </p:txBody>
      </p:sp>
      <p:grpSp>
        <p:nvGrpSpPr>
          <p:cNvPr id="59534" name="Group 142"/>
          <p:cNvGrpSpPr>
            <a:grpSpLocks/>
          </p:cNvGrpSpPr>
          <p:nvPr/>
        </p:nvGrpSpPr>
        <p:grpSpPr bwMode="auto">
          <a:xfrm>
            <a:off x="858838" y="2155825"/>
            <a:ext cx="8050212" cy="3041650"/>
            <a:chOff x="541" y="1358"/>
            <a:chExt cx="5071" cy="1916"/>
          </a:xfrm>
        </p:grpSpPr>
        <p:sp>
          <p:nvSpPr>
            <p:cNvPr id="59441" name="Oval 49"/>
            <p:cNvSpPr>
              <a:spLocks noChangeArrowheads="1"/>
            </p:cNvSpPr>
            <p:nvPr/>
          </p:nvSpPr>
          <p:spPr bwMode="auto">
            <a:xfrm>
              <a:off x="1668" y="1839"/>
              <a:ext cx="333" cy="331"/>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42" name="Oval 50"/>
            <p:cNvSpPr>
              <a:spLocks noChangeArrowheads="1"/>
            </p:cNvSpPr>
            <p:nvPr/>
          </p:nvSpPr>
          <p:spPr bwMode="auto">
            <a:xfrm>
              <a:off x="1418" y="1839"/>
              <a:ext cx="333" cy="331"/>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43" name="Freeform 51"/>
            <p:cNvSpPr>
              <a:spLocks/>
            </p:cNvSpPr>
            <p:nvPr/>
          </p:nvSpPr>
          <p:spPr bwMode="auto">
            <a:xfrm>
              <a:off x="3786" y="3172"/>
              <a:ext cx="243" cy="1"/>
            </a:xfrm>
            <a:custGeom>
              <a:avLst/>
              <a:gdLst>
                <a:gd name="T0" fmla="*/ 0 w 20000"/>
                <a:gd name="T1" fmla="*/ 0 h 20000"/>
                <a:gd name="T2" fmla="*/ 19953 w 20000"/>
                <a:gd name="T3" fmla="*/ 0 h 20000"/>
              </a:gdLst>
              <a:ahLst/>
              <a:cxnLst>
                <a:cxn ang="0">
                  <a:pos x="T0" y="T1"/>
                </a:cxn>
                <a:cxn ang="0">
                  <a:pos x="T2" y="T3"/>
                </a:cxn>
              </a:cxnLst>
              <a:rect l="0" t="0" r="r" b="b"/>
              <a:pathLst>
                <a:path w="20000" h="20000">
                  <a:moveTo>
                    <a:pt x="0" y="0"/>
                  </a:moveTo>
                  <a:lnTo>
                    <a:pt x="19953"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44" name="Freeform 52"/>
            <p:cNvSpPr>
              <a:spLocks/>
            </p:cNvSpPr>
            <p:nvPr/>
          </p:nvSpPr>
          <p:spPr bwMode="auto">
            <a:xfrm>
              <a:off x="3834" y="3222"/>
              <a:ext cx="148" cy="0"/>
            </a:xfrm>
            <a:custGeom>
              <a:avLst/>
              <a:gdLst>
                <a:gd name="T0" fmla="*/ 0 w 20000"/>
                <a:gd name="T1" fmla="*/ 0 h 20000"/>
                <a:gd name="T2" fmla="*/ 19924 w 20000"/>
                <a:gd name="T3" fmla="*/ 0 h 20000"/>
              </a:gdLst>
              <a:ahLst/>
              <a:cxnLst>
                <a:cxn ang="0">
                  <a:pos x="T0" y="T1"/>
                </a:cxn>
                <a:cxn ang="0">
                  <a:pos x="T2" y="T3"/>
                </a:cxn>
              </a:cxnLst>
              <a:rect l="0" t="0" r="r" b="b"/>
              <a:pathLst>
                <a:path w="20000" h="20000">
                  <a:moveTo>
                    <a:pt x="0" y="0"/>
                  </a:moveTo>
                  <a:lnTo>
                    <a:pt x="19924"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45" name="Freeform 53"/>
            <p:cNvSpPr>
              <a:spLocks/>
            </p:cNvSpPr>
            <p:nvPr/>
          </p:nvSpPr>
          <p:spPr bwMode="auto">
            <a:xfrm>
              <a:off x="3884" y="3274"/>
              <a:ext cx="56" cy="0"/>
            </a:xfrm>
            <a:custGeom>
              <a:avLst/>
              <a:gdLst>
                <a:gd name="T0" fmla="*/ 0 w 20000"/>
                <a:gd name="T1" fmla="*/ 0 h 20000"/>
                <a:gd name="T2" fmla="*/ 19798 w 20000"/>
                <a:gd name="T3" fmla="*/ 0 h 20000"/>
              </a:gdLst>
              <a:ahLst/>
              <a:cxnLst>
                <a:cxn ang="0">
                  <a:pos x="T0" y="T1"/>
                </a:cxn>
                <a:cxn ang="0">
                  <a:pos x="T2" y="T3"/>
                </a:cxn>
              </a:cxnLst>
              <a:rect l="0" t="0" r="r" b="b"/>
              <a:pathLst>
                <a:path w="20000" h="20000">
                  <a:moveTo>
                    <a:pt x="0" y="0"/>
                  </a:moveTo>
                  <a:lnTo>
                    <a:pt x="19798"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46" name="Arc 54"/>
            <p:cNvSpPr>
              <a:spLocks/>
            </p:cNvSpPr>
            <p:nvPr/>
          </p:nvSpPr>
          <p:spPr bwMode="auto">
            <a:xfrm>
              <a:off x="3185" y="1921"/>
              <a:ext cx="81" cy="9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47" name="Arc 55"/>
            <p:cNvSpPr>
              <a:spLocks/>
            </p:cNvSpPr>
            <p:nvPr/>
          </p:nvSpPr>
          <p:spPr bwMode="auto">
            <a:xfrm flipH="1">
              <a:off x="3110" y="1919"/>
              <a:ext cx="79" cy="9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48" name="Freeform 56"/>
            <p:cNvSpPr>
              <a:spLocks/>
            </p:cNvSpPr>
            <p:nvPr/>
          </p:nvSpPr>
          <p:spPr bwMode="auto">
            <a:xfrm>
              <a:off x="3113" y="2008"/>
              <a:ext cx="0" cy="58"/>
            </a:xfrm>
            <a:custGeom>
              <a:avLst/>
              <a:gdLst>
                <a:gd name="T0" fmla="*/ 0 w 20000"/>
                <a:gd name="T1" fmla="*/ 19808 h 20000"/>
                <a:gd name="T2" fmla="*/ 0 w 20000"/>
                <a:gd name="T3" fmla="*/ 0 h 20000"/>
              </a:gdLst>
              <a:ahLst/>
              <a:cxnLst>
                <a:cxn ang="0">
                  <a:pos x="T0" y="T1"/>
                </a:cxn>
                <a:cxn ang="0">
                  <a:pos x="T2" y="T3"/>
                </a:cxn>
              </a:cxnLst>
              <a:rect l="0" t="0" r="r" b="b"/>
              <a:pathLst>
                <a:path w="20000" h="20000">
                  <a:moveTo>
                    <a:pt x="0" y="19808"/>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49" name="Arc 57"/>
            <p:cNvSpPr>
              <a:spLocks/>
            </p:cNvSpPr>
            <p:nvPr/>
          </p:nvSpPr>
          <p:spPr bwMode="auto">
            <a:xfrm>
              <a:off x="3032" y="1919"/>
              <a:ext cx="78" cy="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50" name="Arc 58"/>
            <p:cNvSpPr>
              <a:spLocks/>
            </p:cNvSpPr>
            <p:nvPr/>
          </p:nvSpPr>
          <p:spPr bwMode="auto">
            <a:xfrm flipH="1">
              <a:off x="2954" y="1919"/>
              <a:ext cx="78" cy="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51" name="Freeform 59"/>
            <p:cNvSpPr>
              <a:spLocks/>
            </p:cNvSpPr>
            <p:nvPr/>
          </p:nvSpPr>
          <p:spPr bwMode="auto">
            <a:xfrm>
              <a:off x="2954" y="2000"/>
              <a:ext cx="1" cy="66"/>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52" name="Freeform 60"/>
            <p:cNvSpPr>
              <a:spLocks/>
            </p:cNvSpPr>
            <p:nvPr/>
          </p:nvSpPr>
          <p:spPr bwMode="auto">
            <a:xfrm>
              <a:off x="3266" y="1990"/>
              <a:ext cx="79" cy="80"/>
            </a:xfrm>
            <a:custGeom>
              <a:avLst/>
              <a:gdLst>
                <a:gd name="T0" fmla="*/ 0 w 20000"/>
                <a:gd name="T1" fmla="*/ 19789 h 20000"/>
                <a:gd name="T2" fmla="*/ 0 w 20000"/>
                <a:gd name="T3" fmla="*/ 0 h 20000"/>
              </a:gdLst>
              <a:ahLst/>
              <a:cxnLst>
                <a:cxn ang="0">
                  <a:pos x="T0" y="T1"/>
                </a:cxn>
                <a:cxn ang="0">
                  <a:pos x="T2" y="T3"/>
                </a:cxn>
              </a:cxnLst>
              <a:rect l="0" t="0" r="r" b="b"/>
              <a:pathLst>
                <a:path w="20000" h="20000">
                  <a:moveTo>
                    <a:pt x="0" y="19789"/>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53" name="Oval 61"/>
            <p:cNvSpPr>
              <a:spLocks noChangeArrowheads="1"/>
            </p:cNvSpPr>
            <p:nvPr/>
          </p:nvSpPr>
          <p:spPr bwMode="auto">
            <a:xfrm>
              <a:off x="675" y="1839"/>
              <a:ext cx="333" cy="331"/>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54" name="Line 62"/>
            <p:cNvSpPr>
              <a:spLocks noChangeShapeType="1"/>
            </p:cNvSpPr>
            <p:nvPr/>
          </p:nvSpPr>
          <p:spPr bwMode="auto">
            <a:xfrm>
              <a:off x="1015" y="2000"/>
              <a:ext cx="404" cy="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55" name="Line 63"/>
            <p:cNvSpPr>
              <a:spLocks noChangeShapeType="1"/>
            </p:cNvSpPr>
            <p:nvPr/>
          </p:nvSpPr>
          <p:spPr bwMode="auto">
            <a:xfrm>
              <a:off x="2000" y="2000"/>
              <a:ext cx="628" cy="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56" name="Line 64"/>
            <p:cNvSpPr>
              <a:spLocks noChangeShapeType="1"/>
            </p:cNvSpPr>
            <p:nvPr/>
          </p:nvSpPr>
          <p:spPr bwMode="auto">
            <a:xfrm flipH="1">
              <a:off x="2468" y="1758"/>
              <a:ext cx="2" cy="403"/>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57" name="Line 65"/>
            <p:cNvSpPr>
              <a:spLocks noChangeShapeType="1"/>
            </p:cNvSpPr>
            <p:nvPr/>
          </p:nvSpPr>
          <p:spPr bwMode="auto">
            <a:xfrm>
              <a:off x="4003" y="2000"/>
              <a:ext cx="717" cy="1"/>
            </a:xfrm>
            <a:prstGeom prst="line">
              <a:avLst/>
            </a:prstGeom>
            <a:noFill/>
            <a:ln w="28575">
              <a:solidFill>
                <a:schemeClr val="tx2"/>
              </a:solidFill>
              <a:prstDash val="sys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58" name="Line 66"/>
            <p:cNvSpPr>
              <a:spLocks noChangeShapeType="1"/>
            </p:cNvSpPr>
            <p:nvPr/>
          </p:nvSpPr>
          <p:spPr bwMode="auto">
            <a:xfrm>
              <a:off x="2789" y="2000"/>
              <a:ext cx="1209" cy="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59459" name="Group 67"/>
            <p:cNvGrpSpPr>
              <a:grpSpLocks/>
            </p:cNvGrpSpPr>
            <p:nvPr/>
          </p:nvGrpSpPr>
          <p:grpSpPr bwMode="auto">
            <a:xfrm>
              <a:off x="5055" y="1938"/>
              <a:ext cx="128" cy="125"/>
              <a:chOff x="43" y="0"/>
              <a:chExt cx="19957" cy="20000"/>
            </a:xfrm>
          </p:grpSpPr>
          <p:sp>
            <p:nvSpPr>
              <p:cNvPr id="59460" name="Line 68"/>
              <p:cNvSpPr>
                <a:spLocks noChangeShapeType="1"/>
              </p:cNvSpPr>
              <p:nvPr/>
            </p:nvSpPr>
            <p:spPr bwMode="auto">
              <a:xfrm flipH="1">
                <a:off x="43" y="0"/>
                <a:ext cx="19446"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61" name="Line 69"/>
              <p:cNvSpPr>
                <a:spLocks noChangeShapeType="1"/>
              </p:cNvSpPr>
              <p:nvPr/>
            </p:nvSpPr>
            <p:spPr bwMode="auto">
              <a:xfrm>
                <a:off x="554" y="0"/>
                <a:ext cx="19446"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59462" name="Line 70"/>
            <p:cNvSpPr>
              <a:spLocks noChangeShapeType="1"/>
            </p:cNvSpPr>
            <p:nvPr/>
          </p:nvSpPr>
          <p:spPr bwMode="auto">
            <a:xfrm>
              <a:off x="4725" y="2000"/>
              <a:ext cx="323" cy="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63" name="Line 71"/>
            <p:cNvSpPr>
              <a:spLocks noChangeShapeType="1"/>
            </p:cNvSpPr>
            <p:nvPr/>
          </p:nvSpPr>
          <p:spPr bwMode="auto">
            <a:xfrm>
              <a:off x="5208" y="2000"/>
              <a:ext cx="81" cy="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64" name="Line 72"/>
            <p:cNvSpPr>
              <a:spLocks noChangeShapeType="1"/>
            </p:cNvSpPr>
            <p:nvPr/>
          </p:nvSpPr>
          <p:spPr bwMode="auto">
            <a:xfrm>
              <a:off x="5289" y="1677"/>
              <a:ext cx="0" cy="576"/>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65" name="Line 73"/>
            <p:cNvSpPr>
              <a:spLocks noChangeShapeType="1"/>
            </p:cNvSpPr>
            <p:nvPr/>
          </p:nvSpPr>
          <p:spPr bwMode="auto">
            <a:xfrm>
              <a:off x="5289" y="1758"/>
              <a:ext cx="82" cy="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66" name="Line 74"/>
            <p:cNvSpPr>
              <a:spLocks noChangeShapeType="1"/>
            </p:cNvSpPr>
            <p:nvPr/>
          </p:nvSpPr>
          <p:spPr bwMode="auto">
            <a:xfrm>
              <a:off x="5530" y="1758"/>
              <a:ext cx="82" cy="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67" name="Line 75"/>
            <p:cNvSpPr>
              <a:spLocks noChangeShapeType="1"/>
            </p:cNvSpPr>
            <p:nvPr/>
          </p:nvSpPr>
          <p:spPr bwMode="auto">
            <a:xfrm>
              <a:off x="5289" y="2161"/>
              <a:ext cx="82"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68" name="Line 76"/>
            <p:cNvSpPr>
              <a:spLocks noChangeShapeType="1"/>
            </p:cNvSpPr>
            <p:nvPr/>
          </p:nvSpPr>
          <p:spPr bwMode="auto">
            <a:xfrm>
              <a:off x="5530" y="2161"/>
              <a:ext cx="82"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69" name="Line 77"/>
            <p:cNvSpPr>
              <a:spLocks noChangeShapeType="1"/>
            </p:cNvSpPr>
            <p:nvPr/>
          </p:nvSpPr>
          <p:spPr bwMode="auto">
            <a:xfrm>
              <a:off x="3917" y="2000"/>
              <a:ext cx="1" cy="322"/>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70" name="Line 78"/>
            <p:cNvSpPr>
              <a:spLocks noChangeShapeType="1"/>
            </p:cNvSpPr>
            <p:nvPr/>
          </p:nvSpPr>
          <p:spPr bwMode="auto">
            <a:xfrm>
              <a:off x="3914" y="3012"/>
              <a:ext cx="1" cy="16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71" name="Line 79"/>
            <p:cNvSpPr>
              <a:spLocks noChangeShapeType="1"/>
            </p:cNvSpPr>
            <p:nvPr/>
          </p:nvSpPr>
          <p:spPr bwMode="auto">
            <a:xfrm>
              <a:off x="3110" y="2122"/>
              <a:ext cx="0" cy="454"/>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72" name="Oval 80"/>
            <p:cNvSpPr>
              <a:spLocks noChangeArrowheads="1"/>
            </p:cNvSpPr>
            <p:nvPr/>
          </p:nvSpPr>
          <p:spPr bwMode="auto">
            <a:xfrm>
              <a:off x="2996" y="2579"/>
              <a:ext cx="241" cy="242"/>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73" name="Freeform 81"/>
            <p:cNvSpPr>
              <a:spLocks/>
            </p:cNvSpPr>
            <p:nvPr/>
          </p:nvSpPr>
          <p:spPr bwMode="auto">
            <a:xfrm>
              <a:off x="3324" y="2525"/>
              <a:ext cx="333" cy="0"/>
            </a:xfrm>
            <a:custGeom>
              <a:avLst/>
              <a:gdLst>
                <a:gd name="T0" fmla="*/ 19966 w 20000"/>
                <a:gd name="T1" fmla="*/ 0 h 20000"/>
                <a:gd name="T2" fmla="*/ 0 w 20000"/>
                <a:gd name="T3" fmla="*/ 0 h 20000"/>
              </a:gdLst>
              <a:ahLst/>
              <a:cxnLst>
                <a:cxn ang="0">
                  <a:pos x="T0" y="T1"/>
                </a:cxn>
                <a:cxn ang="0">
                  <a:pos x="T2" y="T3"/>
                </a:cxn>
              </a:cxnLst>
              <a:rect l="0" t="0" r="r" b="b"/>
              <a:pathLst>
                <a:path w="20000" h="20000">
                  <a:moveTo>
                    <a:pt x="19966" y="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74" name="Freeform 82"/>
            <p:cNvSpPr>
              <a:spLocks/>
            </p:cNvSpPr>
            <p:nvPr/>
          </p:nvSpPr>
          <p:spPr bwMode="auto">
            <a:xfrm>
              <a:off x="3333" y="2884"/>
              <a:ext cx="332" cy="1"/>
            </a:xfrm>
            <a:custGeom>
              <a:avLst/>
              <a:gdLst>
                <a:gd name="T0" fmla="*/ 19966 w 20000"/>
                <a:gd name="T1" fmla="*/ 0 h 20000"/>
                <a:gd name="T2" fmla="*/ 0 w 20000"/>
                <a:gd name="T3" fmla="*/ 0 h 20000"/>
              </a:gdLst>
              <a:ahLst/>
              <a:cxnLst>
                <a:cxn ang="0">
                  <a:pos x="T0" y="T1"/>
                </a:cxn>
                <a:cxn ang="0">
                  <a:pos x="T2" y="T3"/>
                </a:cxn>
              </a:cxnLst>
              <a:rect l="0" t="0" r="r" b="b"/>
              <a:pathLst>
                <a:path w="20000" h="20000">
                  <a:moveTo>
                    <a:pt x="19966" y="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59475" name="Group 83"/>
            <p:cNvGrpSpPr>
              <a:grpSpLocks/>
            </p:cNvGrpSpPr>
            <p:nvPr/>
          </p:nvGrpSpPr>
          <p:grpSpPr bwMode="auto">
            <a:xfrm>
              <a:off x="5391" y="1698"/>
              <a:ext cx="130" cy="125"/>
              <a:chOff x="0" y="0"/>
              <a:chExt cx="20000" cy="20000"/>
            </a:xfrm>
          </p:grpSpPr>
          <p:sp>
            <p:nvSpPr>
              <p:cNvPr id="59476" name="Line 84"/>
              <p:cNvSpPr>
                <a:spLocks noChangeShapeType="1"/>
              </p:cNvSpPr>
              <p:nvPr/>
            </p:nvSpPr>
            <p:spPr bwMode="auto">
              <a:xfrm flipH="1">
                <a:off x="0" y="0"/>
                <a:ext cx="19242"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77" name="Line 85"/>
              <p:cNvSpPr>
                <a:spLocks noChangeShapeType="1"/>
              </p:cNvSpPr>
              <p:nvPr/>
            </p:nvSpPr>
            <p:spPr bwMode="auto">
              <a:xfrm>
                <a:off x="758" y="0"/>
                <a:ext cx="19242"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59478" name="Group 86"/>
            <p:cNvGrpSpPr>
              <a:grpSpLocks/>
            </p:cNvGrpSpPr>
            <p:nvPr/>
          </p:nvGrpSpPr>
          <p:grpSpPr bwMode="auto">
            <a:xfrm>
              <a:off x="5391" y="2092"/>
              <a:ext cx="130" cy="125"/>
              <a:chOff x="0" y="0"/>
              <a:chExt cx="20000" cy="20000"/>
            </a:xfrm>
          </p:grpSpPr>
          <p:sp>
            <p:nvSpPr>
              <p:cNvPr id="59479" name="Line 87"/>
              <p:cNvSpPr>
                <a:spLocks noChangeShapeType="1"/>
              </p:cNvSpPr>
              <p:nvPr/>
            </p:nvSpPr>
            <p:spPr bwMode="auto">
              <a:xfrm flipH="1">
                <a:off x="0" y="0"/>
                <a:ext cx="19242"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80" name="Line 88"/>
              <p:cNvSpPr>
                <a:spLocks noChangeShapeType="1"/>
              </p:cNvSpPr>
              <p:nvPr/>
            </p:nvSpPr>
            <p:spPr bwMode="auto">
              <a:xfrm>
                <a:off x="758" y="0"/>
                <a:ext cx="19242"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59481" name="Group 89"/>
            <p:cNvGrpSpPr>
              <a:grpSpLocks/>
            </p:cNvGrpSpPr>
            <p:nvPr/>
          </p:nvGrpSpPr>
          <p:grpSpPr bwMode="auto">
            <a:xfrm>
              <a:off x="2648" y="1942"/>
              <a:ext cx="131" cy="125"/>
              <a:chOff x="0" y="0"/>
              <a:chExt cx="20000" cy="20000"/>
            </a:xfrm>
          </p:grpSpPr>
          <p:sp>
            <p:nvSpPr>
              <p:cNvPr id="59482" name="Line 90"/>
              <p:cNvSpPr>
                <a:spLocks noChangeShapeType="1"/>
              </p:cNvSpPr>
              <p:nvPr/>
            </p:nvSpPr>
            <p:spPr bwMode="auto">
              <a:xfrm flipH="1">
                <a:off x="0" y="0"/>
                <a:ext cx="19202"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83" name="Line 91"/>
              <p:cNvSpPr>
                <a:spLocks noChangeShapeType="1"/>
              </p:cNvSpPr>
              <p:nvPr/>
            </p:nvSpPr>
            <p:spPr bwMode="auto">
              <a:xfrm>
                <a:off x="798" y="0"/>
                <a:ext cx="19202"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59484" name="Line 92"/>
            <p:cNvSpPr>
              <a:spLocks noChangeShapeType="1"/>
            </p:cNvSpPr>
            <p:nvPr/>
          </p:nvSpPr>
          <p:spPr bwMode="auto">
            <a:xfrm>
              <a:off x="3109" y="2225"/>
              <a:ext cx="1" cy="221"/>
            </a:xfrm>
            <a:prstGeom prst="line">
              <a:avLst/>
            </a:prstGeom>
            <a:noFill/>
            <a:ln w="28575">
              <a:solidFill>
                <a:schemeClr val="tx2"/>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85" name="Line 93"/>
            <p:cNvSpPr>
              <a:spLocks noChangeShapeType="1"/>
            </p:cNvSpPr>
            <p:nvPr/>
          </p:nvSpPr>
          <p:spPr bwMode="auto">
            <a:xfrm flipH="1">
              <a:off x="701" y="1602"/>
              <a:ext cx="1756" cy="0"/>
            </a:xfrm>
            <a:prstGeom prst="line">
              <a:avLst/>
            </a:prstGeom>
            <a:noFill/>
            <a:ln w="28575">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86" name="Line 94"/>
            <p:cNvSpPr>
              <a:spLocks noChangeShapeType="1"/>
            </p:cNvSpPr>
            <p:nvPr/>
          </p:nvSpPr>
          <p:spPr bwMode="auto">
            <a:xfrm>
              <a:off x="2533" y="1602"/>
              <a:ext cx="2740" cy="0"/>
            </a:xfrm>
            <a:prstGeom prst="line">
              <a:avLst/>
            </a:prstGeom>
            <a:noFill/>
            <a:ln w="28575">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87" name="Rectangle 95"/>
            <p:cNvSpPr>
              <a:spLocks noChangeArrowheads="1"/>
            </p:cNvSpPr>
            <p:nvPr/>
          </p:nvSpPr>
          <p:spPr bwMode="auto">
            <a:xfrm>
              <a:off x="3822" y="1369"/>
              <a:ext cx="243"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Z</a:t>
              </a:r>
              <a:r>
                <a:rPr lang="en-GB" altLang="en-US" sz="1600" baseline="-25000">
                  <a:solidFill>
                    <a:schemeClr val="tx2"/>
                  </a:solidFill>
                  <a:latin typeface="Futura Md BT" pitchFamily="34" charset="0"/>
                </a:rPr>
                <a:t>L</a:t>
              </a:r>
              <a:endParaRPr lang="en-GB" altLang="en-US" sz="1600">
                <a:solidFill>
                  <a:schemeClr val="tx2"/>
                </a:solidFill>
                <a:latin typeface="Futura Md BT" pitchFamily="34" charset="0"/>
              </a:endParaRPr>
            </a:p>
          </p:txBody>
        </p:sp>
        <p:sp>
          <p:nvSpPr>
            <p:cNvPr id="59488" name="Rectangle 96"/>
            <p:cNvSpPr>
              <a:spLocks noChangeArrowheads="1"/>
            </p:cNvSpPr>
            <p:nvPr/>
          </p:nvSpPr>
          <p:spPr bwMode="auto">
            <a:xfrm>
              <a:off x="1536" y="1358"/>
              <a:ext cx="301"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Z</a:t>
              </a:r>
              <a:r>
                <a:rPr lang="en-GB" altLang="en-US" sz="1600" baseline="-25000">
                  <a:solidFill>
                    <a:schemeClr val="tx2"/>
                  </a:solidFill>
                  <a:latin typeface="Futura Md BT" pitchFamily="34" charset="0"/>
                </a:rPr>
                <a:t>S</a:t>
              </a:r>
              <a:endParaRPr lang="en-GB" altLang="en-US" sz="1600">
                <a:solidFill>
                  <a:schemeClr val="tx2"/>
                </a:solidFill>
                <a:latin typeface="Futura Md BT" pitchFamily="34" charset="0"/>
              </a:endParaRPr>
            </a:p>
          </p:txBody>
        </p:sp>
        <p:sp>
          <p:nvSpPr>
            <p:cNvPr id="59489" name="Rectangle 97"/>
            <p:cNvSpPr>
              <a:spLocks noChangeArrowheads="1"/>
            </p:cNvSpPr>
            <p:nvPr/>
          </p:nvSpPr>
          <p:spPr bwMode="auto">
            <a:xfrm>
              <a:off x="541" y="2200"/>
              <a:ext cx="1254" cy="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b="1" dirty="0">
                  <a:solidFill>
                    <a:schemeClr val="tx2"/>
                  </a:solidFill>
                  <a:latin typeface="Arial" panose="020B0604020202020204" pitchFamily="34" charset="0"/>
                  <a:cs typeface="Arial" panose="020B0604020202020204" pitchFamily="34" charset="0"/>
                </a:rPr>
                <a:t>Generation</a:t>
              </a:r>
            </a:p>
          </p:txBody>
        </p:sp>
        <p:sp>
          <p:nvSpPr>
            <p:cNvPr id="59490" name="Rectangle 98"/>
            <p:cNvSpPr>
              <a:spLocks noChangeArrowheads="1"/>
            </p:cNvSpPr>
            <p:nvPr/>
          </p:nvSpPr>
          <p:spPr bwMode="auto">
            <a:xfrm>
              <a:off x="2201" y="2450"/>
              <a:ext cx="1056"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b="1" dirty="0">
                  <a:solidFill>
                    <a:schemeClr val="tx2"/>
                  </a:solidFill>
                  <a:latin typeface="Arial" panose="020B0604020202020204" pitchFamily="34" charset="0"/>
                  <a:cs typeface="Arial" panose="020B0604020202020204" pitchFamily="34" charset="0"/>
                </a:rPr>
                <a:t>Distance</a:t>
              </a:r>
            </a:p>
            <a:p>
              <a:r>
                <a:rPr lang="en-GB" altLang="en-US" sz="1600" b="1" dirty="0">
                  <a:solidFill>
                    <a:schemeClr val="tx2"/>
                  </a:solidFill>
                  <a:latin typeface="Arial" panose="020B0604020202020204" pitchFamily="34" charset="0"/>
                  <a:cs typeface="Arial" panose="020B0604020202020204" pitchFamily="34" charset="0"/>
                </a:rPr>
                <a:t>Relay</a:t>
              </a:r>
            </a:p>
          </p:txBody>
        </p:sp>
        <p:sp>
          <p:nvSpPr>
            <p:cNvPr id="59491" name="Rectangle 99"/>
            <p:cNvSpPr>
              <a:spLocks noChangeArrowheads="1"/>
            </p:cNvSpPr>
            <p:nvPr/>
          </p:nvSpPr>
          <p:spPr bwMode="auto">
            <a:xfrm>
              <a:off x="3173" y="2223"/>
              <a:ext cx="236" cy="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Times New Roman" panose="02020603050405020304" pitchFamily="18" charset="0"/>
                </a:rPr>
                <a:t>I</a:t>
              </a:r>
              <a:r>
                <a:rPr lang="en-GB" altLang="en-US" sz="1600" baseline="-25000">
                  <a:solidFill>
                    <a:schemeClr val="tx2"/>
                  </a:solidFill>
                  <a:latin typeface="Futura Md BT" pitchFamily="34" charset="0"/>
                </a:rPr>
                <a:t>R</a:t>
              </a:r>
              <a:endParaRPr lang="en-GB" altLang="en-US" sz="1600">
                <a:solidFill>
                  <a:schemeClr val="tx2"/>
                </a:solidFill>
                <a:latin typeface="Futura Md BT" pitchFamily="34" charset="0"/>
              </a:endParaRPr>
            </a:p>
          </p:txBody>
        </p:sp>
        <p:sp>
          <p:nvSpPr>
            <p:cNvPr id="59492" name="Rectangle 100"/>
            <p:cNvSpPr>
              <a:spLocks noChangeArrowheads="1"/>
            </p:cNvSpPr>
            <p:nvPr/>
          </p:nvSpPr>
          <p:spPr bwMode="auto">
            <a:xfrm>
              <a:off x="3020" y="2612"/>
              <a:ext cx="235"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dirty="0">
                  <a:solidFill>
                    <a:schemeClr val="tx2"/>
                  </a:solidFill>
                  <a:latin typeface="Futura Md BT" pitchFamily="34" charset="0"/>
                </a:rPr>
                <a:t>21</a:t>
              </a:r>
            </a:p>
          </p:txBody>
        </p:sp>
        <p:sp>
          <p:nvSpPr>
            <p:cNvPr id="59493" name="Rectangle 101"/>
            <p:cNvSpPr>
              <a:spLocks noChangeArrowheads="1"/>
            </p:cNvSpPr>
            <p:nvPr/>
          </p:nvSpPr>
          <p:spPr bwMode="auto">
            <a:xfrm>
              <a:off x="3400" y="2592"/>
              <a:ext cx="259" cy="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V</a:t>
              </a:r>
              <a:r>
                <a:rPr lang="en-GB" altLang="en-US" sz="1600" baseline="-25000">
                  <a:solidFill>
                    <a:schemeClr val="tx2"/>
                  </a:solidFill>
                  <a:latin typeface="Futura Md BT" pitchFamily="34" charset="0"/>
                </a:rPr>
                <a:t>R</a:t>
              </a:r>
              <a:endParaRPr lang="en-GB" altLang="en-US" sz="1600">
                <a:solidFill>
                  <a:schemeClr val="tx2"/>
                </a:solidFill>
                <a:latin typeface="Futura Md BT" pitchFamily="34" charset="0"/>
              </a:endParaRPr>
            </a:p>
          </p:txBody>
        </p:sp>
        <p:sp>
          <p:nvSpPr>
            <p:cNvPr id="59494" name="Freeform 102"/>
            <p:cNvSpPr>
              <a:spLocks/>
            </p:cNvSpPr>
            <p:nvPr/>
          </p:nvSpPr>
          <p:spPr bwMode="auto">
            <a:xfrm>
              <a:off x="752" y="1964"/>
              <a:ext cx="193" cy="78"/>
            </a:xfrm>
            <a:custGeom>
              <a:avLst/>
              <a:gdLst>
                <a:gd name="T0" fmla="*/ 0 w 1668"/>
                <a:gd name="T1" fmla="*/ 345 h 684"/>
                <a:gd name="T2" fmla="*/ 3 w 1668"/>
                <a:gd name="T3" fmla="*/ 291 h 684"/>
                <a:gd name="T4" fmla="*/ 27 w 1668"/>
                <a:gd name="T5" fmla="*/ 228 h 684"/>
                <a:gd name="T6" fmla="*/ 54 w 1668"/>
                <a:gd name="T7" fmla="*/ 180 h 684"/>
                <a:gd name="T8" fmla="*/ 96 w 1668"/>
                <a:gd name="T9" fmla="*/ 132 h 684"/>
                <a:gd name="T10" fmla="*/ 129 w 1668"/>
                <a:gd name="T11" fmla="*/ 96 h 684"/>
                <a:gd name="T12" fmla="*/ 180 w 1668"/>
                <a:gd name="T13" fmla="*/ 60 h 684"/>
                <a:gd name="T14" fmla="*/ 243 w 1668"/>
                <a:gd name="T15" fmla="*/ 30 h 684"/>
                <a:gd name="T16" fmla="*/ 315 w 1668"/>
                <a:gd name="T17" fmla="*/ 9 h 684"/>
                <a:gd name="T18" fmla="*/ 369 w 1668"/>
                <a:gd name="T19" fmla="*/ 0 h 684"/>
                <a:gd name="T20" fmla="*/ 444 w 1668"/>
                <a:gd name="T21" fmla="*/ 0 h 684"/>
                <a:gd name="T22" fmla="*/ 537 w 1668"/>
                <a:gd name="T23" fmla="*/ 12 h 684"/>
                <a:gd name="T24" fmla="*/ 612 w 1668"/>
                <a:gd name="T25" fmla="*/ 39 h 684"/>
                <a:gd name="T26" fmla="*/ 669 w 1668"/>
                <a:gd name="T27" fmla="*/ 72 h 684"/>
                <a:gd name="T28" fmla="*/ 717 w 1668"/>
                <a:gd name="T29" fmla="*/ 108 h 684"/>
                <a:gd name="T30" fmla="*/ 768 w 1668"/>
                <a:gd name="T31" fmla="*/ 162 h 684"/>
                <a:gd name="T32" fmla="*/ 801 w 1668"/>
                <a:gd name="T33" fmla="*/ 210 h 684"/>
                <a:gd name="T34" fmla="*/ 819 w 1668"/>
                <a:gd name="T35" fmla="*/ 267 h 684"/>
                <a:gd name="T36" fmla="*/ 834 w 1668"/>
                <a:gd name="T37" fmla="*/ 333 h 684"/>
                <a:gd name="T38" fmla="*/ 843 w 1668"/>
                <a:gd name="T39" fmla="*/ 396 h 684"/>
                <a:gd name="T40" fmla="*/ 864 w 1668"/>
                <a:gd name="T41" fmla="*/ 462 h 684"/>
                <a:gd name="T42" fmla="*/ 897 w 1668"/>
                <a:gd name="T43" fmla="*/ 507 h 684"/>
                <a:gd name="T44" fmla="*/ 939 w 1668"/>
                <a:gd name="T45" fmla="*/ 561 h 684"/>
                <a:gd name="T46" fmla="*/ 990 w 1668"/>
                <a:gd name="T47" fmla="*/ 603 h 684"/>
                <a:gd name="T48" fmla="*/ 1044 w 1668"/>
                <a:gd name="T49" fmla="*/ 630 h 684"/>
                <a:gd name="T50" fmla="*/ 1101 w 1668"/>
                <a:gd name="T51" fmla="*/ 660 h 684"/>
                <a:gd name="T52" fmla="*/ 1182 w 1668"/>
                <a:gd name="T53" fmla="*/ 675 h 684"/>
                <a:gd name="T54" fmla="*/ 1269 w 1668"/>
                <a:gd name="T55" fmla="*/ 684 h 684"/>
                <a:gd name="T56" fmla="*/ 1350 w 1668"/>
                <a:gd name="T57" fmla="*/ 672 h 684"/>
                <a:gd name="T58" fmla="*/ 1425 w 1668"/>
                <a:gd name="T59" fmla="*/ 648 h 684"/>
                <a:gd name="T60" fmla="*/ 1491 w 1668"/>
                <a:gd name="T61" fmla="*/ 618 h 684"/>
                <a:gd name="T62" fmla="*/ 1545 w 1668"/>
                <a:gd name="T63" fmla="*/ 576 h 684"/>
                <a:gd name="T64" fmla="*/ 1596 w 1668"/>
                <a:gd name="T65" fmla="*/ 525 h 684"/>
                <a:gd name="T66" fmla="*/ 1629 w 1668"/>
                <a:gd name="T67" fmla="*/ 483 h 684"/>
                <a:gd name="T68" fmla="*/ 1641 w 1668"/>
                <a:gd name="T69" fmla="*/ 444 h 684"/>
                <a:gd name="T70" fmla="*/ 1659 w 1668"/>
                <a:gd name="T71" fmla="*/ 384 h 684"/>
                <a:gd name="T72" fmla="*/ 1668 w 1668"/>
                <a:gd name="T73" fmla="*/ 336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68" h="684">
                  <a:moveTo>
                    <a:pt x="0" y="345"/>
                  </a:moveTo>
                  <a:lnTo>
                    <a:pt x="3" y="291"/>
                  </a:lnTo>
                  <a:lnTo>
                    <a:pt x="27" y="228"/>
                  </a:lnTo>
                  <a:lnTo>
                    <a:pt x="54" y="180"/>
                  </a:lnTo>
                  <a:lnTo>
                    <a:pt x="96" y="132"/>
                  </a:lnTo>
                  <a:lnTo>
                    <a:pt x="129" y="96"/>
                  </a:lnTo>
                  <a:lnTo>
                    <a:pt x="180" y="60"/>
                  </a:lnTo>
                  <a:lnTo>
                    <a:pt x="243" y="30"/>
                  </a:lnTo>
                  <a:lnTo>
                    <a:pt x="315" y="9"/>
                  </a:lnTo>
                  <a:lnTo>
                    <a:pt x="369" y="0"/>
                  </a:lnTo>
                  <a:lnTo>
                    <a:pt x="444" y="0"/>
                  </a:lnTo>
                  <a:lnTo>
                    <a:pt x="537" y="12"/>
                  </a:lnTo>
                  <a:lnTo>
                    <a:pt x="612" y="39"/>
                  </a:lnTo>
                  <a:lnTo>
                    <a:pt x="669" y="72"/>
                  </a:lnTo>
                  <a:lnTo>
                    <a:pt x="717" y="108"/>
                  </a:lnTo>
                  <a:lnTo>
                    <a:pt x="768" y="162"/>
                  </a:lnTo>
                  <a:lnTo>
                    <a:pt x="801" y="210"/>
                  </a:lnTo>
                  <a:lnTo>
                    <a:pt x="819" y="267"/>
                  </a:lnTo>
                  <a:lnTo>
                    <a:pt x="834" y="333"/>
                  </a:lnTo>
                  <a:lnTo>
                    <a:pt x="843" y="396"/>
                  </a:lnTo>
                  <a:lnTo>
                    <a:pt x="864" y="462"/>
                  </a:lnTo>
                  <a:lnTo>
                    <a:pt x="897" y="507"/>
                  </a:lnTo>
                  <a:lnTo>
                    <a:pt x="939" y="561"/>
                  </a:lnTo>
                  <a:lnTo>
                    <a:pt x="990" y="603"/>
                  </a:lnTo>
                  <a:lnTo>
                    <a:pt x="1044" y="630"/>
                  </a:lnTo>
                  <a:lnTo>
                    <a:pt x="1101" y="660"/>
                  </a:lnTo>
                  <a:lnTo>
                    <a:pt x="1182" y="675"/>
                  </a:lnTo>
                  <a:lnTo>
                    <a:pt x="1269" y="684"/>
                  </a:lnTo>
                  <a:lnTo>
                    <a:pt x="1350" y="672"/>
                  </a:lnTo>
                  <a:lnTo>
                    <a:pt x="1425" y="648"/>
                  </a:lnTo>
                  <a:lnTo>
                    <a:pt x="1491" y="618"/>
                  </a:lnTo>
                  <a:lnTo>
                    <a:pt x="1545" y="576"/>
                  </a:lnTo>
                  <a:lnTo>
                    <a:pt x="1596" y="525"/>
                  </a:lnTo>
                  <a:lnTo>
                    <a:pt x="1629" y="483"/>
                  </a:lnTo>
                  <a:lnTo>
                    <a:pt x="1641" y="444"/>
                  </a:lnTo>
                  <a:lnTo>
                    <a:pt x="1659" y="384"/>
                  </a:lnTo>
                  <a:lnTo>
                    <a:pt x="1668" y="336"/>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grpSp>
          <p:nvGrpSpPr>
            <p:cNvPr id="59495" name="Group 103"/>
            <p:cNvGrpSpPr>
              <a:grpSpLocks/>
            </p:cNvGrpSpPr>
            <p:nvPr/>
          </p:nvGrpSpPr>
          <p:grpSpPr bwMode="auto">
            <a:xfrm rot="-5400000">
              <a:off x="3490" y="2588"/>
              <a:ext cx="752" cy="109"/>
              <a:chOff x="1266" y="1976"/>
              <a:chExt cx="996" cy="145"/>
            </a:xfrm>
          </p:grpSpPr>
          <p:grpSp>
            <p:nvGrpSpPr>
              <p:cNvPr id="59496" name="Group 104"/>
              <p:cNvGrpSpPr>
                <a:grpSpLocks/>
              </p:cNvGrpSpPr>
              <p:nvPr/>
            </p:nvGrpSpPr>
            <p:grpSpPr bwMode="auto">
              <a:xfrm>
                <a:off x="1266" y="1976"/>
                <a:ext cx="376" cy="145"/>
                <a:chOff x="2916" y="1262"/>
                <a:chExt cx="1680" cy="648"/>
              </a:xfrm>
            </p:grpSpPr>
            <p:sp>
              <p:nvSpPr>
                <p:cNvPr id="59497" name="Arc 105"/>
                <p:cNvSpPr>
                  <a:spLocks/>
                </p:cNvSpPr>
                <p:nvPr/>
              </p:nvSpPr>
              <p:spPr bwMode="auto">
                <a:xfrm>
                  <a:off x="3950" y="1266"/>
                  <a:ext cx="355" cy="39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98" name="Arc 106"/>
                <p:cNvSpPr>
                  <a:spLocks/>
                </p:cNvSpPr>
                <p:nvPr/>
              </p:nvSpPr>
              <p:spPr bwMode="auto">
                <a:xfrm flipH="1">
                  <a:off x="3606" y="1266"/>
                  <a:ext cx="344" cy="39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499" name="Freeform 107"/>
                <p:cNvSpPr>
                  <a:spLocks/>
                </p:cNvSpPr>
                <p:nvPr/>
              </p:nvSpPr>
              <p:spPr bwMode="auto">
                <a:xfrm>
                  <a:off x="3605" y="1656"/>
                  <a:ext cx="27" cy="247"/>
                </a:xfrm>
                <a:custGeom>
                  <a:avLst/>
                  <a:gdLst>
                    <a:gd name="T0" fmla="*/ 0 w 20000"/>
                    <a:gd name="T1" fmla="*/ 19770 h 20000"/>
                    <a:gd name="T2" fmla="*/ 0 w 20000"/>
                    <a:gd name="T3" fmla="*/ 0 h 20000"/>
                  </a:gdLst>
                  <a:ahLst/>
                  <a:cxnLst>
                    <a:cxn ang="0">
                      <a:pos x="T0" y="T1"/>
                    </a:cxn>
                    <a:cxn ang="0">
                      <a:pos x="T2" y="T3"/>
                    </a:cxn>
                  </a:cxnLst>
                  <a:rect l="0" t="0" r="r" b="b"/>
                  <a:pathLst>
                    <a:path w="20000" h="20000">
                      <a:moveTo>
                        <a:pt x="0" y="1977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00" name="Arc 108"/>
                <p:cNvSpPr>
                  <a:spLocks/>
                </p:cNvSpPr>
                <p:nvPr/>
              </p:nvSpPr>
              <p:spPr bwMode="auto">
                <a:xfrm>
                  <a:off x="3249" y="1262"/>
                  <a:ext cx="359" cy="40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01" name="Arc 109"/>
                <p:cNvSpPr>
                  <a:spLocks/>
                </p:cNvSpPr>
                <p:nvPr/>
              </p:nvSpPr>
              <p:spPr bwMode="auto">
                <a:xfrm flipH="1">
                  <a:off x="2916" y="1262"/>
                  <a:ext cx="344" cy="40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02" name="Freeform 110"/>
                <p:cNvSpPr>
                  <a:spLocks/>
                </p:cNvSpPr>
                <p:nvPr/>
              </p:nvSpPr>
              <p:spPr bwMode="auto">
                <a:xfrm>
                  <a:off x="2920" y="1613"/>
                  <a:ext cx="4" cy="294"/>
                </a:xfrm>
                <a:custGeom>
                  <a:avLst/>
                  <a:gdLst>
                    <a:gd name="T0" fmla="*/ 0 w 20000"/>
                    <a:gd name="T1" fmla="*/ 0 h 20000"/>
                    <a:gd name="T2" fmla="*/ 0 w 20000"/>
                    <a:gd name="T3" fmla="*/ 19798 h 20000"/>
                  </a:gdLst>
                  <a:ahLst/>
                  <a:cxnLst>
                    <a:cxn ang="0">
                      <a:pos x="T0" y="T1"/>
                    </a:cxn>
                    <a:cxn ang="0">
                      <a:pos x="T2" y="T3"/>
                    </a:cxn>
                  </a:cxnLst>
                  <a:rect l="0" t="0" r="r" b="b"/>
                  <a:pathLst>
                    <a:path w="20000" h="20000">
                      <a:moveTo>
                        <a:pt x="0" y="0"/>
                      </a:moveTo>
                      <a:lnTo>
                        <a:pt x="0" y="1979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03" name="Freeform 111"/>
                <p:cNvSpPr>
                  <a:spLocks/>
                </p:cNvSpPr>
                <p:nvPr/>
              </p:nvSpPr>
              <p:spPr bwMode="auto">
                <a:xfrm>
                  <a:off x="4302" y="1598"/>
                  <a:ext cx="294" cy="312"/>
                </a:xfrm>
                <a:custGeom>
                  <a:avLst/>
                  <a:gdLst>
                    <a:gd name="T0" fmla="*/ 0 w 20000"/>
                    <a:gd name="T1" fmla="*/ 19750 h 20000"/>
                    <a:gd name="T2" fmla="*/ 0 w 20000"/>
                    <a:gd name="T3" fmla="*/ 0 h 20000"/>
                  </a:gdLst>
                  <a:ahLst/>
                  <a:cxnLst>
                    <a:cxn ang="0">
                      <a:pos x="T0" y="T1"/>
                    </a:cxn>
                    <a:cxn ang="0">
                      <a:pos x="T2" y="T3"/>
                    </a:cxn>
                  </a:cxnLst>
                  <a:rect l="0" t="0" r="r" b="b"/>
                  <a:pathLst>
                    <a:path w="20000" h="20000">
                      <a:moveTo>
                        <a:pt x="0" y="1975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59504" name="Group 112"/>
              <p:cNvGrpSpPr>
                <a:grpSpLocks/>
              </p:cNvGrpSpPr>
              <p:nvPr/>
            </p:nvGrpSpPr>
            <p:grpSpPr bwMode="auto">
              <a:xfrm>
                <a:off x="1575" y="1976"/>
                <a:ext cx="375" cy="145"/>
                <a:chOff x="2916" y="1262"/>
                <a:chExt cx="1680" cy="648"/>
              </a:xfrm>
            </p:grpSpPr>
            <p:sp>
              <p:nvSpPr>
                <p:cNvPr id="59505" name="Arc 113"/>
                <p:cNvSpPr>
                  <a:spLocks/>
                </p:cNvSpPr>
                <p:nvPr/>
              </p:nvSpPr>
              <p:spPr bwMode="auto">
                <a:xfrm>
                  <a:off x="3950" y="1266"/>
                  <a:ext cx="355" cy="39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06" name="Arc 114"/>
                <p:cNvSpPr>
                  <a:spLocks/>
                </p:cNvSpPr>
                <p:nvPr/>
              </p:nvSpPr>
              <p:spPr bwMode="auto">
                <a:xfrm flipH="1">
                  <a:off x="3606" y="1266"/>
                  <a:ext cx="344" cy="39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07" name="Freeform 115"/>
                <p:cNvSpPr>
                  <a:spLocks/>
                </p:cNvSpPr>
                <p:nvPr/>
              </p:nvSpPr>
              <p:spPr bwMode="auto">
                <a:xfrm>
                  <a:off x="3605" y="1656"/>
                  <a:ext cx="27" cy="247"/>
                </a:xfrm>
                <a:custGeom>
                  <a:avLst/>
                  <a:gdLst>
                    <a:gd name="T0" fmla="*/ 0 w 20000"/>
                    <a:gd name="T1" fmla="*/ 19770 h 20000"/>
                    <a:gd name="T2" fmla="*/ 0 w 20000"/>
                    <a:gd name="T3" fmla="*/ 0 h 20000"/>
                  </a:gdLst>
                  <a:ahLst/>
                  <a:cxnLst>
                    <a:cxn ang="0">
                      <a:pos x="T0" y="T1"/>
                    </a:cxn>
                    <a:cxn ang="0">
                      <a:pos x="T2" y="T3"/>
                    </a:cxn>
                  </a:cxnLst>
                  <a:rect l="0" t="0" r="r" b="b"/>
                  <a:pathLst>
                    <a:path w="20000" h="20000">
                      <a:moveTo>
                        <a:pt x="0" y="1977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08" name="Arc 116"/>
                <p:cNvSpPr>
                  <a:spLocks/>
                </p:cNvSpPr>
                <p:nvPr/>
              </p:nvSpPr>
              <p:spPr bwMode="auto">
                <a:xfrm>
                  <a:off x="3249" y="1262"/>
                  <a:ext cx="359" cy="40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09" name="Arc 117"/>
                <p:cNvSpPr>
                  <a:spLocks/>
                </p:cNvSpPr>
                <p:nvPr/>
              </p:nvSpPr>
              <p:spPr bwMode="auto">
                <a:xfrm flipH="1">
                  <a:off x="2916" y="1262"/>
                  <a:ext cx="344" cy="40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10" name="Freeform 118"/>
                <p:cNvSpPr>
                  <a:spLocks/>
                </p:cNvSpPr>
                <p:nvPr/>
              </p:nvSpPr>
              <p:spPr bwMode="auto">
                <a:xfrm>
                  <a:off x="2920" y="1613"/>
                  <a:ext cx="4" cy="294"/>
                </a:xfrm>
                <a:custGeom>
                  <a:avLst/>
                  <a:gdLst>
                    <a:gd name="T0" fmla="*/ 0 w 20000"/>
                    <a:gd name="T1" fmla="*/ 0 h 20000"/>
                    <a:gd name="T2" fmla="*/ 0 w 20000"/>
                    <a:gd name="T3" fmla="*/ 19798 h 20000"/>
                  </a:gdLst>
                  <a:ahLst/>
                  <a:cxnLst>
                    <a:cxn ang="0">
                      <a:pos x="T0" y="T1"/>
                    </a:cxn>
                    <a:cxn ang="0">
                      <a:pos x="T2" y="T3"/>
                    </a:cxn>
                  </a:cxnLst>
                  <a:rect l="0" t="0" r="r" b="b"/>
                  <a:pathLst>
                    <a:path w="20000" h="20000">
                      <a:moveTo>
                        <a:pt x="0" y="0"/>
                      </a:moveTo>
                      <a:lnTo>
                        <a:pt x="0" y="1979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11" name="Freeform 119"/>
                <p:cNvSpPr>
                  <a:spLocks/>
                </p:cNvSpPr>
                <p:nvPr/>
              </p:nvSpPr>
              <p:spPr bwMode="auto">
                <a:xfrm>
                  <a:off x="4302" y="1598"/>
                  <a:ext cx="294" cy="312"/>
                </a:xfrm>
                <a:custGeom>
                  <a:avLst/>
                  <a:gdLst>
                    <a:gd name="T0" fmla="*/ 0 w 20000"/>
                    <a:gd name="T1" fmla="*/ 19750 h 20000"/>
                    <a:gd name="T2" fmla="*/ 0 w 20000"/>
                    <a:gd name="T3" fmla="*/ 0 h 20000"/>
                  </a:gdLst>
                  <a:ahLst/>
                  <a:cxnLst>
                    <a:cxn ang="0">
                      <a:pos x="T0" y="T1"/>
                    </a:cxn>
                    <a:cxn ang="0">
                      <a:pos x="T2" y="T3"/>
                    </a:cxn>
                  </a:cxnLst>
                  <a:rect l="0" t="0" r="r" b="b"/>
                  <a:pathLst>
                    <a:path w="20000" h="20000">
                      <a:moveTo>
                        <a:pt x="0" y="1975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59512" name="Group 120"/>
              <p:cNvGrpSpPr>
                <a:grpSpLocks/>
              </p:cNvGrpSpPr>
              <p:nvPr/>
            </p:nvGrpSpPr>
            <p:grpSpPr bwMode="auto">
              <a:xfrm>
                <a:off x="1886" y="1976"/>
                <a:ext cx="376" cy="145"/>
                <a:chOff x="2916" y="1262"/>
                <a:chExt cx="1680" cy="648"/>
              </a:xfrm>
            </p:grpSpPr>
            <p:sp>
              <p:nvSpPr>
                <p:cNvPr id="59513" name="Arc 121"/>
                <p:cNvSpPr>
                  <a:spLocks/>
                </p:cNvSpPr>
                <p:nvPr/>
              </p:nvSpPr>
              <p:spPr bwMode="auto">
                <a:xfrm>
                  <a:off x="3950" y="1266"/>
                  <a:ext cx="355" cy="39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14" name="Arc 122"/>
                <p:cNvSpPr>
                  <a:spLocks/>
                </p:cNvSpPr>
                <p:nvPr/>
              </p:nvSpPr>
              <p:spPr bwMode="auto">
                <a:xfrm flipH="1">
                  <a:off x="3606" y="1266"/>
                  <a:ext cx="344" cy="39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15" name="Freeform 123"/>
                <p:cNvSpPr>
                  <a:spLocks/>
                </p:cNvSpPr>
                <p:nvPr/>
              </p:nvSpPr>
              <p:spPr bwMode="auto">
                <a:xfrm>
                  <a:off x="3605" y="1656"/>
                  <a:ext cx="27" cy="247"/>
                </a:xfrm>
                <a:custGeom>
                  <a:avLst/>
                  <a:gdLst>
                    <a:gd name="T0" fmla="*/ 0 w 20000"/>
                    <a:gd name="T1" fmla="*/ 19770 h 20000"/>
                    <a:gd name="T2" fmla="*/ 0 w 20000"/>
                    <a:gd name="T3" fmla="*/ 0 h 20000"/>
                  </a:gdLst>
                  <a:ahLst/>
                  <a:cxnLst>
                    <a:cxn ang="0">
                      <a:pos x="T0" y="T1"/>
                    </a:cxn>
                    <a:cxn ang="0">
                      <a:pos x="T2" y="T3"/>
                    </a:cxn>
                  </a:cxnLst>
                  <a:rect l="0" t="0" r="r" b="b"/>
                  <a:pathLst>
                    <a:path w="20000" h="20000">
                      <a:moveTo>
                        <a:pt x="0" y="1977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16" name="Arc 124"/>
                <p:cNvSpPr>
                  <a:spLocks/>
                </p:cNvSpPr>
                <p:nvPr/>
              </p:nvSpPr>
              <p:spPr bwMode="auto">
                <a:xfrm>
                  <a:off x="3249" y="1262"/>
                  <a:ext cx="359" cy="40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17" name="Arc 125"/>
                <p:cNvSpPr>
                  <a:spLocks/>
                </p:cNvSpPr>
                <p:nvPr/>
              </p:nvSpPr>
              <p:spPr bwMode="auto">
                <a:xfrm flipH="1">
                  <a:off x="2916" y="1262"/>
                  <a:ext cx="344" cy="40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18" name="Freeform 126"/>
                <p:cNvSpPr>
                  <a:spLocks/>
                </p:cNvSpPr>
                <p:nvPr/>
              </p:nvSpPr>
              <p:spPr bwMode="auto">
                <a:xfrm>
                  <a:off x="2920" y="1613"/>
                  <a:ext cx="4" cy="294"/>
                </a:xfrm>
                <a:custGeom>
                  <a:avLst/>
                  <a:gdLst>
                    <a:gd name="T0" fmla="*/ 0 w 20000"/>
                    <a:gd name="T1" fmla="*/ 0 h 20000"/>
                    <a:gd name="T2" fmla="*/ 0 w 20000"/>
                    <a:gd name="T3" fmla="*/ 19798 h 20000"/>
                  </a:gdLst>
                  <a:ahLst/>
                  <a:cxnLst>
                    <a:cxn ang="0">
                      <a:pos x="T0" y="T1"/>
                    </a:cxn>
                    <a:cxn ang="0">
                      <a:pos x="T2" y="T3"/>
                    </a:cxn>
                  </a:cxnLst>
                  <a:rect l="0" t="0" r="r" b="b"/>
                  <a:pathLst>
                    <a:path w="20000" h="20000">
                      <a:moveTo>
                        <a:pt x="0" y="0"/>
                      </a:moveTo>
                      <a:lnTo>
                        <a:pt x="0" y="1979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19" name="Freeform 127"/>
                <p:cNvSpPr>
                  <a:spLocks/>
                </p:cNvSpPr>
                <p:nvPr/>
              </p:nvSpPr>
              <p:spPr bwMode="auto">
                <a:xfrm>
                  <a:off x="4302" y="1598"/>
                  <a:ext cx="294" cy="312"/>
                </a:xfrm>
                <a:custGeom>
                  <a:avLst/>
                  <a:gdLst>
                    <a:gd name="T0" fmla="*/ 0 w 20000"/>
                    <a:gd name="T1" fmla="*/ 19750 h 20000"/>
                    <a:gd name="T2" fmla="*/ 0 w 20000"/>
                    <a:gd name="T3" fmla="*/ 0 h 20000"/>
                  </a:gdLst>
                  <a:ahLst/>
                  <a:cxnLst>
                    <a:cxn ang="0">
                      <a:pos x="T0" y="T1"/>
                    </a:cxn>
                    <a:cxn ang="0">
                      <a:pos x="T2" y="T3"/>
                    </a:cxn>
                  </a:cxnLst>
                  <a:rect l="0" t="0" r="r" b="b"/>
                  <a:pathLst>
                    <a:path w="20000" h="20000">
                      <a:moveTo>
                        <a:pt x="0" y="1975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59520" name="Group 128"/>
            <p:cNvGrpSpPr>
              <a:grpSpLocks/>
            </p:cNvGrpSpPr>
            <p:nvPr/>
          </p:nvGrpSpPr>
          <p:grpSpPr bwMode="auto">
            <a:xfrm flipH="1">
              <a:off x="3645" y="2521"/>
              <a:ext cx="113" cy="365"/>
              <a:chOff x="4515" y="2709"/>
              <a:chExt cx="119" cy="384"/>
            </a:xfrm>
          </p:grpSpPr>
          <p:grpSp>
            <p:nvGrpSpPr>
              <p:cNvPr id="59521" name="Group 129"/>
              <p:cNvGrpSpPr>
                <a:grpSpLocks/>
              </p:cNvGrpSpPr>
              <p:nvPr/>
            </p:nvGrpSpPr>
            <p:grpSpPr bwMode="auto">
              <a:xfrm rot="-5400000">
                <a:off x="4422" y="2881"/>
                <a:ext cx="306" cy="118"/>
                <a:chOff x="2916" y="1262"/>
                <a:chExt cx="1680" cy="648"/>
              </a:xfrm>
            </p:grpSpPr>
            <p:sp>
              <p:nvSpPr>
                <p:cNvPr id="59522" name="Arc 130"/>
                <p:cNvSpPr>
                  <a:spLocks/>
                </p:cNvSpPr>
                <p:nvPr/>
              </p:nvSpPr>
              <p:spPr bwMode="auto">
                <a:xfrm>
                  <a:off x="3950" y="1266"/>
                  <a:ext cx="355" cy="39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23" name="Arc 131"/>
                <p:cNvSpPr>
                  <a:spLocks/>
                </p:cNvSpPr>
                <p:nvPr/>
              </p:nvSpPr>
              <p:spPr bwMode="auto">
                <a:xfrm flipH="1">
                  <a:off x="3606" y="1266"/>
                  <a:ext cx="344" cy="39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24" name="Freeform 132"/>
                <p:cNvSpPr>
                  <a:spLocks/>
                </p:cNvSpPr>
                <p:nvPr/>
              </p:nvSpPr>
              <p:spPr bwMode="auto">
                <a:xfrm>
                  <a:off x="3605" y="1656"/>
                  <a:ext cx="27" cy="247"/>
                </a:xfrm>
                <a:custGeom>
                  <a:avLst/>
                  <a:gdLst>
                    <a:gd name="T0" fmla="*/ 0 w 20000"/>
                    <a:gd name="T1" fmla="*/ 19770 h 20000"/>
                    <a:gd name="T2" fmla="*/ 0 w 20000"/>
                    <a:gd name="T3" fmla="*/ 0 h 20000"/>
                  </a:gdLst>
                  <a:ahLst/>
                  <a:cxnLst>
                    <a:cxn ang="0">
                      <a:pos x="T0" y="T1"/>
                    </a:cxn>
                    <a:cxn ang="0">
                      <a:pos x="T2" y="T3"/>
                    </a:cxn>
                  </a:cxnLst>
                  <a:rect l="0" t="0" r="r" b="b"/>
                  <a:pathLst>
                    <a:path w="20000" h="20000">
                      <a:moveTo>
                        <a:pt x="0" y="1977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25" name="Arc 133"/>
                <p:cNvSpPr>
                  <a:spLocks/>
                </p:cNvSpPr>
                <p:nvPr/>
              </p:nvSpPr>
              <p:spPr bwMode="auto">
                <a:xfrm>
                  <a:off x="3249" y="1262"/>
                  <a:ext cx="359" cy="40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26" name="Arc 134"/>
                <p:cNvSpPr>
                  <a:spLocks/>
                </p:cNvSpPr>
                <p:nvPr/>
              </p:nvSpPr>
              <p:spPr bwMode="auto">
                <a:xfrm flipH="1">
                  <a:off x="2916" y="1262"/>
                  <a:ext cx="344" cy="40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27" name="Freeform 135"/>
                <p:cNvSpPr>
                  <a:spLocks/>
                </p:cNvSpPr>
                <p:nvPr/>
              </p:nvSpPr>
              <p:spPr bwMode="auto">
                <a:xfrm>
                  <a:off x="2920" y="1613"/>
                  <a:ext cx="4" cy="294"/>
                </a:xfrm>
                <a:custGeom>
                  <a:avLst/>
                  <a:gdLst>
                    <a:gd name="T0" fmla="*/ 0 w 20000"/>
                    <a:gd name="T1" fmla="*/ 0 h 20000"/>
                    <a:gd name="T2" fmla="*/ 0 w 20000"/>
                    <a:gd name="T3" fmla="*/ 19798 h 20000"/>
                  </a:gdLst>
                  <a:ahLst/>
                  <a:cxnLst>
                    <a:cxn ang="0">
                      <a:pos x="T0" y="T1"/>
                    </a:cxn>
                    <a:cxn ang="0">
                      <a:pos x="T2" y="T3"/>
                    </a:cxn>
                  </a:cxnLst>
                  <a:rect l="0" t="0" r="r" b="b"/>
                  <a:pathLst>
                    <a:path w="20000" h="20000">
                      <a:moveTo>
                        <a:pt x="0" y="0"/>
                      </a:moveTo>
                      <a:lnTo>
                        <a:pt x="0" y="1979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28" name="Freeform 136"/>
                <p:cNvSpPr>
                  <a:spLocks/>
                </p:cNvSpPr>
                <p:nvPr/>
              </p:nvSpPr>
              <p:spPr bwMode="auto">
                <a:xfrm>
                  <a:off x="4302" y="1598"/>
                  <a:ext cx="294" cy="312"/>
                </a:xfrm>
                <a:custGeom>
                  <a:avLst/>
                  <a:gdLst>
                    <a:gd name="T0" fmla="*/ 0 w 20000"/>
                    <a:gd name="T1" fmla="*/ 19750 h 20000"/>
                    <a:gd name="T2" fmla="*/ 0 w 20000"/>
                    <a:gd name="T3" fmla="*/ 0 h 20000"/>
                  </a:gdLst>
                  <a:ahLst/>
                  <a:cxnLst>
                    <a:cxn ang="0">
                      <a:pos x="T0" y="T1"/>
                    </a:cxn>
                    <a:cxn ang="0">
                      <a:pos x="T2" y="T3"/>
                    </a:cxn>
                  </a:cxnLst>
                  <a:rect l="0" t="0" r="r" b="b"/>
                  <a:pathLst>
                    <a:path w="20000" h="20000">
                      <a:moveTo>
                        <a:pt x="0" y="1975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59529" name="Freeform 137"/>
              <p:cNvSpPr>
                <a:spLocks/>
              </p:cNvSpPr>
              <p:nvPr/>
            </p:nvSpPr>
            <p:spPr bwMode="auto">
              <a:xfrm rot="-5400000">
                <a:off x="4607" y="2689"/>
                <a:ext cx="5" cy="45"/>
              </a:xfrm>
              <a:custGeom>
                <a:avLst/>
                <a:gdLst>
                  <a:gd name="T0" fmla="*/ 0 w 20000"/>
                  <a:gd name="T1" fmla="*/ 19770 h 20000"/>
                  <a:gd name="T2" fmla="*/ 0 w 20000"/>
                  <a:gd name="T3" fmla="*/ 0 h 20000"/>
                </a:gdLst>
                <a:ahLst/>
                <a:cxnLst>
                  <a:cxn ang="0">
                    <a:pos x="T0" y="T1"/>
                  </a:cxn>
                  <a:cxn ang="0">
                    <a:pos x="T2" y="T3"/>
                  </a:cxn>
                </a:cxnLst>
                <a:rect l="0" t="0" r="r" b="b"/>
                <a:pathLst>
                  <a:path w="20000" h="20000">
                    <a:moveTo>
                      <a:pt x="0" y="1977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30" name="Arc 138"/>
              <p:cNvSpPr>
                <a:spLocks/>
              </p:cNvSpPr>
              <p:nvPr/>
            </p:nvSpPr>
            <p:spPr bwMode="auto">
              <a:xfrm rot="-5400000">
                <a:off x="4519" y="2710"/>
                <a:ext cx="66" cy="7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31" name="Arc 139"/>
              <p:cNvSpPr>
                <a:spLocks/>
              </p:cNvSpPr>
              <p:nvPr/>
            </p:nvSpPr>
            <p:spPr bwMode="auto">
              <a:xfrm rot="16200000" flipH="1">
                <a:off x="4521" y="2772"/>
                <a:ext cx="62" cy="7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32" name="Freeform 140"/>
              <p:cNvSpPr>
                <a:spLocks/>
              </p:cNvSpPr>
              <p:nvPr/>
            </p:nvSpPr>
            <p:spPr bwMode="auto">
              <a:xfrm rot="-5400000">
                <a:off x="4606" y="2812"/>
                <a:ext cx="0" cy="53"/>
              </a:xfrm>
              <a:custGeom>
                <a:avLst/>
                <a:gdLst>
                  <a:gd name="T0" fmla="*/ 0 w 20000"/>
                  <a:gd name="T1" fmla="*/ 0 h 20000"/>
                  <a:gd name="T2" fmla="*/ 0 w 20000"/>
                  <a:gd name="T3" fmla="*/ 19798 h 20000"/>
                </a:gdLst>
                <a:ahLst/>
                <a:cxnLst>
                  <a:cxn ang="0">
                    <a:pos x="T0" y="T1"/>
                  </a:cxn>
                  <a:cxn ang="0">
                    <a:pos x="T2" y="T3"/>
                  </a:cxn>
                </a:cxnLst>
                <a:rect l="0" t="0" r="r" b="b"/>
                <a:pathLst>
                  <a:path w="20000" h="20000">
                    <a:moveTo>
                      <a:pt x="0" y="0"/>
                    </a:moveTo>
                    <a:lnTo>
                      <a:pt x="0" y="1979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Tree>
    <p:extLst>
      <p:ext uri="{BB962C8B-B14F-4D97-AF65-F5344CB8AC3E}">
        <p14:creationId xmlns:p14="http://schemas.microsoft.com/office/powerpoint/2010/main" val="2260748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3" name="Rectangle 23"/>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a:t>Basic Principle of Distance Protection</a:t>
            </a:r>
          </a:p>
        </p:txBody>
      </p:sp>
      <p:grpSp>
        <p:nvGrpSpPr>
          <p:cNvPr id="61490" name="Group 50"/>
          <p:cNvGrpSpPr>
            <a:grpSpLocks/>
          </p:cNvGrpSpPr>
          <p:nvPr/>
        </p:nvGrpSpPr>
        <p:grpSpPr bwMode="auto">
          <a:xfrm>
            <a:off x="876300" y="1687513"/>
            <a:ext cx="7864475" cy="3784600"/>
            <a:chOff x="552" y="1063"/>
            <a:chExt cx="4954" cy="2384"/>
          </a:xfrm>
        </p:grpSpPr>
        <p:graphicFrame>
          <p:nvGraphicFramePr>
            <p:cNvPr id="61486" name="Object 46"/>
            <p:cNvGraphicFramePr>
              <a:graphicFrameLocks noChangeAspect="1"/>
            </p:cNvGraphicFramePr>
            <p:nvPr/>
          </p:nvGraphicFramePr>
          <p:xfrm>
            <a:off x="750" y="2943"/>
            <a:ext cx="4520" cy="504"/>
          </p:xfrm>
          <a:graphic>
            <a:graphicData uri="http://schemas.openxmlformats.org/presentationml/2006/ole">
              <mc:AlternateContent xmlns:mc="http://schemas.openxmlformats.org/markup-compatibility/2006">
                <mc:Choice xmlns:v="urn:schemas-microsoft-com:vml" Requires="v">
                  <p:oleObj spid="_x0000_s1086562" name="Equation" r:id="rId4" imgW="7175160" imgH="799920" progId="Equation.3">
                    <p:embed/>
                  </p:oleObj>
                </mc:Choice>
                <mc:Fallback>
                  <p:oleObj name="Equation" r:id="rId4" imgW="7175160" imgH="799920" progId="Equation.3">
                    <p:embed/>
                    <p:pic>
                      <p:nvPicPr>
                        <p:cNvPr id="61486" name="Object 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0" y="2943"/>
                          <a:ext cx="4520" cy="5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66" name="Line 26"/>
            <p:cNvSpPr>
              <a:spLocks noChangeShapeType="1"/>
            </p:cNvSpPr>
            <p:nvPr/>
          </p:nvSpPr>
          <p:spPr bwMode="auto">
            <a:xfrm>
              <a:off x="704" y="1566"/>
              <a:ext cx="0" cy="313"/>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1467" name="Rectangle 27"/>
            <p:cNvSpPr>
              <a:spLocks noChangeArrowheads="1"/>
            </p:cNvSpPr>
            <p:nvPr/>
          </p:nvSpPr>
          <p:spPr bwMode="auto">
            <a:xfrm>
              <a:off x="2037" y="1063"/>
              <a:ext cx="635" cy="5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r>
                <a:rPr lang="en-GB" altLang="en-US" sz="1600" b="1" dirty="0">
                  <a:solidFill>
                    <a:schemeClr val="tx2"/>
                  </a:solidFill>
                  <a:latin typeface="Arial" panose="020B0604020202020204" pitchFamily="34" charset="0"/>
                  <a:cs typeface="Arial" panose="020B0604020202020204" pitchFamily="34" charset="0"/>
                </a:rPr>
                <a:t>Relay</a:t>
              </a:r>
            </a:p>
            <a:p>
              <a:pPr algn="ctr"/>
              <a:r>
                <a:rPr lang="en-GB" altLang="en-US" sz="1600" b="1" dirty="0">
                  <a:solidFill>
                    <a:schemeClr val="tx2"/>
                  </a:solidFill>
                  <a:latin typeface="Arial" panose="020B0604020202020204" pitchFamily="34" charset="0"/>
                  <a:cs typeface="Arial" panose="020B0604020202020204" pitchFamily="34" charset="0"/>
                </a:rPr>
                <a:t>PT.</a:t>
              </a:r>
            </a:p>
          </p:txBody>
        </p:sp>
        <p:sp>
          <p:nvSpPr>
            <p:cNvPr id="61468" name="Rectangle 28"/>
            <p:cNvSpPr>
              <a:spLocks noChangeArrowheads="1"/>
            </p:cNvSpPr>
            <p:nvPr/>
          </p:nvSpPr>
          <p:spPr bwMode="auto">
            <a:xfrm>
              <a:off x="4920" y="1837"/>
              <a:ext cx="586" cy="4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r>
                <a:rPr lang="en-GB" altLang="en-US" sz="1600" b="1" u="sng" dirty="0">
                  <a:solidFill>
                    <a:schemeClr val="tx2"/>
                  </a:solidFill>
                  <a:latin typeface="Arial" panose="020B0604020202020204" pitchFamily="34" charset="0"/>
                  <a:cs typeface="Arial" panose="020B0604020202020204" pitchFamily="34" charset="0"/>
                </a:rPr>
                <a:t>Normal  Load</a:t>
              </a:r>
            </a:p>
          </p:txBody>
        </p:sp>
        <p:sp>
          <p:nvSpPr>
            <p:cNvPr id="61469" name="Rectangle 29"/>
            <p:cNvSpPr>
              <a:spLocks noChangeArrowheads="1"/>
            </p:cNvSpPr>
            <p:nvPr/>
          </p:nvSpPr>
          <p:spPr bwMode="auto">
            <a:xfrm>
              <a:off x="2722" y="1306"/>
              <a:ext cx="226"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dirty="0">
                  <a:solidFill>
                    <a:schemeClr val="tx2"/>
                  </a:solidFill>
                  <a:latin typeface="Arial" panose="020B0604020202020204" pitchFamily="34" charset="0"/>
                  <a:cs typeface="Arial" panose="020B0604020202020204" pitchFamily="34" charset="0"/>
                </a:rPr>
                <a:t>I</a:t>
              </a:r>
              <a:r>
                <a:rPr lang="en-GB" altLang="en-US" sz="1600" baseline="-25000" dirty="0">
                  <a:solidFill>
                    <a:schemeClr val="tx2"/>
                  </a:solidFill>
                  <a:latin typeface="Arial" panose="020B0604020202020204" pitchFamily="34" charset="0"/>
                  <a:cs typeface="Arial" panose="020B0604020202020204" pitchFamily="34" charset="0"/>
                </a:rPr>
                <a:t>R</a:t>
              </a:r>
              <a:endParaRPr lang="en-GB" altLang="en-US" sz="1600" dirty="0">
                <a:solidFill>
                  <a:schemeClr val="tx2"/>
                </a:solidFill>
                <a:latin typeface="Arial" panose="020B0604020202020204" pitchFamily="34" charset="0"/>
                <a:cs typeface="Arial" panose="020B0604020202020204" pitchFamily="34" charset="0"/>
              </a:endParaRPr>
            </a:p>
          </p:txBody>
        </p:sp>
        <p:sp>
          <p:nvSpPr>
            <p:cNvPr id="61470" name="Rectangle 30"/>
            <p:cNvSpPr>
              <a:spLocks noChangeArrowheads="1"/>
            </p:cNvSpPr>
            <p:nvPr/>
          </p:nvSpPr>
          <p:spPr bwMode="auto">
            <a:xfrm>
              <a:off x="3736" y="1290"/>
              <a:ext cx="250"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Z</a:t>
              </a:r>
              <a:r>
                <a:rPr lang="en-GB" altLang="en-US" sz="1600" baseline="-25000">
                  <a:solidFill>
                    <a:schemeClr val="tx2"/>
                  </a:solidFill>
                  <a:latin typeface="Futura Md BT" pitchFamily="34" charset="0"/>
                </a:rPr>
                <a:t>L</a:t>
              </a:r>
              <a:endParaRPr lang="en-GB" altLang="en-US" sz="1600">
                <a:solidFill>
                  <a:schemeClr val="tx2"/>
                </a:solidFill>
                <a:latin typeface="Futura Md BT" pitchFamily="34" charset="0"/>
              </a:endParaRPr>
            </a:p>
          </p:txBody>
        </p:sp>
        <p:sp>
          <p:nvSpPr>
            <p:cNvPr id="61471" name="Rectangle 31"/>
            <p:cNvSpPr>
              <a:spLocks noChangeArrowheads="1"/>
            </p:cNvSpPr>
            <p:nvPr/>
          </p:nvSpPr>
          <p:spPr bwMode="auto">
            <a:xfrm>
              <a:off x="1427" y="1273"/>
              <a:ext cx="250"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Z</a:t>
              </a:r>
              <a:r>
                <a:rPr lang="en-GB" altLang="en-US" sz="1600" baseline="-25000">
                  <a:solidFill>
                    <a:schemeClr val="tx2"/>
                  </a:solidFill>
                  <a:latin typeface="Futura Md BT" pitchFamily="34" charset="0"/>
                </a:rPr>
                <a:t>S</a:t>
              </a:r>
              <a:endParaRPr lang="en-GB" altLang="en-US" sz="1600">
                <a:solidFill>
                  <a:schemeClr val="tx2"/>
                </a:solidFill>
                <a:latin typeface="Futura Md BT" pitchFamily="34" charset="0"/>
              </a:endParaRPr>
            </a:p>
          </p:txBody>
        </p:sp>
        <p:sp>
          <p:nvSpPr>
            <p:cNvPr id="61472" name="Rectangle 32"/>
            <p:cNvSpPr>
              <a:spLocks noChangeArrowheads="1"/>
            </p:cNvSpPr>
            <p:nvPr/>
          </p:nvSpPr>
          <p:spPr bwMode="auto">
            <a:xfrm>
              <a:off x="2398" y="1924"/>
              <a:ext cx="249"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V</a:t>
              </a:r>
              <a:r>
                <a:rPr lang="en-GB" altLang="en-US" sz="1600" baseline="-25000">
                  <a:solidFill>
                    <a:schemeClr val="tx2"/>
                  </a:solidFill>
                  <a:latin typeface="Futura Md BT" pitchFamily="34" charset="0"/>
                </a:rPr>
                <a:t>R</a:t>
              </a:r>
              <a:endParaRPr lang="en-GB" altLang="en-US" sz="1600">
                <a:solidFill>
                  <a:schemeClr val="tx2"/>
                </a:solidFill>
                <a:latin typeface="Futura Md BT" pitchFamily="34" charset="0"/>
              </a:endParaRPr>
            </a:p>
          </p:txBody>
        </p:sp>
        <p:sp>
          <p:nvSpPr>
            <p:cNvPr id="61473" name="Rectangle 33"/>
            <p:cNvSpPr>
              <a:spLocks noChangeArrowheads="1"/>
            </p:cNvSpPr>
            <p:nvPr/>
          </p:nvSpPr>
          <p:spPr bwMode="auto">
            <a:xfrm>
              <a:off x="920" y="1936"/>
              <a:ext cx="249"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V</a:t>
              </a:r>
              <a:r>
                <a:rPr lang="en-GB" altLang="en-US" sz="1600" baseline="-25000">
                  <a:solidFill>
                    <a:schemeClr val="tx2"/>
                  </a:solidFill>
                  <a:latin typeface="Futura Md BT" pitchFamily="34" charset="0"/>
                </a:rPr>
                <a:t>S</a:t>
              </a:r>
              <a:endParaRPr lang="en-GB" altLang="en-US" sz="1600">
                <a:solidFill>
                  <a:schemeClr val="tx2"/>
                </a:solidFill>
                <a:latin typeface="Futura Md BT" pitchFamily="34" charset="0"/>
              </a:endParaRPr>
            </a:p>
          </p:txBody>
        </p:sp>
        <p:sp>
          <p:nvSpPr>
            <p:cNvPr id="61474" name="Rectangle 34"/>
            <p:cNvSpPr>
              <a:spLocks noChangeArrowheads="1"/>
            </p:cNvSpPr>
            <p:nvPr/>
          </p:nvSpPr>
          <p:spPr bwMode="auto">
            <a:xfrm>
              <a:off x="4383" y="1907"/>
              <a:ext cx="492"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Z</a:t>
              </a:r>
              <a:r>
                <a:rPr lang="en-GB" altLang="en-US" sz="1600" baseline="-25000">
                  <a:solidFill>
                    <a:schemeClr val="tx2"/>
                  </a:solidFill>
                  <a:latin typeface="Futura Md BT" pitchFamily="34" charset="0"/>
                </a:rPr>
                <a:t>LOAD</a:t>
              </a:r>
              <a:endParaRPr lang="en-GB" altLang="en-US" sz="1600">
                <a:solidFill>
                  <a:schemeClr val="tx2"/>
                </a:solidFill>
                <a:latin typeface="Futura Md BT" pitchFamily="34" charset="0"/>
              </a:endParaRPr>
            </a:p>
          </p:txBody>
        </p:sp>
        <p:sp>
          <p:nvSpPr>
            <p:cNvPr id="61475" name="Oval 35"/>
            <p:cNvSpPr>
              <a:spLocks noChangeArrowheads="1"/>
            </p:cNvSpPr>
            <p:nvPr/>
          </p:nvSpPr>
          <p:spPr bwMode="auto">
            <a:xfrm>
              <a:off x="552" y="1878"/>
              <a:ext cx="319" cy="31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476" name="Line 36"/>
            <p:cNvSpPr>
              <a:spLocks noChangeShapeType="1"/>
            </p:cNvSpPr>
            <p:nvPr/>
          </p:nvSpPr>
          <p:spPr bwMode="auto">
            <a:xfrm>
              <a:off x="706" y="1569"/>
              <a:ext cx="4167"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477" name="Rectangle 37"/>
            <p:cNvSpPr>
              <a:spLocks noChangeArrowheads="1"/>
            </p:cNvSpPr>
            <p:nvPr/>
          </p:nvSpPr>
          <p:spPr bwMode="auto">
            <a:xfrm>
              <a:off x="1325" y="1492"/>
              <a:ext cx="386" cy="154"/>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478" name="Line 38"/>
            <p:cNvSpPr>
              <a:spLocks noChangeShapeType="1"/>
            </p:cNvSpPr>
            <p:nvPr/>
          </p:nvSpPr>
          <p:spPr bwMode="auto">
            <a:xfrm>
              <a:off x="706" y="2497"/>
              <a:ext cx="4173" cy="0"/>
            </a:xfrm>
            <a:prstGeom prst="line">
              <a:avLst/>
            </a:prstGeom>
            <a:noFill/>
            <a:ln w="28575">
              <a:solidFill>
                <a:schemeClr val="tx2"/>
              </a:solidFill>
              <a:prstDash val="sys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479" name="Line 39"/>
            <p:cNvSpPr>
              <a:spLocks noChangeShapeType="1"/>
            </p:cNvSpPr>
            <p:nvPr/>
          </p:nvSpPr>
          <p:spPr bwMode="auto">
            <a:xfrm flipH="1" flipV="1">
              <a:off x="2330" y="1647"/>
              <a:ext cx="2" cy="767"/>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480" name="Rectangle 40"/>
            <p:cNvSpPr>
              <a:spLocks noChangeArrowheads="1"/>
            </p:cNvSpPr>
            <p:nvPr/>
          </p:nvSpPr>
          <p:spPr bwMode="auto">
            <a:xfrm>
              <a:off x="3642" y="1492"/>
              <a:ext cx="386" cy="154"/>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481" name="Line 41"/>
            <p:cNvSpPr>
              <a:spLocks noChangeShapeType="1"/>
            </p:cNvSpPr>
            <p:nvPr/>
          </p:nvSpPr>
          <p:spPr bwMode="auto">
            <a:xfrm>
              <a:off x="4870" y="1569"/>
              <a:ext cx="1" cy="92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482" name="Rectangle 42"/>
            <p:cNvSpPr>
              <a:spLocks noChangeArrowheads="1"/>
            </p:cNvSpPr>
            <p:nvPr/>
          </p:nvSpPr>
          <p:spPr bwMode="auto">
            <a:xfrm>
              <a:off x="4789" y="1801"/>
              <a:ext cx="156" cy="387"/>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483" name="Line 43"/>
            <p:cNvSpPr>
              <a:spLocks noChangeShapeType="1"/>
            </p:cNvSpPr>
            <p:nvPr/>
          </p:nvSpPr>
          <p:spPr bwMode="auto">
            <a:xfrm>
              <a:off x="2744" y="1565"/>
              <a:ext cx="137" cy="1"/>
            </a:xfrm>
            <a:prstGeom prst="line">
              <a:avLst/>
            </a:prstGeom>
            <a:noFill/>
            <a:ln w="28575">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484" name="Oval 44"/>
            <p:cNvSpPr>
              <a:spLocks noChangeArrowheads="1"/>
            </p:cNvSpPr>
            <p:nvPr/>
          </p:nvSpPr>
          <p:spPr bwMode="auto">
            <a:xfrm>
              <a:off x="2294" y="1542"/>
              <a:ext cx="60" cy="59"/>
            </a:xfrm>
            <a:prstGeom prst="ellipse">
              <a:avLst/>
            </a:prstGeom>
            <a:solidFill>
              <a:srgbClr val="000000"/>
            </a:solidFill>
            <a:ln w="28575">
              <a:solidFill>
                <a:schemeClr val="tx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485" name="Freeform 45"/>
            <p:cNvSpPr>
              <a:spLocks/>
            </p:cNvSpPr>
            <p:nvPr/>
          </p:nvSpPr>
          <p:spPr bwMode="auto">
            <a:xfrm>
              <a:off x="633" y="2007"/>
              <a:ext cx="186" cy="75"/>
            </a:xfrm>
            <a:custGeom>
              <a:avLst/>
              <a:gdLst>
                <a:gd name="T0" fmla="*/ 0 w 1668"/>
                <a:gd name="T1" fmla="*/ 345 h 684"/>
                <a:gd name="T2" fmla="*/ 3 w 1668"/>
                <a:gd name="T3" fmla="*/ 291 h 684"/>
                <a:gd name="T4" fmla="*/ 27 w 1668"/>
                <a:gd name="T5" fmla="*/ 228 h 684"/>
                <a:gd name="T6" fmla="*/ 54 w 1668"/>
                <a:gd name="T7" fmla="*/ 180 h 684"/>
                <a:gd name="T8" fmla="*/ 96 w 1668"/>
                <a:gd name="T9" fmla="*/ 132 h 684"/>
                <a:gd name="T10" fmla="*/ 129 w 1668"/>
                <a:gd name="T11" fmla="*/ 96 h 684"/>
                <a:gd name="T12" fmla="*/ 180 w 1668"/>
                <a:gd name="T13" fmla="*/ 60 h 684"/>
                <a:gd name="T14" fmla="*/ 243 w 1668"/>
                <a:gd name="T15" fmla="*/ 30 h 684"/>
                <a:gd name="T16" fmla="*/ 315 w 1668"/>
                <a:gd name="T17" fmla="*/ 9 h 684"/>
                <a:gd name="T18" fmla="*/ 369 w 1668"/>
                <a:gd name="T19" fmla="*/ 0 h 684"/>
                <a:gd name="T20" fmla="*/ 444 w 1668"/>
                <a:gd name="T21" fmla="*/ 0 h 684"/>
                <a:gd name="T22" fmla="*/ 537 w 1668"/>
                <a:gd name="T23" fmla="*/ 12 h 684"/>
                <a:gd name="T24" fmla="*/ 612 w 1668"/>
                <a:gd name="T25" fmla="*/ 39 h 684"/>
                <a:gd name="T26" fmla="*/ 669 w 1668"/>
                <a:gd name="T27" fmla="*/ 72 h 684"/>
                <a:gd name="T28" fmla="*/ 717 w 1668"/>
                <a:gd name="T29" fmla="*/ 108 h 684"/>
                <a:gd name="T30" fmla="*/ 768 w 1668"/>
                <a:gd name="T31" fmla="*/ 162 h 684"/>
                <a:gd name="T32" fmla="*/ 801 w 1668"/>
                <a:gd name="T33" fmla="*/ 210 h 684"/>
                <a:gd name="T34" fmla="*/ 819 w 1668"/>
                <a:gd name="T35" fmla="*/ 267 h 684"/>
                <a:gd name="T36" fmla="*/ 834 w 1668"/>
                <a:gd name="T37" fmla="*/ 333 h 684"/>
                <a:gd name="T38" fmla="*/ 843 w 1668"/>
                <a:gd name="T39" fmla="*/ 396 h 684"/>
                <a:gd name="T40" fmla="*/ 864 w 1668"/>
                <a:gd name="T41" fmla="*/ 462 h 684"/>
                <a:gd name="T42" fmla="*/ 897 w 1668"/>
                <a:gd name="T43" fmla="*/ 507 h 684"/>
                <a:gd name="T44" fmla="*/ 939 w 1668"/>
                <a:gd name="T45" fmla="*/ 561 h 684"/>
                <a:gd name="T46" fmla="*/ 990 w 1668"/>
                <a:gd name="T47" fmla="*/ 603 h 684"/>
                <a:gd name="T48" fmla="*/ 1044 w 1668"/>
                <a:gd name="T49" fmla="*/ 630 h 684"/>
                <a:gd name="T50" fmla="*/ 1101 w 1668"/>
                <a:gd name="T51" fmla="*/ 660 h 684"/>
                <a:gd name="T52" fmla="*/ 1182 w 1668"/>
                <a:gd name="T53" fmla="*/ 675 h 684"/>
                <a:gd name="T54" fmla="*/ 1269 w 1668"/>
                <a:gd name="T55" fmla="*/ 684 h 684"/>
                <a:gd name="T56" fmla="*/ 1350 w 1668"/>
                <a:gd name="T57" fmla="*/ 672 h 684"/>
                <a:gd name="T58" fmla="*/ 1425 w 1668"/>
                <a:gd name="T59" fmla="*/ 648 h 684"/>
                <a:gd name="T60" fmla="*/ 1491 w 1668"/>
                <a:gd name="T61" fmla="*/ 618 h 684"/>
                <a:gd name="T62" fmla="*/ 1545 w 1668"/>
                <a:gd name="T63" fmla="*/ 576 h 684"/>
                <a:gd name="T64" fmla="*/ 1596 w 1668"/>
                <a:gd name="T65" fmla="*/ 525 h 684"/>
                <a:gd name="T66" fmla="*/ 1629 w 1668"/>
                <a:gd name="T67" fmla="*/ 483 h 684"/>
                <a:gd name="T68" fmla="*/ 1641 w 1668"/>
                <a:gd name="T69" fmla="*/ 444 h 684"/>
                <a:gd name="T70" fmla="*/ 1659 w 1668"/>
                <a:gd name="T71" fmla="*/ 384 h 684"/>
                <a:gd name="T72" fmla="*/ 1668 w 1668"/>
                <a:gd name="T73" fmla="*/ 336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68" h="684">
                  <a:moveTo>
                    <a:pt x="0" y="345"/>
                  </a:moveTo>
                  <a:lnTo>
                    <a:pt x="3" y="291"/>
                  </a:lnTo>
                  <a:lnTo>
                    <a:pt x="27" y="228"/>
                  </a:lnTo>
                  <a:lnTo>
                    <a:pt x="54" y="180"/>
                  </a:lnTo>
                  <a:lnTo>
                    <a:pt x="96" y="132"/>
                  </a:lnTo>
                  <a:lnTo>
                    <a:pt x="129" y="96"/>
                  </a:lnTo>
                  <a:lnTo>
                    <a:pt x="180" y="60"/>
                  </a:lnTo>
                  <a:lnTo>
                    <a:pt x="243" y="30"/>
                  </a:lnTo>
                  <a:lnTo>
                    <a:pt x="315" y="9"/>
                  </a:lnTo>
                  <a:lnTo>
                    <a:pt x="369" y="0"/>
                  </a:lnTo>
                  <a:lnTo>
                    <a:pt x="444" y="0"/>
                  </a:lnTo>
                  <a:lnTo>
                    <a:pt x="537" y="12"/>
                  </a:lnTo>
                  <a:lnTo>
                    <a:pt x="612" y="39"/>
                  </a:lnTo>
                  <a:lnTo>
                    <a:pt x="669" y="72"/>
                  </a:lnTo>
                  <a:lnTo>
                    <a:pt x="717" y="108"/>
                  </a:lnTo>
                  <a:lnTo>
                    <a:pt x="768" y="162"/>
                  </a:lnTo>
                  <a:lnTo>
                    <a:pt x="801" y="210"/>
                  </a:lnTo>
                  <a:lnTo>
                    <a:pt x="819" y="267"/>
                  </a:lnTo>
                  <a:lnTo>
                    <a:pt x="834" y="333"/>
                  </a:lnTo>
                  <a:lnTo>
                    <a:pt x="843" y="396"/>
                  </a:lnTo>
                  <a:lnTo>
                    <a:pt x="864" y="462"/>
                  </a:lnTo>
                  <a:lnTo>
                    <a:pt x="897" y="507"/>
                  </a:lnTo>
                  <a:lnTo>
                    <a:pt x="939" y="561"/>
                  </a:lnTo>
                  <a:lnTo>
                    <a:pt x="990" y="603"/>
                  </a:lnTo>
                  <a:lnTo>
                    <a:pt x="1044" y="630"/>
                  </a:lnTo>
                  <a:lnTo>
                    <a:pt x="1101" y="660"/>
                  </a:lnTo>
                  <a:lnTo>
                    <a:pt x="1182" y="675"/>
                  </a:lnTo>
                  <a:lnTo>
                    <a:pt x="1269" y="684"/>
                  </a:lnTo>
                  <a:lnTo>
                    <a:pt x="1350" y="672"/>
                  </a:lnTo>
                  <a:lnTo>
                    <a:pt x="1425" y="648"/>
                  </a:lnTo>
                  <a:lnTo>
                    <a:pt x="1491" y="618"/>
                  </a:lnTo>
                  <a:lnTo>
                    <a:pt x="1545" y="576"/>
                  </a:lnTo>
                  <a:lnTo>
                    <a:pt x="1596" y="525"/>
                  </a:lnTo>
                  <a:lnTo>
                    <a:pt x="1629" y="483"/>
                  </a:lnTo>
                  <a:lnTo>
                    <a:pt x="1641" y="444"/>
                  </a:lnTo>
                  <a:lnTo>
                    <a:pt x="1659" y="384"/>
                  </a:lnTo>
                  <a:lnTo>
                    <a:pt x="1668" y="336"/>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61487" name="Line 47"/>
            <p:cNvSpPr>
              <a:spLocks noChangeShapeType="1"/>
            </p:cNvSpPr>
            <p:nvPr/>
          </p:nvSpPr>
          <p:spPr bwMode="auto">
            <a:xfrm>
              <a:off x="712" y="2190"/>
              <a:ext cx="0" cy="313"/>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Tree>
    <p:extLst>
      <p:ext uri="{BB962C8B-B14F-4D97-AF65-F5344CB8AC3E}">
        <p14:creationId xmlns:p14="http://schemas.microsoft.com/office/powerpoint/2010/main" val="3719600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06" name="Rectangle 42"/>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a:t>Basic Principle of Distance Protection</a:t>
            </a:r>
          </a:p>
        </p:txBody>
      </p:sp>
      <p:grpSp>
        <p:nvGrpSpPr>
          <p:cNvPr id="62537" name="Group 73"/>
          <p:cNvGrpSpPr>
            <a:grpSpLocks/>
          </p:cNvGrpSpPr>
          <p:nvPr/>
        </p:nvGrpSpPr>
        <p:grpSpPr bwMode="auto">
          <a:xfrm>
            <a:off x="1052513" y="967423"/>
            <a:ext cx="7654925" cy="5140324"/>
            <a:chOff x="631" y="603"/>
            <a:chExt cx="4822" cy="3238"/>
          </a:xfrm>
        </p:grpSpPr>
        <p:sp>
          <p:nvSpPr>
            <p:cNvPr id="62509" name="Rectangle 45"/>
            <p:cNvSpPr>
              <a:spLocks noChangeArrowheads="1"/>
            </p:cNvSpPr>
            <p:nvPr/>
          </p:nvSpPr>
          <p:spPr bwMode="auto">
            <a:xfrm>
              <a:off x="4684" y="1441"/>
              <a:ext cx="769"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a:r>
                <a:rPr lang="en-GB" altLang="en-US" sz="1600" u="sng">
                  <a:solidFill>
                    <a:schemeClr val="tx2"/>
                  </a:solidFill>
                  <a:latin typeface="Futura Md BT" pitchFamily="34" charset="0"/>
                </a:rPr>
                <a:t>Fault</a:t>
              </a:r>
            </a:p>
          </p:txBody>
        </p:sp>
        <p:sp>
          <p:nvSpPr>
            <p:cNvPr id="62510" name="Oval 46"/>
            <p:cNvSpPr>
              <a:spLocks noChangeArrowheads="1"/>
            </p:cNvSpPr>
            <p:nvPr/>
          </p:nvSpPr>
          <p:spPr bwMode="auto">
            <a:xfrm>
              <a:off x="631" y="1441"/>
              <a:ext cx="305" cy="305"/>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11" name="Line 47"/>
            <p:cNvSpPr>
              <a:spLocks noChangeShapeType="1"/>
            </p:cNvSpPr>
            <p:nvPr/>
          </p:nvSpPr>
          <p:spPr bwMode="auto">
            <a:xfrm flipH="1">
              <a:off x="3589" y="1156"/>
              <a:ext cx="126" cy="437"/>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12" name="Line 48"/>
            <p:cNvSpPr>
              <a:spLocks noChangeShapeType="1"/>
            </p:cNvSpPr>
            <p:nvPr/>
          </p:nvSpPr>
          <p:spPr bwMode="auto">
            <a:xfrm>
              <a:off x="3589" y="1586"/>
              <a:ext cx="122"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13" name="Line 49"/>
            <p:cNvSpPr>
              <a:spLocks noChangeShapeType="1"/>
            </p:cNvSpPr>
            <p:nvPr/>
          </p:nvSpPr>
          <p:spPr bwMode="auto">
            <a:xfrm flipH="1">
              <a:off x="3574" y="1584"/>
              <a:ext cx="130" cy="449"/>
            </a:xfrm>
            <a:prstGeom prst="line">
              <a:avLst/>
            </a:prstGeom>
            <a:noFill/>
            <a:ln w="28575">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14" name="Rectangle 50"/>
            <p:cNvSpPr>
              <a:spLocks noChangeArrowheads="1"/>
            </p:cNvSpPr>
            <p:nvPr/>
          </p:nvSpPr>
          <p:spPr bwMode="auto">
            <a:xfrm>
              <a:off x="2674" y="927"/>
              <a:ext cx="216"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Times New Roman" panose="02020603050405020304" pitchFamily="18" charset="0"/>
                </a:rPr>
                <a:t>I</a:t>
              </a:r>
              <a:r>
                <a:rPr lang="en-GB" altLang="en-US" sz="1600" baseline="-25000">
                  <a:solidFill>
                    <a:schemeClr val="tx2"/>
                  </a:solidFill>
                  <a:latin typeface="Futura Md BT" pitchFamily="34" charset="0"/>
                </a:rPr>
                <a:t>R</a:t>
              </a:r>
              <a:endParaRPr lang="en-GB" altLang="en-US" sz="1600">
                <a:solidFill>
                  <a:schemeClr val="tx2"/>
                </a:solidFill>
                <a:latin typeface="Futura Md BT" pitchFamily="34" charset="0"/>
              </a:endParaRPr>
            </a:p>
          </p:txBody>
        </p:sp>
        <p:sp>
          <p:nvSpPr>
            <p:cNvPr id="62515" name="Rectangle 51"/>
            <p:cNvSpPr>
              <a:spLocks noChangeArrowheads="1"/>
            </p:cNvSpPr>
            <p:nvPr/>
          </p:nvSpPr>
          <p:spPr bwMode="auto">
            <a:xfrm>
              <a:off x="1474" y="881"/>
              <a:ext cx="238"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Z</a:t>
              </a:r>
              <a:r>
                <a:rPr lang="en-GB" altLang="en-US" sz="1600" baseline="-25000">
                  <a:solidFill>
                    <a:schemeClr val="tx2"/>
                  </a:solidFill>
                  <a:latin typeface="Futura Md BT" pitchFamily="34" charset="0"/>
                </a:rPr>
                <a:t>S</a:t>
              </a:r>
              <a:endParaRPr lang="en-GB" altLang="en-US" sz="1600">
                <a:solidFill>
                  <a:schemeClr val="tx2"/>
                </a:solidFill>
                <a:latin typeface="Futura Md BT" pitchFamily="34" charset="0"/>
              </a:endParaRPr>
            </a:p>
          </p:txBody>
        </p:sp>
        <p:sp>
          <p:nvSpPr>
            <p:cNvPr id="62516" name="Rectangle 52"/>
            <p:cNvSpPr>
              <a:spLocks noChangeArrowheads="1"/>
            </p:cNvSpPr>
            <p:nvPr/>
          </p:nvSpPr>
          <p:spPr bwMode="auto">
            <a:xfrm>
              <a:off x="2354" y="1486"/>
              <a:ext cx="239"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V</a:t>
              </a:r>
              <a:r>
                <a:rPr lang="en-GB" altLang="en-US" sz="1600" baseline="-25000">
                  <a:solidFill>
                    <a:schemeClr val="tx2"/>
                  </a:solidFill>
                  <a:latin typeface="Futura Md BT" pitchFamily="34" charset="0"/>
                </a:rPr>
                <a:t>R</a:t>
              </a:r>
              <a:endParaRPr lang="en-GB" altLang="en-US" sz="1600">
                <a:solidFill>
                  <a:schemeClr val="tx2"/>
                </a:solidFill>
                <a:latin typeface="Futura Md BT" pitchFamily="34" charset="0"/>
              </a:endParaRPr>
            </a:p>
          </p:txBody>
        </p:sp>
        <p:sp>
          <p:nvSpPr>
            <p:cNvPr id="62517" name="Rectangle 53"/>
            <p:cNvSpPr>
              <a:spLocks noChangeArrowheads="1"/>
            </p:cNvSpPr>
            <p:nvPr/>
          </p:nvSpPr>
          <p:spPr bwMode="auto">
            <a:xfrm>
              <a:off x="961" y="1486"/>
              <a:ext cx="23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V</a:t>
              </a:r>
              <a:r>
                <a:rPr lang="en-GB" altLang="en-US" sz="1600" baseline="-25000">
                  <a:solidFill>
                    <a:schemeClr val="tx2"/>
                  </a:solidFill>
                  <a:latin typeface="Futura Md BT" pitchFamily="34" charset="0"/>
                </a:rPr>
                <a:t>S</a:t>
              </a:r>
              <a:endParaRPr lang="en-GB" altLang="en-US" sz="1600">
                <a:solidFill>
                  <a:schemeClr val="tx2"/>
                </a:solidFill>
                <a:latin typeface="Futura Md BT" pitchFamily="34" charset="0"/>
              </a:endParaRPr>
            </a:p>
          </p:txBody>
        </p:sp>
        <p:sp>
          <p:nvSpPr>
            <p:cNvPr id="62518" name="Rectangle 54"/>
            <p:cNvSpPr>
              <a:spLocks noChangeArrowheads="1"/>
            </p:cNvSpPr>
            <p:nvPr/>
          </p:nvSpPr>
          <p:spPr bwMode="auto">
            <a:xfrm>
              <a:off x="4293" y="1459"/>
              <a:ext cx="470"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Z</a:t>
              </a:r>
              <a:r>
                <a:rPr lang="en-GB" altLang="en-US" sz="1600" baseline="-25000">
                  <a:solidFill>
                    <a:schemeClr val="tx2"/>
                  </a:solidFill>
                  <a:latin typeface="Futura Md BT" pitchFamily="34" charset="0"/>
                </a:rPr>
                <a:t>LOAD</a:t>
              </a:r>
              <a:endParaRPr lang="en-GB" altLang="en-US" sz="1600">
                <a:solidFill>
                  <a:schemeClr val="tx2"/>
                </a:solidFill>
                <a:latin typeface="Futura Md BT" pitchFamily="34" charset="0"/>
              </a:endParaRPr>
            </a:p>
          </p:txBody>
        </p:sp>
        <p:sp>
          <p:nvSpPr>
            <p:cNvPr id="62519" name="Line 55"/>
            <p:cNvSpPr>
              <a:spLocks noChangeShapeType="1"/>
            </p:cNvSpPr>
            <p:nvPr/>
          </p:nvSpPr>
          <p:spPr bwMode="auto">
            <a:xfrm flipH="1">
              <a:off x="773" y="1145"/>
              <a:ext cx="5" cy="295"/>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20" name="Line 56"/>
            <p:cNvSpPr>
              <a:spLocks noChangeShapeType="1"/>
            </p:cNvSpPr>
            <p:nvPr/>
          </p:nvSpPr>
          <p:spPr bwMode="auto">
            <a:xfrm>
              <a:off x="778" y="1145"/>
              <a:ext cx="3989" cy="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21" name="Rectangle 57"/>
            <p:cNvSpPr>
              <a:spLocks noChangeArrowheads="1"/>
            </p:cNvSpPr>
            <p:nvPr/>
          </p:nvSpPr>
          <p:spPr bwMode="auto">
            <a:xfrm>
              <a:off x="1369" y="1072"/>
              <a:ext cx="370" cy="148"/>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22" name="Line 58"/>
            <p:cNvSpPr>
              <a:spLocks noChangeShapeType="1"/>
            </p:cNvSpPr>
            <p:nvPr/>
          </p:nvSpPr>
          <p:spPr bwMode="auto">
            <a:xfrm flipH="1" flipV="1">
              <a:off x="776" y="1744"/>
              <a:ext cx="2" cy="289"/>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23" name="Line 59"/>
            <p:cNvSpPr>
              <a:spLocks noChangeShapeType="1"/>
            </p:cNvSpPr>
            <p:nvPr/>
          </p:nvSpPr>
          <p:spPr bwMode="auto">
            <a:xfrm>
              <a:off x="778" y="2032"/>
              <a:ext cx="3989" cy="1"/>
            </a:xfrm>
            <a:prstGeom prst="line">
              <a:avLst/>
            </a:prstGeom>
            <a:noFill/>
            <a:ln w="28575">
              <a:solidFill>
                <a:schemeClr val="tx2"/>
              </a:solidFill>
              <a:prstDash val="sys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24" name="Line 60"/>
            <p:cNvSpPr>
              <a:spLocks noChangeShapeType="1"/>
            </p:cNvSpPr>
            <p:nvPr/>
          </p:nvSpPr>
          <p:spPr bwMode="auto">
            <a:xfrm flipV="1">
              <a:off x="2330" y="1220"/>
              <a:ext cx="0" cy="739"/>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25" name="Rectangle 61"/>
            <p:cNvSpPr>
              <a:spLocks noChangeArrowheads="1"/>
            </p:cNvSpPr>
            <p:nvPr/>
          </p:nvSpPr>
          <p:spPr bwMode="auto">
            <a:xfrm>
              <a:off x="3855" y="1072"/>
              <a:ext cx="370" cy="148"/>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26" name="Line 62"/>
            <p:cNvSpPr>
              <a:spLocks noChangeShapeType="1"/>
            </p:cNvSpPr>
            <p:nvPr/>
          </p:nvSpPr>
          <p:spPr bwMode="auto">
            <a:xfrm>
              <a:off x="4767" y="1145"/>
              <a:ext cx="1" cy="888"/>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27" name="Rectangle 63"/>
            <p:cNvSpPr>
              <a:spLocks noChangeArrowheads="1"/>
            </p:cNvSpPr>
            <p:nvPr/>
          </p:nvSpPr>
          <p:spPr bwMode="auto">
            <a:xfrm>
              <a:off x="4693" y="1367"/>
              <a:ext cx="148" cy="370"/>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28" name="Line 64"/>
            <p:cNvSpPr>
              <a:spLocks noChangeShapeType="1"/>
            </p:cNvSpPr>
            <p:nvPr/>
          </p:nvSpPr>
          <p:spPr bwMode="auto">
            <a:xfrm>
              <a:off x="2713" y="1145"/>
              <a:ext cx="131" cy="1"/>
            </a:xfrm>
            <a:prstGeom prst="line">
              <a:avLst/>
            </a:prstGeom>
            <a:noFill/>
            <a:ln w="28575">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29" name="Oval 65"/>
            <p:cNvSpPr>
              <a:spLocks noChangeArrowheads="1"/>
            </p:cNvSpPr>
            <p:nvPr/>
          </p:nvSpPr>
          <p:spPr bwMode="auto">
            <a:xfrm>
              <a:off x="2297" y="1119"/>
              <a:ext cx="57" cy="57"/>
            </a:xfrm>
            <a:prstGeom prst="ellipse">
              <a:avLst/>
            </a:prstGeom>
            <a:solidFill>
              <a:srgbClr val="000000"/>
            </a:solidFill>
            <a:ln w="28575">
              <a:solidFill>
                <a:schemeClr val="tx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30" name="Rectangle 66"/>
            <p:cNvSpPr>
              <a:spLocks noChangeArrowheads="1"/>
            </p:cNvSpPr>
            <p:nvPr/>
          </p:nvSpPr>
          <p:spPr bwMode="auto">
            <a:xfrm>
              <a:off x="3475" y="603"/>
              <a:ext cx="239"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Z</a:t>
              </a:r>
              <a:r>
                <a:rPr lang="en-GB" altLang="en-US" sz="1600" baseline="-25000">
                  <a:solidFill>
                    <a:schemeClr val="tx2"/>
                  </a:solidFill>
                  <a:latin typeface="Futura Md BT" pitchFamily="34" charset="0"/>
                </a:rPr>
                <a:t>L</a:t>
              </a:r>
              <a:endParaRPr lang="en-GB" altLang="en-US" sz="1600">
                <a:solidFill>
                  <a:schemeClr val="tx2"/>
                </a:solidFill>
                <a:latin typeface="Futura Md BT" pitchFamily="34" charset="0"/>
              </a:endParaRPr>
            </a:p>
          </p:txBody>
        </p:sp>
        <p:sp>
          <p:nvSpPr>
            <p:cNvPr id="62531" name="Rectangle 67"/>
            <p:cNvSpPr>
              <a:spLocks noChangeArrowheads="1"/>
            </p:cNvSpPr>
            <p:nvPr/>
          </p:nvSpPr>
          <p:spPr bwMode="auto">
            <a:xfrm>
              <a:off x="3171" y="868"/>
              <a:ext cx="238"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Z</a:t>
              </a:r>
              <a:r>
                <a:rPr lang="en-GB" altLang="en-US" sz="1600" baseline="-25000">
                  <a:solidFill>
                    <a:schemeClr val="tx2"/>
                  </a:solidFill>
                  <a:latin typeface="Futura Md BT" pitchFamily="34" charset="0"/>
                </a:rPr>
                <a:t>F</a:t>
              </a:r>
              <a:endParaRPr lang="en-GB" altLang="en-US" sz="1600">
                <a:solidFill>
                  <a:schemeClr val="tx2"/>
                </a:solidFill>
                <a:latin typeface="Futura Md BT" pitchFamily="34" charset="0"/>
              </a:endParaRPr>
            </a:p>
          </p:txBody>
        </p:sp>
        <p:sp>
          <p:nvSpPr>
            <p:cNvPr id="62532" name="Rectangle 68"/>
            <p:cNvSpPr>
              <a:spLocks noChangeArrowheads="1"/>
            </p:cNvSpPr>
            <p:nvPr/>
          </p:nvSpPr>
          <p:spPr bwMode="auto">
            <a:xfrm>
              <a:off x="3101" y="1065"/>
              <a:ext cx="369" cy="148"/>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33" name="Oval 69"/>
            <p:cNvSpPr>
              <a:spLocks noChangeArrowheads="1"/>
            </p:cNvSpPr>
            <p:nvPr/>
          </p:nvSpPr>
          <p:spPr bwMode="auto">
            <a:xfrm>
              <a:off x="3688" y="1128"/>
              <a:ext cx="57" cy="57"/>
            </a:xfrm>
            <a:prstGeom prst="ellipse">
              <a:avLst/>
            </a:prstGeom>
            <a:solidFill>
              <a:srgbClr val="000000"/>
            </a:solidFill>
            <a:ln w="28575">
              <a:solidFill>
                <a:schemeClr val="tx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34" name="Line 70"/>
            <p:cNvSpPr>
              <a:spLocks noChangeShapeType="1"/>
            </p:cNvSpPr>
            <p:nvPr/>
          </p:nvSpPr>
          <p:spPr bwMode="auto">
            <a:xfrm>
              <a:off x="2339" y="814"/>
              <a:ext cx="2453" cy="0"/>
            </a:xfrm>
            <a:prstGeom prst="line">
              <a:avLst/>
            </a:prstGeom>
            <a:noFill/>
            <a:ln w="28575">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535" name="Freeform 71"/>
            <p:cNvSpPr>
              <a:spLocks/>
            </p:cNvSpPr>
            <p:nvPr/>
          </p:nvSpPr>
          <p:spPr bwMode="auto">
            <a:xfrm>
              <a:off x="694" y="1563"/>
              <a:ext cx="178" cy="73"/>
            </a:xfrm>
            <a:custGeom>
              <a:avLst/>
              <a:gdLst>
                <a:gd name="T0" fmla="*/ 0 w 1668"/>
                <a:gd name="T1" fmla="*/ 345 h 684"/>
                <a:gd name="T2" fmla="*/ 3 w 1668"/>
                <a:gd name="T3" fmla="*/ 291 h 684"/>
                <a:gd name="T4" fmla="*/ 27 w 1668"/>
                <a:gd name="T5" fmla="*/ 228 h 684"/>
                <a:gd name="T6" fmla="*/ 54 w 1668"/>
                <a:gd name="T7" fmla="*/ 180 h 684"/>
                <a:gd name="T8" fmla="*/ 96 w 1668"/>
                <a:gd name="T9" fmla="*/ 132 h 684"/>
                <a:gd name="T10" fmla="*/ 129 w 1668"/>
                <a:gd name="T11" fmla="*/ 96 h 684"/>
                <a:gd name="T12" fmla="*/ 180 w 1668"/>
                <a:gd name="T13" fmla="*/ 60 h 684"/>
                <a:gd name="T14" fmla="*/ 243 w 1668"/>
                <a:gd name="T15" fmla="*/ 30 h 684"/>
                <a:gd name="T16" fmla="*/ 315 w 1668"/>
                <a:gd name="T17" fmla="*/ 9 h 684"/>
                <a:gd name="T18" fmla="*/ 369 w 1668"/>
                <a:gd name="T19" fmla="*/ 0 h 684"/>
                <a:gd name="T20" fmla="*/ 444 w 1668"/>
                <a:gd name="T21" fmla="*/ 0 h 684"/>
                <a:gd name="T22" fmla="*/ 537 w 1668"/>
                <a:gd name="T23" fmla="*/ 12 h 684"/>
                <a:gd name="T24" fmla="*/ 612 w 1668"/>
                <a:gd name="T25" fmla="*/ 39 h 684"/>
                <a:gd name="T26" fmla="*/ 669 w 1668"/>
                <a:gd name="T27" fmla="*/ 72 h 684"/>
                <a:gd name="T28" fmla="*/ 717 w 1668"/>
                <a:gd name="T29" fmla="*/ 108 h 684"/>
                <a:gd name="T30" fmla="*/ 768 w 1668"/>
                <a:gd name="T31" fmla="*/ 162 h 684"/>
                <a:gd name="T32" fmla="*/ 801 w 1668"/>
                <a:gd name="T33" fmla="*/ 210 h 684"/>
                <a:gd name="T34" fmla="*/ 819 w 1668"/>
                <a:gd name="T35" fmla="*/ 267 h 684"/>
                <a:gd name="T36" fmla="*/ 834 w 1668"/>
                <a:gd name="T37" fmla="*/ 333 h 684"/>
                <a:gd name="T38" fmla="*/ 843 w 1668"/>
                <a:gd name="T39" fmla="*/ 396 h 684"/>
                <a:gd name="T40" fmla="*/ 864 w 1668"/>
                <a:gd name="T41" fmla="*/ 462 h 684"/>
                <a:gd name="T42" fmla="*/ 897 w 1668"/>
                <a:gd name="T43" fmla="*/ 507 h 684"/>
                <a:gd name="T44" fmla="*/ 939 w 1668"/>
                <a:gd name="T45" fmla="*/ 561 h 684"/>
                <a:gd name="T46" fmla="*/ 990 w 1668"/>
                <a:gd name="T47" fmla="*/ 603 h 684"/>
                <a:gd name="T48" fmla="*/ 1044 w 1668"/>
                <a:gd name="T49" fmla="*/ 630 h 684"/>
                <a:gd name="T50" fmla="*/ 1101 w 1668"/>
                <a:gd name="T51" fmla="*/ 660 h 684"/>
                <a:gd name="T52" fmla="*/ 1182 w 1668"/>
                <a:gd name="T53" fmla="*/ 675 h 684"/>
                <a:gd name="T54" fmla="*/ 1269 w 1668"/>
                <a:gd name="T55" fmla="*/ 684 h 684"/>
                <a:gd name="T56" fmla="*/ 1350 w 1668"/>
                <a:gd name="T57" fmla="*/ 672 h 684"/>
                <a:gd name="T58" fmla="*/ 1425 w 1668"/>
                <a:gd name="T59" fmla="*/ 648 h 684"/>
                <a:gd name="T60" fmla="*/ 1491 w 1668"/>
                <a:gd name="T61" fmla="*/ 618 h 684"/>
                <a:gd name="T62" fmla="*/ 1545 w 1668"/>
                <a:gd name="T63" fmla="*/ 576 h 684"/>
                <a:gd name="T64" fmla="*/ 1596 w 1668"/>
                <a:gd name="T65" fmla="*/ 525 h 684"/>
                <a:gd name="T66" fmla="*/ 1629 w 1668"/>
                <a:gd name="T67" fmla="*/ 483 h 684"/>
                <a:gd name="T68" fmla="*/ 1641 w 1668"/>
                <a:gd name="T69" fmla="*/ 444 h 684"/>
                <a:gd name="T70" fmla="*/ 1659 w 1668"/>
                <a:gd name="T71" fmla="*/ 384 h 684"/>
                <a:gd name="T72" fmla="*/ 1668 w 1668"/>
                <a:gd name="T73" fmla="*/ 336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68" h="684">
                  <a:moveTo>
                    <a:pt x="0" y="345"/>
                  </a:moveTo>
                  <a:lnTo>
                    <a:pt x="3" y="291"/>
                  </a:lnTo>
                  <a:lnTo>
                    <a:pt x="27" y="228"/>
                  </a:lnTo>
                  <a:lnTo>
                    <a:pt x="54" y="180"/>
                  </a:lnTo>
                  <a:lnTo>
                    <a:pt x="96" y="132"/>
                  </a:lnTo>
                  <a:lnTo>
                    <a:pt x="129" y="96"/>
                  </a:lnTo>
                  <a:lnTo>
                    <a:pt x="180" y="60"/>
                  </a:lnTo>
                  <a:lnTo>
                    <a:pt x="243" y="30"/>
                  </a:lnTo>
                  <a:lnTo>
                    <a:pt x="315" y="9"/>
                  </a:lnTo>
                  <a:lnTo>
                    <a:pt x="369" y="0"/>
                  </a:lnTo>
                  <a:lnTo>
                    <a:pt x="444" y="0"/>
                  </a:lnTo>
                  <a:lnTo>
                    <a:pt x="537" y="12"/>
                  </a:lnTo>
                  <a:lnTo>
                    <a:pt x="612" y="39"/>
                  </a:lnTo>
                  <a:lnTo>
                    <a:pt x="669" y="72"/>
                  </a:lnTo>
                  <a:lnTo>
                    <a:pt x="717" y="108"/>
                  </a:lnTo>
                  <a:lnTo>
                    <a:pt x="768" y="162"/>
                  </a:lnTo>
                  <a:lnTo>
                    <a:pt x="801" y="210"/>
                  </a:lnTo>
                  <a:lnTo>
                    <a:pt x="819" y="267"/>
                  </a:lnTo>
                  <a:lnTo>
                    <a:pt x="834" y="333"/>
                  </a:lnTo>
                  <a:lnTo>
                    <a:pt x="843" y="396"/>
                  </a:lnTo>
                  <a:lnTo>
                    <a:pt x="864" y="462"/>
                  </a:lnTo>
                  <a:lnTo>
                    <a:pt x="897" y="507"/>
                  </a:lnTo>
                  <a:lnTo>
                    <a:pt x="939" y="561"/>
                  </a:lnTo>
                  <a:lnTo>
                    <a:pt x="990" y="603"/>
                  </a:lnTo>
                  <a:lnTo>
                    <a:pt x="1044" y="630"/>
                  </a:lnTo>
                  <a:lnTo>
                    <a:pt x="1101" y="660"/>
                  </a:lnTo>
                  <a:lnTo>
                    <a:pt x="1182" y="675"/>
                  </a:lnTo>
                  <a:lnTo>
                    <a:pt x="1269" y="684"/>
                  </a:lnTo>
                  <a:lnTo>
                    <a:pt x="1350" y="672"/>
                  </a:lnTo>
                  <a:lnTo>
                    <a:pt x="1425" y="648"/>
                  </a:lnTo>
                  <a:lnTo>
                    <a:pt x="1491" y="618"/>
                  </a:lnTo>
                  <a:lnTo>
                    <a:pt x="1545" y="576"/>
                  </a:lnTo>
                  <a:lnTo>
                    <a:pt x="1596" y="525"/>
                  </a:lnTo>
                  <a:lnTo>
                    <a:pt x="1629" y="483"/>
                  </a:lnTo>
                  <a:lnTo>
                    <a:pt x="1641" y="444"/>
                  </a:lnTo>
                  <a:lnTo>
                    <a:pt x="1659" y="384"/>
                  </a:lnTo>
                  <a:lnTo>
                    <a:pt x="1668" y="336"/>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62536" name="Text Box 72"/>
            <p:cNvSpPr txBox="1">
              <a:spLocks noChangeArrowheads="1"/>
            </p:cNvSpPr>
            <p:nvPr/>
          </p:nvSpPr>
          <p:spPr bwMode="auto">
            <a:xfrm>
              <a:off x="782" y="2271"/>
              <a:ext cx="4657" cy="15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sz="2400">
                  <a:solidFill>
                    <a:schemeClr val="tx1"/>
                  </a:solidFill>
                  <a:latin typeface="Times New Roman" panose="02020603050405020304" pitchFamily="18" charset="0"/>
                </a:defRPr>
              </a:lvl1pPr>
              <a:lvl2pPr marL="571500">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lgn="l">
                <a:spcBef>
                  <a:spcPct val="50000"/>
                </a:spcBef>
                <a:buClr>
                  <a:srgbClr val="C4122F"/>
                </a:buClr>
                <a:buFont typeface="Wingdings 3" panose="05040102010807070707" pitchFamily="18" charset="2"/>
                <a:buChar char="u"/>
              </a:pPr>
              <a:r>
                <a:rPr lang="en-GB" altLang="en-US" b="1" dirty="0">
                  <a:solidFill>
                    <a:schemeClr val="tx2"/>
                  </a:solidFill>
                  <a:latin typeface="FuturaA Md BT" pitchFamily="34" charset="0"/>
                </a:rPr>
                <a:t>Impedance Measured Z</a:t>
              </a:r>
              <a:r>
                <a:rPr lang="en-GB" altLang="en-US" b="1" baseline="-25000" dirty="0">
                  <a:solidFill>
                    <a:schemeClr val="tx2"/>
                  </a:solidFill>
                  <a:latin typeface="FuturaA Md BT" pitchFamily="34" charset="0"/>
                </a:rPr>
                <a:t>R</a:t>
              </a:r>
              <a:r>
                <a:rPr lang="en-GB" altLang="en-US" b="1" dirty="0">
                  <a:solidFill>
                    <a:schemeClr val="tx2"/>
                  </a:solidFill>
                  <a:latin typeface="FuturaA Md BT" pitchFamily="34" charset="0"/>
                </a:rPr>
                <a:t> = V</a:t>
              </a:r>
              <a:r>
                <a:rPr lang="en-GB" altLang="en-US" b="1" baseline="-25000" dirty="0">
                  <a:solidFill>
                    <a:schemeClr val="tx2"/>
                  </a:solidFill>
                  <a:latin typeface="FuturaA Md BT" pitchFamily="34" charset="0"/>
                </a:rPr>
                <a:t>R</a:t>
              </a:r>
              <a:r>
                <a:rPr lang="en-GB" altLang="en-US" b="1" dirty="0">
                  <a:solidFill>
                    <a:schemeClr val="tx2"/>
                  </a:solidFill>
                  <a:latin typeface="FuturaA Md BT" pitchFamily="34" charset="0"/>
                </a:rPr>
                <a:t>/</a:t>
              </a:r>
              <a:r>
                <a:rPr lang="en-GB" altLang="en-US" b="1" dirty="0">
                  <a:solidFill>
                    <a:schemeClr val="tx2"/>
                  </a:solidFill>
                </a:rPr>
                <a:t>I</a:t>
              </a:r>
              <a:r>
                <a:rPr lang="en-GB" altLang="en-US" b="1" baseline="-25000" dirty="0">
                  <a:solidFill>
                    <a:schemeClr val="tx2"/>
                  </a:solidFill>
                  <a:latin typeface="FuturaA Md BT" pitchFamily="34" charset="0"/>
                </a:rPr>
                <a:t>R</a:t>
              </a:r>
              <a:r>
                <a:rPr lang="en-GB" altLang="en-US" b="1" dirty="0">
                  <a:solidFill>
                    <a:schemeClr val="tx2"/>
                  </a:solidFill>
                  <a:latin typeface="FuturaA Md BT" pitchFamily="34" charset="0"/>
                </a:rPr>
                <a:t> = Z</a:t>
              </a:r>
              <a:r>
                <a:rPr lang="en-GB" altLang="en-US" b="1" baseline="-25000" dirty="0">
                  <a:solidFill>
                    <a:schemeClr val="tx2"/>
                  </a:solidFill>
                  <a:latin typeface="FuturaA Md BT" pitchFamily="34" charset="0"/>
                </a:rPr>
                <a:t>F</a:t>
              </a:r>
              <a:endParaRPr lang="en-GB" altLang="en-US" b="1" dirty="0">
                <a:solidFill>
                  <a:schemeClr val="tx2"/>
                </a:solidFill>
                <a:latin typeface="FuturaA Md BT" pitchFamily="34" charset="0"/>
              </a:endParaRPr>
            </a:p>
            <a:p>
              <a:pPr>
                <a:spcBef>
                  <a:spcPct val="50000"/>
                </a:spcBef>
                <a:buClr>
                  <a:srgbClr val="C4122F"/>
                </a:buClr>
                <a:buFont typeface="Wingdings 3" panose="05040102010807070707" pitchFamily="18" charset="2"/>
                <a:buChar char="u"/>
              </a:pPr>
              <a:r>
                <a:rPr lang="en-GB" altLang="en-US" b="1" dirty="0">
                  <a:solidFill>
                    <a:schemeClr val="tx2"/>
                  </a:solidFill>
                  <a:latin typeface="FuturaA Md BT" pitchFamily="34" charset="0"/>
                </a:rPr>
                <a:t>Relay Operates if Z</a:t>
              </a:r>
              <a:r>
                <a:rPr lang="en-GB" altLang="en-US" b="1" baseline="-25000" dirty="0">
                  <a:solidFill>
                    <a:schemeClr val="tx2"/>
                  </a:solidFill>
                  <a:latin typeface="FuturaA Md BT" pitchFamily="34" charset="0"/>
                </a:rPr>
                <a:t>F </a:t>
              </a:r>
              <a:r>
                <a:rPr lang="en-GB" altLang="en-US" b="1" dirty="0">
                  <a:solidFill>
                    <a:schemeClr val="tx2"/>
                  </a:solidFill>
                  <a:latin typeface="FuturaA Md BT" pitchFamily="34" charset="0"/>
                </a:rPr>
                <a:t>&lt; Z	where Z = setting</a:t>
              </a:r>
            </a:p>
            <a:p>
              <a:pPr algn="l">
                <a:spcBef>
                  <a:spcPct val="50000"/>
                </a:spcBef>
                <a:buClr>
                  <a:srgbClr val="C4122F"/>
                </a:buClr>
                <a:buFont typeface="Wingdings 3" panose="05040102010807070707" pitchFamily="18" charset="2"/>
                <a:buChar char="u"/>
              </a:pPr>
              <a:r>
                <a:rPr lang="en-GB" altLang="en-US" b="1" dirty="0">
                  <a:solidFill>
                    <a:schemeClr val="tx2"/>
                  </a:solidFill>
                  <a:latin typeface="FuturaA Md BT" pitchFamily="34" charset="0"/>
                </a:rPr>
                <a:t>Increasing V</a:t>
              </a:r>
              <a:r>
                <a:rPr lang="en-GB" altLang="en-US" b="1" baseline="-25000" dirty="0">
                  <a:solidFill>
                    <a:schemeClr val="tx2"/>
                  </a:solidFill>
                  <a:latin typeface="FuturaA Md BT" pitchFamily="34" charset="0"/>
                </a:rPr>
                <a:t>R</a:t>
              </a:r>
              <a:r>
                <a:rPr lang="en-GB" altLang="en-US" b="1" dirty="0">
                  <a:solidFill>
                    <a:schemeClr val="tx2"/>
                  </a:solidFill>
                  <a:latin typeface="FuturaA Md BT" pitchFamily="34" charset="0"/>
                </a:rPr>
                <a:t> has a Restraining Effect </a:t>
              </a:r>
              <a:r>
                <a:rPr lang="en-GB" altLang="en-US" b="1" dirty="0">
                  <a:solidFill>
                    <a:schemeClr val="tx2"/>
                  </a:solidFill>
                  <a:latin typeface="FuturaA Md BT" pitchFamily="34" charset="0"/>
                  <a:sym typeface="Symbol" panose="05050102010706020507" pitchFamily="18" charset="2"/>
                </a:rPr>
                <a:t></a:t>
              </a:r>
              <a:br>
                <a:rPr lang="en-GB" altLang="en-US" b="1" dirty="0">
                  <a:solidFill>
                    <a:schemeClr val="tx2"/>
                  </a:solidFill>
                  <a:latin typeface="FuturaA Md BT" pitchFamily="34" charset="0"/>
                  <a:sym typeface="Symbol" panose="05050102010706020507" pitchFamily="18" charset="2"/>
                </a:rPr>
              </a:br>
              <a:r>
                <a:rPr lang="en-GB" altLang="en-US" b="1" dirty="0">
                  <a:solidFill>
                    <a:schemeClr val="tx2"/>
                  </a:solidFill>
                  <a:latin typeface="FuturaA Md BT" pitchFamily="34" charset="0"/>
                  <a:sym typeface="Symbol" panose="05050102010706020507" pitchFamily="18" charset="2"/>
                </a:rPr>
                <a:t>V</a:t>
              </a:r>
              <a:r>
                <a:rPr lang="en-GB" altLang="en-US" b="1" baseline="-25000" dirty="0">
                  <a:solidFill>
                    <a:schemeClr val="tx2"/>
                  </a:solidFill>
                  <a:latin typeface="FuturaA Md BT" pitchFamily="34" charset="0"/>
                  <a:sym typeface="Symbol" panose="05050102010706020507" pitchFamily="18" charset="2"/>
                </a:rPr>
                <a:t>R</a:t>
              </a:r>
              <a:r>
                <a:rPr lang="en-GB" altLang="en-US" b="1" dirty="0">
                  <a:solidFill>
                    <a:schemeClr val="tx2"/>
                  </a:solidFill>
                  <a:latin typeface="FuturaA Md BT" pitchFamily="34" charset="0"/>
                  <a:sym typeface="Symbol" panose="05050102010706020507" pitchFamily="18" charset="2"/>
                </a:rPr>
                <a:t> called Restraining Voltage</a:t>
              </a:r>
            </a:p>
            <a:p>
              <a:pPr algn="l">
                <a:spcBef>
                  <a:spcPct val="50000"/>
                </a:spcBef>
                <a:buClr>
                  <a:srgbClr val="C4122F"/>
                </a:buClr>
                <a:buFont typeface="Wingdings 3" panose="05040102010807070707" pitchFamily="18" charset="2"/>
                <a:buChar char="u"/>
              </a:pPr>
              <a:r>
                <a:rPr lang="en-GB" altLang="en-US" b="1" dirty="0">
                  <a:solidFill>
                    <a:schemeClr val="tx2"/>
                  </a:solidFill>
                  <a:latin typeface="FuturaA Md BT" pitchFamily="34" charset="0"/>
                  <a:sym typeface="Symbol" panose="05050102010706020507" pitchFamily="18" charset="2"/>
                </a:rPr>
                <a:t>Increasing </a:t>
              </a:r>
              <a:r>
                <a:rPr lang="en-GB" altLang="en-US" b="1" dirty="0">
                  <a:solidFill>
                    <a:schemeClr val="tx2"/>
                  </a:solidFill>
                  <a:sym typeface="Symbol" panose="05050102010706020507" pitchFamily="18" charset="2"/>
                </a:rPr>
                <a:t>I</a:t>
              </a:r>
              <a:r>
                <a:rPr lang="en-GB" altLang="en-US" b="1" baseline="-25000" dirty="0">
                  <a:solidFill>
                    <a:schemeClr val="tx2"/>
                  </a:solidFill>
                  <a:latin typeface="FuturaA Md BT" pitchFamily="34" charset="0"/>
                  <a:sym typeface="Symbol" panose="05050102010706020507" pitchFamily="18" charset="2"/>
                </a:rPr>
                <a:t>R</a:t>
              </a:r>
              <a:r>
                <a:rPr lang="en-GB" altLang="en-US" b="1" dirty="0">
                  <a:solidFill>
                    <a:schemeClr val="tx2"/>
                  </a:solidFill>
                  <a:latin typeface="FuturaA Md BT" pitchFamily="34" charset="0"/>
                  <a:sym typeface="Symbol" panose="05050102010706020507" pitchFamily="18" charset="2"/>
                </a:rPr>
                <a:t> has an Operating Effect</a:t>
              </a:r>
              <a:endParaRPr lang="en-GB" altLang="en-US" b="1" dirty="0">
                <a:solidFill>
                  <a:schemeClr val="tx2"/>
                </a:solidFill>
                <a:latin typeface="FuturaA Md BT" pitchFamily="34" charset="0"/>
              </a:endParaRPr>
            </a:p>
          </p:txBody>
        </p:sp>
      </p:grpSp>
    </p:spTree>
    <p:extLst>
      <p:ext uri="{BB962C8B-B14F-4D97-AF65-F5344CB8AC3E}">
        <p14:creationId xmlns:p14="http://schemas.microsoft.com/office/powerpoint/2010/main" val="1228803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06" name="Rectangle 18"/>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dirty="0"/>
              <a:t>Plain Impedance Characteristic</a:t>
            </a:r>
          </a:p>
        </p:txBody>
      </p:sp>
      <p:grpSp>
        <p:nvGrpSpPr>
          <p:cNvPr id="63527" name="Group 39"/>
          <p:cNvGrpSpPr>
            <a:grpSpLocks/>
          </p:cNvGrpSpPr>
          <p:nvPr/>
        </p:nvGrpSpPr>
        <p:grpSpPr bwMode="auto">
          <a:xfrm>
            <a:off x="1274763" y="1316038"/>
            <a:ext cx="7499350" cy="4687888"/>
            <a:chOff x="803" y="829"/>
            <a:chExt cx="4724" cy="2953"/>
          </a:xfrm>
        </p:grpSpPr>
        <p:sp>
          <p:nvSpPr>
            <p:cNvPr id="63509" name="Freeform 21"/>
            <p:cNvSpPr>
              <a:spLocks/>
            </p:cNvSpPr>
            <p:nvPr/>
          </p:nvSpPr>
          <p:spPr bwMode="auto">
            <a:xfrm>
              <a:off x="2107" y="1004"/>
              <a:ext cx="398" cy="1475"/>
            </a:xfrm>
            <a:custGeom>
              <a:avLst/>
              <a:gdLst>
                <a:gd name="T0" fmla="*/ 795 w 795"/>
                <a:gd name="T1" fmla="*/ 0 h 2950"/>
                <a:gd name="T2" fmla="*/ 2 w 795"/>
                <a:gd name="T3" fmla="*/ 2948 h 2950"/>
                <a:gd name="T4" fmla="*/ 0 w 795"/>
                <a:gd name="T5" fmla="*/ 2950 h 2950"/>
              </a:gdLst>
              <a:ahLst/>
              <a:cxnLst>
                <a:cxn ang="0">
                  <a:pos x="T0" y="T1"/>
                </a:cxn>
                <a:cxn ang="0">
                  <a:pos x="T2" y="T3"/>
                </a:cxn>
                <a:cxn ang="0">
                  <a:pos x="T4" y="T5"/>
                </a:cxn>
              </a:cxnLst>
              <a:rect l="0" t="0" r="r" b="b"/>
              <a:pathLst>
                <a:path w="795" h="2950">
                  <a:moveTo>
                    <a:pt x="795" y="0"/>
                  </a:moveTo>
                  <a:lnTo>
                    <a:pt x="2" y="2948"/>
                  </a:lnTo>
                  <a:lnTo>
                    <a:pt x="0" y="295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510" name="Oval 22"/>
            <p:cNvSpPr>
              <a:spLocks noChangeArrowheads="1"/>
            </p:cNvSpPr>
            <p:nvPr/>
          </p:nvSpPr>
          <p:spPr bwMode="auto">
            <a:xfrm>
              <a:off x="803" y="1179"/>
              <a:ext cx="2609" cy="2603"/>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511" name="Freeform 23"/>
            <p:cNvSpPr>
              <a:spLocks/>
            </p:cNvSpPr>
            <p:nvPr/>
          </p:nvSpPr>
          <p:spPr bwMode="auto">
            <a:xfrm>
              <a:off x="1576" y="2478"/>
              <a:ext cx="2149" cy="1"/>
            </a:xfrm>
            <a:custGeom>
              <a:avLst/>
              <a:gdLst>
                <a:gd name="T0" fmla="*/ 0 w 4297"/>
                <a:gd name="T1" fmla="*/ 4295 w 4297"/>
                <a:gd name="T2" fmla="*/ 4297 w 4297"/>
              </a:gdLst>
              <a:ahLst/>
              <a:cxnLst>
                <a:cxn ang="0">
                  <a:pos x="T0" y="0"/>
                </a:cxn>
                <a:cxn ang="0">
                  <a:pos x="T1" y="0"/>
                </a:cxn>
                <a:cxn ang="0">
                  <a:pos x="T2" y="0"/>
                </a:cxn>
              </a:cxnLst>
              <a:rect l="0" t="0" r="r" b="b"/>
              <a:pathLst>
                <a:path w="4297">
                  <a:moveTo>
                    <a:pt x="0" y="0"/>
                  </a:moveTo>
                  <a:lnTo>
                    <a:pt x="4295" y="0"/>
                  </a:lnTo>
                  <a:lnTo>
                    <a:pt x="4297" y="0"/>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512" name="Freeform 24"/>
            <p:cNvSpPr>
              <a:spLocks/>
            </p:cNvSpPr>
            <p:nvPr/>
          </p:nvSpPr>
          <p:spPr bwMode="auto">
            <a:xfrm>
              <a:off x="2390" y="1433"/>
              <a:ext cx="285" cy="1045"/>
            </a:xfrm>
            <a:custGeom>
              <a:avLst/>
              <a:gdLst>
                <a:gd name="T0" fmla="*/ 0 w 570"/>
                <a:gd name="T1" fmla="*/ 2090 h 2090"/>
                <a:gd name="T2" fmla="*/ 568 w 570"/>
                <a:gd name="T3" fmla="*/ 1 h 2090"/>
                <a:gd name="T4" fmla="*/ 570 w 570"/>
                <a:gd name="T5" fmla="*/ 0 h 2090"/>
              </a:gdLst>
              <a:ahLst/>
              <a:cxnLst>
                <a:cxn ang="0">
                  <a:pos x="T0" y="T1"/>
                </a:cxn>
                <a:cxn ang="0">
                  <a:pos x="T2" y="T3"/>
                </a:cxn>
                <a:cxn ang="0">
                  <a:pos x="T4" y="T5"/>
                </a:cxn>
              </a:cxnLst>
              <a:rect l="0" t="0" r="r" b="b"/>
              <a:pathLst>
                <a:path w="570" h="2090">
                  <a:moveTo>
                    <a:pt x="0" y="2090"/>
                  </a:moveTo>
                  <a:lnTo>
                    <a:pt x="568" y="1"/>
                  </a:lnTo>
                  <a:lnTo>
                    <a:pt x="570" y="0"/>
                  </a:lnTo>
                </a:path>
              </a:pathLst>
            </a:custGeom>
            <a:noFill/>
            <a:ln w="28575"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513" name="Freeform 25"/>
            <p:cNvSpPr>
              <a:spLocks/>
            </p:cNvSpPr>
            <p:nvPr/>
          </p:nvSpPr>
          <p:spPr bwMode="auto">
            <a:xfrm>
              <a:off x="2389" y="1434"/>
              <a:ext cx="285" cy="1"/>
            </a:xfrm>
            <a:custGeom>
              <a:avLst/>
              <a:gdLst>
                <a:gd name="T0" fmla="*/ 570 w 570"/>
                <a:gd name="T1" fmla="*/ 2 w 570"/>
                <a:gd name="T2" fmla="*/ 0 w 570"/>
              </a:gdLst>
              <a:ahLst/>
              <a:cxnLst>
                <a:cxn ang="0">
                  <a:pos x="T0" y="0"/>
                </a:cxn>
                <a:cxn ang="0">
                  <a:pos x="T1" y="0"/>
                </a:cxn>
                <a:cxn ang="0">
                  <a:pos x="T2" y="0"/>
                </a:cxn>
              </a:cxnLst>
              <a:rect l="0" t="0" r="r" b="b"/>
              <a:pathLst>
                <a:path w="570">
                  <a:moveTo>
                    <a:pt x="570" y="0"/>
                  </a:moveTo>
                  <a:lnTo>
                    <a:pt x="2" y="0"/>
                  </a:lnTo>
                  <a:lnTo>
                    <a:pt x="0" y="0"/>
                  </a:lnTo>
                </a:path>
              </a:pathLst>
            </a:custGeom>
            <a:noFill/>
            <a:ln w="28575"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514" name="Freeform 26"/>
            <p:cNvSpPr>
              <a:spLocks/>
            </p:cNvSpPr>
            <p:nvPr/>
          </p:nvSpPr>
          <p:spPr bwMode="auto">
            <a:xfrm>
              <a:off x="2105" y="1434"/>
              <a:ext cx="285" cy="1045"/>
            </a:xfrm>
            <a:custGeom>
              <a:avLst/>
              <a:gdLst>
                <a:gd name="T0" fmla="*/ 569 w 569"/>
                <a:gd name="T1" fmla="*/ 0 h 2091"/>
                <a:gd name="T2" fmla="*/ 2 w 569"/>
                <a:gd name="T3" fmla="*/ 2089 h 2091"/>
                <a:gd name="T4" fmla="*/ 0 w 569"/>
                <a:gd name="T5" fmla="*/ 2091 h 2091"/>
              </a:gdLst>
              <a:ahLst/>
              <a:cxnLst>
                <a:cxn ang="0">
                  <a:pos x="T0" y="T1"/>
                </a:cxn>
                <a:cxn ang="0">
                  <a:pos x="T2" y="T3"/>
                </a:cxn>
                <a:cxn ang="0">
                  <a:pos x="T4" y="T5"/>
                </a:cxn>
              </a:cxnLst>
              <a:rect l="0" t="0" r="r" b="b"/>
              <a:pathLst>
                <a:path w="569" h="2091">
                  <a:moveTo>
                    <a:pt x="569" y="0"/>
                  </a:moveTo>
                  <a:lnTo>
                    <a:pt x="2" y="2089"/>
                  </a:lnTo>
                  <a:lnTo>
                    <a:pt x="0" y="2091"/>
                  </a:lnTo>
                </a:path>
              </a:pathLst>
            </a:custGeom>
            <a:noFill/>
            <a:ln w="28575"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515" name="Freeform 27"/>
            <p:cNvSpPr>
              <a:spLocks/>
            </p:cNvSpPr>
            <p:nvPr/>
          </p:nvSpPr>
          <p:spPr bwMode="auto">
            <a:xfrm>
              <a:off x="2106" y="2478"/>
              <a:ext cx="285" cy="1"/>
            </a:xfrm>
            <a:custGeom>
              <a:avLst/>
              <a:gdLst>
                <a:gd name="T0" fmla="*/ 0 w 568"/>
                <a:gd name="T1" fmla="*/ 567 w 568"/>
                <a:gd name="T2" fmla="*/ 568 w 568"/>
              </a:gdLst>
              <a:ahLst/>
              <a:cxnLst>
                <a:cxn ang="0">
                  <a:pos x="T0" y="0"/>
                </a:cxn>
                <a:cxn ang="0">
                  <a:pos x="T1" y="0"/>
                </a:cxn>
                <a:cxn ang="0">
                  <a:pos x="T2" y="0"/>
                </a:cxn>
              </a:cxnLst>
              <a:rect l="0" t="0" r="r" b="b"/>
              <a:pathLst>
                <a:path w="568">
                  <a:moveTo>
                    <a:pt x="0" y="0"/>
                  </a:moveTo>
                  <a:lnTo>
                    <a:pt x="567" y="0"/>
                  </a:lnTo>
                  <a:lnTo>
                    <a:pt x="568" y="0"/>
                  </a:lnTo>
                </a:path>
              </a:pathLst>
            </a:custGeom>
            <a:noFill/>
            <a:ln w="28575"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516" name="Freeform 28"/>
            <p:cNvSpPr>
              <a:spLocks/>
            </p:cNvSpPr>
            <p:nvPr/>
          </p:nvSpPr>
          <p:spPr bwMode="auto">
            <a:xfrm>
              <a:off x="2108" y="1434"/>
              <a:ext cx="564" cy="1044"/>
            </a:xfrm>
            <a:custGeom>
              <a:avLst/>
              <a:gdLst>
                <a:gd name="T0" fmla="*/ 563 w 1127"/>
                <a:gd name="T1" fmla="*/ 0 h 2089"/>
                <a:gd name="T2" fmla="*/ 216 w 1127"/>
                <a:gd name="T3" fmla="*/ 1279 h 2089"/>
                <a:gd name="T4" fmla="*/ 0 w 1127"/>
                <a:gd name="T5" fmla="*/ 2089 h 2089"/>
                <a:gd name="T6" fmla="*/ 564 w 1127"/>
                <a:gd name="T7" fmla="*/ 2089 h 2089"/>
                <a:gd name="T8" fmla="*/ 949 w 1127"/>
                <a:gd name="T9" fmla="*/ 670 h 2089"/>
                <a:gd name="T10" fmla="*/ 1127 w 1127"/>
                <a:gd name="T11" fmla="*/ 0 h 2089"/>
                <a:gd name="T12" fmla="*/ 563 w 1127"/>
                <a:gd name="T13" fmla="*/ 0 h 2089"/>
              </a:gdLst>
              <a:ahLst/>
              <a:cxnLst>
                <a:cxn ang="0">
                  <a:pos x="T0" y="T1"/>
                </a:cxn>
                <a:cxn ang="0">
                  <a:pos x="T2" y="T3"/>
                </a:cxn>
                <a:cxn ang="0">
                  <a:pos x="T4" y="T5"/>
                </a:cxn>
                <a:cxn ang="0">
                  <a:pos x="T6" y="T7"/>
                </a:cxn>
                <a:cxn ang="0">
                  <a:pos x="T8" y="T9"/>
                </a:cxn>
                <a:cxn ang="0">
                  <a:pos x="T10" y="T11"/>
                </a:cxn>
                <a:cxn ang="0">
                  <a:pos x="T12" y="T13"/>
                </a:cxn>
              </a:cxnLst>
              <a:rect l="0" t="0" r="r" b="b"/>
              <a:pathLst>
                <a:path w="1127" h="2089">
                  <a:moveTo>
                    <a:pt x="563" y="0"/>
                  </a:moveTo>
                  <a:lnTo>
                    <a:pt x="216" y="1279"/>
                  </a:lnTo>
                  <a:lnTo>
                    <a:pt x="0" y="2089"/>
                  </a:lnTo>
                  <a:lnTo>
                    <a:pt x="564" y="2089"/>
                  </a:lnTo>
                  <a:lnTo>
                    <a:pt x="949" y="670"/>
                  </a:lnTo>
                  <a:lnTo>
                    <a:pt x="1127" y="0"/>
                  </a:lnTo>
                  <a:lnTo>
                    <a:pt x="563" y="0"/>
                  </a:lnTo>
                  <a:close/>
                </a:path>
              </a:pathLst>
            </a:custGeom>
            <a:solidFill>
              <a:srgbClr val="000000"/>
            </a:solidFill>
            <a:ln w="28575" cmpd="sng">
              <a:solidFill>
                <a:srgbClr val="000000"/>
              </a:solidFill>
              <a:prstDash val="solid"/>
              <a:round/>
              <a:headEnd/>
              <a:tailEnd/>
            </a:ln>
          </p:spPr>
          <p:txBody>
            <a:bodyPr/>
            <a:lstStyle/>
            <a:p>
              <a:endParaRPr lang="en-US"/>
            </a:p>
          </p:txBody>
        </p:sp>
        <p:sp>
          <p:nvSpPr>
            <p:cNvPr id="63517" name="Freeform 29"/>
            <p:cNvSpPr>
              <a:spLocks/>
            </p:cNvSpPr>
            <p:nvPr/>
          </p:nvSpPr>
          <p:spPr bwMode="auto">
            <a:xfrm>
              <a:off x="2108" y="1434"/>
              <a:ext cx="564" cy="1044"/>
            </a:xfrm>
            <a:custGeom>
              <a:avLst/>
              <a:gdLst>
                <a:gd name="T0" fmla="*/ 563 w 1127"/>
                <a:gd name="T1" fmla="*/ 0 h 2089"/>
                <a:gd name="T2" fmla="*/ 216 w 1127"/>
                <a:gd name="T3" fmla="*/ 1279 h 2089"/>
                <a:gd name="T4" fmla="*/ 0 w 1127"/>
                <a:gd name="T5" fmla="*/ 2089 h 2089"/>
                <a:gd name="T6" fmla="*/ 564 w 1127"/>
                <a:gd name="T7" fmla="*/ 2089 h 2089"/>
                <a:gd name="T8" fmla="*/ 949 w 1127"/>
                <a:gd name="T9" fmla="*/ 670 h 2089"/>
                <a:gd name="T10" fmla="*/ 1127 w 1127"/>
                <a:gd name="T11" fmla="*/ 0 h 2089"/>
                <a:gd name="T12" fmla="*/ 563 w 1127"/>
                <a:gd name="T13" fmla="*/ 0 h 2089"/>
              </a:gdLst>
              <a:ahLst/>
              <a:cxnLst>
                <a:cxn ang="0">
                  <a:pos x="T0" y="T1"/>
                </a:cxn>
                <a:cxn ang="0">
                  <a:pos x="T2" y="T3"/>
                </a:cxn>
                <a:cxn ang="0">
                  <a:pos x="T4" y="T5"/>
                </a:cxn>
                <a:cxn ang="0">
                  <a:pos x="T6" y="T7"/>
                </a:cxn>
                <a:cxn ang="0">
                  <a:pos x="T8" y="T9"/>
                </a:cxn>
                <a:cxn ang="0">
                  <a:pos x="T10" y="T11"/>
                </a:cxn>
                <a:cxn ang="0">
                  <a:pos x="T12" y="T13"/>
                </a:cxn>
              </a:cxnLst>
              <a:rect l="0" t="0" r="r" b="b"/>
              <a:pathLst>
                <a:path w="1127" h="2089">
                  <a:moveTo>
                    <a:pt x="563" y="0"/>
                  </a:moveTo>
                  <a:lnTo>
                    <a:pt x="216" y="1279"/>
                  </a:lnTo>
                  <a:lnTo>
                    <a:pt x="0" y="2089"/>
                  </a:lnTo>
                  <a:lnTo>
                    <a:pt x="564" y="2089"/>
                  </a:lnTo>
                  <a:lnTo>
                    <a:pt x="949" y="670"/>
                  </a:lnTo>
                  <a:lnTo>
                    <a:pt x="1127" y="0"/>
                  </a:lnTo>
                  <a:lnTo>
                    <a:pt x="563" y="0"/>
                  </a:lnTo>
                  <a:close/>
                </a:path>
              </a:pathLst>
            </a:custGeom>
            <a:solidFill>
              <a:srgbClr val="FF0000"/>
            </a:solidFill>
            <a:ln w="28575" cmpd="sng">
              <a:solidFill>
                <a:srgbClr val="FF0000"/>
              </a:solidFill>
              <a:prstDash val="solid"/>
              <a:round/>
              <a:headEnd/>
              <a:tailEnd/>
            </a:ln>
          </p:spPr>
          <p:txBody>
            <a:bodyPr/>
            <a:lstStyle/>
            <a:p>
              <a:endParaRPr lang="en-US"/>
            </a:p>
          </p:txBody>
        </p:sp>
        <p:sp>
          <p:nvSpPr>
            <p:cNvPr id="63518" name="Freeform 30"/>
            <p:cNvSpPr>
              <a:spLocks/>
            </p:cNvSpPr>
            <p:nvPr/>
          </p:nvSpPr>
          <p:spPr bwMode="auto">
            <a:xfrm>
              <a:off x="2108" y="1037"/>
              <a:ext cx="1" cy="1879"/>
            </a:xfrm>
            <a:custGeom>
              <a:avLst/>
              <a:gdLst>
                <a:gd name="T0" fmla="*/ 0 h 3759"/>
                <a:gd name="T1" fmla="*/ 3757 h 3759"/>
                <a:gd name="T2" fmla="*/ 3759 h 3759"/>
              </a:gdLst>
              <a:ahLst/>
              <a:cxnLst>
                <a:cxn ang="0">
                  <a:pos x="0" y="T0"/>
                </a:cxn>
                <a:cxn ang="0">
                  <a:pos x="0" y="T1"/>
                </a:cxn>
                <a:cxn ang="0">
                  <a:pos x="0" y="T2"/>
                </a:cxn>
              </a:cxnLst>
              <a:rect l="0" t="0" r="r" b="b"/>
              <a:pathLst>
                <a:path h="3759">
                  <a:moveTo>
                    <a:pt x="0" y="0"/>
                  </a:moveTo>
                  <a:lnTo>
                    <a:pt x="0" y="3757"/>
                  </a:lnTo>
                  <a:lnTo>
                    <a:pt x="0" y="3759"/>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519" name="Freeform 31"/>
            <p:cNvSpPr>
              <a:spLocks/>
            </p:cNvSpPr>
            <p:nvPr/>
          </p:nvSpPr>
          <p:spPr bwMode="auto">
            <a:xfrm>
              <a:off x="2394" y="1433"/>
              <a:ext cx="278" cy="1040"/>
            </a:xfrm>
            <a:custGeom>
              <a:avLst/>
              <a:gdLst>
                <a:gd name="T0" fmla="*/ 557 w 557"/>
                <a:gd name="T1" fmla="*/ 0 h 2081"/>
                <a:gd name="T2" fmla="*/ 2 w 557"/>
                <a:gd name="T3" fmla="*/ 2079 h 2081"/>
                <a:gd name="T4" fmla="*/ 0 w 557"/>
                <a:gd name="T5" fmla="*/ 2081 h 2081"/>
              </a:gdLst>
              <a:ahLst/>
              <a:cxnLst>
                <a:cxn ang="0">
                  <a:pos x="T0" y="T1"/>
                </a:cxn>
                <a:cxn ang="0">
                  <a:pos x="T2" y="T3"/>
                </a:cxn>
                <a:cxn ang="0">
                  <a:pos x="T4" y="T5"/>
                </a:cxn>
              </a:cxnLst>
              <a:rect l="0" t="0" r="r" b="b"/>
              <a:pathLst>
                <a:path w="557" h="2081">
                  <a:moveTo>
                    <a:pt x="557" y="0"/>
                  </a:moveTo>
                  <a:lnTo>
                    <a:pt x="2" y="2079"/>
                  </a:lnTo>
                  <a:lnTo>
                    <a:pt x="0" y="2081"/>
                  </a:lnTo>
                </a:path>
              </a:pathLst>
            </a:custGeom>
            <a:noFill/>
            <a:ln w="28575"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520" name="Freeform 32"/>
            <p:cNvSpPr>
              <a:spLocks/>
            </p:cNvSpPr>
            <p:nvPr/>
          </p:nvSpPr>
          <p:spPr bwMode="auto">
            <a:xfrm>
              <a:off x="2344" y="1059"/>
              <a:ext cx="284" cy="87"/>
            </a:xfrm>
            <a:custGeom>
              <a:avLst/>
              <a:gdLst>
                <a:gd name="T0" fmla="*/ 0 w 569"/>
                <a:gd name="T1" fmla="*/ 0 h 175"/>
                <a:gd name="T2" fmla="*/ 567 w 569"/>
                <a:gd name="T3" fmla="*/ 173 h 175"/>
                <a:gd name="T4" fmla="*/ 569 w 569"/>
                <a:gd name="T5" fmla="*/ 175 h 175"/>
              </a:gdLst>
              <a:ahLst/>
              <a:cxnLst>
                <a:cxn ang="0">
                  <a:pos x="T0" y="T1"/>
                </a:cxn>
                <a:cxn ang="0">
                  <a:pos x="T2" y="T3"/>
                </a:cxn>
                <a:cxn ang="0">
                  <a:pos x="T4" y="T5"/>
                </a:cxn>
              </a:cxnLst>
              <a:rect l="0" t="0" r="r" b="b"/>
              <a:pathLst>
                <a:path w="569" h="175">
                  <a:moveTo>
                    <a:pt x="0" y="0"/>
                  </a:moveTo>
                  <a:lnTo>
                    <a:pt x="567" y="173"/>
                  </a:lnTo>
                  <a:lnTo>
                    <a:pt x="569" y="175"/>
                  </a:lnTo>
                </a:path>
              </a:pathLst>
            </a:custGeom>
            <a:noFill/>
            <a:ln w="28575"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521" name="Text Box 33"/>
            <p:cNvSpPr txBox="1">
              <a:spLocks noChangeArrowheads="1"/>
            </p:cNvSpPr>
            <p:nvPr/>
          </p:nvSpPr>
          <p:spPr bwMode="auto">
            <a:xfrm>
              <a:off x="1778" y="829"/>
              <a:ext cx="590"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b="1" dirty="0" err="1">
                  <a:solidFill>
                    <a:schemeClr val="tx2"/>
                  </a:solidFill>
                  <a:latin typeface="FuturaA Hv BT" pitchFamily="34" charset="0"/>
                </a:rPr>
                <a:t>jX</a:t>
              </a:r>
              <a:endParaRPr lang="en-GB" altLang="en-US" b="1" dirty="0">
                <a:solidFill>
                  <a:schemeClr val="tx2"/>
                </a:solidFill>
                <a:latin typeface="FuturaA Hv BT" pitchFamily="34" charset="0"/>
              </a:endParaRPr>
            </a:p>
          </p:txBody>
        </p:sp>
        <p:sp>
          <p:nvSpPr>
            <p:cNvPr id="63522" name="Text Box 34"/>
            <p:cNvSpPr txBox="1">
              <a:spLocks noChangeArrowheads="1"/>
            </p:cNvSpPr>
            <p:nvPr/>
          </p:nvSpPr>
          <p:spPr bwMode="auto">
            <a:xfrm>
              <a:off x="2696" y="991"/>
              <a:ext cx="590"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b="1">
                  <a:solidFill>
                    <a:schemeClr val="tx2"/>
                  </a:solidFill>
                  <a:latin typeface="FuturaA Hv BT" pitchFamily="34" charset="0"/>
                </a:rPr>
                <a:t>Z</a:t>
              </a:r>
              <a:r>
                <a:rPr lang="en-GB" altLang="en-US" b="1" baseline="-25000">
                  <a:solidFill>
                    <a:schemeClr val="tx2"/>
                  </a:solidFill>
                  <a:latin typeface="FuturaA Hv BT" pitchFamily="34" charset="0"/>
                </a:rPr>
                <a:t>L</a:t>
              </a:r>
              <a:endParaRPr lang="en-GB" altLang="en-US" b="1">
                <a:latin typeface="FuturaA Hv BT" pitchFamily="34" charset="0"/>
              </a:endParaRPr>
            </a:p>
          </p:txBody>
        </p:sp>
        <p:sp>
          <p:nvSpPr>
            <p:cNvPr id="63523" name="Text Box 35"/>
            <p:cNvSpPr txBox="1">
              <a:spLocks noChangeArrowheads="1"/>
            </p:cNvSpPr>
            <p:nvPr/>
          </p:nvSpPr>
          <p:spPr bwMode="auto">
            <a:xfrm>
              <a:off x="3778" y="2315"/>
              <a:ext cx="443"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b="1">
                  <a:solidFill>
                    <a:schemeClr val="tx2"/>
                  </a:solidFill>
                  <a:latin typeface="FuturaA Hv BT" pitchFamily="34" charset="0"/>
                </a:rPr>
                <a:t>R</a:t>
              </a:r>
              <a:endParaRPr lang="en-GB" altLang="en-US" b="1">
                <a:latin typeface="FuturaA Hv BT" pitchFamily="34" charset="0"/>
              </a:endParaRPr>
            </a:p>
          </p:txBody>
        </p:sp>
        <p:sp>
          <p:nvSpPr>
            <p:cNvPr id="63524" name="Text Box 36"/>
            <p:cNvSpPr txBox="1">
              <a:spLocks noChangeArrowheads="1"/>
            </p:cNvSpPr>
            <p:nvPr/>
          </p:nvSpPr>
          <p:spPr bwMode="auto">
            <a:xfrm>
              <a:off x="2210" y="2911"/>
              <a:ext cx="921"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b="1" dirty="0">
                  <a:solidFill>
                    <a:srgbClr val="FF0000"/>
                  </a:solidFill>
                  <a:latin typeface="Arial" panose="020B0604020202020204" pitchFamily="34" charset="0"/>
                  <a:cs typeface="Arial" panose="020B0604020202020204" pitchFamily="34" charset="0"/>
                </a:rPr>
                <a:t>TRIP</a:t>
              </a:r>
            </a:p>
          </p:txBody>
        </p:sp>
        <p:sp>
          <p:nvSpPr>
            <p:cNvPr id="63525" name="Text Box 37"/>
            <p:cNvSpPr txBox="1">
              <a:spLocks noChangeArrowheads="1"/>
            </p:cNvSpPr>
            <p:nvPr/>
          </p:nvSpPr>
          <p:spPr bwMode="auto">
            <a:xfrm>
              <a:off x="3144" y="3007"/>
              <a:ext cx="1077"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b="1" dirty="0">
                  <a:solidFill>
                    <a:schemeClr val="tx2"/>
                  </a:solidFill>
                  <a:latin typeface="Arial" panose="020B0604020202020204" pitchFamily="34" charset="0"/>
                  <a:cs typeface="Arial" panose="020B0604020202020204" pitchFamily="34" charset="0"/>
                </a:rPr>
                <a:t>STABLE</a:t>
              </a:r>
              <a:endParaRPr lang="en-GB" altLang="en-US" b="1" dirty="0">
                <a:latin typeface="Arial" panose="020B0604020202020204" pitchFamily="34" charset="0"/>
                <a:cs typeface="Arial" panose="020B0604020202020204" pitchFamily="34" charset="0"/>
              </a:endParaRPr>
            </a:p>
          </p:txBody>
        </p:sp>
        <p:sp>
          <p:nvSpPr>
            <p:cNvPr id="63526" name="Text Box 38"/>
            <p:cNvSpPr txBox="1">
              <a:spLocks noChangeArrowheads="1"/>
            </p:cNvSpPr>
            <p:nvPr/>
          </p:nvSpPr>
          <p:spPr bwMode="auto">
            <a:xfrm>
              <a:off x="3463" y="956"/>
              <a:ext cx="2064" cy="58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b="1" dirty="0">
                  <a:solidFill>
                    <a:srgbClr val="FF0000"/>
                  </a:solidFill>
                  <a:latin typeface="Arial" panose="020B0604020202020204" pitchFamily="34" charset="0"/>
                  <a:cs typeface="Arial" panose="020B0604020202020204" pitchFamily="34" charset="0"/>
                </a:rPr>
                <a:t>Impedance Seen At Measuring Location For Line Faults</a:t>
              </a:r>
            </a:p>
          </p:txBody>
        </p:sp>
      </p:grpSp>
    </p:spTree>
    <p:extLst>
      <p:ext uri="{BB962C8B-B14F-4D97-AF65-F5344CB8AC3E}">
        <p14:creationId xmlns:p14="http://schemas.microsoft.com/office/powerpoint/2010/main" val="3023903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2" name="Rectangle 8"/>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dirty="0"/>
              <a:t>Impedance ratio factor:</a:t>
            </a:r>
          </a:p>
        </p:txBody>
      </p:sp>
      <p:grpSp>
        <p:nvGrpSpPr>
          <p:cNvPr id="3" name="Group 2"/>
          <p:cNvGrpSpPr/>
          <p:nvPr/>
        </p:nvGrpSpPr>
        <p:grpSpPr>
          <a:xfrm>
            <a:off x="1363455" y="958230"/>
            <a:ext cx="5768976" cy="1909762"/>
            <a:chOff x="1363455" y="958230"/>
            <a:chExt cx="5768976" cy="1909762"/>
          </a:xfrm>
        </p:grpSpPr>
        <p:sp>
          <p:nvSpPr>
            <p:cNvPr id="11276" name="Oval 12"/>
            <p:cNvSpPr>
              <a:spLocks noChangeArrowheads="1"/>
            </p:cNvSpPr>
            <p:nvPr/>
          </p:nvSpPr>
          <p:spPr bwMode="auto">
            <a:xfrm>
              <a:off x="2571543" y="1245567"/>
              <a:ext cx="404813" cy="403225"/>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77" name="Oval 13"/>
            <p:cNvSpPr>
              <a:spLocks noChangeArrowheads="1"/>
            </p:cNvSpPr>
            <p:nvPr/>
          </p:nvSpPr>
          <p:spPr bwMode="auto">
            <a:xfrm>
              <a:off x="2266743" y="1245567"/>
              <a:ext cx="404813" cy="403225"/>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78" name="Oval 14"/>
            <p:cNvSpPr>
              <a:spLocks noChangeArrowheads="1"/>
            </p:cNvSpPr>
            <p:nvPr/>
          </p:nvSpPr>
          <p:spPr bwMode="auto">
            <a:xfrm>
              <a:off x="1363455" y="1245567"/>
              <a:ext cx="404813" cy="403225"/>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79" name="Line 15"/>
            <p:cNvSpPr>
              <a:spLocks noChangeShapeType="1"/>
            </p:cNvSpPr>
            <p:nvPr/>
          </p:nvSpPr>
          <p:spPr bwMode="auto">
            <a:xfrm>
              <a:off x="1776205" y="1440830"/>
              <a:ext cx="492125" cy="1587"/>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80" name="Line 16"/>
            <p:cNvSpPr>
              <a:spLocks noChangeShapeType="1"/>
            </p:cNvSpPr>
            <p:nvPr/>
          </p:nvSpPr>
          <p:spPr bwMode="auto">
            <a:xfrm>
              <a:off x="2974768" y="1440830"/>
              <a:ext cx="765175" cy="1587"/>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81" name="Line 17"/>
            <p:cNvSpPr>
              <a:spLocks noChangeShapeType="1"/>
            </p:cNvSpPr>
            <p:nvPr/>
          </p:nvSpPr>
          <p:spPr bwMode="auto">
            <a:xfrm>
              <a:off x="3543093" y="1145555"/>
              <a:ext cx="1588" cy="492125"/>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82" name="Line 18"/>
            <p:cNvSpPr>
              <a:spLocks noChangeShapeType="1"/>
            </p:cNvSpPr>
            <p:nvPr/>
          </p:nvSpPr>
          <p:spPr bwMode="auto">
            <a:xfrm>
              <a:off x="3935205" y="1440830"/>
              <a:ext cx="1470025" cy="1587"/>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1283" name="Group 19"/>
            <p:cNvGrpSpPr>
              <a:grpSpLocks/>
            </p:cNvGrpSpPr>
            <p:nvPr/>
          </p:nvGrpSpPr>
          <p:grpSpPr bwMode="auto">
            <a:xfrm>
              <a:off x="3763755" y="1370980"/>
              <a:ext cx="158750" cy="152400"/>
              <a:chOff x="0" y="0"/>
              <a:chExt cx="20000" cy="20000"/>
            </a:xfrm>
          </p:grpSpPr>
          <p:sp>
            <p:nvSpPr>
              <p:cNvPr id="11284" name="Line 20"/>
              <p:cNvSpPr>
                <a:spLocks noChangeShapeType="1"/>
              </p:cNvSpPr>
              <p:nvPr/>
            </p:nvSpPr>
            <p:spPr bwMode="auto">
              <a:xfrm flipH="1">
                <a:off x="0" y="0"/>
                <a:ext cx="19202"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85" name="Line 21"/>
              <p:cNvSpPr>
                <a:spLocks noChangeShapeType="1"/>
              </p:cNvSpPr>
              <p:nvPr/>
            </p:nvSpPr>
            <p:spPr bwMode="auto">
              <a:xfrm>
                <a:off x="798" y="0"/>
                <a:ext cx="19202" cy="2000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1286" name="Rectangle 22"/>
            <p:cNvSpPr>
              <a:spLocks noChangeArrowheads="1"/>
            </p:cNvSpPr>
            <p:nvPr/>
          </p:nvSpPr>
          <p:spPr bwMode="auto">
            <a:xfrm>
              <a:off x="3179555" y="1990105"/>
              <a:ext cx="1284288"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endParaRPr lang="en-GB" altLang="en-US" sz="1600">
                <a:latin typeface="FuturaA Hv BT" pitchFamily="34" charset="0"/>
              </a:endParaRPr>
            </a:p>
            <a:p>
              <a:endParaRPr lang="en-GB" altLang="en-US" sz="1600">
                <a:latin typeface="FuturaA Hv BT" pitchFamily="34" charset="0"/>
              </a:endParaRPr>
            </a:p>
          </p:txBody>
        </p:sp>
        <p:sp>
          <p:nvSpPr>
            <p:cNvPr id="11287" name="Freeform 23"/>
            <p:cNvSpPr>
              <a:spLocks/>
            </p:cNvSpPr>
            <p:nvPr/>
          </p:nvSpPr>
          <p:spPr bwMode="auto">
            <a:xfrm>
              <a:off x="1442830" y="1410667"/>
              <a:ext cx="236538" cy="95250"/>
            </a:xfrm>
            <a:custGeom>
              <a:avLst/>
              <a:gdLst>
                <a:gd name="T0" fmla="*/ 0 w 1668"/>
                <a:gd name="T1" fmla="*/ 345 h 684"/>
                <a:gd name="T2" fmla="*/ 3 w 1668"/>
                <a:gd name="T3" fmla="*/ 291 h 684"/>
                <a:gd name="T4" fmla="*/ 27 w 1668"/>
                <a:gd name="T5" fmla="*/ 228 h 684"/>
                <a:gd name="T6" fmla="*/ 54 w 1668"/>
                <a:gd name="T7" fmla="*/ 180 h 684"/>
                <a:gd name="T8" fmla="*/ 96 w 1668"/>
                <a:gd name="T9" fmla="*/ 132 h 684"/>
                <a:gd name="T10" fmla="*/ 129 w 1668"/>
                <a:gd name="T11" fmla="*/ 96 h 684"/>
                <a:gd name="T12" fmla="*/ 180 w 1668"/>
                <a:gd name="T13" fmla="*/ 60 h 684"/>
                <a:gd name="T14" fmla="*/ 243 w 1668"/>
                <a:gd name="T15" fmla="*/ 30 h 684"/>
                <a:gd name="T16" fmla="*/ 315 w 1668"/>
                <a:gd name="T17" fmla="*/ 9 h 684"/>
                <a:gd name="T18" fmla="*/ 369 w 1668"/>
                <a:gd name="T19" fmla="*/ 0 h 684"/>
                <a:gd name="T20" fmla="*/ 444 w 1668"/>
                <a:gd name="T21" fmla="*/ 0 h 684"/>
                <a:gd name="T22" fmla="*/ 537 w 1668"/>
                <a:gd name="T23" fmla="*/ 12 h 684"/>
                <a:gd name="T24" fmla="*/ 612 w 1668"/>
                <a:gd name="T25" fmla="*/ 39 h 684"/>
                <a:gd name="T26" fmla="*/ 669 w 1668"/>
                <a:gd name="T27" fmla="*/ 72 h 684"/>
                <a:gd name="T28" fmla="*/ 717 w 1668"/>
                <a:gd name="T29" fmla="*/ 108 h 684"/>
                <a:gd name="T30" fmla="*/ 768 w 1668"/>
                <a:gd name="T31" fmla="*/ 162 h 684"/>
                <a:gd name="T32" fmla="*/ 801 w 1668"/>
                <a:gd name="T33" fmla="*/ 210 h 684"/>
                <a:gd name="T34" fmla="*/ 819 w 1668"/>
                <a:gd name="T35" fmla="*/ 267 h 684"/>
                <a:gd name="T36" fmla="*/ 834 w 1668"/>
                <a:gd name="T37" fmla="*/ 333 h 684"/>
                <a:gd name="T38" fmla="*/ 843 w 1668"/>
                <a:gd name="T39" fmla="*/ 396 h 684"/>
                <a:gd name="T40" fmla="*/ 864 w 1668"/>
                <a:gd name="T41" fmla="*/ 462 h 684"/>
                <a:gd name="T42" fmla="*/ 897 w 1668"/>
                <a:gd name="T43" fmla="*/ 507 h 684"/>
                <a:gd name="T44" fmla="*/ 939 w 1668"/>
                <a:gd name="T45" fmla="*/ 561 h 684"/>
                <a:gd name="T46" fmla="*/ 990 w 1668"/>
                <a:gd name="T47" fmla="*/ 603 h 684"/>
                <a:gd name="T48" fmla="*/ 1044 w 1668"/>
                <a:gd name="T49" fmla="*/ 630 h 684"/>
                <a:gd name="T50" fmla="*/ 1101 w 1668"/>
                <a:gd name="T51" fmla="*/ 660 h 684"/>
                <a:gd name="T52" fmla="*/ 1182 w 1668"/>
                <a:gd name="T53" fmla="*/ 675 h 684"/>
                <a:gd name="T54" fmla="*/ 1269 w 1668"/>
                <a:gd name="T55" fmla="*/ 684 h 684"/>
                <a:gd name="T56" fmla="*/ 1350 w 1668"/>
                <a:gd name="T57" fmla="*/ 672 h 684"/>
                <a:gd name="T58" fmla="*/ 1425 w 1668"/>
                <a:gd name="T59" fmla="*/ 648 h 684"/>
                <a:gd name="T60" fmla="*/ 1491 w 1668"/>
                <a:gd name="T61" fmla="*/ 618 h 684"/>
                <a:gd name="T62" fmla="*/ 1545 w 1668"/>
                <a:gd name="T63" fmla="*/ 576 h 684"/>
                <a:gd name="T64" fmla="*/ 1596 w 1668"/>
                <a:gd name="T65" fmla="*/ 525 h 684"/>
                <a:gd name="T66" fmla="*/ 1629 w 1668"/>
                <a:gd name="T67" fmla="*/ 483 h 684"/>
                <a:gd name="T68" fmla="*/ 1641 w 1668"/>
                <a:gd name="T69" fmla="*/ 444 h 684"/>
                <a:gd name="T70" fmla="*/ 1659 w 1668"/>
                <a:gd name="T71" fmla="*/ 384 h 684"/>
                <a:gd name="T72" fmla="*/ 1668 w 1668"/>
                <a:gd name="T73" fmla="*/ 336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68" h="684">
                  <a:moveTo>
                    <a:pt x="0" y="345"/>
                  </a:moveTo>
                  <a:lnTo>
                    <a:pt x="3" y="291"/>
                  </a:lnTo>
                  <a:lnTo>
                    <a:pt x="27" y="228"/>
                  </a:lnTo>
                  <a:lnTo>
                    <a:pt x="54" y="180"/>
                  </a:lnTo>
                  <a:lnTo>
                    <a:pt x="96" y="132"/>
                  </a:lnTo>
                  <a:lnTo>
                    <a:pt x="129" y="96"/>
                  </a:lnTo>
                  <a:lnTo>
                    <a:pt x="180" y="60"/>
                  </a:lnTo>
                  <a:lnTo>
                    <a:pt x="243" y="30"/>
                  </a:lnTo>
                  <a:lnTo>
                    <a:pt x="315" y="9"/>
                  </a:lnTo>
                  <a:lnTo>
                    <a:pt x="369" y="0"/>
                  </a:lnTo>
                  <a:lnTo>
                    <a:pt x="444" y="0"/>
                  </a:lnTo>
                  <a:lnTo>
                    <a:pt x="537" y="12"/>
                  </a:lnTo>
                  <a:lnTo>
                    <a:pt x="612" y="39"/>
                  </a:lnTo>
                  <a:lnTo>
                    <a:pt x="669" y="72"/>
                  </a:lnTo>
                  <a:lnTo>
                    <a:pt x="717" y="108"/>
                  </a:lnTo>
                  <a:lnTo>
                    <a:pt x="768" y="162"/>
                  </a:lnTo>
                  <a:lnTo>
                    <a:pt x="801" y="210"/>
                  </a:lnTo>
                  <a:lnTo>
                    <a:pt x="819" y="267"/>
                  </a:lnTo>
                  <a:lnTo>
                    <a:pt x="834" y="333"/>
                  </a:lnTo>
                  <a:lnTo>
                    <a:pt x="843" y="396"/>
                  </a:lnTo>
                  <a:lnTo>
                    <a:pt x="864" y="462"/>
                  </a:lnTo>
                  <a:lnTo>
                    <a:pt x="897" y="507"/>
                  </a:lnTo>
                  <a:lnTo>
                    <a:pt x="939" y="561"/>
                  </a:lnTo>
                  <a:lnTo>
                    <a:pt x="990" y="603"/>
                  </a:lnTo>
                  <a:lnTo>
                    <a:pt x="1044" y="630"/>
                  </a:lnTo>
                  <a:lnTo>
                    <a:pt x="1101" y="660"/>
                  </a:lnTo>
                  <a:lnTo>
                    <a:pt x="1182" y="675"/>
                  </a:lnTo>
                  <a:lnTo>
                    <a:pt x="1269" y="684"/>
                  </a:lnTo>
                  <a:lnTo>
                    <a:pt x="1350" y="672"/>
                  </a:lnTo>
                  <a:lnTo>
                    <a:pt x="1425" y="648"/>
                  </a:lnTo>
                  <a:lnTo>
                    <a:pt x="1491" y="618"/>
                  </a:lnTo>
                  <a:lnTo>
                    <a:pt x="1545" y="576"/>
                  </a:lnTo>
                  <a:lnTo>
                    <a:pt x="1596" y="525"/>
                  </a:lnTo>
                  <a:lnTo>
                    <a:pt x="1629" y="483"/>
                  </a:lnTo>
                  <a:lnTo>
                    <a:pt x="1641" y="444"/>
                  </a:lnTo>
                  <a:lnTo>
                    <a:pt x="1659" y="384"/>
                  </a:lnTo>
                  <a:lnTo>
                    <a:pt x="1668" y="336"/>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11288" name="Arc 24"/>
            <p:cNvSpPr>
              <a:spLocks/>
            </p:cNvSpPr>
            <p:nvPr/>
          </p:nvSpPr>
          <p:spPr bwMode="auto">
            <a:xfrm>
              <a:off x="4419393" y="1339230"/>
              <a:ext cx="100013" cy="1095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89" name="Arc 25"/>
            <p:cNvSpPr>
              <a:spLocks/>
            </p:cNvSpPr>
            <p:nvPr/>
          </p:nvSpPr>
          <p:spPr bwMode="auto">
            <a:xfrm flipH="1">
              <a:off x="4327318" y="1343992"/>
              <a:ext cx="93663" cy="1079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90" name="Freeform 26"/>
            <p:cNvSpPr>
              <a:spLocks/>
            </p:cNvSpPr>
            <p:nvPr/>
          </p:nvSpPr>
          <p:spPr bwMode="auto">
            <a:xfrm>
              <a:off x="4328905" y="1450355"/>
              <a:ext cx="0" cy="71437"/>
            </a:xfrm>
            <a:custGeom>
              <a:avLst/>
              <a:gdLst>
                <a:gd name="T0" fmla="*/ 0 w 20000"/>
                <a:gd name="T1" fmla="*/ 19808 h 20000"/>
                <a:gd name="T2" fmla="*/ 0 w 20000"/>
                <a:gd name="T3" fmla="*/ 0 h 20000"/>
              </a:gdLst>
              <a:ahLst/>
              <a:cxnLst>
                <a:cxn ang="0">
                  <a:pos x="T0" y="T1"/>
                </a:cxn>
                <a:cxn ang="0">
                  <a:pos x="T2" y="T3"/>
                </a:cxn>
              </a:cxnLst>
              <a:rect l="0" t="0" r="r" b="b"/>
              <a:pathLst>
                <a:path w="20000" h="20000">
                  <a:moveTo>
                    <a:pt x="0" y="19808"/>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91" name="Arc 27"/>
            <p:cNvSpPr>
              <a:spLocks/>
            </p:cNvSpPr>
            <p:nvPr/>
          </p:nvSpPr>
          <p:spPr bwMode="auto">
            <a:xfrm>
              <a:off x="4230480" y="1343992"/>
              <a:ext cx="96838" cy="1111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92" name="Arc 28"/>
            <p:cNvSpPr>
              <a:spLocks/>
            </p:cNvSpPr>
            <p:nvPr/>
          </p:nvSpPr>
          <p:spPr bwMode="auto">
            <a:xfrm flipH="1">
              <a:off x="4135230" y="1343992"/>
              <a:ext cx="95250" cy="1111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93" name="Freeform 29"/>
            <p:cNvSpPr>
              <a:spLocks/>
            </p:cNvSpPr>
            <p:nvPr/>
          </p:nvSpPr>
          <p:spPr bwMode="auto">
            <a:xfrm>
              <a:off x="4135230" y="1440830"/>
              <a:ext cx="1588" cy="80962"/>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94" name="Freeform 30"/>
            <p:cNvSpPr>
              <a:spLocks/>
            </p:cNvSpPr>
            <p:nvPr/>
          </p:nvSpPr>
          <p:spPr bwMode="auto">
            <a:xfrm>
              <a:off x="4514643" y="1420192"/>
              <a:ext cx="96838" cy="96837"/>
            </a:xfrm>
            <a:custGeom>
              <a:avLst/>
              <a:gdLst>
                <a:gd name="T0" fmla="*/ 0 w 20000"/>
                <a:gd name="T1" fmla="*/ 19789 h 20000"/>
                <a:gd name="T2" fmla="*/ 0 w 20000"/>
                <a:gd name="T3" fmla="*/ 0 h 20000"/>
              </a:gdLst>
              <a:ahLst/>
              <a:cxnLst>
                <a:cxn ang="0">
                  <a:pos x="T0" y="T1"/>
                </a:cxn>
                <a:cxn ang="0">
                  <a:pos x="T2" y="T3"/>
                </a:cxn>
              </a:cxnLst>
              <a:rect l="0" t="0" r="r" b="b"/>
              <a:pathLst>
                <a:path w="20000" h="20000">
                  <a:moveTo>
                    <a:pt x="0" y="19789"/>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95" name="Line 31"/>
            <p:cNvSpPr>
              <a:spLocks noChangeShapeType="1"/>
            </p:cNvSpPr>
            <p:nvPr/>
          </p:nvSpPr>
          <p:spPr bwMode="auto">
            <a:xfrm>
              <a:off x="5306805" y="1440830"/>
              <a:ext cx="1588" cy="392112"/>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96" name="Line 32"/>
            <p:cNvSpPr>
              <a:spLocks noChangeShapeType="1"/>
            </p:cNvSpPr>
            <p:nvPr/>
          </p:nvSpPr>
          <p:spPr bwMode="auto">
            <a:xfrm>
              <a:off x="5302043" y="2671142"/>
              <a:ext cx="1588" cy="19685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97" name="Line 33"/>
            <p:cNvSpPr>
              <a:spLocks noChangeShapeType="1"/>
            </p:cNvSpPr>
            <p:nvPr/>
          </p:nvSpPr>
          <p:spPr bwMode="auto">
            <a:xfrm>
              <a:off x="4327318" y="1590055"/>
              <a:ext cx="0" cy="55245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298" name="Oval 34"/>
            <p:cNvSpPr>
              <a:spLocks noChangeArrowheads="1"/>
            </p:cNvSpPr>
            <p:nvPr/>
          </p:nvSpPr>
          <p:spPr bwMode="auto">
            <a:xfrm>
              <a:off x="4187618" y="2145680"/>
              <a:ext cx="292100" cy="295275"/>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b="1" baseline="-25000">
                <a:solidFill>
                  <a:schemeClr val="tx2"/>
                </a:solidFill>
                <a:latin typeface="FuturaA Hv BT" pitchFamily="34" charset="0"/>
              </a:endParaRPr>
            </a:p>
          </p:txBody>
        </p:sp>
        <p:sp>
          <p:nvSpPr>
            <p:cNvPr id="11299" name="Freeform 35"/>
            <p:cNvSpPr>
              <a:spLocks/>
            </p:cNvSpPr>
            <p:nvPr/>
          </p:nvSpPr>
          <p:spPr bwMode="auto">
            <a:xfrm>
              <a:off x="4608305" y="2086942"/>
              <a:ext cx="404813" cy="0"/>
            </a:xfrm>
            <a:custGeom>
              <a:avLst/>
              <a:gdLst>
                <a:gd name="T0" fmla="*/ 19966 w 20000"/>
                <a:gd name="T1" fmla="*/ 0 h 20000"/>
                <a:gd name="T2" fmla="*/ 0 w 20000"/>
                <a:gd name="T3" fmla="*/ 0 h 20000"/>
              </a:gdLst>
              <a:ahLst/>
              <a:cxnLst>
                <a:cxn ang="0">
                  <a:pos x="T0" y="T1"/>
                </a:cxn>
                <a:cxn ang="0">
                  <a:pos x="T2" y="T3"/>
                </a:cxn>
              </a:cxnLst>
              <a:rect l="0" t="0" r="r" b="b"/>
              <a:pathLst>
                <a:path w="20000" h="20000">
                  <a:moveTo>
                    <a:pt x="19966" y="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00" name="Freeform 36"/>
            <p:cNvSpPr>
              <a:spLocks/>
            </p:cNvSpPr>
            <p:nvPr/>
          </p:nvSpPr>
          <p:spPr bwMode="auto">
            <a:xfrm>
              <a:off x="4590843" y="2518742"/>
              <a:ext cx="403225" cy="0"/>
            </a:xfrm>
            <a:custGeom>
              <a:avLst/>
              <a:gdLst>
                <a:gd name="T0" fmla="*/ 19966 w 20000"/>
                <a:gd name="T1" fmla="*/ 0 h 20000"/>
                <a:gd name="T2" fmla="*/ 0 w 20000"/>
                <a:gd name="T3" fmla="*/ 0 h 20000"/>
              </a:gdLst>
              <a:ahLst/>
              <a:cxnLst>
                <a:cxn ang="0">
                  <a:pos x="T0" y="T1"/>
                </a:cxn>
                <a:cxn ang="0">
                  <a:pos x="T2" y="T3"/>
                </a:cxn>
              </a:cxnLst>
              <a:rect l="0" t="0" r="r" b="b"/>
              <a:pathLst>
                <a:path w="20000" h="20000">
                  <a:moveTo>
                    <a:pt x="19966" y="0"/>
                  </a:moveTo>
                  <a:lnTo>
                    <a:pt x="0" y="0"/>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01" name="Line 37"/>
            <p:cNvSpPr>
              <a:spLocks noChangeShapeType="1"/>
            </p:cNvSpPr>
            <p:nvPr/>
          </p:nvSpPr>
          <p:spPr bwMode="auto">
            <a:xfrm>
              <a:off x="4325730" y="1756742"/>
              <a:ext cx="1588" cy="268287"/>
            </a:xfrm>
            <a:prstGeom prst="line">
              <a:avLst/>
            </a:prstGeom>
            <a:noFill/>
            <a:ln w="28575">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02" name="Rectangle 38"/>
            <p:cNvSpPr>
              <a:spLocks noChangeArrowheads="1"/>
            </p:cNvSpPr>
            <p:nvPr/>
          </p:nvSpPr>
          <p:spPr bwMode="auto">
            <a:xfrm>
              <a:off x="4379705" y="1693242"/>
              <a:ext cx="28575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Times New Roman" panose="02020603050405020304" pitchFamily="18" charset="0"/>
                </a:rPr>
                <a:t>I</a:t>
              </a:r>
              <a:r>
                <a:rPr lang="en-GB" altLang="en-US" sz="1800" baseline="-25000">
                  <a:solidFill>
                    <a:schemeClr val="tx2"/>
                  </a:solidFill>
                  <a:latin typeface="Futura Md BT" pitchFamily="34" charset="0"/>
                </a:rPr>
                <a:t>R</a:t>
              </a:r>
              <a:endParaRPr lang="en-GB" altLang="en-US" sz="1600">
                <a:solidFill>
                  <a:schemeClr val="tx2"/>
                </a:solidFill>
                <a:latin typeface="Futura Md BT" pitchFamily="34" charset="0"/>
              </a:endParaRPr>
            </a:p>
          </p:txBody>
        </p:sp>
        <p:sp>
          <p:nvSpPr>
            <p:cNvPr id="11303" name="Rectangle 39"/>
            <p:cNvSpPr>
              <a:spLocks noChangeArrowheads="1"/>
            </p:cNvSpPr>
            <p:nvPr/>
          </p:nvSpPr>
          <p:spPr bwMode="auto">
            <a:xfrm>
              <a:off x="4227305" y="2174255"/>
              <a:ext cx="285750" cy="328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400">
                  <a:solidFill>
                    <a:schemeClr val="tx2"/>
                  </a:solidFill>
                  <a:latin typeface="Futura Md BT" pitchFamily="34" charset="0"/>
                </a:rPr>
                <a:t>21</a:t>
              </a:r>
            </a:p>
          </p:txBody>
        </p:sp>
        <p:sp>
          <p:nvSpPr>
            <p:cNvPr id="11304" name="Rectangle 40"/>
            <p:cNvSpPr>
              <a:spLocks noChangeArrowheads="1"/>
            </p:cNvSpPr>
            <p:nvPr/>
          </p:nvSpPr>
          <p:spPr bwMode="auto">
            <a:xfrm>
              <a:off x="4646405" y="2142505"/>
              <a:ext cx="315913"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Futura Md BT" pitchFamily="34" charset="0"/>
                </a:rPr>
                <a:t>V</a:t>
              </a:r>
              <a:r>
                <a:rPr lang="en-GB" altLang="en-US" sz="1800" baseline="-25000">
                  <a:solidFill>
                    <a:schemeClr val="tx2"/>
                  </a:solidFill>
                  <a:latin typeface="Futura Md BT" pitchFamily="34" charset="0"/>
                </a:rPr>
                <a:t>R</a:t>
              </a:r>
              <a:endParaRPr lang="en-GB" altLang="en-US" sz="1600">
                <a:solidFill>
                  <a:schemeClr val="tx2"/>
                </a:solidFill>
                <a:latin typeface="Futura Md BT" pitchFamily="34" charset="0"/>
              </a:endParaRPr>
            </a:p>
          </p:txBody>
        </p:sp>
        <p:grpSp>
          <p:nvGrpSpPr>
            <p:cNvPr id="11305" name="Group 41"/>
            <p:cNvGrpSpPr>
              <a:grpSpLocks/>
            </p:cNvGrpSpPr>
            <p:nvPr/>
          </p:nvGrpSpPr>
          <p:grpSpPr bwMode="auto">
            <a:xfrm rot="16200000">
              <a:off x="4822618" y="2180605"/>
              <a:ext cx="855662" cy="134938"/>
              <a:chOff x="2702" y="3959"/>
              <a:chExt cx="1556" cy="246"/>
            </a:xfrm>
          </p:grpSpPr>
          <p:sp>
            <p:nvSpPr>
              <p:cNvPr id="11306" name="Arc 42"/>
              <p:cNvSpPr>
                <a:spLocks/>
              </p:cNvSpPr>
              <p:nvPr/>
            </p:nvSpPr>
            <p:spPr bwMode="auto">
              <a:xfrm>
                <a:off x="2832" y="3961"/>
                <a:ext cx="130" cy="1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07" name="Arc 43"/>
              <p:cNvSpPr>
                <a:spLocks/>
              </p:cNvSpPr>
              <p:nvPr/>
            </p:nvSpPr>
            <p:spPr bwMode="auto">
              <a:xfrm flipH="1">
                <a:off x="2702" y="3959"/>
                <a:ext cx="130" cy="1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08" name="Freeform 44"/>
              <p:cNvSpPr>
                <a:spLocks/>
              </p:cNvSpPr>
              <p:nvPr/>
            </p:nvSpPr>
            <p:spPr bwMode="auto">
              <a:xfrm>
                <a:off x="2704" y="4075"/>
                <a:ext cx="45" cy="128"/>
              </a:xfrm>
              <a:custGeom>
                <a:avLst/>
                <a:gdLst>
                  <a:gd name="T0" fmla="*/ 0 w 20000"/>
                  <a:gd name="T1" fmla="*/ 0 h 20000"/>
                  <a:gd name="T2" fmla="*/ 0 w 20000"/>
                  <a:gd name="T3" fmla="*/ 19829 h 20000"/>
                </a:gdLst>
                <a:ahLst/>
                <a:cxnLst>
                  <a:cxn ang="0">
                    <a:pos x="T0" y="T1"/>
                  </a:cxn>
                  <a:cxn ang="0">
                    <a:pos x="T2" y="T3"/>
                  </a:cxn>
                </a:cxnLst>
                <a:rect l="0" t="0" r="r" b="b"/>
                <a:pathLst>
                  <a:path w="20000" h="20000">
                    <a:moveTo>
                      <a:pt x="0" y="0"/>
                    </a:moveTo>
                    <a:lnTo>
                      <a:pt x="0" y="19829"/>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09" name="Freeform 45"/>
              <p:cNvSpPr>
                <a:spLocks/>
              </p:cNvSpPr>
              <p:nvPr/>
            </p:nvSpPr>
            <p:spPr bwMode="auto">
              <a:xfrm>
                <a:off x="2967" y="4067"/>
                <a:ext cx="1" cy="136"/>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10" name="Arc 46"/>
              <p:cNvSpPr>
                <a:spLocks/>
              </p:cNvSpPr>
              <p:nvPr/>
            </p:nvSpPr>
            <p:spPr bwMode="auto">
              <a:xfrm>
                <a:off x="3090" y="3962"/>
                <a:ext cx="130" cy="1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11" name="Arc 47"/>
              <p:cNvSpPr>
                <a:spLocks/>
              </p:cNvSpPr>
              <p:nvPr/>
            </p:nvSpPr>
            <p:spPr bwMode="auto">
              <a:xfrm flipH="1">
                <a:off x="2959" y="3962"/>
                <a:ext cx="130" cy="1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12" name="Freeform 48"/>
              <p:cNvSpPr>
                <a:spLocks/>
              </p:cNvSpPr>
              <p:nvPr/>
            </p:nvSpPr>
            <p:spPr bwMode="auto">
              <a:xfrm>
                <a:off x="3218" y="4067"/>
                <a:ext cx="1" cy="136"/>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13" name="Arc 49"/>
              <p:cNvSpPr>
                <a:spLocks/>
              </p:cNvSpPr>
              <p:nvPr/>
            </p:nvSpPr>
            <p:spPr bwMode="auto">
              <a:xfrm>
                <a:off x="3349" y="3961"/>
                <a:ext cx="130" cy="1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14" name="Arc 50"/>
              <p:cNvSpPr>
                <a:spLocks/>
              </p:cNvSpPr>
              <p:nvPr/>
            </p:nvSpPr>
            <p:spPr bwMode="auto">
              <a:xfrm flipH="1">
                <a:off x="3219" y="3962"/>
                <a:ext cx="130" cy="1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15" name="Freeform 51"/>
              <p:cNvSpPr>
                <a:spLocks/>
              </p:cNvSpPr>
              <p:nvPr/>
            </p:nvSpPr>
            <p:spPr bwMode="auto">
              <a:xfrm>
                <a:off x="3477" y="4067"/>
                <a:ext cx="1" cy="136"/>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16" name="Arc 52"/>
              <p:cNvSpPr>
                <a:spLocks/>
              </p:cNvSpPr>
              <p:nvPr/>
            </p:nvSpPr>
            <p:spPr bwMode="auto">
              <a:xfrm>
                <a:off x="3607" y="3963"/>
                <a:ext cx="129" cy="1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17" name="Arc 53"/>
              <p:cNvSpPr>
                <a:spLocks/>
              </p:cNvSpPr>
              <p:nvPr/>
            </p:nvSpPr>
            <p:spPr bwMode="auto">
              <a:xfrm flipH="1">
                <a:off x="3476" y="3964"/>
                <a:ext cx="130" cy="1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18" name="Freeform 54"/>
              <p:cNvSpPr>
                <a:spLocks/>
              </p:cNvSpPr>
              <p:nvPr/>
            </p:nvSpPr>
            <p:spPr bwMode="auto">
              <a:xfrm>
                <a:off x="3735" y="4069"/>
                <a:ext cx="1" cy="136"/>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19" name="Arc 55"/>
              <p:cNvSpPr>
                <a:spLocks/>
              </p:cNvSpPr>
              <p:nvPr/>
            </p:nvSpPr>
            <p:spPr bwMode="auto">
              <a:xfrm>
                <a:off x="3864" y="3959"/>
                <a:ext cx="130" cy="1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20" name="Arc 56"/>
              <p:cNvSpPr>
                <a:spLocks/>
              </p:cNvSpPr>
              <p:nvPr/>
            </p:nvSpPr>
            <p:spPr bwMode="auto">
              <a:xfrm flipH="1">
                <a:off x="3733" y="3959"/>
                <a:ext cx="130" cy="1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21" name="Freeform 57"/>
              <p:cNvSpPr>
                <a:spLocks/>
              </p:cNvSpPr>
              <p:nvPr/>
            </p:nvSpPr>
            <p:spPr bwMode="auto">
              <a:xfrm>
                <a:off x="3992" y="4064"/>
                <a:ext cx="1" cy="137"/>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22" name="Arc 58"/>
              <p:cNvSpPr>
                <a:spLocks/>
              </p:cNvSpPr>
              <p:nvPr/>
            </p:nvSpPr>
            <p:spPr bwMode="auto">
              <a:xfrm>
                <a:off x="4121" y="3962"/>
                <a:ext cx="130" cy="1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23" name="Arc 59"/>
              <p:cNvSpPr>
                <a:spLocks/>
              </p:cNvSpPr>
              <p:nvPr/>
            </p:nvSpPr>
            <p:spPr bwMode="auto">
              <a:xfrm flipH="1">
                <a:off x="3991" y="3962"/>
                <a:ext cx="130" cy="1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24" name="Freeform 60"/>
              <p:cNvSpPr>
                <a:spLocks/>
              </p:cNvSpPr>
              <p:nvPr/>
            </p:nvSpPr>
            <p:spPr bwMode="auto">
              <a:xfrm>
                <a:off x="4257" y="4067"/>
                <a:ext cx="1" cy="136"/>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25" name="Freeform 61"/>
              <p:cNvSpPr>
                <a:spLocks/>
              </p:cNvSpPr>
              <p:nvPr/>
            </p:nvSpPr>
            <p:spPr bwMode="auto">
              <a:xfrm>
                <a:off x="3992" y="4064"/>
                <a:ext cx="1" cy="137"/>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1326" name="Group 62"/>
            <p:cNvGrpSpPr>
              <a:grpSpLocks/>
            </p:cNvGrpSpPr>
            <p:nvPr/>
          </p:nvGrpSpPr>
          <p:grpSpPr bwMode="auto">
            <a:xfrm flipH="1">
              <a:off x="4955968" y="2086942"/>
              <a:ext cx="136525" cy="428625"/>
              <a:chOff x="7668" y="3985"/>
              <a:chExt cx="197" cy="628"/>
            </a:xfrm>
          </p:grpSpPr>
          <p:sp>
            <p:nvSpPr>
              <p:cNvPr id="11327" name="Freeform 63"/>
              <p:cNvSpPr>
                <a:spLocks/>
              </p:cNvSpPr>
              <p:nvPr/>
            </p:nvSpPr>
            <p:spPr bwMode="auto">
              <a:xfrm rot="-5400000">
                <a:off x="7809" y="4557"/>
                <a:ext cx="0" cy="109"/>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28" name="Arc 64"/>
              <p:cNvSpPr>
                <a:spLocks/>
              </p:cNvSpPr>
              <p:nvPr/>
            </p:nvSpPr>
            <p:spPr bwMode="auto">
              <a:xfrm rot="-5400000">
                <a:off x="7668" y="4407"/>
                <a:ext cx="103" cy="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29" name="Arc 65"/>
              <p:cNvSpPr>
                <a:spLocks/>
              </p:cNvSpPr>
              <p:nvPr/>
            </p:nvSpPr>
            <p:spPr bwMode="auto">
              <a:xfrm rot="16200000" flipH="1">
                <a:off x="7669" y="4512"/>
                <a:ext cx="104" cy="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30" name="Freeform 66"/>
              <p:cNvSpPr>
                <a:spLocks/>
              </p:cNvSpPr>
              <p:nvPr/>
            </p:nvSpPr>
            <p:spPr bwMode="auto">
              <a:xfrm rot="-5400000">
                <a:off x="7811" y="4350"/>
                <a:ext cx="0" cy="109"/>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31" name="Arc 67"/>
              <p:cNvSpPr>
                <a:spLocks/>
              </p:cNvSpPr>
              <p:nvPr/>
            </p:nvSpPr>
            <p:spPr bwMode="auto">
              <a:xfrm rot="-5400000">
                <a:off x="7665" y="4201"/>
                <a:ext cx="104" cy="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32" name="Arc 68"/>
              <p:cNvSpPr>
                <a:spLocks/>
              </p:cNvSpPr>
              <p:nvPr/>
            </p:nvSpPr>
            <p:spPr bwMode="auto">
              <a:xfrm rot="16200000" flipH="1">
                <a:off x="7665" y="4306"/>
                <a:ext cx="104" cy="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33" name="Freeform 69"/>
              <p:cNvSpPr>
                <a:spLocks/>
              </p:cNvSpPr>
              <p:nvPr/>
            </p:nvSpPr>
            <p:spPr bwMode="auto">
              <a:xfrm rot="-5400000">
                <a:off x="7807" y="4144"/>
                <a:ext cx="0" cy="110"/>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34" name="Arc 70"/>
              <p:cNvSpPr>
                <a:spLocks/>
              </p:cNvSpPr>
              <p:nvPr/>
            </p:nvSpPr>
            <p:spPr bwMode="auto">
              <a:xfrm rot="-5400000">
                <a:off x="7667" y="3995"/>
                <a:ext cx="104" cy="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35" name="Arc 71"/>
              <p:cNvSpPr>
                <a:spLocks/>
              </p:cNvSpPr>
              <p:nvPr/>
            </p:nvSpPr>
            <p:spPr bwMode="auto">
              <a:xfrm rot="16200000" flipH="1">
                <a:off x="7667" y="4099"/>
                <a:ext cx="104" cy="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36" name="Freeform 72"/>
              <p:cNvSpPr>
                <a:spLocks/>
              </p:cNvSpPr>
              <p:nvPr/>
            </p:nvSpPr>
            <p:spPr bwMode="auto">
              <a:xfrm rot="-5400000">
                <a:off x="7808" y="3931"/>
                <a:ext cx="1" cy="109"/>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37" name="Freeform 73"/>
              <p:cNvSpPr>
                <a:spLocks/>
              </p:cNvSpPr>
              <p:nvPr/>
            </p:nvSpPr>
            <p:spPr bwMode="auto">
              <a:xfrm rot="-5400000">
                <a:off x="7807" y="4144"/>
                <a:ext cx="0" cy="110"/>
              </a:xfrm>
              <a:custGeom>
                <a:avLst/>
                <a:gdLst>
                  <a:gd name="T0" fmla="*/ 0 w 20000"/>
                  <a:gd name="T1" fmla="*/ 0 h 20000"/>
                  <a:gd name="T2" fmla="*/ 0 w 20000"/>
                  <a:gd name="T3" fmla="*/ 19848 h 20000"/>
                </a:gdLst>
                <a:ahLst/>
                <a:cxnLst>
                  <a:cxn ang="0">
                    <a:pos x="T0" y="T1"/>
                  </a:cxn>
                  <a:cxn ang="0">
                    <a:pos x="T2" y="T3"/>
                  </a:cxn>
                </a:cxnLst>
                <a:rect l="0" t="0" r="r" b="b"/>
                <a:pathLst>
                  <a:path w="20000" h="20000">
                    <a:moveTo>
                      <a:pt x="0" y="0"/>
                    </a:moveTo>
                    <a:lnTo>
                      <a:pt x="0" y="19848"/>
                    </a:ln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1338" name="Rectangle 74"/>
            <p:cNvSpPr>
              <a:spLocks noChangeArrowheads="1"/>
            </p:cNvSpPr>
            <p:nvPr/>
          </p:nvSpPr>
          <p:spPr bwMode="auto">
            <a:xfrm>
              <a:off x="5856080" y="1351930"/>
              <a:ext cx="515938" cy="206375"/>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39" name="Line 75"/>
            <p:cNvSpPr>
              <a:spLocks noChangeShapeType="1"/>
            </p:cNvSpPr>
            <p:nvPr/>
          </p:nvSpPr>
          <p:spPr bwMode="auto">
            <a:xfrm>
              <a:off x="1511093" y="2860055"/>
              <a:ext cx="5621338"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 name="Group 1"/>
            <p:cNvGrpSpPr/>
            <p:nvPr/>
          </p:nvGrpSpPr>
          <p:grpSpPr>
            <a:xfrm>
              <a:off x="6964155" y="1421780"/>
              <a:ext cx="157163" cy="1441450"/>
              <a:chOff x="6964155" y="1421780"/>
              <a:chExt cx="157163" cy="1441450"/>
            </a:xfrm>
          </p:grpSpPr>
          <p:sp>
            <p:nvSpPr>
              <p:cNvPr id="11340" name="Line 76"/>
              <p:cNvSpPr>
                <a:spLocks noChangeShapeType="1"/>
              </p:cNvSpPr>
              <p:nvPr/>
            </p:nvSpPr>
            <p:spPr bwMode="auto">
              <a:xfrm>
                <a:off x="6964155" y="1421780"/>
                <a:ext cx="0" cy="71596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41" name="Line 77"/>
              <p:cNvSpPr>
                <a:spLocks noChangeShapeType="1"/>
              </p:cNvSpPr>
              <p:nvPr/>
            </p:nvSpPr>
            <p:spPr bwMode="auto">
              <a:xfrm>
                <a:off x="7121318" y="1805955"/>
                <a:ext cx="0" cy="105727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42" name="Line 78"/>
              <p:cNvSpPr>
                <a:spLocks noChangeShapeType="1"/>
              </p:cNvSpPr>
              <p:nvPr/>
            </p:nvSpPr>
            <p:spPr bwMode="auto">
              <a:xfrm flipV="1">
                <a:off x="6965743" y="1815480"/>
                <a:ext cx="141288" cy="30956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343" name="Text Box 79"/>
            <p:cNvSpPr txBox="1">
              <a:spLocks noChangeArrowheads="1"/>
            </p:cNvSpPr>
            <p:nvPr/>
          </p:nvSpPr>
          <p:spPr bwMode="auto">
            <a:xfrm>
              <a:off x="4049505" y="977280"/>
              <a:ext cx="8604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600" b="1">
                  <a:solidFill>
                    <a:schemeClr val="tx2"/>
                  </a:solidFill>
                  <a:latin typeface="Times New Roman" panose="02020603050405020304" pitchFamily="18" charset="0"/>
                </a:rPr>
                <a:t>I</a:t>
              </a:r>
              <a:r>
                <a:rPr lang="en-GB" altLang="en-US" sz="1600" b="1" baseline="-25000">
                  <a:solidFill>
                    <a:schemeClr val="tx2"/>
                  </a:solidFill>
                  <a:latin typeface="Futura Md BT" pitchFamily="34" charset="0"/>
                </a:rPr>
                <a:t>1</a:t>
              </a:r>
              <a:r>
                <a:rPr lang="en-GB" altLang="en-US" sz="1600" b="1">
                  <a:solidFill>
                    <a:schemeClr val="tx2"/>
                  </a:solidFill>
                  <a:latin typeface="Futura Md BT" pitchFamily="34" charset="0"/>
                </a:rPr>
                <a:t>/</a:t>
              </a:r>
              <a:r>
                <a:rPr lang="en-GB" altLang="en-US" sz="1600" b="1">
                  <a:solidFill>
                    <a:schemeClr val="tx2"/>
                  </a:solidFill>
                  <a:latin typeface="Times New Roman" panose="02020603050405020304" pitchFamily="18" charset="0"/>
                </a:rPr>
                <a:t>I</a:t>
              </a:r>
              <a:r>
                <a:rPr lang="en-GB" altLang="en-US" sz="1600" b="1" baseline="-25000">
                  <a:solidFill>
                    <a:schemeClr val="tx2"/>
                  </a:solidFill>
                  <a:latin typeface="Futura Md BT" pitchFamily="34" charset="0"/>
                </a:rPr>
                <a:t>2</a:t>
              </a:r>
              <a:endParaRPr lang="en-GB" altLang="en-US" b="1">
                <a:solidFill>
                  <a:schemeClr val="tx2"/>
                </a:solidFill>
                <a:latin typeface="Futura Md BT" pitchFamily="34" charset="0"/>
              </a:endParaRPr>
            </a:p>
          </p:txBody>
        </p:sp>
        <p:sp>
          <p:nvSpPr>
            <p:cNvPr id="11344" name="Text Box 80"/>
            <p:cNvSpPr txBox="1">
              <a:spLocks noChangeArrowheads="1"/>
            </p:cNvSpPr>
            <p:nvPr/>
          </p:nvSpPr>
          <p:spPr bwMode="auto">
            <a:xfrm>
              <a:off x="5894180" y="958230"/>
              <a:ext cx="4683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800" b="1">
                  <a:solidFill>
                    <a:schemeClr val="tx2"/>
                  </a:solidFill>
                  <a:latin typeface="Futura Md BT" pitchFamily="34" charset="0"/>
                </a:rPr>
                <a:t>Z</a:t>
              </a:r>
              <a:r>
                <a:rPr lang="en-GB" altLang="en-US" sz="1800" b="1" baseline="-25000">
                  <a:solidFill>
                    <a:schemeClr val="tx2"/>
                  </a:solidFill>
                  <a:latin typeface="Futura Md BT" pitchFamily="34" charset="0"/>
                </a:rPr>
                <a:t>P</a:t>
              </a:r>
              <a:endParaRPr lang="en-GB" altLang="en-US" b="1">
                <a:solidFill>
                  <a:schemeClr val="tx2"/>
                </a:solidFill>
                <a:latin typeface="Futura Md BT" pitchFamily="34" charset="0"/>
              </a:endParaRPr>
            </a:p>
          </p:txBody>
        </p:sp>
        <p:sp>
          <p:nvSpPr>
            <p:cNvPr id="11345" name="Text Box 81"/>
            <p:cNvSpPr txBox="1">
              <a:spLocks noChangeArrowheads="1"/>
            </p:cNvSpPr>
            <p:nvPr/>
          </p:nvSpPr>
          <p:spPr bwMode="auto">
            <a:xfrm>
              <a:off x="5300455" y="1858342"/>
              <a:ext cx="45720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800" b="1">
                  <a:solidFill>
                    <a:schemeClr val="tx2"/>
                  </a:solidFill>
                  <a:latin typeface="Futura Md BT" pitchFamily="34" charset="0"/>
                </a:rPr>
                <a:t>V</a:t>
              </a:r>
              <a:r>
                <a:rPr lang="en-GB" altLang="en-US" sz="1800" b="1" baseline="-25000">
                  <a:solidFill>
                    <a:schemeClr val="tx2"/>
                  </a:solidFill>
                  <a:latin typeface="Futura Md BT" pitchFamily="34" charset="0"/>
                </a:rPr>
                <a:t>1</a:t>
              </a:r>
              <a:endParaRPr lang="en-GB" altLang="en-US" b="1">
                <a:solidFill>
                  <a:schemeClr val="tx2"/>
                </a:solidFill>
                <a:latin typeface="Futura Md BT" pitchFamily="34" charset="0"/>
              </a:endParaRPr>
            </a:p>
          </p:txBody>
        </p:sp>
        <p:sp>
          <p:nvSpPr>
            <p:cNvPr id="11346" name="Line 82"/>
            <p:cNvSpPr>
              <a:spLocks noChangeShapeType="1"/>
            </p:cNvSpPr>
            <p:nvPr/>
          </p:nvSpPr>
          <p:spPr bwMode="auto">
            <a:xfrm>
              <a:off x="5368718" y="2232992"/>
              <a:ext cx="303213" cy="0"/>
            </a:xfrm>
            <a:prstGeom prst="line">
              <a:avLst/>
            </a:prstGeom>
            <a:noFill/>
            <a:ln w="222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47" name="Text Box 83"/>
            <p:cNvSpPr txBox="1">
              <a:spLocks noChangeArrowheads="1"/>
            </p:cNvSpPr>
            <p:nvPr/>
          </p:nvSpPr>
          <p:spPr bwMode="auto">
            <a:xfrm>
              <a:off x="5308393" y="2169492"/>
              <a:ext cx="45720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800" b="1">
                  <a:solidFill>
                    <a:schemeClr val="tx2"/>
                  </a:solidFill>
                  <a:latin typeface="Futura Md BT" pitchFamily="34" charset="0"/>
                </a:rPr>
                <a:t>V</a:t>
              </a:r>
              <a:r>
                <a:rPr lang="en-GB" altLang="en-US" sz="1800" b="1" baseline="-25000">
                  <a:solidFill>
                    <a:schemeClr val="tx2"/>
                  </a:solidFill>
                  <a:latin typeface="Futura Md BT" pitchFamily="34" charset="0"/>
                </a:rPr>
                <a:t>2</a:t>
              </a:r>
              <a:endParaRPr lang="en-GB" altLang="en-US" b="1">
                <a:solidFill>
                  <a:schemeClr val="tx2"/>
                </a:solidFill>
                <a:latin typeface="Futura Md BT" pitchFamily="34" charset="0"/>
              </a:endParaRPr>
            </a:p>
          </p:txBody>
        </p:sp>
        <p:sp>
          <p:nvSpPr>
            <p:cNvPr id="11348" name="Line 84"/>
            <p:cNvSpPr>
              <a:spLocks noChangeShapeType="1"/>
            </p:cNvSpPr>
            <p:nvPr/>
          </p:nvSpPr>
          <p:spPr bwMode="auto">
            <a:xfrm>
              <a:off x="5835443" y="1642442"/>
              <a:ext cx="0" cy="1128712"/>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49" name="Text Box 85"/>
            <p:cNvSpPr txBox="1">
              <a:spLocks noChangeArrowheads="1"/>
            </p:cNvSpPr>
            <p:nvPr/>
          </p:nvSpPr>
          <p:spPr bwMode="auto">
            <a:xfrm>
              <a:off x="5865605" y="2067892"/>
              <a:ext cx="658813"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600" b="1">
                  <a:solidFill>
                    <a:schemeClr val="tx2"/>
                  </a:solidFill>
                  <a:latin typeface="Futura Md BT" pitchFamily="34" charset="0"/>
                </a:rPr>
                <a:t>V</a:t>
              </a:r>
              <a:r>
                <a:rPr lang="en-GB" altLang="en-US" sz="1600" b="1" baseline="-25000">
                  <a:solidFill>
                    <a:schemeClr val="tx2"/>
                  </a:solidFill>
                  <a:latin typeface="Futura Md BT" pitchFamily="34" charset="0"/>
                </a:rPr>
                <a:t>FP</a:t>
              </a:r>
              <a:endParaRPr lang="en-GB" altLang="en-US" b="1">
                <a:solidFill>
                  <a:schemeClr val="tx2"/>
                </a:solidFill>
                <a:latin typeface="Futura Md BT" pitchFamily="34" charset="0"/>
              </a:endParaRPr>
            </a:p>
          </p:txBody>
        </p:sp>
        <p:sp>
          <p:nvSpPr>
            <p:cNvPr id="11350" name="Line 86"/>
            <p:cNvSpPr>
              <a:spLocks noChangeShapeType="1"/>
            </p:cNvSpPr>
            <p:nvPr/>
          </p:nvSpPr>
          <p:spPr bwMode="auto">
            <a:xfrm>
              <a:off x="5405230" y="1442417"/>
              <a:ext cx="450850"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51" name="Line 87"/>
            <p:cNvSpPr>
              <a:spLocks noChangeShapeType="1"/>
            </p:cNvSpPr>
            <p:nvPr/>
          </p:nvSpPr>
          <p:spPr bwMode="auto">
            <a:xfrm>
              <a:off x="6373605" y="1429717"/>
              <a:ext cx="593725"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352" name="Text Box 88"/>
          <p:cNvSpPr txBox="1">
            <a:spLocks noChangeArrowheads="1"/>
          </p:cNvSpPr>
          <p:nvPr/>
        </p:nvSpPr>
        <p:spPr bwMode="auto">
          <a:xfrm>
            <a:off x="706230" y="3274392"/>
            <a:ext cx="744855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C4122F"/>
              </a:buClr>
              <a:buFont typeface="Wingdings 3" panose="05040102010807070707" pitchFamily="18" charset="2"/>
              <a:buChar char="u"/>
            </a:pPr>
            <a:r>
              <a:rPr lang="en-GB" altLang="en-US" b="1" dirty="0">
                <a:latin typeface="Arial" panose="020B0604020202020204" pitchFamily="34" charset="0"/>
                <a:cs typeface="Arial" panose="020B0604020202020204" pitchFamily="34" charset="0"/>
              </a:rPr>
              <a:t> </a:t>
            </a:r>
            <a:r>
              <a:rPr lang="en-GB" altLang="en-US" b="1" dirty="0">
                <a:solidFill>
                  <a:schemeClr val="tx2"/>
                </a:solidFill>
                <a:latin typeface="Arial" panose="020B0604020202020204" pitchFamily="34" charset="0"/>
                <a:cs typeface="Arial" panose="020B0604020202020204" pitchFamily="34" charset="0"/>
              </a:rPr>
              <a:t>Relays are calibrated in secondary ohms :-</a:t>
            </a:r>
            <a:r>
              <a:rPr lang="en-GB" altLang="en-US" b="1" dirty="0"/>
              <a:t>	</a:t>
            </a:r>
          </a:p>
        </p:txBody>
      </p:sp>
      <p:graphicFrame>
        <p:nvGraphicFramePr>
          <p:cNvPr id="11353" name="Object 89"/>
          <p:cNvGraphicFramePr>
            <a:graphicFrameLocks noChangeAspect="1"/>
          </p:cNvGraphicFramePr>
          <p:nvPr>
            <p:extLst>
              <p:ext uri="{D42A27DB-BD31-4B8C-83A1-F6EECF244321}">
                <p14:modId xmlns:p14="http://schemas.microsoft.com/office/powerpoint/2010/main" val="1105396853"/>
              </p:ext>
            </p:extLst>
          </p:nvPr>
        </p:nvGraphicFramePr>
        <p:xfrm>
          <a:off x="1112630" y="4074491"/>
          <a:ext cx="6680200" cy="2057951"/>
        </p:xfrm>
        <a:graphic>
          <a:graphicData uri="http://schemas.openxmlformats.org/presentationml/2006/ole">
            <mc:AlternateContent xmlns:mc="http://schemas.openxmlformats.org/markup-compatibility/2006">
              <mc:Choice xmlns:v="urn:schemas-microsoft-com:vml" Requires="v">
                <p:oleObj spid="_x0000_s1088610" name="Equation" r:id="rId4" imgW="6680160" imgH="2057400" progId="Equation.3">
                  <p:embed/>
                </p:oleObj>
              </mc:Choice>
              <mc:Fallback>
                <p:oleObj name="Equation" r:id="rId4" imgW="6680160" imgH="2057400" progId="Equation.3">
                  <p:embed/>
                  <p:pic>
                    <p:nvPicPr>
                      <p:cNvPr id="11353" name="Object 8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2630" y="4074491"/>
                        <a:ext cx="6680200" cy="205795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78639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76" name="Rectangle 640"/>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a:t>Example </a:t>
            </a:r>
          </a:p>
        </p:txBody>
      </p:sp>
      <p:sp>
        <p:nvSpPr>
          <p:cNvPr id="66179" name="Rectangle 643"/>
          <p:cNvSpPr>
            <a:spLocks noGrp="1" noChangeArrowheads="1"/>
          </p:cNvSpPr>
          <p:nvPr>
            <p:ph type="body" idx="1"/>
          </p:nvPr>
        </p:nvSpPr>
        <p:spPr bwMode="auto">
          <a:xfrm>
            <a:off x="646043" y="1192696"/>
            <a:ext cx="4860235" cy="2236304"/>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a:lnSpc>
                <a:spcPct val="110000"/>
              </a:lnSpc>
              <a:spcBef>
                <a:spcPct val="45000"/>
              </a:spcBef>
              <a:buFont typeface="Wingdings 3" panose="05040102010807070707" pitchFamily="18" charset="2"/>
              <a:buNone/>
            </a:pPr>
            <a:r>
              <a:rPr lang="en-GB" altLang="en-US" sz="2400" dirty="0"/>
              <a:t>Z</a:t>
            </a:r>
            <a:r>
              <a:rPr lang="en-GB" altLang="en-US" sz="2400" baseline="-25000" dirty="0"/>
              <a:t>P</a:t>
            </a:r>
            <a:r>
              <a:rPr lang="en-GB" altLang="en-US" sz="2400" dirty="0"/>
              <a:t> = 4</a:t>
            </a:r>
            <a:r>
              <a:rPr lang="en-GB" altLang="en-US" sz="2400" dirty="0">
                <a:sym typeface="Symbol" panose="05050102010706020507" pitchFamily="18" charset="2"/>
              </a:rPr>
              <a:t>;  </a:t>
            </a:r>
            <a:endParaRPr lang="en-GB" altLang="en-US" dirty="0">
              <a:sym typeface="Symbol" panose="05050102010706020507" pitchFamily="18" charset="2"/>
            </a:endParaRPr>
          </a:p>
          <a:p>
            <a:pPr>
              <a:lnSpc>
                <a:spcPct val="110000"/>
              </a:lnSpc>
              <a:spcBef>
                <a:spcPct val="45000"/>
              </a:spcBef>
              <a:buFont typeface="Wingdings 3" panose="05040102010807070707" pitchFamily="18" charset="2"/>
              <a:buNone/>
            </a:pPr>
            <a:r>
              <a:rPr lang="en-GB" altLang="en-US" sz="2400" dirty="0">
                <a:sym typeface="Symbol" panose="05050102010706020507" pitchFamily="18" charset="2"/>
              </a:rPr>
              <a:t>VTR= V</a:t>
            </a:r>
            <a:r>
              <a:rPr lang="en-GB" altLang="en-US" sz="2400" baseline="-25000" dirty="0">
                <a:sym typeface="Symbol" panose="05050102010706020507" pitchFamily="18" charset="2"/>
              </a:rPr>
              <a:t>1</a:t>
            </a:r>
            <a:r>
              <a:rPr lang="en-GB" altLang="en-US" sz="2400" dirty="0">
                <a:sym typeface="Symbol" panose="05050102010706020507" pitchFamily="18" charset="2"/>
              </a:rPr>
              <a:t>/V</a:t>
            </a:r>
            <a:r>
              <a:rPr lang="en-GB" altLang="en-US" sz="2400" baseline="-25000" dirty="0">
                <a:sym typeface="Symbol" panose="05050102010706020507" pitchFamily="18" charset="2"/>
              </a:rPr>
              <a:t>2</a:t>
            </a:r>
            <a:r>
              <a:rPr lang="en-GB" altLang="en-US" sz="2400" dirty="0">
                <a:sym typeface="Symbol" panose="05050102010706020507" pitchFamily="18" charset="2"/>
              </a:rPr>
              <a:t> = 115kV/115V =1000;  </a:t>
            </a:r>
            <a:endParaRPr lang="en-GB" altLang="en-US" dirty="0">
              <a:sym typeface="Symbol" panose="05050102010706020507" pitchFamily="18" charset="2"/>
            </a:endParaRPr>
          </a:p>
          <a:p>
            <a:pPr>
              <a:lnSpc>
                <a:spcPct val="110000"/>
              </a:lnSpc>
              <a:spcBef>
                <a:spcPct val="45000"/>
              </a:spcBef>
              <a:buNone/>
            </a:pPr>
            <a:r>
              <a:rPr lang="en-GB" altLang="en-US" sz="2400" dirty="0">
                <a:sym typeface="Symbol" panose="05050102010706020507" pitchFamily="18" charset="2"/>
              </a:rPr>
              <a:t>CTR= </a:t>
            </a:r>
            <a:r>
              <a:rPr lang="en-GB" altLang="en-US" sz="2400" dirty="0">
                <a:latin typeface="Times New Roman" panose="02020603050405020304" pitchFamily="18" charset="0"/>
                <a:sym typeface="Symbol" panose="05050102010706020507" pitchFamily="18" charset="2"/>
              </a:rPr>
              <a:t>I</a:t>
            </a:r>
            <a:r>
              <a:rPr lang="en-GB" altLang="en-US" sz="2400" baseline="-25000" dirty="0">
                <a:sym typeface="Symbol" panose="05050102010706020507" pitchFamily="18" charset="2"/>
              </a:rPr>
              <a:t>1</a:t>
            </a:r>
            <a:r>
              <a:rPr lang="en-GB" altLang="en-US" sz="2400" dirty="0">
                <a:sym typeface="Symbol" panose="05050102010706020507" pitchFamily="18" charset="2"/>
              </a:rPr>
              <a:t>/</a:t>
            </a:r>
            <a:r>
              <a:rPr lang="en-GB" altLang="en-US" sz="2400" dirty="0">
                <a:latin typeface="Times New Roman" panose="02020603050405020304" pitchFamily="18" charset="0"/>
                <a:sym typeface="Symbol" panose="05050102010706020507" pitchFamily="18" charset="2"/>
              </a:rPr>
              <a:t>I</a:t>
            </a:r>
            <a:r>
              <a:rPr lang="en-GB" altLang="en-US" sz="2400" baseline="-25000" dirty="0">
                <a:sym typeface="Symbol" panose="05050102010706020507" pitchFamily="18" charset="2"/>
              </a:rPr>
              <a:t>2</a:t>
            </a:r>
            <a:r>
              <a:rPr lang="en-GB" altLang="en-US" sz="2400" dirty="0">
                <a:sym typeface="Symbol" panose="05050102010706020507" pitchFamily="18" charset="2"/>
              </a:rPr>
              <a:t> = 600/5A = 120</a:t>
            </a:r>
          </a:p>
          <a:p>
            <a:pPr>
              <a:lnSpc>
                <a:spcPct val="110000"/>
              </a:lnSpc>
              <a:spcBef>
                <a:spcPct val="45000"/>
              </a:spcBef>
              <a:buNone/>
            </a:pPr>
            <a:r>
              <a:rPr lang="en-GB" altLang="en-US" dirty="0">
                <a:sym typeface="Symbol" panose="05050102010706020507" pitchFamily="18" charset="2"/>
              </a:rPr>
              <a:t>CTR= </a:t>
            </a:r>
            <a:r>
              <a:rPr lang="en-GB" altLang="en-US" dirty="0">
                <a:latin typeface="Times New Roman" panose="02020603050405020304" pitchFamily="18" charset="0"/>
                <a:sym typeface="Symbol" panose="05050102010706020507" pitchFamily="18" charset="2"/>
              </a:rPr>
              <a:t>I</a:t>
            </a:r>
            <a:r>
              <a:rPr lang="en-GB" altLang="en-US" baseline="-25000" dirty="0">
                <a:sym typeface="Symbol" panose="05050102010706020507" pitchFamily="18" charset="2"/>
              </a:rPr>
              <a:t>1</a:t>
            </a:r>
            <a:r>
              <a:rPr lang="en-GB" altLang="en-US" dirty="0">
                <a:sym typeface="Symbol" panose="05050102010706020507" pitchFamily="18" charset="2"/>
              </a:rPr>
              <a:t>/</a:t>
            </a:r>
            <a:r>
              <a:rPr lang="en-GB" altLang="en-US" dirty="0">
                <a:latin typeface="Times New Roman" panose="02020603050405020304" pitchFamily="18" charset="0"/>
                <a:sym typeface="Symbol" panose="05050102010706020507" pitchFamily="18" charset="2"/>
              </a:rPr>
              <a:t>I</a:t>
            </a:r>
            <a:r>
              <a:rPr lang="en-GB" altLang="en-US" baseline="-25000" dirty="0">
                <a:sym typeface="Symbol" panose="05050102010706020507" pitchFamily="18" charset="2"/>
              </a:rPr>
              <a:t>2</a:t>
            </a:r>
            <a:r>
              <a:rPr lang="en-GB" altLang="en-US" dirty="0">
                <a:sym typeface="Symbol" panose="05050102010706020507" pitchFamily="18" charset="2"/>
              </a:rPr>
              <a:t> = 600/1A = 600</a:t>
            </a:r>
            <a:endParaRPr lang="en-GB" altLang="en-US" dirty="0"/>
          </a:p>
          <a:p>
            <a:pPr>
              <a:lnSpc>
                <a:spcPct val="110000"/>
              </a:lnSpc>
              <a:spcBef>
                <a:spcPct val="45000"/>
              </a:spcBef>
              <a:buFont typeface="Wingdings 3" panose="05040102010807070707" pitchFamily="18" charset="2"/>
              <a:buNone/>
            </a:pPr>
            <a:endParaRPr lang="en-GB" altLang="en-US" sz="2400" dirty="0"/>
          </a:p>
          <a:p>
            <a:pPr>
              <a:lnSpc>
                <a:spcPct val="110000"/>
              </a:lnSpc>
              <a:spcBef>
                <a:spcPct val="45000"/>
              </a:spcBef>
              <a:buFont typeface="Wingdings 3" panose="05040102010807070707" pitchFamily="18" charset="2"/>
              <a:buNone/>
            </a:pPr>
            <a:endParaRPr lang="en-GB" altLang="en-US" sz="2400" dirty="0"/>
          </a:p>
          <a:p>
            <a:pPr>
              <a:lnSpc>
                <a:spcPct val="110000"/>
              </a:lnSpc>
              <a:spcBef>
                <a:spcPct val="45000"/>
              </a:spcBef>
              <a:buFont typeface="Wingdings 3" panose="05040102010807070707" pitchFamily="18" charset="2"/>
              <a:buNone/>
            </a:pPr>
            <a:endParaRPr lang="en-GB" altLang="en-US" sz="2400" dirty="0"/>
          </a:p>
          <a:p>
            <a:pPr>
              <a:lnSpc>
                <a:spcPct val="110000"/>
              </a:lnSpc>
              <a:spcBef>
                <a:spcPct val="45000"/>
              </a:spcBef>
              <a:buFont typeface="Wingdings 3" panose="05040102010807070707" pitchFamily="18" charset="2"/>
              <a:buNone/>
            </a:pPr>
            <a:endParaRPr lang="en-GB" altLang="en-US" sz="2400" dirty="0"/>
          </a:p>
          <a:p>
            <a:pPr>
              <a:lnSpc>
                <a:spcPct val="110000"/>
              </a:lnSpc>
              <a:spcBef>
                <a:spcPct val="45000"/>
              </a:spcBef>
              <a:buFont typeface="Wingdings 3" panose="05040102010807070707" pitchFamily="18" charset="2"/>
              <a:buNone/>
            </a:pPr>
            <a:endParaRPr lang="en-GB" altLang="en-US" sz="2400" dirty="0"/>
          </a:p>
        </p:txBody>
      </p:sp>
      <p:sp>
        <p:nvSpPr>
          <p:cNvPr id="2" name="Rectangle 1"/>
          <p:cNvSpPr/>
          <p:nvPr/>
        </p:nvSpPr>
        <p:spPr>
          <a:xfrm>
            <a:off x="646043" y="3687591"/>
            <a:ext cx="6102765" cy="2289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marL="180975" indent="-180975" algn="l">
              <a:lnSpc>
                <a:spcPct val="110000"/>
              </a:lnSpc>
              <a:spcBef>
                <a:spcPct val="45000"/>
              </a:spcBef>
              <a:buClr>
                <a:schemeClr val="accent1"/>
              </a:buClr>
              <a:buFont typeface="Wingdings 3" panose="05040102010807070707" pitchFamily="18" charset="2"/>
              <a:buNone/>
            </a:pPr>
            <a:r>
              <a:rPr lang="en-GB" altLang="en-US" sz="2400" dirty="0">
                <a:solidFill>
                  <a:schemeClr val="accent1"/>
                </a:solidFill>
                <a:latin typeface="Arial" panose="020B0604020202020204" pitchFamily="34" charset="0"/>
                <a:cs typeface="Arial" panose="020B0604020202020204" pitchFamily="34" charset="0"/>
              </a:rPr>
              <a:t>ZR(5) = 4 x (120/1000) = 0.48</a:t>
            </a:r>
            <a:r>
              <a:rPr lang="en-GB" altLang="en-US" sz="2400" dirty="0">
                <a:solidFill>
                  <a:schemeClr val="accent1"/>
                </a:solidFill>
                <a:latin typeface="Arial" panose="020B0604020202020204" pitchFamily="34" charset="0"/>
                <a:cs typeface="Arial" panose="020B0604020202020204" pitchFamily="34" charset="0"/>
                <a:sym typeface="Symbol" panose="05050102010706020507" pitchFamily="18" charset="2"/>
              </a:rPr>
              <a:t>  -5A Relay</a:t>
            </a:r>
          </a:p>
          <a:p>
            <a:pPr marL="180975" indent="-180975" algn="l">
              <a:lnSpc>
                <a:spcPct val="110000"/>
              </a:lnSpc>
              <a:spcBef>
                <a:spcPct val="45000"/>
              </a:spcBef>
              <a:buClr>
                <a:schemeClr val="accent1"/>
              </a:buClr>
              <a:buFont typeface="Wingdings 3" panose="05040102010807070707" pitchFamily="18" charset="2"/>
              <a:buNone/>
            </a:pPr>
            <a:endParaRPr lang="en-GB" altLang="en-US" sz="2400" dirty="0">
              <a:solidFill>
                <a:schemeClr val="accent1"/>
              </a:solidFill>
              <a:latin typeface="Arial" panose="020B0604020202020204" pitchFamily="34" charset="0"/>
              <a:cs typeface="Arial" panose="020B0604020202020204" pitchFamily="34" charset="0"/>
            </a:endParaRPr>
          </a:p>
          <a:p>
            <a:pPr marL="180975" indent="-180975" algn="l">
              <a:lnSpc>
                <a:spcPct val="110000"/>
              </a:lnSpc>
              <a:spcBef>
                <a:spcPct val="45000"/>
              </a:spcBef>
              <a:buClr>
                <a:schemeClr val="accent1"/>
              </a:buClr>
              <a:buFont typeface="Wingdings 3" panose="05040102010807070707" pitchFamily="18" charset="2"/>
              <a:buNone/>
            </a:pPr>
            <a:r>
              <a:rPr lang="en-GB" altLang="en-US" sz="2400" dirty="0">
                <a:solidFill>
                  <a:schemeClr val="accent1"/>
                </a:solidFill>
                <a:latin typeface="Arial" panose="020B0604020202020204" pitchFamily="34" charset="0"/>
                <a:cs typeface="Arial" panose="020B0604020202020204" pitchFamily="34" charset="0"/>
              </a:rPr>
              <a:t>ZR(1) = 4 x (600/1000) = 2.4 </a:t>
            </a:r>
            <a:r>
              <a:rPr lang="en-GB" altLang="en-US" sz="2400" dirty="0">
                <a:solidFill>
                  <a:schemeClr val="accent1"/>
                </a:solidFill>
                <a:latin typeface="Arial" panose="020B0604020202020204" pitchFamily="34" charset="0"/>
                <a:cs typeface="Arial" panose="020B0604020202020204" pitchFamily="34" charset="0"/>
                <a:sym typeface="Symbol" panose="05050102010706020507" pitchFamily="18" charset="2"/>
              </a:rPr>
              <a:t>   -1A Relay</a:t>
            </a:r>
            <a:endParaRPr lang="en-US" sz="2400" dirty="0">
              <a:solidFill>
                <a:schemeClr val="accent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Rectangle 2"/>
              <p:cNvSpPr/>
              <p:nvPr/>
            </p:nvSpPr>
            <p:spPr>
              <a:xfrm>
                <a:off x="5126477" y="2378934"/>
                <a:ext cx="3452187" cy="78624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𝑍𝑅</m:t>
                      </m:r>
                      <m:r>
                        <a:rPr lang="en-US" sz="2400" i="0">
                          <a:latin typeface="Cambria Math" panose="02040503050406030204" pitchFamily="18" charset="0"/>
                        </a:rPr>
                        <m:t>=</m:t>
                      </m:r>
                      <m:r>
                        <a:rPr lang="en-US" sz="2400" i="1">
                          <a:latin typeface="Cambria Math" panose="02040503050406030204" pitchFamily="18" charset="0"/>
                        </a:rPr>
                        <m:t>𝑍𝑠</m:t>
                      </m:r>
                      <m:r>
                        <a:rPr lang="en-US" sz="2400" i="0">
                          <a:latin typeface="Cambria Math" panose="02040503050406030204" pitchFamily="18" charset="0"/>
                        </a:rPr>
                        <m:t>=</m:t>
                      </m:r>
                      <m:r>
                        <a:rPr lang="en-US" sz="2400" i="1">
                          <a:latin typeface="Cambria Math" panose="02040503050406030204" pitchFamily="18" charset="0"/>
                        </a:rPr>
                        <m:t>𝑍𝑃</m:t>
                      </m:r>
                      <m:r>
                        <a:rPr lang="en-US" sz="2400" i="0">
                          <a:latin typeface="Cambria Math" panose="02040503050406030204" pitchFamily="18" charset="0"/>
                        </a:rPr>
                        <m:t> ×</m:t>
                      </m:r>
                      <m:f>
                        <m:fPr>
                          <m:ctrlPr>
                            <a:rPr lang="en-US" sz="2400" i="1">
                              <a:latin typeface="Cambria Math" panose="02040503050406030204" pitchFamily="18" charset="0"/>
                            </a:rPr>
                          </m:ctrlPr>
                        </m:fPr>
                        <m:num>
                          <m:r>
                            <a:rPr lang="en-US" sz="2400" i="1">
                              <a:latin typeface="Cambria Math" panose="02040503050406030204" pitchFamily="18" charset="0"/>
                            </a:rPr>
                            <m:t>𝐶𝑇𝑅</m:t>
                          </m:r>
                        </m:num>
                        <m:den>
                          <m:r>
                            <a:rPr lang="en-US" sz="2400" i="1">
                              <a:latin typeface="Cambria Math" panose="02040503050406030204" pitchFamily="18" charset="0"/>
                            </a:rPr>
                            <m:t>𝑉𝑇𝑅</m:t>
                          </m:r>
                          <m:r>
                            <a:rPr lang="en-US" sz="2400" i="0">
                              <a:latin typeface="Cambria Math" panose="02040503050406030204" pitchFamily="18" charset="0"/>
                            </a:rPr>
                            <m:t> </m:t>
                          </m:r>
                        </m:den>
                      </m:f>
                    </m:oMath>
                  </m:oMathPara>
                </a14:m>
                <a:endParaRPr lang="en-US" sz="2400" dirty="0"/>
              </a:p>
            </p:txBody>
          </p:sp>
        </mc:Choice>
        <mc:Fallback xmlns="">
          <p:sp>
            <p:nvSpPr>
              <p:cNvPr id="3" name="Rectangle 2"/>
              <p:cNvSpPr>
                <a:spLocks noRot="1" noChangeAspect="1" noMove="1" noResize="1" noEditPoints="1" noAdjustHandles="1" noChangeArrowheads="1" noChangeShapeType="1" noTextEdit="1"/>
              </p:cNvSpPr>
              <p:nvPr/>
            </p:nvSpPr>
            <p:spPr>
              <a:xfrm>
                <a:off x="5126477" y="2378934"/>
                <a:ext cx="3452187" cy="78624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3736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67" name="Rectangle 1311"/>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a:t>Input Quantities for </a:t>
            </a:r>
            <a:r>
              <a:rPr lang="en-GB" altLang="en-US">
                <a:sym typeface="Symbol" panose="05050102010706020507" pitchFamily="18" charset="2"/>
              </a:rPr>
              <a:t>- </a:t>
            </a:r>
            <a:r>
              <a:rPr lang="en-GB" altLang="en-US"/>
              <a:t>Faults</a:t>
            </a:r>
          </a:p>
        </p:txBody>
      </p:sp>
      <p:sp>
        <p:nvSpPr>
          <p:cNvPr id="71969" name="Text Box 1313"/>
          <p:cNvSpPr txBox="1">
            <a:spLocks noChangeArrowheads="1"/>
          </p:cNvSpPr>
          <p:nvPr/>
        </p:nvSpPr>
        <p:spPr bwMode="auto">
          <a:xfrm>
            <a:off x="568186" y="1720574"/>
            <a:ext cx="7448550" cy="380104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tabLst>
                <a:tab pos="381000" algn="l"/>
              </a:tabLst>
              <a:defRPr sz="2400">
                <a:solidFill>
                  <a:schemeClr val="tx1"/>
                </a:solidFill>
                <a:latin typeface="Times New Roman" panose="02020603050405020304" pitchFamily="18" charset="0"/>
              </a:defRPr>
            </a:lvl1pPr>
            <a:lvl2pPr marL="571500">
              <a:tabLst>
                <a:tab pos="381000" algn="l"/>
              </a:tabLst>
              <a:defRPr sz="2400">
                <a:solidFill>
                  <a:schemeClr val="tx1"/>
                </a:solidFill>
                <a:latin typeface="Times New Roman" panose="02020603050405020304" pitchFamily="18" charset="0"/>
              </a:defRPr>
            </a:lvl2pPr>
            <a:lvl3pPr>
              <a:tabLst>
                <a:tab pos="381000" algn="l"/>
              </a:tabLst>
              <a:defRPr sz="2400">
                <a:solidFill>
                  <a:schemeClr val="tx1"/>
                </a:solidFill>
                <a:latin typeface="Times New Roman" panose="02020603050405020304" pitchFamily="18" charset="0"/>
              </a:defRPr>
            </a:lvl3pPr>
            <a:lvl4pPr>
              <a:tabLst>
                <a:tab pos="381000" algn="l"/>
              </a:tabLst>
              <a:defRPr sz="2400">
                <a:solidFill>
                  <a:schemeClr val="tx1"/>
                </a:solidFill>
                <a:latin typeface="Times New Roman" panose="02020603050405020304" pitchFamily="18" charset="0"/>
              </a:defRPr>
            </a:lvl4pPr>
            <a:lvl5pPr>
              <a:tabLst>
                <a:tab pos="3810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3810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3810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3810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381000" algn="l"/>
              </a:tabLst>
              <a:defRPr sz="2400">
                <a:solidFill>
                  <a:schemeClr val="tx1"/>
                </a:solidFill>
                <a:latin typeface="Times New Roman" panose="02020603050405020304" pitchFamily="18" charset="0"/>
              </a:defRPr>
            </a:lvl9pPr>
          </a:lstStyle>
          <a:p>
            <a:pPr>
              <a:spcBef>
                <a:spcPct val="50000"/>
              </a:spcBef>
              <a:buClr>
                <a:srgbClr val="C4122F"/>
              </a:buClr>
              <a:buFont typeface="Wingdings 3" panose="05040102010807070707" pitchFamily="18" charset="2"/>
              <a:buNone/>
            </a:pPr>
            <a:r>
              <a:rPr lang="en-GB" altLang="en-US" b="1" dirty="0">
                <a:solidFill>
                  <a:srgbClr val="FF0000"/>
                </a:solidFill>
                <a:latin typeface="Arial" panose="020B0604020202020204" pitchFamily="34" charset="0"/>
                <a:sym typeface="Symbol" panose="05050102010706020507" pitchFamily="18" charset="2"/>
              </a:rPr>
              <a:t>FAULT	      V</a:t>
            </a:r>
            <a:r>
              <a:rPr lang="en-GB" altLang="en-US" b="1" baseline="-25000" dirty="0">
                <a:solidFill>
                  <a:srgbClr val="FF0000"/>
                </a:solidFill>
                <a:latin typeface="Arial" panose="020B0604020202020204" pitchFamily="34" charset="0"/>
                <a:sym typeface="Symbol" panose="05050102010706020507" pitchFamily="18" charset="2"/>
              </a:rPr>
              <a:t>RESTRAINT                            </a:t>
            </a:r>
            <a:r>
              <a:rPr lang="en-GB" altLang="en-US" b="1" dirty="0">
                <a:solidFill>
                  <a:srgbClr val="FF0000"/>
                </a:solidFill>
                <a:sym typeface="Symbol" panose="05050102010706020507" pitchFamily="18" charset="2"/>
              </a:rPr>
              <a:t>I</a:t>
            </a:r>
            <a:r>
              <a:rPr lang="en-GB" altLang="en-US" b="1" baseline="-25000" dirty="0">
                <a:solidFill>
                  <a:srgbClr val="FF0000"/>
                </a:solidFill>
                <a:latin typeface="Arial" panose="020B0604020202020204" pitchFamily="34" charset="0"/>
                <a:sym typeface="Symbol" panose="05050102010706020507" pitchFamily="18" charset="2"/>
              </a:rPr>
              <a:t>OPERATE</a:t>
            </a:r>
            <a:endParaRPr lang="en-GB" altLang="en-US" b="1" dirty="0">
              <a:solidFill>
                <a:srgbClr val="FF0000"/>
              </a:solidFill>
              <a:latin typeface="Arial" panose="020B0604020202020204" pitchFamily="34" charset="0"/>
              <a:sym typeface="Symbol" panose="05050102010706020507" pitchFamily="18" charset="2"/>
            </a:endParaRPr>
          </a:p>
          <a:p>
            <a:pPr>
              <a:lnSpc>
                <a:spcPct val="110000"/>
              </a:lnSpc>
              <a:spcBef>
                <a:spcPct val="45000"/>
              </a:spcBef>
            </a:pPr>
            <a:r>
              <a:rPr lang="en-GB" altLang="en-US" b="1" dirty="0">
                <a:solidFill>
                  <a:schemeClr val="tx2"/>
                </a:solidFill>
                <a:latin typeface="Arial" panose="020B0604020202020204" pitchFamily="34" charset="0"/>
                <a:sym typeface="Symbol" panose="05050102010706020507" pitchFamily="18" charset="2"/>
              </a:rPr>
              <a:t>A - B		      V</a:t>
            </a:r>
            <a:r>
              <a:rPr lang="en-GB" altLang="en-US" b="1" baseline="-25000" dirty="0">
                <a:solidFill>
                  <a:schemeClr val="tx2"/>
                </a:solidFill>
                <a:latin typeface="Arial" panose="020B0604020202020204" pitchFamily="34" charset="0"/>
                <a:sym typeface="Symbol" panose="05050102010706020507" pitchFamily="18" charset="2"/>
              </a:rPr>
              <a:t>A </a:t>
            </a:r>
            <a:r>
              <a:rPr lang="en-GB" altLang="en-US" b="1" dirty="0">
                <a:solidFill>
                  <a:schemeClr val="tx2"/>
                </a:solidFill>
                <a:latin typeface="Arial" panose="020B0604020202020204" pitchFamily="34" charset="0"/>
                <a:sym typeface="Symbol" panose="05050102010706020507" pitchFamily="18" charset="2"/>
              </a:rPr>
              <a:t>- V</a:t>
            </a:r>
            <a:r>
              <a:rPr lang="en-GB" altLang="en-US" b="1" baseline="-25000" dirty="0">
                <a:solidFill>
                  <a:schemeClr val="tx2"/>
                </a:solidFill>
                <a:latin typeface="Arial" panose="020B0604020202020204" pitchFamily="34" charset="0"/>
                <a:sym typeface="Symbol" panose="05050102010706020507" pitchFamily="18" charset="2"/>
              </a:rPr>
              <a:t>B</a:t>
            </a:r>
            <a:r>
              <a:rPr lang="en-GB" altLang="en-US" b="1" dirty="0">
                <a:solidFill>
                  <a:schemeClr val="tx2"/>
                </a:solidFill>
                <a:latin typeface="Arial" panose="020B0604020202020204" pitchFamily="34" charset="0"/>
                <a:sym typeface="Symbol" panose="05050102010706020507" pitchFamily="18" charset="2"/>
              </a:rPr>
              <a:t>                        </a:t>
            </a:r>
            <a:r>
              <a:rPr lang="en-GB" altLang="en-US" b="1" dirty="0">
                <a:solidFill>
                  <a:schemeClr val="tx2"/>
                </a:solidFill>
                <a:sym typeface="Symbol" panose="05050102010706020507" pitchFamily="18" charset="2"/>
              </a:rPr>
              <a:t>I</a:t>
            </a:r>
            <a:r>
              <a:rPr lang="en-GB" altLang="en-US" b="1" baseline="-25000" dirty="0">
                <a:solidFill>
                  <a:schemeClr val="tx2"/>
                </a:solidFill>
                <a:latin typeface="Arial" panose="020B0604020202020204" pitchFamily="34" charset="0"/>
                <a:sym typeface="Symbol" panose="05050102010706020507" pitchFamily="18" charset="2"/>
              </a:rPr>
              <a:t>A </a:t>
            </a:r>
            <a:r>
              <a:rPr lang="en-GB" altLang="en-US" b="1" dirty="0">
                <a:solidFill>
                  <a:schemeClr val="tx2"/>
                </a:solidFill>
                <a:latin typeface="Arial" panose="020B0604020202020204" pitchFamily="34" charset="0"/>
                <a:sym typeface="Symbol" panose="05050102010706020507" pitchFamily="18" charset="2"/>
              </a:rPr>
              <a:t>- </a:t>
            </a:r>
            <a:r>
              <a:rPr lang="en-GB" altLang="en-US" b="1" dirty="0">
                <a:solidFill>
                  <a:schemeClr val="tx2"/>
                </a:solidFill>
                <a:sym typeface="Symbol" panose="05050102010706020507" pitchFamily="18" charset="2"/>
              </a:rPr>
              <a:t>I</a:t>
            </a:r>
            <a:r>
              <a:rPr lang="en-GB" altLang="en-US" b="1" baseline="-25000" dirty="0">
                <a:solidFill>
                  <a:schemeClr val="tx2"/>
                </a:solidFill>
                <a:latin typeface="Arial" panose="020B0604020202020204" pitchFamily="34" charset="0"/>
                <a:sym typeface="Symbol" panose="05050102010706020507" pitchFamily="18" charset="2"/>
              </a:rPr>
              <a:t>B</a:t>
            </a:r>
            <a:endParaRPr lang="en-GB" altLang="en-US" b="1" dirty="0">
              <a:solidFill>
                <a:schemeClr val="tx2"/>
              </a:solidFill>
              <a:latin typeface="Arial" panose="020B0604020202020204" pitchFamily="34" charset="0"/>
              <a:sym typeface="Symbol" panose="05050102010706020507" pitchFamily="18" charset="2"/>
            </a:endParaRPr>
          </a:p>
          <a:p>
            <a:pPr>
              <a:lnSpc>
                <a:spcPct val="110000"/>
              </a:lnSpc>
              <a:spcBef>
                <a:spcPct val="45000"/>
              </a:spcBef>
            </a:pPr>
            <a:r>
              <a:rPr lang="en-GB" altLang="en-US" b="1" dirty="0">
                <a:solidFill>
                  <a:schemeClr val="tx2"/>
                </a:solidFill>
                <a:latin typeface="Arial" panose="020B0604020202020204" pitchFamily="34" charset="0"/>
                <a:sym typeface="Symbol" panose="05050102010706020507" pitchFamily="18" charset="2"/>
              </a:rPr>
              <a:t>B - C		      V</a:t>
            </a:r>
            <a:r>
              <a:rPr lang="en-GB" altLang="en-US" b="1" baseline="-25000" dirty="0">
                <a:solidFill>
                  <a:schemeClr val="tx2"/>
                </a:solidFill>
                <a:latin typeface="Arial" panose="020B0604020202020204" pitchFamily="34" charset="0"/>
                <a:sym typeface="Symbol" panose="05050102010706020507" pitchFamily="18" charset="2"/>
              </a:rPr>
              <a:t>B </a:t>
            </a:r>
            <a:r>
              <a:rPr lang="en-GB" altLang="en-US" b="1" dirty="0">
                <a:solidFill>
                  <a:schemeClr val="tx2"/>
                </a:solidFill>
                <a:latin typeface="Arial" panose="020B0604020202020204" pitchFamily="34" charset="0"/>
                <a:sym typeface="Symbol" panose="05050102010706020507" pitchFamily="18" charset="2"/>
              </a:rPr>
              <a:t>- V</a:t>
            </a:r>
            <a:r>
              <a:rPr lang="en-GB" altLang="en-US" b="1" baseline="-25000" dirty="0">
                <a:solidFill>
                  <a:schemeClr val="tx2"/>
                </a:solidFill>
                <a:latin typeface="Arial" panose="020B0604020202020204" pitchFamily="34" charset="0"/>
                <a:sym typeface="Symbol" panose="05050102010706020507" pitchFamily="18" charset="2"/>
              </a:rPr>
              <a:t>C</a:t>
            </a:r>
            <a:r>
              <a:rPr lang="en-GB" altLang="en-US" b="1" dirty="0">
                <a:solidFill>
                  <a:schemeClr val="tx2"/>
                </a:solidFill>
                <a:latin typeface="Arial" panose="020B0604020202020204" pitchFamily="34" charset="0"/>
                <a:sym typeface="Symbol" panose="05050102010706020507" pitchFamily="18" charset="2"/>
              </a:rPr>
              <a:t>                        </a:t>
            </a:r>
            <a:r>
              <a:rPr lang="en-GB" altLang="en-US" b="1" dirty="0">
                <a:solidFill>
                  <a:schemeClr val="tx2"/>
                </a:solidFill>
                <a:sym typeface="Symbol" panose="05050102010706020507" pitchFamily="18" charset="2"/>
              </a:rPr>
              <a:t>I</a:t>
            </a:r>
            <a:r>
              <a:rPr lang="en-GB" altLang="en-US" b="1" baseline="-25000" dirty="0">
                <a:solidFill>
                  <a:schemeClr val="tx2"/>
                </a:solidFill>
                <a:latin typeface="Arial" panose="020B0604020202020204" pitchFamily="34" charset="0"/>
                <a:sym typeface="Symbol" panose="05050102010706020507" pitchFamily="18" charset="2"/>
              </a:rPr>
              <a:t>B </a:t>
            </a:r>
            <a:r>
              <a:rPr lang="en-GB" altLang="en-US" b="1" dirty="0">
                <a:solidFill>
                  <a:schemeClr val="tx2"/>
                </a:solidFill>
                <a:latin typeface="Arial" panose="020B0604020202020204" pitchFamily="34" charset="0"/>
                <a:sym typeface="Symbol" panose="05050102010706020507" pitchFamily="18" charset="2"/>
              </a:rPr>
              <a:t>- </a:t>
            </a:r>
            <a:r>
              <a:rPr lang="en-GB" altLang="en-US" b="1" dirty="0">
                <a:solidFill>
                  <a:schemeClr val="tx2"/>
                </a:solidFill>
                <a:sym typeface="Symbol" panose="05050102010706020507" pitchFamily="18" charset="2"/>
              </a:rPr>
              <a:t>I</a:t>
            </a:r>
            <a:r>
              <a:rPr lang="en-GB" altLang="en-US" b="1" baseline="-25000" dirty="0">
                <a:solidFill>
                  <a:schemeClr val="tx2"/>
                </a:solidFill>
                <a:latin typeface="Arial" panose="020B0604020202020204" pitchFamily="34" charset="0"/>
                <a:sym typeface="Symbol" panose="05050102010706020507" pitchFamily="18" charset="2"/>
              </a:rPr>
              <a:t>C</a:t>
            </a:r>
            <a:endParaRPr lang="en-GB" altLang="en-US" b="1" dirty="0">
              <a:solidFill>
                <a:schemeClr val="tx2"/>
              </a:solidFill>
              <a:latin typeface="Arial" panose="020B0604020202020204" pitchFamily="34" charset="0"/>
              <a:sym typeface="Symbol" panose="05050102010706020507" pitchFamily="18" charset="2"/>
            </a:endParaRPr>
          </a:p>
          <a:p>
            <a:pPr>
              <a:lnSpc>
                <a:spcPct val="110000"/>
              </a:lnSpc>
              <a:spcBef>
                <a:spcPct val="45000"/>
              </a:spcBef>
            </a:pPr>
            <a:r>
              <a:rPr lang="en-GB" altLang="en-US" b="1" dirty="0">
                <a:solidFill>
                  <a:schemeClr val="tx2"/>
                </a:solidFill>
                <a:latin typeface="Arial" panose="020B0604020202020204" pitchFamily="34" charset="0"/>
                <a:sym typeface="Symbol" panose="05050102010706020507" pitchFamily="18" charset="2"/>
              </a:rPr>
              <a:t>C - A		      V</a:t>
            </a:r>
            <a:r>
              <a:rPr lang="en-GB" altLang="en-US" b="1" baseline="-25000" dirty="0">
                <a:solidFill>
                  <a:schemeClr val="tx2"/>
                </a:solidFill>
                <a:latin typeface="Arial" panose="020B0604020202020204" pitchFamily="34" charset="0"/>
                <a:sym typeface="Symbol" panose="05050102010706020507" pitchFamily="18" charset="2"/>
              </a:rPr>
              <a:t>C </a:t>
            </a:r>
            <a:r>
              <a:rPr lang="en-GB" altLang="en-US" b="1" dirty="0">
                <a:solidFill>
                  <a:schemeClr val="tx2"/>
                </a:solidFill>
                <a:latin typeface="Arial" panose="020B0604020202020204" pitchFamily="34" charset="0"/>
                <a:sym typeface="Symbol" panose="05050102010706020507" pitchFamily="18" charset="2"/>
              </a:rPr>
              <a:t>- V</a:t>
            </a:r>
            <a:r>
              <a:rPr lang="en-GB" altLang="en-US" b="1" baseline="-25000" dirty="0">
                <a:solidFill>
                  <a:schemeClr val="tx2"/>
                </a:solidFill>
                <a:latin typeface="Arial" panose="020B0604020202020204" pitchFamily="34" charset="0"/>
                <a:sym typeface="Symbol" panose="05050102010706020507" pitchFamily="18" charset="2"/>
              </a:rPr>
              <a:t>A</a:t>
            </a:r>
            <a:r>
              <a:rPr lang="en-GB" altLang="en-US" b="1" dirty="0">
                <a:solidFill>
                  <a:schemeClr val="tx2"/>
                </a:solidFill>
                <a:latin typeface="Arial" panose="020B0604020202020204" pitchFamily="34" charset="0"/>
                <a:sym typeface="Symbol" panose="05050102010706020507" pitchFamily="18" charset="2"/>
              </a:rPr>
              <a:t>                        </a:t>
            </a:r>
            <a:r>
              <a:rPr lang="en-GB" altLang="en-US" b="1" dirty="0">
                <a:solidFill>
                  <a:schemeClr val="tx2"/>
                </a:solidFill>
                <a:sym typeface="Symbol" panose="05050102010706020507" pitchFamily="18" charset="2"/>
              </a:rPr>
              <a:t>I</a:t>
            </a:r>
            <a:r>
              <a:rPr lang="en-GB" altLang="en-US" b="1" baseline="-25000" dirty="0">
                <a:solidFill>
                  <a:schemeClr val="tx2"/>
                </a:solidFill>
                <a:latin typeface="Arial" panose="020B0604020202020204" pitchFamily="34" charset="0"/>
                <a:sym typeface="Symbol" panose="05050102010706020507" pitchFamily="18" charset="2"/>
              </a:rPr>
              <a:t>C </a:t>
            </a:r>
            <a:r>
              <a:rPr lang="en-GB" altLang="en-US" b="1" dirty="0">
                <a:solidFill>
                  <a:schemeClr val="tx2"/>
                </a:solidFill>
                <a:latin typeface="Arial" panose="020B0604020202020204" pitchFamily="34" charset="0"/>
                <a:sym typeface="Symbol" panose="05050102010706020507" pitchFamily="18" charset="2"/>
              </a:rPr>
              <a:t>- </a:t>
            </a:r>
            <a:r>
              <a:rPr lang="en-GB" altLang="en-US" b="1" dirty="0">
                <a:solidFill>
                  <a:schemeClr val="tx2"/>
                </a:solidFill>
                <a:sym typeface="Symbol" panose="05050102010706020507" pitchFamily="18" charset="2"/>
              </a:rPr>
              <a:t>I</a:t>
            </a:r>
            <a:r>
              <a:rPr lang="en-GB" altLang="en-US" b="1" baseline="-25000" dirty="0">
                <a:solidFill>
                  <a:schemeClr val="tx2"/>
                </a:solidFill>
                <a:latin typeface="Arial" panose="020B0604020202020204" pitchFamily="34" charset="0"/>
                <a:sym typeface="Symbol" panose="05050102010706020507" pitchFamily="18" charset="2"/>
              </a:rPr>
              <a:t>A</a:t>
            </a:r>
            <a:endParaRPr lang="en-GB" altLang="en-US" b="1" dirty="0">
              <a:solidFill>
                <a:schemeClr val="tx2"/>
              </a:solidFill>
              <a:latin typeface="Arial" panose="020B0604020202020204" pitchFamily="34" charset="0"/>
              <a:sym typeface="Symbol" panose="05050102010706020507" pitchFamily="18" charset="2"/>
            </a:endParaRPr>
          </a:p>
          <a:p>
            <a:pPr>
              <a:lnSpc>
                <a:spcPct val="110000"/>
              </a:lnSpc>
              <a:spcBef>
                <a:spcPct val="45000"/>
              </a:spcBef>
            </a:pPr>
            <a:endParaRPr lang="en-GB" altLang="en-US" b="1" dirty="0">
              <a:solidFill>
                <a:schemeClr val="hlink"/>
              </a:solidFill>
              <a:latin typeface="Arial" panose="020B0604020202020204" pitchFamily="34" charset="0"/>
              <a:sym typeface="Symbol" panose="05050102010706020507" pitchFamily="18" charset="2"/>
            </a:endParaRPr>
          </a:p>
          <a:p>
            <a:pPr algn="l">
              <a:lnSpc>
                <a:spcPct val="110000"/>
              </a:lnSpc>
              <a:spcBef>
                <a:spcPct val="45000"/>
              </a:spcBef>
              <a:buClr>
                <a:srgbClr val="C4122F"/>
              </a:buClr>
              <a:buFont typeface="Wingdings 3" panose="05040102010807070707" pitchFamily="18" charset="2"/>
              <a:buChar char="u"/>
            </a:pPr>
            <a:r>
              <a:rPr lang="en-GB" altLang="en-US" sz="2200" b="1" dirty="0">
                <a:solidFill>
                  <a:schemeClr val="tx2"/>
                </a:solidFill>
                <a:latin typeface="Arial" panose="020B0604020202020204" pitchFamily="34" charset="0"/>
                <a:sym typeface="Symbol" panose="05050102010706020507" pitchFamily="18" charset="2"/>
              </a:rPr>
              <a:t>V</a:t>
            </a:r>
            <a:r>
              <a:rPr lang="en-GB" altLang="en-US" sz="2200" b="1" baseline="-25000" dirty="0">
                <a:solidFill>
                  <a:schemeClr val="tx2"/>
                </a:solidFill>
                <a:latin typeface="Arial" panose="020B0604020202020204" pitchFamily="34" charset="0"/>
                <a:sym typeface="Symbol" panose="05050102010706020507" pitchFamily="18" charset="2"/>
              </a:rPr>
              <a:t>RESTRAINT   </a:t>
            </a:r>
            <a:r>
              <a:rPr lang="en-GB" altLang="en-US" sz="2200" b="1" dirty="0">
                <a:solidFill>
                  <a:schemeClr val="tx2"/>
                </a:solidFill>
                <a:latin typeface="Arial" panose="020B0604020202020204" pitchFamily="34" charset="0"/>
                <a:sym typeface="Symbol" panose="05050102010706020507" pitchFamily="18" charset="2"/>
              </a:rPr>
              <a:t>&amp;</a:t>
            </a:r>
            <a:r>
              <a:rPr lang="en-GB" altLang="en-US" sz="2200" b="1" baseline="-25000" dirty="0">
                <a:solidFill>
                  <a:schemeClr val="tx2"/>
                </a:solidFill>
                <a:latin typeface="Arial" panose="020B0604020202020204" pitchFamily="34" charset="0"/>
                <a:sym typeface="Symbol" panose="05050102010706020507" pitchFamily="18" charset="2"/>
              </a:rPr>
              <a:t>  </a:t>
            </a:r>
            <a:r>
              <a:rPr lang="en-GB" altLang="en-US" sz="2200" b="1" dirty="0">
                <a:solidFill>
                  <a:schemeClr val="tx2"/>
                </a:solidFill>
                <a:sym typeface="Symbol" panose="05050102010706020507" pitchFamily="18" charset="2"/>
              </a:rPr>
              <a:t>I</a:t>
            </a:r>
            <a:r>
              <a:rPr lang="en-GB" altLang="en-US" sz="2200" b="1" baseline="-25000" dirty="0">
                <a:solidFill>
                  <a:schemeClr val="tx2"/>
                </a:solidFill>
                <a:latin typeface="Arial" panose="020B0604020202020204" pitchFamily="34" charset="0"/>
                <a:sym typeface="Symbol" panose="05050102010706020507" pitchFamily="18" charset="2"/>
              </a:rPr>
              <a:t>OPERATE </a:t>
            </a:r>
            <a:r>
              <a:rPr lang="en-GB" altLang="en-US" sz="2200" b="1" dirty="0">
                <a:solidFill>
                  <a:schemeClr val="tx2"/>
                </a:solidFill>
                <a:latin typeface="Arial" panose="020B0604020202020204" pitchFamily="34" charset="0"/>
                <a:sym typeface="Symbol" panose="05050102010706020507" pitchFamily="18" charset="2"/>
              </a:rPr>
              <a:t> are selected inside the relay</a:t>
            </a:r>
          </a:p>
          <a:p>
            <a:pPr algn="l">
              <a:lnSpc>
                <a:spcPct val="110000"/>
              </a:lnSpc>
              <a:spcBef>
                <a:spcPct val="45000"/>
              </a:spcBef>
              <a:buClr>
                <a:srgbClr val="C4122F"/>
              </a:buClr>
              <a:buFont typeface="Wingdings 3" panose="05040102010807070707" pitchFamily="18" charset="2"/>
              <a:buChar char="u"/>
            </a:pPr>
            <a:r>
              <a:rPr lang="en-GB" altLang="en-US" sz="2200" b="1" dirty="0">
                <a:solidFill>
                  <a:schemeClr val="tx2"/>
                </a:solidFill>
                <a:latin typeface="Arial" panose="020B0604020202020204" pitchFamily="34" charset="0"/>
                <a:sym typeface="Symbol" panose="05050102010706020507" pitchFamily="18" charset="2"/>
              </a:rPr>
              <a:t>No setting adjustments are required apart from</a:t>
            </a:r>
            <a:endParaRPr lang="en-GB" altLang="en-US" sz="2200" b="1" dirty="0">
              <a:solidFill>
                <a:srgbClr val="FF0000"/>
              </a:solidFill>
              <a:latin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2887389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0" name="Rectangle 2758"/>
          <p:cNvSpPr>
            <a:spLocks noGrp="1" noChangeArrowheads="1"/>
          </p:cNvSpPr>
          <p:nvPr>
            <p:ph type="title"/>
          </p:nvPr>
        </p:nvSpPr>
        <p:spPr bwMode="auto">
          <a:xfrm>
            <a:off x="238125" y="76200"/>
            <a:ext cx="8634413" cy="857871"/>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dirty="0"/>
              <a:t>Neutral Impedance Replica </a:t>
            </a:r>
            <a:r>
              <a:rPr lang="en-GB" altLang="en-US" dirty="0" err="1"/>
              <a:t>Vectorial</a:t>
            </a:r>
            <a:r>
              <a:rPr lang="en-GB" altLang="en-US" dirty="0"/>
              <a:t> Compensation ( A-N fault)</a:t>
            </a:r>
          </a:p>
        </p:txBody>
      </p:sp>
      <p:grpSp>
        <p:nvGrpSpPr>
          <p:cNvPr id="82655" name="Group 2783"/>
          <p:cNvGrpSpPr>
            <a:grpSpLocks/>
          </p:cNvGrpSpPr>
          <p:nvPr/>
        </p:nvGrpSpPr>
        <p:grpSpPr bwMode="auto">
          <a:xfrm>
            <a:off x="546652" y="1462709"/>
            <a:ext cx="8458200" cy="3662363"/>
            <a:chOff x="432" y="984"/>
            <a:chExt cx="5328" cy="2307"/>
          </a:xfrm>
        </p:grpSpPr>
        <p:sp>
          <p:nvSpPr>
            <p:cNvPr id="82633" name="Text Box 2761"/>
            <p:cNvSpPr txBox="1">
              <a:spLocks noChangeArrowheads="1"/>
            </p:cNvSpPr>
            <p:nvPr/>
          </p:nvSpPr>
          <p:spPr bwMode="auto">
            <a:xfrm>
              <a:off x="432" y="984"/>
              <a:ext cx="2865"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b="1">
                  <a:solidFill>
                    <a:schemeClr val="tx2"/>
                  </a:solidFill>
                  <a:latin typeface="FuturaA Hv BT" pitchFamily="34" charset="0"/>
                </a:rPr>
                <a:t>Replica impedance circuit :- </a:t>
              </a:r>
            </a:p>
          </p:txBody>
        </p:sp>
        <p:sp>
          <p:nvSpPr>
            <p:cNvPr id="82634" name="Rectangle 2762"/>
            <p:cNvSpPr>
              <a:spLocks noChangeArrowheads="1"/>
            </p:cNvSpPr>
            <p:nvPr/>
          </p:nvSpPr>
          <p:spPr bwMode="auto">
            <a:xfrm>
              <a:off x="1858" y="1661"/>
              <a:ext cx="298"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rPr>
                <a:t>Z</a:t>
              </a:r>
              <a:r>
                <a:rPr lang="en-GB" altLang="en-US" sz="1600" baseline="-25000">
                  <a:solidFill>
                    <a:schemeClr val="tx2"/>
                  </a:solidFill>
                </a:rPr>
                <a:t>1</a:t>
              </a:r>
              <a:endParaRPr lang="en-GB" altLang="en-US" sz="1600">
                <a:solidFill>
                  <a:schemeClr val="tx2"/>
                </a:solidFill>
              </a:endParaRPr>
            </a:p>
          </p:txBody>
        </p:sp>
        <p:sp>
          <p:nvSpPr>
            <p:cNvPr id="82635" name="Rectangle 2763"/>
            <p:cNvSpPr>
              <a:spLocks noChangeArrowheads="1"/>
            </p:cNvSpPr>
            <p:nvPr/>
          </p:nvSpPr>
          <p:spPr bwMode="auto">
            <a:xfrm>
              <a:off x="1210" y="1649"/>
              <a:ext cx="40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Times New Roman" panose="02020603050405020304" pitchFamily="18" charset="0"/>
                </a:rPr>
                <a:t>I</a:t>
              </a:r>
              <a:r>
                <a:rPr lang="en-GB" altLang="en-US" sz="1600" baseline="-25000">
                  <a:solidFill>
                    <a:schemeClr val="tx2"/>
                  </a:solidFill>
                </a:rPr>
                <a:t>RA</a:t>
              </a:r>
              <a:endParaRPr lang="en-GB" altLang="en-US" sz="1600">
                <a:solidFill>
                  <a:schemeClr val="tx2"/>
                </a:solidFill>
              </a:endParaRPr>
            </a:p>
          </p:txBody>
        </p:sp>
        <p:sp>
          <p:nvSpPr>
            <p:cNvPr id="82636" name="Rectangle 2764"/>
            <p:cNvSpPr>
              <a:spLocks noChangeArrowheads="1"/>
            </p:cNvSpPr>
            <p:nvPr/>
          </p:nvSpPr>
          <p:spPr bwMode="auto">
            <a:xfrm>
              <a:off x="1215" y="2880"/>
              <a:ext cx="400"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latin typeface="Times New Roman" panose="02020603050405020304" pitchFamily="18" charset="0"/>
                </a:rPr>
                <a:t>I</a:t>
              </a:r>
              <a:r>
                <a:rPr lang="en-GB" altLang="en-US" sz="1600" baseline="-25000">
                  <a:solidFill>
                    <a:schemeClr val="tx2"/>
                  </a:solidFill>
                </a:rPr>
                <a:t>RN</a:t>
              </a:r>
              <a:endParaRPr lang="en-GB" altLang="en-US" sz="1600">
                <a:solidFill>
                  <a:schemeClr val="tx2"/>
                </a:solidFill>
              </a:endParaRPr>
            </a:p>
          </p:txBody>
        </p:sp>
        <p:sp>
          <p:nvSpPr>
            <p:cNvPr id="82638" name="Rectangle 2766"/>
            <p:cNvSpPr>
              <a:spLocks noChangeArrowheads="1"/>
            </p:cNvSpPr>
            <p:nvPr/>
          </p:nvSpPr>
          <p:spPr bwMode="auto">
            <a:xfrm>
              <a:off x="1858" y="2068"/>
              <a:ext cx="298"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rPr>
                <a:t>Z</a:t>
              </a:r>
              <a:r>
                <a:rPr lang="en-GB" altLang="en-US" sz="1600" baseline="-25000">
                  <a:solidFill>
                    <a:schemeClr val="tx2"/>
                  </a:solidFill>
                </a:rPr>
                <a:t>1</a:t>
              </a:r>
              <a:endParaRPr lang="en-GB" altLang="en-US" sz="1600">
                <a:solidFill>
                  <a:schemeClr val="tx2"/>
                </a:solidFill>
              </a:endParaRPr>
            </a:p>
          </p:txBody>
        </p:sp>
        <p:sp>
          <p:nvSpPr>
            <p:cNvPr id="82639" name="Rectangle 2767"/>
            <p:cNvSpPr>
              <a:spLocks noChangeArrowheads="1"/>
            </p:cNvSpPr>
            <p:nvPr/>
          </p:nvSpPr>
          <p:spPr bwMode="auto">
            <a:xfrm>
              <a:off x="813" y="3042"/>
              <a:ext cx="218"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rPr>
                <a:t>N</a:t>
              </a:r>
            </a:p>
          </p:txBody>
        </p:sp>
        <p:sp>
          <p:nvSpPr>
            <p:cNvPr id="82640" name="Rectangle 2768"/>
            <p:cNvSpPr>
              <a:spLocks noChangeArrowheads="1"/>
            </p:cNvSpPr>
            <p:nvPr/>
          </p:nvSpPr>
          <p:spPr bwMode="auto">
            <a:xfrm>
              <a:off x="1858" y="2479"/>
              <a:ext cx="298"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rPr>
                <a:t>Z</a:t>
              </a:r>
              <a:r>
                <a:rPr lang="en-GB" altLang="en-US" sz="1600" baseline="-25000">
                  <a:solidFill>
                    <a:schemeClr val="tx2"/>
                  </a:solidFill>
                </a:rPr>
                <a:t>1</a:t>
              </a:r>
              <a:endParaRPr lang="en-GB" altLang="en-US" sz="1600">
                <a:solidFill>
                  <a:schemeClr val="tx2"/>
                </a:solidFill>
              </a:endParaRPr>
            </a:p>
          </p:txBody>
        </p:sp>
        <p:sp>
          <p:nvSpPr>
            <p:cNvPr id="82641" name="Rectangle 2769"/>
            <p:cNvSpPr>
              <a:spLocks noChangeArrowheads="1"/>
            </p:cNvSpPr>
            <p:nvPr/>
          </p:nvSpPr>
          <p:spPr bwMode="auto">
            <a:xfrm>
              <a:off x="1858" y="2891"/>
              <a:ext cx="354"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rPr>
                <a:t>Z</a:t>
              </a:r>
              <a:r>
                <a:rPr lang="en-GB" altLang="en-US" sz="1600" baseline="-25000">
                  <a:solidFill>
                    <a:schemeClr val="tx2"/>
                  </a:solidFill>
                </a:rPr>
                <a:t>N</a:t>
              </a:r>
              <a:endParaRPr lang="en-GB" altLang="en-US" sz="1600">
                <a:solidFill>
                  <a:schemeClr val="tx2"/>
                </a:solidFill>
              </a:endParaRPr>
            </a:p>
          </p:txBody>
        </p:sp>
        <p:sp>
          <p:nvSpPr>
            <p:cNvPr id="82642" name="Line 2770"/>
            <p:cNvSpPr>
              <a:spLocks noChangeShapeType="1"/>
            </p:cNvSpPr>
            <p:nvPr/>
          </p:nvSpPr>
          <p:spPr bwMode="auto">
            <a:xfrm>
              <a:off x="989" y="1894"/>
              <a:ext cx="1629"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43" name="Line 2771"/>
            <p:cNvSpPr>
              <a:spLocks noChangeShapeType="1"/>
            </p:cNvSpPr>
            <p:nvPr/>
          </p:nvSpPr>
          <p:spPr bwMode="auto">
            <a:xfrm>
              <a:off x="989" y="2305"/>
              <a:ext cx="1641" cy="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44" name="Line 2772"/>
            <p:cNvSpPr>
              <a:spLocks noChangeShapeType="1"/>
            </p:cNvSpPr>
            <p:nvPr/>
          </p:nvSpPr>
          <p:spPr bwMode="auto">
            <a:xfrm>
              <a:off x="989" y="2716"/>
              <a:ext cx="1641" cy="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45" name="Line 2773"/>
            <p:cNvSpPr>
              <a:spLocks noChangeShapeType="1"/>
            </p:cNvSpPr>
            <p:nvPr/>
          </p:nvSpPr>
          <p:spPr bwMode="auto">
            <a:xfrm>
              <a:off x="989" y="3127"/>
              <a:ext cx="1641" cy="1"/>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46" name="Rectangle 2774"/>
            <p:cNvSpPr>
              <a:spLocks noChangeArrowheads="1"/>
            </p:cNvSpPr>
            <p:nvPr/>
          </p:nvSpPr>
          <p:spPr bwMode="auto">
            <a:xfrm>
              <a:off x="1754" y="1860"/>
              <a:ext cx="413" cy="78"/>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47" name="Line 2775"/>
            <p:cNvSpPr>
              <a:spLocks noChangeShapeType="1"/>
            </p:cNvSpPr>
            <p:nvPr/>
          </p:nvSpPr>
          <p:spPr bwMode="auto">
            <a:xfrm flipH="1">
              <a:off x="1184" y="3124"/>
              <a:ext cx="310" cy="1"/>
            </a:xfrm>
            <a:prstGeom prst="line">
              <a:avLst/>
            </a:prstGeom>
            <a:noFill/>
            <a:ln w="28575">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48" name="Line 2776"/>
            <p:cNvSpPr>
              <a:spLocks noChangeShapeType="1"/>
            </p:cNvSpPr>
            <p:nvPr/>
          </p:nvSpPr>
          <p:spPr bwMode="auto">
            <a:xfrm>
              <a:off x="2627" y="1890"/>
              <a:ext cx="1" cy="1235"/>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49" name="Rectangle 2777"/>
            <p:cNvSpPr>
              <a:spLocks noChangeArrowheads="1"/>
            </p:cNvSpPr>
            <p:nvPr/>
          </p:nvSpPr>
          <p:spPr bwMode="auto">
            <a:xfrm>
              <a:off x="1754" y="2271"/>
              <a:ext cx="413" cy="78"/>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50" name="Rectangle 2778"/>
            <p:cNvSpPr>
              <a:spLocks noChangeArrowheads="1"/>
            </p:cNvSpPr>
            <p:nvPr/>
          </p:nvSpPr>
          <p:spPr bwMode="auto">
            <a:xfrm>
              <a:off x="1754" y="2682"/>
              <a:ext cx="413" cy="78"/>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51" name="Rectangle 2779"/>
            <p:cNvSpPr>
              <a:spLocks noChangeArrowheads="1"/>
            </p:cNvSpPr>
            <p:nvPr/>
          </p:nvSpPr>
          <p:spPr bwMode="auto">
            <a:xfrm>
              <a:off x="1754" y="3093"/>
              <a:ext cx="413" cy="78"/>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52" name="Line 2780"/>
            <p:cNvSpPr>
              <a:spLocks noChangeShapeType="1"/>
            </p:cNvSpPr>
            <p:nvPr/>
          </p:nvSpPr>
          <p:spPr bwMode="auto">
            <a:xfrm>
              <a:off x="1098" y="1894"/>
              <a:ext cx="310" cy="0"/>
            </a:xfrm>
            <a:prstGeom prst="line">
              <a:avLst/>
            </a:prstGeom>
            <a:noFill/>
            <a:ln w="28575">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53" name="Line 2781"/>
            <p:cNvSpPr>
              <a:spLocks noChangeShapeType="1"/>
            </p:cNvSpPr>
            <p:nvPr/>
          </p:nvSpPr>
          <p:spPr bwMode="auto">
            <a:xfrm flipV="1">
              <a:off x="581" y="1842"/>
              <a:ext cx="1" cy="1234"/>
            </a:xfrm>
            <a:prstGeom prst="line">
              <a:avLst/>
            </a:prstGeom>
            <a:noFill/>
            <a:ln w="9525">
              <a:solidFill>
                <a:srgbClr val="FF0000"/>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654" name="Text Box 2782"/>
            <p:cNvSpPr txBox="1">
              <a:spLocks noChangeArrowheads="1"/>
            </p:cNvSpPr>
            <p:nvPr/>
          </p:nvSpPr>
          <p:spPr bwMode="auto">
            <a:xfrm>
              <a:off x="3040" y="1776"/>
              <a:ext cx="2720" cy="1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chemeClr val="tx2"/>
                  </a:solidFill>
                  <a:latin typeface="FuturaA Hv BT" pitchFamily="34" charset="0"/>
                </a:rPr>
                <a:t>Z</a:t>
              </a:r>
              <a:r>
                <a:rPr lang="en-GB" altLang="en-US" sz="2000" baseline="-25000">
                  <a:solidFill>
                    <a:schemeClr val="tx2"/>
                  </a:solidFill>
                  <a:latin typeface="FuturaA Hv BT" pitchFamily="34" charset="0"/>
                </a:rPr>
                <a:t>1</a:t>
              </a:r>
              <a:r>
                <a:rPr lang="en-GB" altLang="en-US" sz="2000">
                  <a:solidFill>
                    <a:schemeClr val="tx2"/>
                  </a:solidFill>
                  <a:latin typeface="FuturaA Hv BT" pitchFamily="34" charset="0"/>
                </a:rPr>
                <a:t> = Phase replica impedance</a:t>
              </a:r>
            </a:p>
            <a:p>
              <a:pPr>
                <a:spcBef>
                  <a:spcPct val="50000"/>
                </a:spcBef>
              </a:pPr>
              <a:r>
                <a:rPr lang="en-GB" altLang="en-US" sz="2000">
                  <a:solidFill>
                    <a:schemeClr val="tx2"/>
                  </a:solidFill>
                  <a:latin typeface="FuturaA Hv BT" pitchFamily="34" charset="0"/>
                </a:rPr>
                <a:t>Z</a:t>
              </a:r>
              <a:r>
                <a:rPr lang="en-GB" altLang="en-US" sz="2000" baseline="-25000">
                  <a:solidFill>
                    <a:schemeClr val="tx2"/>
                  </a:solidFill>
                  <a:latin typeface="FuturaA Hv BT" pitchFamily="34" charset="0"/>
                </a:rPr>
                <a:t>N</a:t>
              </a:r>
              <a:r>
                <a:rPr lang="en-GB" altLang="en-US" sz="2000">
                  <a:solidFill>
                    <a:schemeClr val="tx2"/>
                  </a:solidFill>
                  <a:latin typeface="FuturaA Hv BT" pitchFamily="34" charset="0"/>
                </a:rPr>
                <a:t> = Neutral replica impedance </a:t>
              </a:r>
            </a:p>
            <a:p>
              <a:pPr>
                <a:spcBef>
                  <a:spcPct val="50000"/>
                </a:spcBef>
              </a:pPr>
              <a:r>
                <a:rPr lang="en-GB" altLang="en-US" sz="2000">
                  <a:solidFill>
                    <a:schemeClr val="tx2"/>
                  </a:solidFill>
                  <a:latin typeface="Times New Roman" panose="02020603050405020304" pitchFamily="18" charset="0"/>
                </a:rPr>
                <a:t>I</a:t>
              </a:r>
              <a:r>
                <a:rPr lang="en-GB" altLang="en-US" sz="2000" baseline="-25000">
                  <a:solidFill>
                    <a:schemeClr val="tx2"/>
                  </a:solidFill>
                  <a:latin typeface="FuturaA Hv BT" pitchFamily="34" charset="0"/>
                </a:rPr>
                <a:t>RA</a:t>
              </a:r>
              <a:r>
                <a:rPr lang="en-GB" altLang="en-US" sz="2000">
                  <a:solidFill>
                    <a:schemeClr val="tx2"/>
                  </a:solidFill>
                  <a:latin typeface="FuturaA Hv BT" pitchFamily="34" charset="0"/>
                </a:rPr>
                <a:t> passes through Z</a:t>
              </a:r>
              <a:r>
                <a:rPr lang="en-GB" altLang="en-US" sz="2000" baseline="-25000">
                  <a:solidFill>
                    <a:schemeClr val="tx2"/>
                  </a:solidFill>
                  <a:latin typeface="FuturaA Hv BT" pitchFamily="34" charset="0"/>
                </a:rPr>
                <a:t>1</a:t>
              </a:r>
            </a:p>
            <a:p>
              <a:pPr>
                <a:spcBef>
                  <a:spcPct val="50000"/>
                </a:spcBef>
              </a:pPr>
              <a:r>
                <a:rPr lang="en-GB" altLang="en-US" sz="2000">
                  <a:solidFill>
                    <a:schemeClr val="tx2"/>
                  </a:solidFill>
                  <a:latin typeface="Times New Roman" panose="02020603050405020304" pitchFamily="18" charset="0"/>
                </a:rPr>
                <a:t>I</a:t>
              </a:r>
              <a:r>
                <a:rPr lang="en-GB" altLang="en-US" sz="2000" baseline="-25000">
                  <a:solidFill>
                    <a:schemeClr val="tx2"/>
                  </a:solidFill>
                  <a:latin typeface="FuturaA Hv BT" pitchFamily="34" charset="0"/>
                </a:rPr>
                <a:t>RN</a:t>
              </a:r>
              <a:r>
                <a:rPr lang="en-GB" altLang="en-US" sz="2000">
                  <a:solidFill>
                    <a:schemeClr val="tx2"/>
                  </a:solidFill>
                  <a:latin typeface="FuturaA Hv BT" pitchFamily="34" charset="0"/>
                </a:rPr>
                <a:t> passes through Z</a:t>
              </a:r>
              <a:r>
                <a:rPr lang="en-GB" altLang="en-US" sz="2000" baseline="-25000">
                  <a:solidFill>
                    <a:schemeClr val="tx2"/>
                  </a:solidFill>
                  <a:latin typeface="FuturaA Hv BT" pitchFamily="34" charset="0"/>
                </a:rPr>
                <a:t>N</a:t>
              </a:r>
              <a:endParaRPr lang="en-GB" altLang="en-US" sz="2000">
                <a:solidFill>
                  <a:schemeClr val="tx2"/>
                </a:solidFill>
                <a:latin typeface="FuturaA Hv BT" pitchFamily="34" charset="0"/>
              </a:endParaRPr>
            </a:p>
            <a:p>
              <a:pPr>
                <a:spcBef>
                  <a:spcPct val="50000"/>
                </a:spcBef>
              </a:pPr>
              <a:r>
                <a:rPr lang="en-GB" altLang="en-US" sz="2000">
                  <a:solidFill>
                    <a:schemeClr val="tx2"/>
                  </a:solidFill>
                  <a:latin typeface="FuturaA Hv BT" pitchFamily="34" charset="0"/>
                </a:rPr>
                <a:t>Z</a:t>
              </a:r>
              <a:r>
                <a:rPr lang="en-GB" altLang="en-US" sz="2000" baseline="-25000">
                  <a:solidFill>
                    <a:schemeClr val="tx2"/>
                  </a:solidFill>
                  <a:latin typeface="FuturaA Hv BT" pitchFamily="34" charset="0"/>
                </a:rPr>
                <a:t>T</a:t>
              </a:r>
              <a:r>
                <a:rPr lang="en-GB" altLang="en-US" sz="2000">
                  <a:solidFill>
                    <a:schemeClr val="tx2"/>
                  </a:solidFill>
                  <a:latin typeface="FuturaA Hv BT" pitchFamily="34" charset="0"/>
                </a:rPr>
                <a:t> = Z</a:t>
              </a:r>
              <a:r>
                <a:rPr lang="en-GB" altLang="en-US" sz="2000" baseline="-25000">
                  <a:solidFill>
                    <a:schemeClr val="tx2"/>
                  </a:solidFill>
                  <a:latin typeface="FuturaA Hv BT" pitchFamily="34" charset="0"/>
                </a:rPr>
                <a:t>1</a:t>
              </a:r>
              <a:r>
                <a:rPr lang="en-GB" altLang="en-US" sz="2000">
                  <a:solidFill>
                    <a:schemeClr val="tx2"/>
                  </a:solidFill>
                  <a:latin typeface="FuturaA Hv BT" pitchFamily="34" charset="0"/>
                </a:rPr>
                <a:t> + Z</a:t>
              </a:r>
              <a:r>
                <a:rPr lang="en-GB" altLang="en-US" sz="2000" baseline="-25000">
                  <a:solidFill>
                    <a:schemeClr val="tx2"/>
                  </a:solidFill>
                  <a:latin typeface="FuturaA Hv BT" pitchFamily="34" charset="0"/>
                </a:rPr>
                <a:t>N</a:t>
              </a:r>
              <a:endParaRPr lang="en-GB" altLang="en-US" sz="2000">
                <a:solidFill>
                  <a:schemeClr val="tx2"/>
                </a:solidFill>
                <a:latin typeface="FuturaA Hv BT" pitchFamily="34" charset="0"/>
              </a:endParaRPr>
            </a:p>
          </p:txBody>
        </p:sp>
      </p:grpSp>
    </p:spTree>
    <p:extLst>
      <p:ext uri="{BB962C8B-B14F-4D97-AF65-F5344CB8AC3E}">
        <p14:creationId xmlns:p14="http://schemas.microsoft.com/office/powerpoint/2010/main" val="1883528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420"/>
          <p:cNvSpPr>
            <a:spLocks noGrp="1" noChangeArrowheads="1"/>
          </p:cNvSpPr>
          <p:nvPr>
            <p:ph type="title"/>
          </p:nvPr>
        </p:nvSpPr>
        <p:spPr>
          <a:xfrm>
            <a:off x="266700" y="183596"/>
            <a:ext cx="8634413" cy="815441"/>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kern="1200" dirty="0">
                <a:latin typeface="Arial" panose="020B0604020202020204" pitchFamily="34" charset="0"/>
                <a:cs typeface="Arial" panose="020B0604020202020204" pitchFamily="34" charset="0"/>
              </a:rPr>
              <a:t>Neutral Impedance Compensation</a:t>
            </a:r>
            <a:br>
              <a:rPr lang="en-GB" altLang="en-US" kern="1200" dirty="0">
                <a:latin typeface="Arial" panose="020B0604020202020204" pitchFamily="34" charset="0"/>
                <a:cs typeface="Arial" panose="020B0604020202020204" pitchFamily="34" charset="0"/>
              </a:rPr>
            </a:br>
            <a:r>
              <a:rPr lang="en-GB" altLang="en-US" kern="1200" dirty="0">
                <a:latin typeface="Arial" panose="020B0604020202020204" pitchFamily="34" charset="0"/>
                <a:cs typeface="Arial" panose="020B0604020202020204" pitchFamily="34" charset="0"/>
              </a:rPr>
              <a:t>(reference calculation)</a:t>
            </a:r>
          </a:p>
        </p:txBody>
      </p:sp>
      <p:sp>
        <p:nvSpPr>
          <p:cNvPr id="40963" name="Rectangle 1422"/>
          <p:cNvSpPr>
            <a:spLocks noChangeArrowheads="1"/>
          </p:cNvSpPr>
          <p:nvPr/>
        </p:nvSpPr>
        <p:spPr bwMode="auto">
          <a:xfrm>
            <a:off x="1076325" y="1141413"/>
            <a:ext cx="7824788" cy="1200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a:solidFill>
                  <a:schemeClr val="tx1"/>
                </a:solidFill>
                <a:latin typeface="Arial" panose="020B0604020202020204" pitchFamily="34" charset="0"/>
              </a:defRPr>
            </a:lvl1pPr>
            <a:lvl2pPr marL="742950" indent="-285750">
              <a:defRPr sz="2800" b="1" i="1">
                <a:solidFill>
                  <a:schemeClr val="tx1"/>
                </a:solidFill>
                <a:latin typeface="Arial" panose="020B0604020202020204" pitchFamily="34" charset="0"/>
              </a:defRPr>
            </a:lvl2pPr>
            <a:lvl3pPr marL="1143000" indent="-228600">
              <a:defRPr sz="2800" b="1" i="1">
                <a:solidFill>
                  <a:schemeClr val="tx1"/>
                </a:solidFill>
                <a:latin typeface="Arial" panose="020B0604020202020204" pitchFamily="34" charset="0"/>
              </a:defRPr>
            </a:lvl3pPr>
            <a:lvl4pPr marL="1600200" indent="-228600">
              <a:defRPr sz="2800" b="1" i="1">
                <a:solidFill>
                  <a:schemeClr val="tx1"/>
                </a:solidFill>
                <a:latin typeface="Arial" panose="020B0604020202020204" pitchFamily="34" charset="0"/>
              </a:defRPr>
            </a:lvl4pPr>
            <a:lvl5pPr marL="2057400" indent="-228600">
              <a:defRPr sz="2800" b="1" i="1">
                <a:solidFill>
                  <a:schemeClr val="tx1"/>
                </a:solidFill>
                <a:latin typeface="Arial" panose="020B0604020202020204" pitchFamily="34" charset="0"/>
              </a:defRPr>
            </a:lvl5pPr>
            <a:lvl6pPr marL="2514600" indent="-228600" eaLnBrk="0" fontAlgn="base" hangingPunct="0">
              <a:spcBef>
                <a:spcPct val="0"/>
              </a:spcBef>
              <a:spcAft>
                <a:spcPct val="0"/>
              </a:spcAft>
              <a:defRPr sz="2800" b="1" i="1">
                <a:solidFill>
                  <a:schemeClr val="tx1"/>
                </a:solidFill>
                <a:latin typeface="Arial" panose="020B0604020202020204" pitchFamily="34" charset="0"/>
              </a:defRPr>
            </a:lvl6pPr>
            <a:lvl7pPr marL="2971800" indent="-228600" eaLnBrk="0" fontAlgn="base" hangingPunct="0">
              <a:spcBef>
                <a:spcPct val="0"/>
              </a:spcBef>
              <a:spcAft>
                <a:spcPct val="0"/>
              </a:spcAft>
              <a:defRPr sz="2800" b="1" i="1">
                <a:solidFill>
                  <a:schemeClr val="tx1"/>
                </a:solidFill>
                <a:latin typeface="Arial" panose="020B0604020202020204" pitchFamily="34" charset="0"/>
              </a:defRPr>
            </a:lvl7pPr>
            <a:lvl8pPr marL="3429000" indent="-228600" eaLnBrk="0" fontAlgn="base" hangingPunct="0">
              <a:spcBef>
                <a:spcPct val="0"/>
              </a:spcBef>
              <a:spcAft>
                <a:spcPct val="0"/>
              </a:spcAft>
              <a:defRPr sz="2800" b="1" i="1">
                <a:solidFill>
                  <a:schemeClr val="tx1"/>
                </a:solidFill>
                <a:latin typeface="Arial" panose="020B0604020202020204" pitchFamily="34" charset="0"/>
              </a:defRPr>
            </a:lvl8pPr>
            <a:lvl9pPr marL="3886200" indent="-228600" eaLnBrk="0" fontAlgn="base" hangingPunct="0">
              <a:spcBef>
                <a:spcPct val="0"/>
              </a:spcBef>
              <a:spcAft>
                <a:spcPct val="0"/>
              </a:spcAft>
              <a:defRPr sz="2800" b="1" i="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GB" altLang="en-US" sz="2400" b="1" i="1" u="none" strike="noStrike" kern="1200" cap="none" spc="0" normalizeH="0" baseline="0" noProof="0">
                <a:ln>
                  <a:noFill/>
                </a:ln>
                <a:solidFill>
                  <a:srgbClr val="000000"/>
                </a:solidFill>
                <a:effectLst/>
                <a:uLnTx/>
                <a:uFillTx/>
                <a:latin typeface="Arial" panose="020B0604020202020204" pitchFamily="34" charset="0"/>
                <a:ea typeface="+mn-ea"/>
                <a:cs typeface="+mn-cs"/>
              </a:rPr>
              <a:t>For a single phase to ground fault the total earth loop impedance is given by :</a:t>
            </a:r>
            <a:br>
              <a:rPr kumimoji="0" lang="en-GB" altLang="en-US" sz="2400" b="1" i="1"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en-GB" altLang="en-US" sz="2400" b="1" i="1" u="none" strike="noStrike" kern="1200" cap="none" spc="0" normalizeH="0" baseline="0" noProof="0">
                <a:ln>
                  <a:noFill/>
                </a:ln>
                <a:solidFill>
                  <a:srgbClr val="000000"/>
                </a:solidFill>
                <a:effectLst/>
                <a:uLnTx/>
                <a:uFillTx/>
                <a:latin typeface="Arial" panose="020B0604020202020204" pitchFamily="34" charset="0"/>
                <a:ea typeface="+mn-ea"/>
                <a:cs typeface="+mn-cs"/>
              </a:rPr>
              <a:t>- (Z</a:t>
            </a:r>
            <a:r>
              <a:rPr kumimoji="0" lang="en-GB" altLang="en-US" sz="2400" b="1" i="1" u="none" strike="noStrike" kern="1200" cap="none" spc="0" normalizeH="0" baseline="-25000" noProof="0">
                <a:ln>
                  <a:noFill/>
                </a:ln>
                <a:solidFill>
                  <a:srgbClr val="000000"/>
                </a:solidFill>
                <a:effectLst/>
                <a:uLnTx/>
                <a:uFillTx/>
                <a:latin typeface="Arial" panose="020B0604020202020204" pitchFamily="34" charset="0"/>
                <a:ea typeface="+mn-ea"/>
                <a:cs typeface="+mn-cs"/>
              </a:rPr>
              <a:t>1</a:t>
            </a:r>
            <a:r>
              <a:rPr kumimoji="0" lang="en-GB" altLang="en-US" sz="2400" b="1" i="1" u="none" strike="noStrike" kern="1200" cap="none" spc="0" normalizeH="0" baseline="0" noProof="0">
                <a:ln>
                  <a:noFill/>
                </a:ln>
                <a:solidFill>
                  <a:srgbClr val="000000"/>
                </a:solidFill>
                <a:effectLst/>
                <a:uLnTx/>
                <a:uFillTx/>
                <a:latin typeface="Arial" panose="020B0604020202020204" pitchFamily="34" charset="0"/>
                <a:ea typeface="+mn-ea"/>
                <a:cs typeface="+mn-cs"/>
              </a:rPr>
              <a:t> + Z</a:t>
            </a:r>
            <a:r>
              <a:rPr kumimoji="0" lang="en-GB" altLang="en-US" sz="2400" b="1" i="1" u="none" strike="noStrike" kern="1200" cap="none" spc="0" normalizeH="0" baseline="-25000" noProof="0">
                <a:ln>
                  <a:noFill/>
                </a:ln>
                <a:solidFill>
                  <a:srgbClr val="000000"/>
                </a:solidFill>
                <a:effectLst/>
                <a:uLnTx/>
                <a:uFillTx/>
                <a:latin typeface="Arial" panose="020B0604020202020204" pitchFamily="34" charset="0"/>
                <a:ea typeface="+mn-ea"/>
                <a:cs typeface="+mn-cs"/>
              </a:rPr>
              <a:t>2</a:t>
            </a:r>
            <a:r>
              <a:rPr kumimoji="0" lang="en-GB" altLang="en-US" sz="2400" b="1" i="1" u="none" strike="noStrike" kern="1200" cap="none" spc="0" normalizeH="0" baseline="0" noProof="0">
                <a:ln>
                  <a:noFill/>
                </a:ln>
                <a:solidFill>
                  <a:srgbClr val="000000"/>
                </a:solidFill>
                <a:effectLst/>
                <a:uLnTx/>
                <a:uFillTx/>
                <a:latin typeface="Arial" panose="020B0604020202020204" pitchFamily="34" charset="0"/>
                <a:ea typeface="+mn-ea"/>
                <a:cs typeface="+mn-cs"/>
              </a:rPr>
              <a:t> + Z</a:t>
            </a:r>
            <a:r>
              <a:rPr kumimoji="0" lang="en-GB" altLang="en-US" sz="2400" b="1" i="1" u="none" strike="noStrike" kern="1200" cap="none" spc="0" normalizeH="0" baseline="-25000" noProof="0">
                <a:ln>
                  <a:noFill/>
                </a:ln>
                <a:solidFill>
                  <a:srgbClr val="000000"/>
                </a:solidFill>
                <a:effectLst/>
                <a:uLnTx/>
                <a:uFillTx/>
                <a:latin typeface="Arial" panose="020B0604020202020204" pitchFamily="34" charset="0"/>
                <a:ea typeface="+mn-ea"/>
                <a:cs typeface="+mn-cs"/>
              </a:rPr>
              <a:t>0</a:t>
            </a:r>
            <a:r>
              <a:rPr kumimoji="0" lang="en-GB" altLang="en-US" sz="2400" b="1" i="1" u="none" strike="noStrike" kern="1200" cap="none" spc="0" normalizeH="0" baseline="0" noProof="0">
                <a:ln>
                  <a:noFill/>
                </a:ln>
                <a:solidFill>
                  <a:srgbClr val="000000"/>
                </a:solidFill>
                <a:effectLst/>
                <a:uLnTx/>
                <a:uFillTx/>
                <a:latin typeface="Arial" panose="020B0604020202020204" pitchFamily="34" charset="0"/>
                <a:ea typeface="+mn-ea"/>
                <a:cs typeface="+mn-cs"/>
              </a:rPr>
              <a:t>)/3 = Z</a:t>
            </a:r>
            <a:r>
              <a:rPr kumimoji="0" lang="en-GB" altLang="en-US" sz="2400" b="1" i="1" u="none" strike="noStrike" kern="1200" cap="none" spc="0" normalizeH="0" baseline="-25000" noProof="0">
                <a:ln>
                  <a:noFill/>
                </a:ln>
                <a:solidFill>
                  <a:srgbClr val="000000"/>
                </a:solidFill>
                <a:effectLst/>
                <a:uLnTx/>
                <a:uFillTx/>
                <a:latin typeface="Arial" panose="020B0604020202020204" pitchFamily="34" charset="0"/>
                <a:ea typeface="+mn-ea"/>
                <a:cs typeface="+mn-cs"/>
              </a:rPr>
              <a:t>T</a:t>
            </a:r>
            <a:endParaRPr kumimoji="0" lang="en-GB" altLang="en-US" sz="2400" b="1" i="1"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0964" name="Text Box 1423"/>
          <p:cNvSpPr txBox="1">
            <a:spLocks noChangeArrowheads="1"/>
          </p:cNvSpPr>
          <p:nvPr/>
        </p:nvSpPr>
        <p:spPr bwMode="auto">
          <a:xfrm>
            <a:off x="1193800" y="2393950"/>
            <a:ext cx="7467600" cy="29860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a:solidFill>
                  <a:schemeClr val="tx1"/>
                </a:solidFill>
                <a:latin typeface="Arial" panose="020B0604020202020204" pitchFamily="34" charset="0"/>
              </a:defRPr>
            </a:lvl1pPr>
            <a:lvl2pPr marL="742950" indent="-285750">
              <a:defRPr sz="2800" b="1" i="1">
                <a:solidFill>
                  <a:schemeClr val="tx1"/>
                </a:solidFill>
                <a:latin typeface="Arial" panose="020B0604020202020204" pitchFamily="34" charset="0"/>
              </a:defRPr>
            </a:lvl2pPr>
            <a:lvl3pPr marL="1143000" indent="-228600">
              <a:defRPr sz="2800" b="1" i="1">
                <a:solidFill>
                  <a:schemeClr val="tx1"/>
                </a:solidFill>
                <a:latin typeface="Arial" panose="020B0604020202020204" pitchFamily="34" charset="0"/>
              </a:defRPr>
            </a:lvl3pPr>
            <a:lvl4pPr marL="1600200" indent="-228600">
              <a:defRPr sz="2800" b="1" i="1">
                <a:solidFill>
                  <a:schemeClr val="tx1"/>
                </a:solidFill>
                <a:latin typeface="Arial" panose="020B0604020202020204" pitchFamily="34" charset="0"/>
              </a:defRPr>
            </a:lvl4pPr>
            <a:lvl5pPr marL="2057400" indent="-228600">
              <a:defRPr sz="2800" b="1" i="1">
                <a:solidFill>
                  <a:schemeClr val="tx1"/>
                </a:solidFill>
                <a:latin typeface="Arial" panose="020B0604020202020204" pitchFamily="34" charset="0"/>
              </a:defRPr>
            </a:lvl5pPr>
            <a:lvl6pPr marL="2514600" indent="-228600" eaLnBrk="0" fontAlgn="base" hangingPunct="0">
              <a:spcBef>
                <a:spcPct val="0"/>
              </a:spcBef>
              <a:spcAft>
                <a:spcPct val="0"/>
              </a:spcAft>
              <a:defRPr sz="2800" b="1" i="1">
                <a:solidFill>
                  <a:schemeClr val="tx1"/>
                </a:solidFill>
                <a:latin typeface="Arial" panose="020B0604020202020204" pitchFamily="34" charset="0"/>
              </a:defRPr>
            </a:lvl6pPr>
            <a:lvl7pPr marL="2971800" indent="-228600" eaLnBrk="0" fontAlgn="base" hangingPunct="0">
              <a:spcBef>
                <a:spcPct val="0"/>
              </a:spcBef>
              <a:spcAft>
                <a:spcPct val="0"/>
              </a:spcAft>
              <a:defRPr sz="2800" b="1" i="1">
                <a:solidFill>
                  <a:schemeClr val="tx1"/>
                </a:solidFill>
                <a:latin typeface="Arial" panose="020B0604020202020204" pitchFamily="34" charset="0"/>
              </a:defRPr>
            </a:lvl7pPr>
            <a:lvl8pPr marL="3429000" indent="-228600" eaLnBrk="0" fontAlgn="base" hangingPunct="0">
              <a:spcBef>
                <a:spcPct val="0"/>
              </a:spcBef>
              <a:spcAft>
                <a:spcPct val="0"/>
              </a:spcAft>
              <a:defRPr sz="2800" b="1" i="1">
                <a:solidFill>
                  <a:schemeClr val="tx1"/>
                </a:solidFill>
                <a:latin typeface="Arial" panose="020B0604020202020204" pitchFamily="34" charset="0"/>
              </a:defRPr>
            </a:lvl8pPr>
            <a:lvl9pPr marL="3886200" indent="-228600" eaLnBrk="0" fontAlgn="base" hangingPunct="0">
              <a:spcBef>
                <a:spcPct val="0"/>
              </a:spcBef>
              <a:spcAft>
                <a:spcPct val="0"/>
              </a:spcAft>
              <a:defRPr sz="2800" b="1" i="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T</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1</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2</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0</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1 </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N </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in replica circuit)</a:t>
            </a:r>
            <a:endPar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N</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1</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2</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0</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1</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(2Z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1</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0</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1</a:t>
            </a:r>
            <a:endPar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1</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0</a:t>
            </a:r>
            <a:b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br>
            <a:b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br>
            <a:b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b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K</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N </a:t>
            </a:r>
            <a:r>
              <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rPr>
              <a:t>Z</a:t>
            </a:r>
            <a:r>
              <a:rPr kumimoji="0" lang="en-GB" altLang="en-US" sz="2400" b="1" i="1" u="none" strike="noStrike" kern="1200" cap="none" spc="0" normalizeH="0" baseline="-25000" noProof="0" dirty="0">
                <a:ln>
                  <a:noFill/>
                </a:ln>
                <a:solidFill>
                  <a:srgbClr val="000000"/>
                </a:solidFill>
                <a:effectLst/>
                <a:uLnTx/>
                <a:uFillTx/>
                <a:latin typeface="Arial" panose="020B0604020202020204" pitchFamily="34" charset="0"/>
                <a:ea typeface="+mn-ea"/>
                <a:cs typeface="+mn-cs"/>
              </a:rPr>
              <a:t>1  </a:t>
            </a:r>
            <a:endParaRPr kumimoji="0" lang="en-GB" altLang="en-US" sz="2400" b="1" i="1"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40965" name="Line 1424"/>
          <p:cNvSpPr>
            <a:spLocks noChangeShapeType="1"/>
          </p:cNvSpPr>
          <p:nvPr/>
        </p:nvSpPr>
        <p:spPr bwMode="auto">
          <a:xfrm>
            <a:off x="2074863" y="4497388"/>
            <a:ext cx="915987"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1" i="1"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0966" name="Text Box 1425"/>
          <p:cNvSpPr txBox="1">
            <a:spLocks noChangeArrowheads="1"/>
          </p:cNvSpPr>
          <p:nvPr/>
        </p:nvSpPr>
        <p:spPr bwMode="auto">
          <a:xfrm>
            <a:off x="2344738" y="4437063"/>
            <a:ext cx="4953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a:solidFill>
                  <a:schemeClr val="tx1"/>
                </a:solidFill>
                <a:latin typeface="Arial" panose="020B0604020202020204" pitchFamily="34" charset="0"/>
              </a:defRPr>
            </a:lvl1pPr>
            <a:lvl2pPr marL="742950" indent="-285750">
              <a:defRPr sz="2800" b="1" i="1">
                <a:solidFill>
                  <a:schemeClr val="tx1"/>
                </a:solidFill>
                <a:latin typeface="Arial" panose="020B0604020202020204" pitchFamily="34" charset="0"/>
              </a:defRPr>
            </a:lvl2pPr>
            <a:lvl3pPr marL="1143000" indent="-228600">
              <a:defRPr sz="2800" b="1" i="1">
                <a:solidFill>
                  <a:schemeClr val="tx1"/>
                </a:solidFill>
                <a:latin typeface="Arial" panose="020B0604020202020204" pitchFamily="34" charset="0"/>
              </a:defRPr>
            </a:lvl3pPr>
            <a:lvl4pPr marL="1600200" indent="-228600">
              <a:defRPr sz="2800" b="1" i="1">
                <a:solidFill>
                  <a:schemeClr val="tx1"/>
                </a:solidFill>
                <a:latin typeface="Arial" panose="020B0604020202020204" pitchFamily="34" charset="0"/>
              </a:defRPr>
            </a:lvl4pPr>
            <a:lvl5pPr marL="2057400" indent="-228600">
              <a:defRPr sz="2800" b="1" i="1">
                <a:solidFill>
                  <a:schemeClr val="tx1"/>
                </a:solidFill>
                <a:latin typeface="Arial" panose="020B0604020202020204" pitchFamily="34" charset="0"/>
              </a:defRPr>
            </a:lvl5pPr>
            <a:lvl6pPr marL="2514600" indent="-228600" eaLnBrk="0" fontAlgn="base" hangingPunct="0">
              <a:spcBef>
                <a:spcPct val="0"/>
              </a:spcBef>
              <a:spcAft>
                <a:spcPct val="0"/>
              </a:spcAft>
              <a:defRPr sz="2800" b="1" i="1">
                <a:solidFill>
                  <a:schemeClr val="tx1"/>
                </a:solidFill>
                <a:latin typeface="Arial" panose="020B0604020202020204" pitchFamily="34" charset="0"/>
              </a:defRPr>
            </a:lvl6pPr>
            <a:lvl7pPr marL="2971800" indent="-228600" eaLnBrk="0" fontAlgn="base" hangingPunct="0">
              <a:spcBef>
                <a:spcPct val="0"/>
              </a:spcBef>
              <a:spcAft>
                <a:spcPct val="0"/>
              </a:spcAft>
              <a:defRPr sz="2800" b="1" i="1">
                <a:solidFill>
                  <a:schemeClr val="tx1"/>
                </a:solidFill>
                <a:latin typeface="Arial" panose="020B0604020202020204" pitchFamily="34" charset="0"/>
              </a:defRPr>
            </a:lvl7pPr>
            <a:lvl8pPr marL="3429000" indent="-228600" eaLnBrk="0" fontAlgn="base" hangingPunct="0">
              <a:spcBef>
                <a:spcPct val="0"/>
              </a:spcBef>
              <a:spcAft>
                <a:spcPct val="0"/>
              </a:spcAft>
              <a:defRPr sz="2800" b="1" i="1">
                <a:solidFill>
                  <a:schemeClr val="tx1"/>
                </a:solidFill>
                <a:latin typeface="Arial" panose="020B0604020202020204" pitchFamily="34" charset="0"/>
              </a:defRPr>
            </a:lvl8pPr>
            <a:lvl9pPr marL="3886200" indent="-228600" eaLnBrk="0" fontAlgn="base" hangingPunct="0">
              <a:spcBef>
                <a:spcPct val="0"/>
              </a:spcBef>
              <a:spcAft>
                <a:spcPct val="0"/>
              </a:spcAft>
              <a:defRPr sz="2800" b="1" i="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GB" altLang="en-US" sz="2400" b="1" i="1" u="none" strike="noStrike" kern="1200" cap="none" spc="0" normalizeH="0" baseline="0" noProof="0">
                <a:ln>
                  <a:noFill/>
                </a:ln>
                <a:solidFill>
                  <a:srgbClr val="000000"/>
                </a:solidFill>
                <a:effectLst/>
                <a:uLnTx/>
                <a:uFillTx/>
                <a:latin typeface="Arial" panose="020B0604020202020204" pitchFamily="34" charset="0"/>
                <a:ea typeface="+mn-ea"/>
                <a:cs typeface="+mn-cs"/>
              </a:rPr>
              <a:t>3</a:t>
            </a:r>
          </a:p>
        </p:txBody>
      </p:sp>
      <p:sp>
        <p:nvSpPr>
          <p:cNvPr id="40967" name="Line 1426"/>
          <p:cNvSpPr>
            <a:spLocks noChangeShapeType="1"/>
          </p:cNvSpPr>
          <p:nvPr/>
        </p:nvSpPr>
        <p:spPr bwMode="auto">
          <a:xfrm>
            <a:off x="3549650" y="4497388"/>
            <a:ext cx="520700"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1" i="1"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0968" name="Text Box 1427"/>
          <p:cNvSpPr txBox="1">
            <a:spLocks noChangeArrowheads="1"/>
          </p:cNvSpPr>
          <p:nvPr/>
        </p:nvSpPr>
        <p:spPr bwMode="auto">
          <a:xfrm>
            <a:off x="3598863" y="4424363"/>
            <a:ext cx="4953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a:solidFill>
                  <a:schemeClr val="tx1"/>
                </a:solidFill>
                <a:latin typeface="Arial" panose="020B0604020202020204" pitchFamily="34" charset="0"/>
              </a:defRPr>
            </a:lvl1pPr>
            <a:lvl2pPr marL="742950" indent="-285750">
              <a:defRPr sz="2800" b="1" i="1">
                <a:solidFill>
                  <a:schemeClr val="tx1"/>
                </a:solidFill>
                <a:latin typeface="Arial" panose="020B0604020202020204" pitchFamily="34" charset="0"/>
              </a:defRPr>
            </a:lvl2pPr>
            <a:lvl3pPr marL="1143000" indent="-228600">
              <a:defRPr sz="2800" b="1" i="1">
                <a:solidFill>
                  <a:schemeClr val="tx1"/>
                </a:solidFill>
                <a:latin typeface="Arial" panose="020B0604020202020204" pitchFamily="34" charset="0"/>
              </a:defRPr>
            </a:lvl3pPr>
            <a:lvl4pPr marL="1600200" indent="-228600">
              <a:defRPr sz="2800" b="1" i="1">
                <a:solidFill>
                  <a:schemeClr val="tx1"/>
                </a:solidFill>
                <a:latin typeface="Arial" panose="020B0604020202020204" pitchFamily="34" charset="0"/>
              </a:defRPr>
            </a:lvl4pPr>
            <a:lvl5pPr marL="2057400" indent="-228600">
              <a:defRPr sz="2800" b="1" i="1">
                <a:solidFill>
                  <a:schemeClr val="tx1"/>
                </a:solidFill>
                <a:latin typeface="Arial" panose="020B0604020202020204" pitchFamily="34" charset="0"/>
              </a:defRPr>
            </a:lvl5pPr>
            <a:lvl6pPr marL="2514600" indent="-228600" eaLnBrk="0" fontAlgn="base" hangingPunct="0">
              <a:spcBef>
                <a:spcPct val="0"/>
              </a:spcBef>
              <a:spcAft>
                <a:spcPct val="0"/>
              </a:spcAft>
              <a:defRPr sz="2800" b="1" i="1">
                <a:solidFill>
                  <a:schemeClr val="tx1"/>
                </a:solidFill>
                <a:latin typeface="Arial" panose="020B0604020202020204" pitchFamily="34" charset="0"/>
              </a:defRPr>
            </a:lvl6pPr>
            <a:lvl7pPr marL="2971800" indent="-228600" eaLnBrk="0" fontAlgn="base" hangingPunct="0">
              <a:spcBef>
                <a:spcPct val="0"/>
              </a:spcBef>
              <a:spcAft>
                <a:spcPct val="0"/>
              </a:spcAft>
              <a:defRPr sz="2800" b="1" i="1">
                <a:solidFill>
                  <a:schemeClr val="tx1"/>
                </a:solidFill>
                <a:latin typeface="Arial" panose="020B0604020202020204" pitchFamily="34" charset="0"/>
              </a:defRPr>
            </a:lvl7pPr>
            <a:lvl8pPr marL="3429000" indent="-228600" eaLnBrk="0" fontAlgn="base" hangingPunct="0">
              <a:spcBef>
                <a:spcPct val="0"/>
              </a:spcBef>
              <a:spcAft>
                <a:spcPct val="0"/>
              </a:spcAft>
              <a:defRPr sz="2800" b="1" i="1">
                <a:solidFill>
                  <a:schemeClr val="tx1"/>
                </a:solidFill>
                <a:latin typeface="Arial" panose="020B0604020202020204" pitchFamily="34" charset="0"/>
              </a:defRPr>
            </a:lvl8pPr>
            <a:lvl9pPr marL="3886200" indent="-228600" eaLnBrk="0" fontAlgn="base" hangingPunct="0">
              <a:spcBef>
                <a:spcPct val="0"/>
              </a:spcBef>
              <a:spcAft>
                <a:spcPct val="0"/>
              </a:spcAft>
              <a:defRPr sz="2800" b="1" i="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GB" altLang="en-US" sz="2400" b="1" i="1" u="none" strike="noStrike" kern="1200" cap="none" spc="0" normalizeH="0" baseline="0" noProof="0">
                <a:ln>
                  <a:noFill/>
                </a:ln>
                <a:solidFill>
                  <a:srgbClr val="000000"/>
                </a:solidFill>
                <a:effectLst/>
                <a:uLnTx/>
                <a:uFillTx/>
                <a:latin typeface="Arial" panose="020B0604020202020204" pitchFamily="34" charset="0"/>
                <a:ea typeface="+mn-ea"/>
                <a:cs typeface="+mn-cs"/>
              </a:rPr>
              <a:t>3</a:t>
            </a:r>
          </a:p>
        </p:txBody>
      </p:sp>
      <mc:AlternateContent xmlns:mc="http://schemas.openxmlformats.org/markup-compatibility/2006" xmlns:a14="http://schemas.microsoft.com/office/drawing/2010/main">
        <mc:Choice Requires="a14">
          <p:sp>
            <p:nvSpPr>
              <p:cNvPr id="13" name="Rectangle 12"/>
              <p:cNvSpPr/>
              <p:nvPr/>
            </p:nvSpPr>
            <p:spPr>
              <a:xfrm>
                <a:off x="1502442" y="5524935"/>
                <a:ext cx="2179891" cy="7861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𝐾𝑁</m:t>
                      </m:r>
                      <m:r>
                        <a:rPr lang="en-US" sz="240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𝑍</m:t>
                          </m:r>
                          <m:r>
                            <a:rPr lang="en-US" sz="2400" i="1">
                              <a:latin typeface="Cambria Math" panose="02040503050406030204" pitchFamily="18" charset="0"/>
                            </a:rPr>
                            <m:t>0−</m:t>
                          </m:r>
                          <m:r>
                            <a:rPr lang="en-US" sz="2400" i="1">
                              <a:latin typeface="Cambria Math" panose="02040503050406030204" pitchFamily="18" charset="0"/>
                            </a:rPr>
                            <m:t>𝑍</m:t>
                          </m:r>
                          <m:r>
                            <a:rPr lang="en-US" sz="2400" i="1">
                              <a:latin typeface="Cambria Math" panose="02040503050406030204" pitchFamily="18" charset="0"/>
                            </a:rPr>
                            <m:t>1</m:t>
                          </m:r>
                        </m:num>
                        <m:den>
                          <m:r>
                            <a:rPr lang="en-US" sz="2400" i="1">
                              <a:latin typeface="Cambria Math" panose="02040503050406030204" pitchFamily="18" charset="0"/>
                            </a:rPr>
                            <m:t>3</m:t>
                          </m:r>
                          <m:r>
                            <a:rPr lang="en-US" sz="2400" i="1">
                              <a:latin typeface="Cambria Math" panose="02040503050406030204" pitchFamily="18" charset="0"/>
                            </a:rPr>
                            <m:t>𝑍</m:t>
                          </m:r>
                          <m:r>
                            <a:rPr lang="en-US" sz="2400" i="1">
                              <a:latin typeface="Cambria Math" panose="02040503050406030204" pitchFamily="18" charset="0"/>
                            </a:rPr>
                            <m:t>1 </m:t>
                          </m:r>
                        </m:den>
                      </m:f>
                    </m:oMath>
                  </m:oMathPara>
                </a14:m>
                <a:endParaRPr lang="en-US" sz="2400" dirty="0"/>
              </a:p>
            </p:txBody>
          </p:sp>
        </mc:Choice>
        <mc:Fallback xmlns="">
          <p:sp>
            <p:nvSpPr>
              <p:cNvPr id="13" name="Rectangle 12"/>
              <p:cNvSpPr>
                <a:spLocks noRot="1" noChangeAspect="1" noMove="1" noResize="1" noEditPoints="1" noAdjustHandles="1" noChangeArrowheads="1" noChangeShapeType="1" noTextEdit="1"/>
              </p:cNvSpPr>
              <p:nvPr/>
            </p:nvSpPr>
            <p:spPr>
              <a:xfrm>
                <a:off x="1502442" y="5524935"/>
                <a:ext cx="2179891" cy="7861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4315758" y="5524935"/>
                <a:ext cx="2681632" cy="7861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𝐾𝑍𝑁</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𝑍𝐿</m:t>
                          </m:r>
                          <m:r>
                            <a:rPr lang="en-US" sz="2400" i="1">
                              <a:latin typeface="Cambria Math" panose="02040503050406030204" pitchFamily="18" charset="0"/>
                            </a:rPr>
                            <m:t>0−</m:t>
                          </m:r>
                          <m:r>
                            <a:rPr lang="en-US" sz="2400" i="1">
                              <a:latin typeface="Cambria Math" panose="02040503050406030204" pitchFamily="18" charset="0"/>
                            </a:rPr>
                            <m:t>𝑍𝐿</m:t>
                          </m:r>
                          <m:r>
                            <a:rPr lang="en-US" sz="2400" i="1">
                              <a:latin typeface="Cambria Math" panose="02040503050406030204" pitchFamily="18" charset="0"/>
                            </a:rPr>
                            <m:t>1</m:t>
                          </m:r>
                        </m:num>
                        <m:den>
                          <m:r>
                            <a:rPr lang="en-US" sz="2400" i="1">
                              <a:latin typeface="Cambria Math" panose="02040503050406030204" pitchFamily="18" charset="0"/>
                            </a:rPr>
                            <m:t>3</m:t>
                          </m:r>
                          <m:r>
                            <a:rPr lang="en-US" sz="2400" i="1">
                              <a:latin typeface="Cambria Math" panose="02040503050406030204" pitchFamily="18" charset="0"/>
                            </a:rPr>
                            <m:t>𝑍𝐿</m:t>
                          </m:r>
                          <m:r>
                            <a:rPr lang="en-US" sz="2400" i="1">
                              <a:latin typeface="Cambria Math" panose="02040503050406030204" pitchFamily="18" charset="0"/>
                            </a:rPr>
                            <m:t>1 </m:t>
                          </m:r>
                        </m:den>
                      </m:f>
                    </m:oMath>
                  </m:oMathPara>
                </a14:m>
                <a:endParaRPr lang="en-US" sz="2400" i="1" dirty="0">
                  <a:latin typeface="Cambria Math" panose="02040503050406030204" pitchFamily="18" charset="0"/>
                </a:endParaRPr>
              </a:p>
            </p:txBody>
          </p:sp>
        </mc:Choice>
        <mc:Fallback xmlns="">
          <p:sp>
            <p:nvSpPr>
              <p:cNvPr id="14" name="Rectangle 13"/>
              <p:cNvSpPr>
                <a:spLocks noRot="1" noChangeAspect="1" noMove="1" noResize="1" noEditPoints="1" noAdjustHandles="1" noChangeArrowheads="1" noChangeShapeType="1" noTextEdit="1"/>
              </p:cNvSpPr>
              <p:nvPr/>
            </p:nvSpPr>
            <p:spPr>
              <a:xfrm>
                <a:off x="4315758" y="5524935"/>
                <a:ext cx="2681632" cy="78617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24409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9989" name="Object 5"/>
          <p:cNvGraphicFramePr>
            <a:graphicFrameLocks noChangeAspect="1"/>
          </p:cNvGraphicFramePr>
          <p:nvPr/>
        </p:nvGraphicFramePr>
        <p:xfrm>
          <a:off x="519113" y="6696075"/>
          <a:ext cx="346075" cy="114300"/>
        </p:xfrm>
        <a:graphic>
          <a:graphicData uri="http://schemas.openxmlformats.org/presentationml/2006/ole">
            <mc:AlternateContent xmlns:mc="http://schemas.openxmlformats.org/markup-compatibility/2006">
              <mc:Choice xmlns:v="urn:schemas-microsoft-com:vml" Requires="v">
                <p:oleObj spid="_x0000_s1089634" name="CorelDRAW" r:id="rId4" imgW="461160" imgH="153000" progId="CorelDraw.Graphic.7">
                  <p:embed/>
                </p:oleObj>
              </mc:Choice>
              <mc:Fallback>
                <p:oleObj name="CorelDRAW" r:id="rId4" imgW="461160" imgH="153000" progId="CorelDraw.Graphic.7">
                  <p:embed/>
                  <p:pic>
                    <p:nvPicPr>
                      <p:cNvPr id="16998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113" y="6696075"/>
                        <a:ext cx="346075" cy="11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itle 1"/>
          <p:cNvSpPr>
            <a:spLocks noGrp="1"/>
          </p:cNvSpPr>
          <p:nvPr>
            <p:ph type="ctrTitle"/>
          </p:nvPr>
        </p:nvSpPr>
        <p:spPr>
          <a:xfrm>
            <a:off x="692150" y="2193926"/>
            <a:ext cx="8280400" cy="1550987"/>
          </a:xfrm>
        </p:spPr>
        <p:txBody>
          <a:bodyPr/>
          <a:lstStyle/>
          <a:p>
            <a:r>
              <a:rPr lang="en-US" dirty="0"/>
              <a:t>Distance Characteristics</a:t>
            </a:r>
          </a:p>
        </p:txBody>
      </p:sp>
    </p:spTree>
    <p:extLst>
      <p:ext uri="{BB962C8B-B14F-4D97-AF65-F5344CB8AC3E}">
        <p14:creationId xmlns:p14="http://schemas.microsoft.com/office/powerpoint/2010/main" val="816620745"/>
      </p:ext>
    </p:extLst>
  </p:cSld>
  <p:clrMapOvr>
    <a:masterClrMapping/>
  </p:clrMapOvr>
  <p:transition>
    <p:randomBa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2" name="Rectangle 6"/>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a:t>Distance Characteristics</a:t>
            </a:r>
          </a:p>
        </p:txBody>
      </p:sp>
      <p:grpSp>
        <p:nvGrpSpPr>
          <p:cNvPr id="91144" name="Group 8"/>
          <p:cNvGrpSpPr>
            <a:grpSpLocks/>
          </p:cNvGrpSpPr>
          <p:nvPr/>
        </p:nvGrpSpPr>
        <p:grpSpPr bwMode="auto">
          <a:xfrm>
            <a:off x="2913063" y="1420813"/>
            <a:ext cx="1473200" cy="1563687"/>
            <a:chOff x="2442" y="1003"/>
            <a:chExt cx="1062" cy="1128"/>
          </a:xfrm>
        </p:grpSpPr>
        <p:sp>
          <p:nvSpPr>
            <p:cNvPr id="91145" name="Line 9"/>
            <p:cNvSpPr>
              <a:spLocks noChangeShapeType="1"/>
            </p:cNvSpPr>
            <p:nvPr/>
          </p:nvSpPr>
          <p:spPr bwMode="auto">
            <a:xfrm>
              <a:off x="2822" y="1114"/>
              <a:ext cx="0" cy="1017"/>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46" name="Rectangle 10"/>
            <p:cNvSpPr>
              <a:spLocks noChangeArrowheads="1"/>
            </p:cNvSpPr>
            <p:nvPr/>
          </p:nvSpPr>
          <p:spPr bwMode="auto">
            <a:xfrm>
              <a:off x="2927" y="1969"/>
              <a:ext cx="399"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u="sng">
                  <a:solidFill>
                    <a:schemeClr val="tx2"/>
                  </a:solidFill>
                </a:rPr>
                <a:t>MHO</a:t>
              </a:r>
              <a:endParaRPr lang="en-GB" altLang="en-US" sz="1600">
                <a:solidFill>
                  <a:schemeClr val="tx2"/>
                </a:solidFill>
              </a:endParaRPr>
            </a:p>
          </p:txBody>
        </p:sp>
        <p:sp>
          <p:nvSpPr>
            <p:cNvPr id="91147" name="Rectangle 11"/>
            <p:cNvSpPr>
              <a:spLocks noChangeArrowheads="1"/>
            </p:cNvSpPr>
            <p:nvPr/>
          </p:nvSpPr>
          <p:spPr bwMode="auto">
            <a:xfrm>
              <a:off x="3363" y="1807"/>
              <a:ext cx="141"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R</a:t>
              </a:r>
            </a:p>
          </p:txBody>
        </p:sp>
        <p:sp>
          <p:nvSpPr>
            <p:cNvPr id="91148" name="Rectangle 12"/>
            <p:cNvSpPr>
              <a:spLocks noChangeArrowheads="1"/>
            </p:cNvSpPr>
            <p:nvPr/>
          </p:nvSpPr>
          <p:spPr bwMode="auto">
            <a:xfrm>
              <a:off x="2920" y="1469"/>
              <a:ext cx="178"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Z</a:t>
              </a:r>
              <a:r>
                <a:rPr lang="en-GB" altLang="en-US" sz="1800" baseline="-25000">
                  <a:solidFill>
                    <a:schemeClr val="tx2"/>
                  </a:solidFill>
                </a:rPr>
                <a:t>n</a:t>
              </a:r>
              <a:endParaRPr lang="en-GB" altLang="en-US" sz="1600">
                <a:solidFill>
                  <a:schemeClr val="tx2"/>
                </a:solidFill>
              </a:endParaRPr>
            </a:p>
          </p:txBody>
        </p:sp>
        <p:sp>
          <p:nvSpPr>
            <p:cNvPr id="91149" name="Rectangle 13"/>
            <p:cNvSpPr>
              <a:spLocks noChangeArrowheads="1"/>
            </p:cNvSpPr>
            <p:nvPr/>
          </p:nvSpPr>
          <p:spPr bwMode="auto">
            <a:xfrm>
              <a:off x="2664" y="1003"/>
              <a:ext cx="246"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jX</a:t>
              </a:r>
            </a:p>
          </p:txBody>
        </p:sp>
        <p:sp>
          <p:nvSpPr>
            <p:cNvPr id="91150" name="Line 14"/>
            <p:cNvSpPr>
              <a:spLocks noChangeShapeType="1"/>
            </p:cNvSpPr>
            <p:nvPr/>
          </p:nvSpPr>
          <p:spPr bwMode="auto">
            <a:xfrm flipH="1">
              <a:off x="2815" y="1190"/>
              <a:ext cx="151" cy="67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51" name="Line 15"/>
            <p:cNvSpPr>
              <a:spLocks noChangeShapeType="1"/>
            </p:cNvSpPr>
            <p:nvPr/>
          </p:nvSpPr>
          <p:spPr bwMode="auto">
            <a:xfrm flipH="1">
              <a:off x="2442" y="1870"/>
              <a:ext cx="897"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52" name="Oval 16"/>
            <p:cNvSpPr>
              <a:spLocks noChangeArrowheads="1"/>
            </p:cNvSpPr>
            <p:nvPr/>
          </p:nvSpPr>
          <p:spPr bwMode="auto">
            <a:xfrm>
              <a:off x="2546" y="1178"/>
              <a:ext cx="672" cy="696"/>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1153" name="Group 17"/>
          <p:cNvGrpSpPr>
            <a:grpSpLocks/>
          </p:cNvGrpSpPr>
          <p:nvPr/>
        </p:nvGrpSpPr>
        <p:grpSpPr bwMode="auto">
          <a:xfrm>
            <a:off x="4812366" y="1800884"/>
            <a:ext cx="2666248" cy="1724508"/>
            <a:chOff x="3907" y="998"/>
            <a:chExt cx="1922" cy="1243"/>
          </a:xfrm>
        </p:grpSpPr>
        <p:sp>
          <p:nvSpPr>
            <p:cNvPr id="91154" name="Rectangle 18"/>
            <p:cNvSpPr>
              <a:spLocks noChangeArrowheads="1"/>
            </p:cNvSpPr>
            <p:nvPr/>
          </p:nvSpPr>
          <p:spPr bwMode="auto">
            <a:xfrm>
              <a:off x="4287" y="998"/>
              <a:ext cx="190" cy="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jX</a:t>
              </a:r>
            </a:p>
          </p:txBody>
        </p:sp>
        <p:sp>
          <p:nvSpPr>
            <p:cNvPr id="91155" name="Rectangle 19"/>
            <p:cNvSpPr>
              <a:spLocks noChangeArrowheads="1"/>
            </p:cNvSpPr>
            <p:nvPr/>
          </p:nvSpPr>
          <p:spPr bwMode="auto">
            <a:xfrm>
              <a:off x="5204" y="1501"/>
              <a:ext cx="86" cy="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R</a:t>
              </a:r>
            </a:p>
          </p:txBody>
        </p:sp>
        <p:sp>
          <p:nvSpPr>
            <p:cNvPr id="91156" name="Rectangle 20"/>
            <p:cNvSpPr>
              <a:spLocks noChangeArrowheads="1"/>
            </p:cNvSpPr>
            <p:nvPr/>
          </p:nvSpPr>
          <p:spPr bwMode="auto">
            <a:xfrm>
              <a:off x="4510" y="1806"/>
              <a:ext cx="226"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Z</a:t>
              </a:r>
              <a:r>
                <a:rPr lang="en-GB" altLang="en-US" sz="1800" baseline="-25000">
                  <a:solidFill>
                    <a:schemeClr val="tx2"/>
                  </a:solidFill>
                </a:rPr>
                <a:t>s</a:t>
              </a:r>
              <a:endParaRPr lang="en-GB" altLang="en-US" sz="1600">
                <a:solidFill>
                  <a:schemeClr val="tx2"/>
                </a:solidFill>
              </a:endParaRPr>
            </a:p>
          </p:txBody>
        </p:sp>
        <p:sp>
          <p:nvSpPr>
            <p:cNvPr id="91157" name="Rectangle 21"/>
            <p:cNvSpPr>
              <a:spLocks noChangeArrowheads="1"/>
            </p:cNvSpPr>
            <p:nvPr/>
          </p:nvSpPr>
          <p:spPr bwMode="auto">
            <a:xfrm>
              <a:off x="4591" y="1340"/>
              <a:ext cx="169" cy="1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Z</a:t>
              </a:r>
              <a:r>
                <a:rPr lang="en-GB" altLang="en-US" sz="1800" baseline="-25000">
                  <a:solidFill>
                    <a:schemeClr val="tx2"/>
                  </a:solidFill>
                </a:rPr>
                <a:t>n</a:t>
              </a:r>
              <a:endParaRPr lang="en-GB" altLang="en-US" sz="1600">
                <a:solidFill>
                  <a:schemeClr val="tx2"/>
                </a:solidFill>
              </a:endParaRPr>
            </a:p>
          </p:txBody>
        </p:sp>
        <p:sp>
          <p:nvSpPr>
            <p:cNvPr id="91158" name="Rectangle 22"/>
            <p:cNvSpPr>
              <a:spLocks noChangeArrowheads="1"/>
            </p:cNvSpPr>
            <p:nvPr/>
          </p:nvSpPr>
          <p:spPr bwMode="auto">
            <a:xfrm>
              <a:off x="4607" y="1925"/>
              <a:ext cx="1222"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u="sng" dirty="0">
                  <a:solidFill>
                    <a:schemeClr val="tx2"/>
                  </a:solidFill>
                </a:rPr>
                <a:t>CROSS-</a:t>
              </a:r>
            </a:p>
            <a:p>
              <a:r>
                <a:rPr lang="en-GB" altLang="en-US" sz="1600" u="sng" dirty="0">
                  <a:solidFill>
                    <a:schemeClr val="tx2"/>
                  </a:solidFill>
                </a:rPr>
                <a:t>POLARISED</a:t>
              </a:r>
            </a:p>
            <a:p>
              <a:r>
                <a:rPr lang="en-GB" altLang="en-US" sz="1600" u="sng" dirty="0">
                  <a:solidFill>
                    <a:schemeClr val="tx2"/>
                  </a:solidFill>
                </a:rPr>
                <a:t>MHO</a:t>
              </a:r>
              <a:endParaRPr lang="en-GB" altLang="en-US" sz="1600" dirty="0">
                <a:solidFill>
                  <a:schemeClr val="tx2"/>
                </a:solidFill>
              </a:endParaRPr>
            </a:p>
          </p:txBody>
        </p:sp>
        <p:sp>
          <p:nvSpPr>
            <p:cNvPr id="91159" name="Line 23"/>
            <p:cNvSpPr>
              <a:spLocks noChangeShapeType="1"/>
            </p:cNvSpPr>
            <p:nvPr/>
          </p:nvSpPr>
          <p:spPr bwMode="auto">
            <a:xfrm flipH="1">
              <a:off x="3907" y="1590"/>
              <a:ext cx="126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60" name="Line 24"/>
            <p:cNvSpPr>
              <a:spLocks noChangeShapeType="1"/>
            </p:cNvSpPr>
            <p:nvPr/>
          </p:nvSpPr>
          <p:spPr bwMode="auto">
            <a:xfrm>
              <a:off x="4492" y="1043"/>
              <a:ext cx="1" cy="1153"/>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61" name="Line 25"/>
            <p:cNvSpPr>
              <a:spLocks noChangeShapeType="1"/>
            </p:cNvSpPr>
            <p:nvPr/>
          </p:nvSpPr>
          <p:spPr bwMode="auto">
            <a:xfrm flipH="1">
              <a:off x="4490" y="1143"/>
              <a:ext cx="166" cy="449"/>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62" name="Oval 26"/>
            <p:cNvSpPr>
              <a:spLocks noChangeArrowheads="1"/>
            </p:cNvSpPr>
            <p:nvPr/>
          </p:nvSpPr>
          <p:spPr bwMode="auto">
            <a:xfrm>
              <a:off x="4102" y="1138"/>
              <a:ext cx="955" cy="989"/>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1163" name="Group 27"/>
          <p:cNvGrpSpPr>
            <a:grpSpLocks/>
          </p:cNvGrpSpPr>
          <p:nvPr/>
        </p:nvGrpSpPr>
        <p:grpSpPr bwMode="auto">
          <a:xfrm>
            <a:off x="3440113" y="4186238"/>
            <a:ext cx="2589212" cy="1587500"/>
            <a:chOff x="4208" y="2625"/>
            <a:chExt cx="1867" cy="1145"/>
          </a:xfrm>
        </p:grpSpPr>
        <p:sp>
          <p:nvSpPr>
            <p:cNvPr id="91164" name="Rectangle 28"/>
            <p:cNvSpPr>
              <a:spLocks noChangeArrowheads="1"/>
            </p:cNvSpPr>
            <p:nvPr/>
          </p:nvSpPr>
          <p:spPr bwMode="auto">
            <a:xfrm>
              <a:off x="4726" y="3589"/>
              <a:ext cx="1349"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u="sng">
                  <a:solidFill>
                    <a:schemeClr val="tx2"/>
                  </a:solidFill>
                </a:rPr>
                <a:t>QUADRILATERAL</a:t>
              </a:r>
              <a:endParaRPr lang="en-GB" altLang="en-US" sz="1600">
                <a:solidFill>
                  <a:schemeClr val="tx2"/>
                </a:solidFill>
              </a:endParaRPr>
            </a:p>
          </p:txBody>
        </p:sp>
        <p:sp>
          <p:nvSpPr>
            <p:cNvPr id="91165" name="Rectangle 29"/>
            <p:cNvSpPr>
              <a:spLocks noChangeArrowheads="1"/>
            </p:cNvSpPr>
            <p:nvPr/>
          </p:nvSpPr>
          <p:spPr bwMode="auto">
            <a:xfrm>
              <a:off x="4805" y="3043"/>
              <a:ext cx="370"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Z</a:t>
              </a:r>
              <a:r>
                <a:rPr lang="en-GB" altLang="en-US" sz="1800" baseline="-25000">
                  <a:solidFill>
                    <a:schemeClr val="tx2"/>
                  </a:solidFill>
                </a:rPr>
                <a:t>n</a:t>
              </a:r>
              <a:endParaRPr lang="en-GB" altLang="en-US" sz="1600">
                <a:solidFill>
                  <a:schemeClr val="tx2"/>
                </a:solidFill>
              </a:endParaRPr>
            </a:p>
          </p:txBody>
        </p:sp>
        <p:sp>
          <p:nvSpPr>
            <p:cNvPr id="91166" name="Rectangle 30"/>
            <p:cNvSpPr>
              <a:spLocks noChangeArrowheads="1"/>
            </p:cNvSpPr>
            <p:nvPr/>
          </p:nvSpPr>
          <p:spPr bwMode="auto">
            <a:xfrm>
              <a:off x="5703" y="3303"/>
              <a:ext cx="128" cy="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R</a:t>
              </a:r>
            </a:p>
          </p:txBody>
        </p:sp>
        <p:sp>
          <p:nvSpPr>
            <p:cNvPr id="91167" name="Line 31"/>
            <p:cNvSpPr>
              <a:spLocks noChangeShapeType="1"/>
            </p:cNvSpPr>
            <p:nvPr/>
          </p:nvSpPr>
          <p:spPr bwMode="auto">
            <a:xfrm>
              <a:off x="4700" y="2625"/>
              <a:ext cx="1" cy="973"/>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68" name="Line 32"/>
            <p:cNvSpPr>
              <a:spLocks noChangeShapeType="1"/>
            </p:cNvSpPr>
            <p:nvPr/>
          </p:nvSpPr>
          <p:spPr bwMode="auto">
            <a:xfrm flipH="1">
              <a:off x="4695" y="2818"/>
              <a:ext cx="158" cy="567"/>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69" name="Line 33"/>
            <p:cNvSpPr>
              <a:spLocks noChangeShapeType="1"/>
            </p:cNvSpPr>
            <p:nvPr/>
          </p:nvSpPr>
          <p:spPr bwMode="auto">
            <a:xfrm flipH="1">
              <a:off x="4208" y="3382"/>
              <a:ext cx="1491" cy="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70" name="Line 34"/>
            <p:cNvSpPr>
              <a:spLocks noChangeShapeType="1"/>
            </p:cNvSpPr>
            <p:nvPr/>
          </p:nvSpPr>
          <p:spPr bwMode="auto">
            <a:xfrm flipH="1">
              <a:off x="4483" y="2814"/>
              <a:ext cx="1147" cy="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71" name="Line 35"/>
            <p:cNvSpPr>
              <a:spLocks noChangeShapeType="1"/>
            </p:cNvSpPr>
            <p:nvPr/>
          </p:nvSpPr>
          <p:spPr bwMode="auto">
            <a:xfrm>
              <a:off x="4485" y="2812"/>
              <a:ext cx="212" cy="56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72" name="Line 36"/>
            <p:cNvSpPr>
              <a:spLocks noChangeShapeType="1"/>
            </p:cNvSpPr>
            <p:nvPr/>
          </p:nvSpPr>
          <p:spPr bwMode="auto">
            <a:xfrm flipH="1">
              <a:off x="5507" y="2808"/>
              <a:ext cx="123" cy="789"/>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73" name="Line 37"/>
            <p:cNvSpPr>
              <a:spLocks noChangeShapeType="1"/>
            </p:cNvSpPr>
            <p:nvPr/>
          </p:nvSpPr>
          <p:spPr bwMode="auto">
            <a:xfrm>
              <a:off x="4697" y="3379"/>
              <a:ext cx="816" cy="21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1174" name="Group 38"/>
          <p:cNvGrpSpPr>
            <a:grpSpLocks/>
          </p:cNvGrpSpPr>
          <p:nvPr/>
        </p:nvGrpSpPr>
        <p:grpSpPr bwMode="auto">
          <a:xfrm>
            <a:off x="7121525" y="1522413"/>
            <a:ext cx="1755775" cy="1697037"/>
            <a:chOff x="738" y="2566"/>
            <a:chExt cx="1266" cy="1224"/>
          </a:xfrm>
        </p:grpSpPr>
        <p:sp>
          <p:nvSpPr>
            <p:cNvPr id="91175" name="Rectangle 39"/>
            <p:cNvSpPr>
              <a:spLocks noChangeArrowheads="1"/>
            </p:cNvSpPr>
            <p:nvPr/>
          </p:nvSpPr>
          <p:spPr bwMode="auto">
            <a:xfrm>
              <a:off x="1433" y="3492"/>
              <a:ext cx="571" cy="2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u="sng">
                  <a:solidFill>
                    <a:schemeClr val="tx2"/>
                  </a:solidFill>
                </a:rPr>
                <a:t>OFFSET</a:t>
              </a:r>
            </a:p>
            <a:p>
              <a:r>
                <a:rPr lang="en-GB" altLang="en-US" sz="1600" u="sng">
                  <a:solidFill>
                    <a:schemeClr val="tx2"/>
                  </a:solidFill>
                </a:rPr>
                <a:t>MHO</a:t>
              </a:r>
              <a:endParaRPr lang="en-GB" altLang="en-US" sz="1600">
                <a:solidFill>
                  <a:schemeClr val="tx2"/>
                </a:solidFill>
              </a:endParaRPr>
            </a:p>
          </p:txBody>
        </p:sp>
        <p:sp>
          <p:nvSpPr>
            <p:cNvPr id="91176" name="Rectangle 40"/>
            <p:cNvSpPr>
              <a:spLocks noChangeArrowheads="1"/>
            </p:cNvSpPr>
            <p:nvPr/>
          </p:nvSpPr>
          <p:spPr bwMode="auto">
            <a:xfrm>
              <a:off x="962" y="2566"/>
              <a:ext cx="173" cy="1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jX</a:t>
              </a:r>
            </a:p>
          </p:txBody>
        </p:sp>
        <p:sp>
          <p:nvSpPr>
            <p:cNvPr id="91177" name="Rectangle 41"/>
            <p:cNvSpPr>
              <a:spLocks noChangeArrowheads="1"/>
            </p:cNvSpPr>
            <p:nvPr/>
          </p:nvSpPr>
          <p:spPr bwMode="auto">
            <a:xfrm>
              <a:off x="938" y="3559"/>
              <a:ext cx="26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Z</a:t>
              </a:r>
              <a:r>
                <a:rPr lang="en-GB" altLang="en-US" sz="1800" baseline="-25000">
                  <a:solidFill>
                    <a:schemeClr val="tx2"/>
                  </a:solidFill>
                </a:rPr>
                <a:t>n</a:t>
              </a:r>
              <a:r>
                <a:rPr lang="en-GB" altLang="en-US" sz="1800">
                  <a:solidFill>
                    <a:schemeClr val="tx2"/>
                  </a:solidFill>
                </a:rPr>
                <a:t>′</a:t>
              </a:r>
              <a:endParaRPr lang="en-GB" altLang="en-US" sz="1600">
                <a:solidFill>
                  <a:schemeClr val="tx2"/>
                </a:solidFill>
              </a:endParaRPr>
            </a:p>
          </p:txBody>
        </p:sp>
        <p:sp>
          <p:nvSpPr>
            <p:cNvPr id="91178" name="Rectangle 42"/>
            <p:cNvSpPr>
              <a:spLocks noChangeArrowheads="1"/>
            </p:cNvSpPr>
            <p:nvPr/>
          </p:nvSpPr>
          <p:spPr bwMode="auto">
            <a:xfrm>
              <a:off x="1262" y="3039"/>
              <a:ext cx="162" cy="1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Z</a:t>
              </a:r>
              <a:r>
                <a:rPr lang="en-GB" altLang="en-US" sz="1800" baseline="-25000">
                  <a:solidFill>
                    <a:schemeClr val="tx2"/>
                  </a:solidFill>
                </a:rPr>
                <a:t>n</a:t>
              </a:r>
              <a:endParaRPr lang="en-GB" altLang="en-US" sz="1600">
                <a:solidFill>
                  <a:schemeClr val="tx2"/>
                </a:solidFill>
              </a:endParaRPr>
            </a:p>
          </p:txBody>
        </p:sp>
        <p:sp>
          <p:nvSpPr>
            <p:cNvPr id="91179" name="Rectangle 43"/>
            <p:cNvSpPr>
              <a:spLocks noChangeArrowheads="1"/>
            </p:cNvSpPr>
            <p:nvPr/>
          </p:nvSpPr>
          <p:spPr bwMode="auto">
            <a:xfrm>
              <a:off x="1687" y="3279"/>
              <a:ext cx="77" cy="1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R</a:t>
              </a:r>
            </a:p>
          </p:txBody>
        </p:sp>
        <p:sp>
          <p:nvSpPr>
            <p:cNvPr id="91180" name="Line 44"/>
            <p:cNvSpPr>
              <a:spLocks noChangeShapeType="1"/>
            </p:cNvSpPr>
            <p:nvPr/>
          </p:nvSpPr>
          <p:spPr bwMode="auto">
            <a:xfrm>
              <a:off x="1148" y="2659"/>
              <a:ext cx="0" cy="101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81" name="Line 45"/>
            <p:cNvSpPr>
              <a:spLocks noChangeShapeType="1"/>
            </p:cNvSpPr>
            <p:nvPr/>
          </p:nvSpPr>
          <p:spPr bwMode="auto">
            <a:xfrm flipH="1">
              <a:off x="1084" y="2790"/>
              <a:ext cx="251" cy="77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82" name="Line 46"/>
            <p:cNvSpPr>
              <a:spLocks noChangeShapeType="1"/>
            </p:cNvSpPr>
            <p:nvPr/>
          </p:nvSpPr>
          <p:spPr bwMode="auto">
            <a:xfrm flipH="1">
              <a:off x="738" y="3360"/>
              <a:ext cx="89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83" name="Oval 47"/>
            <p:cNvSpPr>
              <a:spLocks noChangeArrowheads="1"/>
            </p:cNvSpPr>
            <p:nvPr/>
          </p:nvSpPr>
          <p:spPr bwMode="auto">
            <a:xfrm>
              <a:off x="752" y="2748"/>
              <a:ext cx="793" cy="822"/>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1184" name="Group 48"/>
          <p:cNvGrpSpPr>
            <a:grpSpLocks/>
          </p:cNvGrpSpPr>
          <p:nvPr/>
        </p:nvGrpSpPr>
        <p:grpSpPr bwMode="auto">
          <a:xfrm>
            <a:off x="889000" y="1766888"/>
            <a:ext cx="2070100" cy="1633537"/>
            <a:chOff x="610" y="998"/>
            <a:chExt cx="1493" cy="1178"/>
          </a:xfrm>
        </p:grpSpPr>
        <p:sp>
          <p:nvSpPr>
            <p:cNvPr id="91185" name="Rectangle 49"/>
            <p:cNvSpPr>
              <a:spLocks noChangeArrowheads="1"/>
            </p:cNvSpPr>
            <p:nvPr/>
          </p:nvSpPr>
          <p:spPr bwMode="auto">
            <a:xfrm>
              <a:off x="1260" y="1954"/>
              <a:ext cx="843"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u="sng">
                  <a:solidFill>
                    <a:schemeClr val="tx2"/>
                  </a:solidFill>
                </a:rPr>
                <a:t>IMPEDANCE</a:t>
              </a:r>
              <a:endParaRPr lang="en-GB" altLang="en-US" sz="1600">
                <a:solidFill>
                  <a:schemeClr val="tx2"/>
                </a:solidFill>
              </a:endParaRPr>
            </a:p>
          </p:txBody>
        </p:sp>
        <p:sp>
          <p:nvSpPr>
            <p:cNvPr id="91186" name="Rectangle 50"/>
            <p:cNvSpPr>
              <a:spLocks noChangeArrowheads="1"/>
            </p:cNvSpPr>
            <p:nvPr/>
          </p:nvSpPr>
          <p:spPr bwMode="auto">
            <a:xfrm>
              <a:off x="838" y="998"/>
              <a:ext cx="205"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jX</a:t>
              </a:r>
            </a:p>
          </p:txBody>
        </p:sp>
        <p:sp>
          <p:nvSpPr>
            <p:cNvPr id="91187" name="Rectangle 51"/>
            <p:cNvSpPr>
              <a:spLocks noChangeArrowheads="1"/>
            </p:cNvSpPr>
            <p:nvPr/>
          </p:nvSpPr>
          <p:spPr bwMode="auto">
            <a:xfrm>
              <a:off x="1116" y="1330"/>
              <a:ext cx="217"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Z</a:t>
              </a:r>
              <a:r>
                <a:rPr lang="en-GB" altLang="en-US" sz="1800" baseline="-25000">
                  <a:solidFill>
                    <a:schemeClr val="tx2"/>
                  </a:solidFill>
                </a:rPr>
                <a:t>n</a:t>
              </a:r>
              <a:endParaRPr lang="en-GB" altLang="en-US" sz="1600">
                <a:solidFill>
                  <a:schemeClr val="tx2"/>
                </a:solidFill>
              </a:endParaRPr>
            </a:p>
          </p:txBody>
        </p:sp>
        <p:sp>
          <p:nvSpPr>
            <p:cNvPr id="91188" name="Rectangle 52"/>
            <p:cNvSpPr>
              <a:spLocks noChangeArrowheads="1"/>
            </p:cNvSpPr>
            <p:nvPr/>
          </p:nvSpPr>
          <p:spPr bwMode="auto">
            <a:xfrm>
              <a:off x="1548" y="1516"/>
              <a:ext cx="165"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R</a:t>
              </a:r>
            </a:p>
          </p:txBody>
        </p:sp>
        <p:sp>
          <p:nvSpPr>
            <p:cNvPr id="91189" name="Line 53"/>
            <p:cNvSpPr>
              <a:spLocks noChangeShapeType="1"/>
            </p:cNvSpPr>
            <p:nvPr/>
          </p:nvSpPr>
          <p:spPr bwMode="auto">
            <a:xfrm>
              <a:off x="1042" y="1091"/>
              <a:ext cx="1" cy="987"/>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90" name="Line 54"/>
            <p:cNvSpPr>
              <a:spLocks noChangeShapeType="1"/>
            </p:cNvSpPr>
            <p:nvPr/>
          </p:nvSpPr>
          <p:spPr bwMode="auto">
            <a:xfrm flipH="1">
              <a:off x="610" y="1606"/>
              <a:ext cx="922" cy="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91" name="Line 55"/>
            <p:cNvSpPr>
              <a:spLocks noChangeShapeType="1"/>
            </p:cNvSpPr>
            <p:nvPr/>
          </p:nvSpPr>
          <p:spPr bwMode="auto">
            <a:xfrm flipH="1">
              <a:off x="1039" y="1196"/>
              <a:ext cx="116" cy="414"/>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92" name="Oval 56"/>
            <p:cNvSpPr>
              <a:spLocks noChangeArrowheads="1"/>
            </p:cNvSpPr>
            <p:nvPr/>
          </p:nvSpPr>
          <p:spPr bwMode="auto">
            <a:xfrm>
              <a:off x="665" y="1184"/>
              <a:ext cx="793" cy="822"/>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91193" name="Group 57"/>
          <p:cNvGrpSpPr>
            <a:grpSpLocks/>
          </p:cNvGrpSpPr>
          <p:nvPr/>
        </p:nvGrpSpPr>
        <p:grpSpPr bwMode="auto">
          <a:xfrm>
            <a:off x="1177925" y="4425950"/>
            <a:ext cx="1898650" cy="1397000"/>
            <a:chOff x="2539" y="2729"/>
            <a:chExt cx="1369" cy="1007"/>
          </a:xfrm>
        </p:grpSpPr>
        <p:sp>
          <p:nvSpPr>
            <p:cNvPr id="91194" name="Line 58"/>
            <p:cNvSpPr>
              <a:spLocks noChangeShapeType="1"/>
            </p:cNvSpPr>
            <p:nvPr/>
          </p:nvSpPr>
          <p:spPr bwMode="auto">
            <a:xfrm flipH="1">
              <a:off x="2539" y="3302"/>
              <a:ext cx="868"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195" name="Rectangle 59"/>
            <p:cNvSpPr>
              <a:spLocks noChangeArrowheads="1"/>
            </p:cNvSpPr>
            <p:nvPr/>
          </p:nvSpPr>
          <p:spPr bwMode="auto">
            <a:xfrm>
              <a:off x="3017" y="3505"/>
              <a:ext cx="891"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u="sng">
                  <a:solidFill>
                    <a:schemeClr val="tx2"/>
                  </a:solidFill>
                </a:rPr>
                <a:t>LENTICULAR</a:t>
              </a:r>
              <a:endParaRPr lang="en-GB" altLang="en-US" sz="1600">
                <a:solidFill>
                  <a:schemeClr val="tx2"/>
                </a:solidFill>
              </a:endParaRPr>
            </a:p>
          </p:txBody>
        </p:sp>
        <p:sp>
          <p:nvSpPr>
            <p:cNvPr id="91196" name="Rectangle 60"/>
            <p:cNvSpPr>
              <a:spLocks noChangeArrowheads="1"/>
            </p:cNvSpPr>
            <p:nvPr/>
          </p:nvSpPr>
          <p:spPr bwMode="auto">
            <a:xfrm>
              <a:off x="2696" y="2729"/>
              <a:ext cx="197"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jX</a:t>
              </a:r>
            </a:p>
          </p:txBody>
        </p:sp>
        <p:sp>
          <p:nvSpPr>
            <p:cNvPr id="91197" name="Rectangle 61"/>
            <p:cNvSpPr>
              <a:spLocks noChangeArrowheads="1"/>
            </p:cNvSpPr>
            <p:nvPr/>
          </p:nvSpPr>
          <p:spPr bwMode="auto">
            <a:xfrm>
              <a:off x="2932" y="3080"/>
              <a:ext cx="178"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Z</a:t>
              </a:r>
              <a:r>
                <a:rPr lang="en-GB" altLang="en-US" sz="1800" baseline="-25000">
                  <a:solidFill>
                    <a:schemeClr val="tx2"/>
                  </a:solidFill>
                </a:rPr>
                <a:t>n</a:t>
              </a:r>
              <a:endParaRPr lang="en-GB" altLang="en-US" sz="1600">
                <a:solidFill>
                  <a:schemeClr val="tx2"/>
                </a:solidFill>
              </a:endParaRPr>
            </a:p>
          </p:txBody>
        </p:sp>
        <p:sp>
          <p:nvSpPr>
            <p:cNvPr id="91198" name="Rectangle 62"/>
            <p:cNvSpPr>
              <a:spLocks noChangeArrowheads="1"/>
            </p:cNvSpPr>
            <p:nvPr/>
          </p:nvSpPr>
          <p:spPr bwMode="auto">
            <a:xfrm>
              <a:off x="3435" y="3247"/>
              <a:ext cx="101" cy="1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R</a:t>
              </a:r>
            </a:p>
          </p:txBody>
        </p:sp>
        <p:sp>
          <p:nvSpPr>
            <p:cNvPr id="91199" name="Line 63"/>
            <p:cNvSpPr>
              <a:spLocks noChangeShapeType="1"/>
            </p:cNvSpPr>
            <p:nvPr/>
          </p:nvSpPr>
          <p:spPr bwMode="auto">
            <a:xfrm>
              <a:off x="2866" y="2784"/>
              <a:ext cx="0" cy="95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200" name="Line 64"/>
            <p:cNvSpPr>
              <a:spLocks noChangeShapeType="1"/>
            </p:cNvSpPr>
            <p:nvPr/>
          </p:nvSpPr>
          <p:spPr bwMode="auto">
            <a:xfrm flipH="1">
              <a:off x="2766" y="2841"/>
              <a:ext cx="260" cy="717"/>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91201" name="Group 65"/>
            <p:cNvGrpSpPr>
              <a:grpSpLocks/>
            </p:cNvGrpSpPr>
            <p:nvPr/>
          </p:nvGrpSpPr>
          <p:grpSpPr bwMode="auto">
            <a:xfrm rot="3866976">
              <a:off x="2620" y="2918"/>
              <a:ext cx="543" cy="553"/>
              <a:chOff x="2104" y="2668"/>
              <a:chExt cx="364" cy="372"/>
            </a:xfrm>
          </p:grpSpPr>
          <p:sp>
            <p:nvSpPr>
              <p:cNvPr id="91202" name="Arc 66"/>
              <p:cNvSpPr>
                <a:spLocks/>
              </p:cNvSpPr>
              <p:nvPr/>
            </p:nvSpPr>
            <p:spPr bwMode="auto">
              <a:xfrm flipH="1" flipV="1">
                <a:off x="2104" y="2668"/>
                <a:ext cx="364" cy="3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1203" name="Arc 67"/>
              <p:cNvSpPr>
                <a:spLocks/>
              </p:cNvSpPr>
              <p:nvPr/>
            </p:nvSpPr>
            <p:spPr bwMode="auto">
              <a:xfrm>
                <a:off x="2104" y="2668"/>
                <a:ext cx="364" cy="3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91204" name="Group 68"/>
          <p:cNvGrpSpPr>
            <a:grpSpLocks/>
          </p:cNvGrpSpPr>
          <p:nvPr/>
        </p:nvGrpSpPr>
        <p:grpSpPr bwMode="auto">
          <a:xfrm>
            <a:off x="6226175" y="4173538"/>
            <a:ext cx="2589213" cy="1589087"/>
            <a:chOff x="4208" y="2625"/>
            <a:chExt cx="1867" cy="1145"/>
          </a:xfrm>
        </p:grpSpPr>
        <p:sp>
          <p:nvSpPr>
            <p:cNvPr id="91205" name="Rectangle 69"/>
            <p:cNvSpPr>
              <a:spLocks noChangeArrowheads="1"/>
            </p:cNvSpPr>
            <p:nvPr/>
          </p:nvSpPr>
          <p:spPr bwMode="auto">
            <a:xfrm>
              <a:off x="4726" y="3589"/>
              <a:ext cx="1349"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u="sng">
                  <a:solidFill>
                    <a:schemeClr val="tx2"/>
                  </a:solidFill>
                </a:rPr>
                <a:t>POLYGON</a:t>
              </a:r>
              <a:endParaRPr lang="en-GB" altLang="en-US" sz="1600">
                <a:solidFill>
                  <a:schemeClr val="tx2"/>
                </a:solidFill>
              </a:endParaRPr>
            </a:p>
          </p:txBody>
        </p:sp>
        <p:grpSp>
          <p:nvGrpSpPr>
            <p:cNvPr id="91206" name="Group 70"/>
            <p:cNvGrpSpPr>
              <a:grpSpLocks/>
            </p:cNvGrpSpPr>
            <p:nvPr/>
          </p:nvGrpSpPr>
          <p:grpSpPr bwMode="auto">
            <a:xfrm>
              <a:off x="4208" y="2625"/>
              <a:ext cx="1623" cy="973"/>
              <a:chOff x="4208" y="2625"/>
              <a:chExt cx="1623" cy="973"/>
            </a:xfrm>
          </p:grpSpPr>
          <p:sp>
            <p:nvSpPr>
              <p:cNvPr id="91207" name="Rectangle 71"/>
              <p:cNvSpPr>
                <a:spLocks noChangeArrowheads="1"/>
              </p:cNvSpPr>
              <p:nvPr/>
            </p:nvSpPr>
            <p:spPr bwMode="auto">
              <a:xfrm>
                <a:off x="4805" y="3043"/>
                <a:ext cx="370"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Z</a:t>
                </a:r>
                <a:r>
                  <a:rPr lang="en-GB" altLang="en-US" sz="1800" baseline="-25000">
                    <a:solidFill>
                      <a:schemeClr val="tx2"/>
                    </a:solidFill>
                  </a:rPr>
                  <a:t>n</a:t>
                </a:r>
                <a:endParaRPr lang="en-GB" altLang="en-US" sz="1600">
                  <a:solidFill>
                    <a:schemeClr val="tx2"/>
                  </a:solidFill>
                </a:endParaRPr>
              </a:p>
            </p:txBody>
          </p:sp>
          <p:sp>
            <p:nvSpPr>
              <p:cNvPr id="91208" name="Rectangle 72"/>
              <p:cNvSpPr>
                <a:spLocks noChangeArrowheads="1"/>
              </p:cNvSpPr>
              <p:nvPr/>
            </p:nvSpPr>
            <p:spPr bwMode="auto">
              <a:xfrm>
                <a:off x="5703" y="3303"/>
                <a:ext cx="128" cy="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GB" altLang="en-US" sz="1600">
                    <a:solidFill>
                      <a:schemeClr val="tx2"/>
                    </a:solidFill>
                  </a:rPr>
                  <a:t>R</a:t>
                </a:r>
              </a:p>
            </p:txBody>
          </p:sp>
          <p:sp>
            <p:nvSpPr>
              <p:cNvPr id="91209" name="Line 73"/>
              <p:cNvSpPr>
                <a:spLocks noChangeShapeType="1"/>
              </p:cNvSpPr>
              <p:nvPr/>
            </p:nvSpPr>
            <p:spPr bwMode="auto">
              <a:xfrm>
                <a:off x="4700" y="2625"/>
                <a:ext cx="1" cy="973"/>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210" name="Line 74"/>
              <p:cNvSpPr>
                <a:spLocks noChangeShapeType="1"/>
              </p:cNvSpPr>
              <p:nvPr/>
            </p:nvSpPr>
            <p:spPr bwMode="auto">
              <a:xfrm flipH="1">
                <a:off x="4695" y="2818"/>
                <a:ext cx="158" cy="567"/>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211" name="Line 75"/>
              <p:cNvSpPr>
                <a:spLocks noChangeShapeType="1"/>
              </p:cNvSpPr>
              <p:nvPr/>
            </p:nvSpPr>
            <p:spPr bwMode="auto">
              <a:xfrm flipH="1">
                <a:off x="4208" y="3382"/>
                <a:ext cx="1491" cy="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1212" name="Freeform 76"/>
              <p:cNvSpPr>
                <a:spLocks/>
              </p:cNvSpPr>
              <p:nvPr/>
            </p:nvSpPr>
            <p:spPr bwMode="auto">
              <a:xfrm>
                <a:off x="4488" y="2808"/>
                <a:ext cx="1132" cy="732"/>
              </a:xfrm>
              <a:custGeom>
                <a:avLst/>
                <a:gdLst>
                  <a:gd name="T0" fmla="*/ 208 w 1132"/>
                  <a:gd name="T1" fmla="*/ 572 h 732"/>
                  <a:gd name="T2" fmla="*/ 0 w 1132"/>
                  <a:gd name="T3" fmla="*/ 0 h 732"/>
                  <a:gd name="T4" fmla="*/ 372 w 1132"/>
                  <a:gd name="T5" fmla="*/ 0 h 732"/>
                  <a:gd name="T6" fmla="*/ 1132 w 1132"/>
                  <a:gd name="T7" fmla="*/ 64 h 732"/>
                  <a:gd name="T8" fmla="*/ 1088 w 1132"/>
                  <a:gd name="T9" fmla="*/ 328 h 732"/>
                  <a:gd name="T10" fmla="*/ 832 w 1132"/>
                  <a:gd name="T11" fmla="*/ 400 h 732"/>
                  <a:gd name="T12" fmla="*/ 832 w 1132"/>
                  <a:gd name="T13" fmla="*/ 732 h 732"/>
                  <a:gd name="T14" fmla="*/ 208 w 1132"/>
                  <a:gd name="T15" fmla="*/ 572 h 7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2" h="732">
                    <a:moveTo>
                      <a:pt x="208" y="572"/>
                    </a:moveTo>
                    <a:lnTo>
                      <a:pt x="0" y="0"/>
                    </a:lnTo>
                    <a:lnTo>
                      <a:pt x="372" y="0"/>
                    </a:lnTo>
                    <a:lnTo>
                      <a:pt x="1132" y="64"/>
                    </a:lnTo>
                    <a:lnTo>
                      <a:pt x="1088" y="328"/>
                    </a:lnTo>
                    <a:lnTo>
                      <a:pt x="832" y="400"/>
                    </a:lnTo>
                    <a:lnTo>
                      <a:pt x="832" y="732"/>
                    </a:lnTo>
                    <a:lnTo>
                      <a:pt x="208" y="572"/>
                    </a:lnTo>
                    <a:close/>
                  </a:path>
                </a:pathLst>
              </a:custGeom>
              <a:noFill/>
              <a:ln w="28575" cap="flat" cmpd="sng">
                <a:solidFill>
                  <a:schemeClr val="tx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spTree>
    <p:extLst>
      <p:ext uri="{BB962C8B-B14F-4D97-AF65-F5344CB8AC3E}">
        <p14:creationId xmlns:p14="http://schemas.microsoft.com/office/powerpoint/2010/main" val="363194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1184"/>
                                        </p:tgtEl>
                                        <p:attrNameLst>
                                          <p:attrName>style.visibility</p:attrName>
                                        </p:attrNameLst>
                                      </p:cBhvr>
                                      <p:to>
                                        <p:strVal val="visible"/>
                                      </p:to>
                                    </p:set>
                                    <p:animEffect transition="in" filter="blinds(horizontal)">
                                      <p:cBhvr>
                                        <p:cTn id="7" dur="500"/>
                                        <p:tgtEl>
                                          <p:spTgt spid="9118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1144"/>
                                        </p:tgtEl>
                                        <p:attrNameLst>
                                          <p:attrName>style.visibility</p:attrName>
                                        </p:attrNameLst>
                                      </p:cBhvr>
                                      <p:to>
                                        <p:strVal val="visible"/>
                                      </p:to>
                                    </p:set>
                                    <p:animEffect transition="in" filter="blinds(horizontal)">
                                      <p:cBhvr>
                                        <p:cTn id="12" dur="500"/>
                                        <p:tgtEl>
                                          <p:spTgt spid="9114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1153"/>
                                        </p:tgtEl>
                                        <p:attrNameLst>
                                          <p:attrName>style.visibility</p:attrName>
                                        </p:attrNameLst>
                                      </p:cBhvr>
                                      <p:to>
                                        <p:strVal val="visible"/>
                                      </p:to>
                                    </p:set>
                                    <p:animEffect transition="in" filter="blinds(horizontal)">
                                      <p:cBhvr>
                                        <p:cTn id="17" dur="500"/>
                                        <p:tgtEl>
                                          <p:spTgt spid="9115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1174"/>
                                        </p:tgtEl>
                                        <p:attrNameLst>
                                          <p:attrName>style.visibility</p:attrName>
                                        </p:attrNameLst>
                                      </p:cBhvr>
                                      <p:to>
                                        <p:strVal val="visible"/>
                                      </p:to>
                                    </p:set>
                                    <p:animEffect transition="in" filter="blinds(horizontal)">
                                      <p:cBhvr>
                                        <p:cTn id="22" dur="500"/>
                                        <p:tgtEl>
                                          <p:spTgt spid="9117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1193"/>
                                        </p:tgtEl>
                                        <p:attrNameLst>
                                          <p:attrName>style.visibility</p:attrName>
                                        </p:attrNameLst>
                                      </p:cBhvr>
                                      <p:to>
                                        <p:strVal val="visible"/>
                                      </p:to>
                                    </p:set>
                                    <p:animEffect transition="in" filter="blinds(horizontal)">
                                      <p:cBhvr>
                                        <p:cTn id="27" dur="500"/>
                                        <p:tgtEl>
                                          <p:spTgt spid="9119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1163"/>
                                        </p:tgtEl>
                                        <p:attrNameLst>
                                          <p:attrName>style.visibility</p:attrName>
                                        </p:attrNameLst>
                                      </p:cBhvr>
                                      <p:to>
                                        <p:strVal val="visible"/>
                                      </p:to>
                                    </p:set>
                                    <p:animEffect transition="in" filter="blinds(horizontal)">
                                      <p:cBhvr>
                                        <p:cTn id="32" dur="500"/>
                                        <p:tgtEl>
                                          <p:spTgt spid="9116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91204"/>
                                        </p:tgtEl>
                                        <p:attrNameLst>
                                          <p:attrName>style.visibility</p:attrName>
                                        </p:attrNameLst>
                                      </p:cBhvr>
                                      <p:to>
                                        <p:strVal val="visible"/>
                                      </p:to>
                                    </p:set>
                                    <p:animEffect transition="in" filter="blinds(horizontal)">
                                      <p:cBhvr>
                                        <p:cTn id="37" dur="500"/>
                                        <p:tgtEl>
                                          <p:spTgt spid="9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02" name="Rectangle 18"/>
          <p:cNvSpPr>
            <a:spLocks noGrp="1" noChangeArrowheads="1"/>
          </p:cNvSpPr>
          <p:nvPr>
            <p:ph type="title"/>
          </p:nvPr>
        </p:nvSpPr>
        <p:spPr bwMode="auto">
          <a:xfrm>
            <a:off x="238125" y="76200"/>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a:t>Self Polarised Mho Relays</a:t>
            </a:r>
          </a:p>
        </p:txBody>
      </p:sp>
      <p:sp>
        <p:nvSpPr>
          <p:cNvPr id="93204" name="Rectangle 20"/>
          <p:cNvSpPr>
            <a:spLocks noGrp="1" noChangeArrowheads="1"/>
          </p:cNvSpPr>
          <p:nvPr>
            <p:ph type="body" idx="1"/>
          </p:nvPr>
        </p:nvSpPr>
        <p:spPr bwMode="auto">
          <a:xfrm>
            <a:off x="531953" y="970720"/>
            <a:ext cx="5616575" cy="3226631"/>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a:lnSpc>
                <a:spcPct val="110000"/>
              </a:lnSpc>
              <a:spcBef>
                <a:spcPct val="45000"/>
              </a:spcBef>
            </a:pPr>
            <a:r>
              <a:rPr lang="en-GB" altLang="en-US" dirty="0">
                <a:solidFill>
                  <a:schemeClr val="tx2"/>
                </a:solidFill>
              </a:rPr>
              <a:t>Very popular characteristic</a:t>
            </a:r>
          </a:p>
          <a:p>
            <a:pPr>
              <a:lnSpc>
                <a:spcPct val="110000"/>
              </a:lnSpc>
              <a:spcBef>
                <a:spcPct val="45000"/>
              </a:spcBef>
            </a:pPr>
            <a:r>
              <a:rPr lang="en-GB" altLang="en-US" dirty="0">
                <a:solidFill>
                  <a:schemeClr val="tx2"/>
                </a:solidFill>
              </a:rPr>
              <a:t>Simple</a:t>
            </a:r>
          </a:p>
          <a:p>
            <a:pPr>
              <a:lnSpc>
                <a:spcPct val="110000"/>
              </a:lnSpc>
              <a:spcBef>
                <a:spcPct val="45000"/>
              </a:spcBef>
            </a:pPr>
            <a:r>
              <a:rPr lang="en-GB" altLang="en-US" dirty="0">
                <a:solidFill>
                  <a:schemeClr val="tx2"/>
                </a:solidFill>
              </a:rPr>
              <a:t>Inherently directional</a:t>
            </a:r>
          </a:p>
          <a:p>
            <a:pPr>
              <a:lnSpc>
                <a:spcPct val="110000"/>
              </a:lnSpc>
              <a:spcBef>
                <a:spcPct val="45000"/>
              </a:spcBef>
            </a:pPr>
            <a:r>
              <a:rPr lang="en-GB" altLang="en-US" dirty="0">
                <a:solidFill>
                  <a:schemeClr val="tx2"/>
                </a:solidFill>
              </a:rPr>
              <a:t>Operates for F</a:t>
            </a:r>
            <a:r>
              <a:rPr lang="en-GB" altLang="en-US" baseline="-25000" dirty="0">
                <a:solidFill>
                  <a:schemeClr val="tx2"/>
                </a:solidFill>
              </a:rPr>
              <a:t>1</a:t>
            </a:r>
            <a:r>
              <a:rPr lang="en-GB" altLang="en-US" dirty="0">
                <a:solidFill>
                  <a:schemeClr val="tx2"/>
                </a:solidFill>
              </a:rPr>
              <a:t>,</a:t>
            </a:r>
          </a:p>
          <a:p>
            <a:pPr>
              <a:lnSpc>
                <a:spcPct val="110000"/>
              </a:lnSpc>
              <a:spcBef>
                <a:spcPct val="45000"/>
              </a:spcBef>
            </a:pPr>
            <a:r>
              <a:rPr lang="en-GB" altLang="en-US" dirty="0">
                <a:solidFill>
                  <a:schemeClr val="tx2"/>
                </a:solidFill>
              </a:rPr>
              <a:t>Not for F</a:t>
            </a:r>
            <a:r>
              <a:rPr lang="en-GB" altLang="en-US" baseline="-25000" dirty="0">
                <a:solidFill>
                  <a:schemeClr val="tx2"/>
                </a:solidFill>
              </a:rPr>
              <a:t>2 </a:t>
            </a:r>
            <a:r>
              <a:rPr lang="en-GB" altLang="en-US" dirty="0">
                <a:solidFill>
                  <a:schemeClr val="tx2"/>
                </a:solidFill>
              </a:rPr>
              <a:t>or F</a:t>
            </a:r>
            <a:r>
              <a:rPr lang="en-GB" altLang="en-US" baseline="-25000" dirty="0">
                <a:solidFill>
                  <a:schemeClr val="tx2"/>
                </a:solidFill>
              </a:rPr>
              <a:t>3</a:t>
            </a:r>
            <a:endParaRPr lang="en-GB" altLang="en-US" baseline="-25000" dirty="0">
              <a:solidFill>
                <a:schemeClr val="tx2"/>
              </a:solidFill>
              <a:sym typeface="Symbol" panose="05050102010706020507" pitchFamily="18" charset="2"/>
            </a:endParaRPr>
          </a:p>
        </p:txBody>
      </p:sp>
      <p:sp>
        <p:nvSpPr>
          <p:cNvPr id="93205" name="Text Box 21"/>
          <p:cNvSpPr txBox="1">
            <a:spLocks noChangeArrowheads="1"/>
          </p:cNvSpPr>
          <p:nvPr/>
        </p:nvSpPr>
        <p:spPr bwMode="auto">
          <a:xfrm>
            <a:off x="663084" y="4246563"/>
            <a:ext cx="3900487" cy="11079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l">
              <a:spcBef>
                <a:spcPct val="50000"/>
              </a:spcBef>
            </a:pPr>
            <a:r>
              <a:rPr lang="en-GB" altLang="en-US" sz="2200" dirty="0">
                <a:solidFill>
                  <a:schemeClr val="tx2"/>
                </a:solidFill>
                <a:latin typeface="Arial" panose="020B0604020202020204" pitchFamily="34" charset="0"/>
                <a:cs typeface="Arial" panose="020B0604020202020204" pitchFamily="34" charset="0"/>
              </a:rPr>
              <a:t>    Settings :-</a:t>
            </a:r>
            <a:br>
              <a:rPr lang="en-GB" altLang="en-US" sz="2200" dirty="0">
                <a:solidFill>
                  <a:schemeClr val="tx2"/>
                </a:solidFill>
                <a:latin typeface="Arial" panose="020B0604020202020204" pitchFamily="34" charset="0"/>
                <a:cs typeface="Arial" panose="020B0604020202020204" pitchFamily="34" charset="0"/>
              </a:rPr>
            </a:br>
            <a:r>
              <a:rPr lang="en-GB" altLang="en-US" sz="2200" dirty="0">
                <a:solidFill>
                  <a:schemeClr val="tx2"/>
                </a:solidFill>
                <a:latin typeface="Arial" panose="020B0604020202020204" pitchFamily="34" charset="0"/>
                <a:cs typeface="Arial" panose="020B0604020202020204" pitchFamily="34" charset="0"/>
              </a:rPr>
              <a:t> Z = reach setting		      </a:t>
            </a:r>
            <a:r>
              <a:rPr lang="en-GB" altLang="en-US" sz="2200" dirty="0">
                <a:solidFill>
                  <a:schemeClr val="tx2"/>
                </a:solidFill>
                <a:latin typeface="Arial" panose="020B0604020202020204" pitchFamily="34" charset="0"/>
                <a:cs typeface="Arial" panose="020B0604020202020204" pitchFamily="34" charset="0"/>
                <a:sym typeface="Symbol" panose="05050102010706020507" pitchFamily="18" charset="2"/>
              </a:rPr>
              <a:t> = characteristic angle</a:t>
            </a:r>
            <a:endParaRPr lang="en-GB" altLang="en-US" sz="2200" dirty="0">
              <a:solidFill>
                <a:schemeClr val="tx2"/>
              </a:solidFill>
              <a:latin typeface="Arial" panose="020B0604020202020204" pitchFamily="34" charset="0"/>
              <a:cs typeface="Arial" panose="020B0604020202020204" pitchFamily="34" charset="0"/>
            </a:endParaRPr>
          </a:p>
        </p:txBody>
      </p:sp>
      <p:sp>
        <p:nvSpPr>
          <p:cNvPr id="93206" name="Line 22"/>
          <p:cNvSpPr>
            <a:spLocks noChangeShapeType="1"/>
          </p:cNvSpPr>
          <p:nvPr/>
        </p:nvSpPr>
        <p:spPr bwMode="auto">
          <a:xfrm>
            <a:off x="5554663" y="1520825"/>
            <a:ext cx="0" cy="38560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7" name="Line 23"/>
          <p:cNvSpPr>
            <a:spLocks noChangeShapeType="1"/>
          </p:cNvSpPr>
          <p:nvPr/>
        </p:nvSpPr>
        <p:spPr bwMode="auto">
          <a:xfrm>
            <a:off x="4360863" y="4641850"/>
            <a:ext cx="4024312"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8" name="Line 24"/>
          <p:cNvSpPr>
            <a:spLocks noChangeShapeType="1"/>
          </p:cNvSpPr>
          <p:nvPr/>
        </p:nvSpPr>
        <p:spPr bwMode="auto">
          <a:xfrm flipV="1">
            <a:off x="4902200" y="1887538"/>
            <a:ext cx="2803525" cy="35925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9" name="Line 25"/>
          <p:cNvSpPr>
            <a:spLocks noChangeShapeType="1"/>
          </p:cNvSpPr>
          <p:nvPr/>
        </p:nvSpPr>
        <p:spPr bwMode="auto">
          <a:xfrm flipV="1">
            <a:off x="5445125" y="2368550"/>
            <a:ext cx="1882775" cy="2414588"/>
          </a:xfrm>
          <a:prstGeom prst="line">
            <a:avLst/>
          </a:prstGeom>
          <a:noFill/>
          <a:ln w="28575">
            <a:solidFill>
              <a:schemeClr val="tx2"/>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93210" name="Oval 26"/>
          <p:cNvSpPr>
            <a:spLocks noChangeArrowheads="1"/>
          </p:cNvSpPr>
          <p:nvPr/>
        </p:nvSpPr>
        <p:spPr bwMode="auto">
          <a:xfrm>
            <a:off x="5160963" y="2184400"/>
            <a:ext cx="2897187" cy="2897188"/>
          </a:xfrm>
          <a:prstGeom prst="ellipse">
            <a:avLst/>
          </a:prstGeom>
          <a:noFill/>
          <a:ln w="28575">
            <a:solidFill>
              <a:schemeClr val="tx2"/>
            </a:solidFill>
            <a:round/>
            <a:headEnd/>
            <a:tailEnd/>
          </a:ln>
          <a:extLst>
            <a:ext uri="{909E8E84-426E-40DD-AFC4-6F175D3DCCD1}">
              <a14:hiddenFill xmlns:a14="http://schemas.microsoft.com/office/drawing/2010/main">
                <a:solidFill>
                  <a:srgbClr val="FFFF00"/>
                </a:solidFill>
              </a14:hiddenFill>
            </a:ext>
          </a:extLst>
        </p:spPr>
        <p:txBody>
          <a:bodyPr/>
          <a:lstStyle/>
          <a:p>
            <a:endParaRPr lang="en-US"/>
          </a:p>
        </p:txBody>
      </p:sp>
      <p:sp>
        <p:nvSpPr>
          <p:cNvPr id="93214" name="Line 30"/>
          <p:cNvSpPr>
            <a:spLocks noChangeShapeType="1"/>
          </p:cNvSpPr>
          <p:nvPr/>
        </p:nvSpPr>
        <p:spPr bwMode="auto">
          <a:xfrm>
            <a:off x="5861050" y="2397125"/>
            <a:ext cx="98425" cy="17145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93215" name="Line 31"/>
          <p:cNvSpPr>
            <a:spLocks noChangeShapeType="1"/>
          </p:cNvSpPr>
          <p:nvPr/>
        </p:nvSpPr>
        <p:spPr bwMode="auto">
          <a:xfrm>
            <a:off x="5335588" y="2955925"/>
            <a:ext cx="173037" cy="93663"/>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93216" name="Line 32"/>
          <p:cNvSpPr>
            <a:spLocks noChangeShapeType="1"/>
          </p:cNvSpPr>
          <p:nvPr/>
        </p:nvSpPr>
        <p:spPr bwMode="auto">
          <a:xfrm flipV="1">
            <a:off x="5351463" y="4246563"/>
            <a:ext cx="168275" cy="93662"/>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93217" name="Line 33"/>
          <p:cNvSpPr>
            <a:spLocks noChangeShapeType="1"/>
          </p:cNvSpPr>
          <p:nvPr/>
        </p:nvSpPr>
        <p:spPr bwMode="auto">
          <a:xfrm flipH="1">
            <a:off x="7688263" y="2949575"/>
            <a:ext cx="193675" cy="111125"/>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93218" name="Line 34"/>
          <p:cNvSpPr>
            <a:spLocks noChangeShapeType="1"/>
          </p:cNvSpPr>
          <p:nvPr/>
        </p:nvSpPr>
        <p:spPr bwMode="auto">
          <a:xfrm flipH="1" flipV="1">
            <a:off x="7639050" y="4264025"/>
            <a:ext cx="209550" cy="103188"/>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93219" name="Line 35"/>
          <p:cNvSpPr>
            <a:spLocks noChangeShapeType="1"/>
          </p:cNvSpPr>
          <p:nvPr/>
        </p:nvSpPr>
        <p:spPr bwMode="auto">
          <a:xfrm flipV="1">
            <a:off x="5888038" y="4700588"/>
            <a:ext cx="107950" cy="182562"/>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93220" name="Line 36"/>
          <p:cNvSpPr>
            <a:spLocks noChangeShapeType="1"/>
          </p:cNvSpPr>
          <p:nvPr/>
        </p:nvSpPr>
        <p:spPr bwMode="auto">
          <a:xfrm flipH="1" flipV="1">
            <a:off x="7162800" y="4722813"/>
            <a:ext cx="100013" cy="198437"/>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93224" name="Freeform 40"/>
          <p:cNvSpPr>
            <a:spLocks/>
          </p:cNvSpPr>
          <p:nvPr/>
        </p:nvSpPr>
        <p:spPr bwMode="auto">
          <a:xfrm>
            <a:off x="5880100" y="4256088"/>
            <a:ext cx="244475" cy="366712"/>
          </a:xfrm>
          <a:custGeom>
            <a:avLst/>
            <a:gdLst>
              <a:gd name="T0" fmla="*/ 296 w 334"/>
              <a:gd name="T1" fmla="*/ 502 h 502"/>
              <a:gd name="T2" fmla="*/ 322 w 334"/>
              <a:gd name="T3" fmla="*/ 446 h 502"/>
              <a:gd name="T4" fmla="*/ 334 w 334"/>
              <a:gd name="T5" fmla="*/ 382 h 502"/>
              <a:gd name="T6" fmla="*/ 334 w 334"/>
              <a:gd name="T7" fmla="*/ 315 h 502"/>
              <a:gd name="T8" fmla="*/ 319 w 334"/>
              <a:gd name="T9" fmla="*/ 244 h 502"/>
              <a:gd name="T10" fmla="*/ 292 w 334"/>
              <a:gd name="T11" fmla="*/ 176 h 502"/>
              <a:gd name="T12" fmla="*/ 244 w 334"/>
              <a:gd name="T13" fmla="*/ 116 h 502"/>
              <a:gd name="T14" fmla="*/ 202 w 334"/>
              <a:gd name="T15" fmla="*/ 71 h 502"/>
              <a:gd name="T16" fmla="*/ 154 w 334"/>
              <a:gd name="T17" fmla="*/ 45 h 502"/>
              <a:gd name="T18" fmla="*/ 105 w 334"/>
              <a:gd name="T19" fmla="*/ 15 h 502"/>
              <a:gd name="T20" fmla="*/ 41 w 334"/>
              <a:gd name="T21" fmla="*/ 0 h 502"/>
              <a:gd name="T22" fmla="*/ 0 w 334"/>
              <a:gd name="T23" fmla="*/ 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4" h="502">
                <a:moveTo>
                  <a:pt x="296" y="502"/>
                </a:moveTo>
                <a:lnTo>
                  <a:pt x="322" y="446"/>
                </a:lnTo>
                <a:lnTo>
                  <a:pt x="334" y="382"/>
                </a:lnTo>
                <a:lnTo>
                  <a:pt x="334" y="315"/>
                </a:lnTo>
                <a:lnTo>
                  <a:pt x="319" y="244"/>
                </a:lnTo>
                <a:lnTo>
                  <a:pt x="292" y="176"/>
                </a:lnTo>
                <a:lnTo>
                  <a:pt x="244" y="116"/>
                </a:lnTo>
                <a:lnTo>
                  <a:pt x="202" y="71"/>
                </a:lnTo>
                <a:lnTo>
                  <a:pt x="154" y="45"/>
                </a:lnTo>
                <a:lnTo>
                  <a:pt x="105" y="15"/>
                </a:lnTo>
                <a:lnTo>
                  <a:pt x="41" y="0"/>
                </a:lnTo>
                <a:lnTo>
                  <a:pt x="0" y="0"/>
                </a:lnTo>
              </a:path>
            </a:pathLst>
          </a:custGeom>
          <a:noFill/>
          <a:ln w="25400">
            <a:solidFill>
              <a:srgbClr val="FF0000"/>
            </a:solidFill>
            <a:round/>
            <a:headEnd type="arrow" w="sm" len="med"/>
            <a:tailEnd type="arrow" w="sm"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225" name="Text Box 41"/>
          <p:cNvSpPr txBox="1">
            <a:spLocks noChangeArrowheads="1"/>
          </p:cNvSpPr>
          <p:nvPr/>
        </p:nvSpPr>
        <p:spPr bwMode="auto">
          <a:xfrm>
            <a:off x="5613400" y="1346200"/>
            <a:ext cx="5207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800">
                <a:solidFill>
                  <a:schemeClr val="tx2"/>
                </a:solidFill>
                <a:latin typeface="FuturaA Hv BT" pitchFamily="34" charset="0"/>
              </a:rPr>
              <a:t>jX</a:t>
            </a:r>
          </a:p>
        </p:txBody>
      </p:sp>
      <p:sp>
        <p:nvSpPr>
          <p:cNvPr id="93226" name="Text Box 42"/>
          <p:cNvSpPr txBox="1">
            <a:spLocks noChangeArrowheads="1"/>
          </p:cNvSpPr>
          <p:nvPr/>
        </p:nvSpPr>
        <p:spPr bwMode="auto">
          <a:xfrm>
            <a:off x="8362950" y="4457700"/>
            <a:ext cx="5207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800">
                <a:solidFill>
                  <a:schemeClr val="tx2"/>
                </a:solidFill>
                <a:latin typeface="FuturaA Hv BT" pitchFamily="34" charset="0"/>
              </a:rPr>
              <a:t>R</a:t>
            </a:r>
          </a:p>
        </p:txBody>
      </p:sp>
      <p:sp>
        <p:nvSpPr>
          <p:cNvPr id="93227" name="Text Box 43"/>
          <p:cNvSpPr txBox="1">
            <a:spLocks noChangeArrowheads="1"/>
          </p:cNvSpPr>
          <p:nvPr/>
        </p:nvSpPr>
        <p:spPr bwMode="auto">
          <a:xfrm>
            <a:off x="5024438" y="5528468"/>
            <a:ext cx="5207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800" dirty="0">
                <a:solidFill>
                  <a:schemeClr val="tx2"/>
                </a:solidFill>
                <a:latin typeface="FuturaA Hv BT" pitchFamily="34" charset="0"/>
              </a:rPr>
              <a:t>F3</a:t>
            </a:r>
          </a:p>
        </p:txBody>
      </p:sp>
      <p:sp>
        <p:nvSpPr>
          <p:cNvPr id="93228" name="Text Box 44"/>
          <p:cNvSpPr txBox="1">
            <a:spLocks noChangeArrowheads="1"/>
          </p:cNvSpPr>
          <p:nvPr/>
        </p:nvSpPr>
        <p:spPr bwMode="auto">
          <a:xfrm>
            <a:off x="6580188" y="3771900"/>
            <a:ext cx="5207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800">
                <a:solidFill>
                  <a:schemeClr val="tx2"/>
                </a:solidFill>
                <a:latin typeface="FuturaA Hv BT" pitchFamily="34" charset="0"/>
              </a:rPr>
              <a:t>F</a:t>
            </a:r>
            <a:r>
              <a:rPr lang="en-GB" altLang="en-US" sz="1800" baseline="-25000">
                <a:solidFill>
                  <a:schemeClr val="tx2"/>
                </a:solidFill>
                <a:latin typeface="FuturaA Hv BT" pitchFamily="34" charset="0"/>
              </a:rPr>
              <a:t>1</a:t>
            </a:r>
            <a:endParaRPr lang="en-GB" altLang="en-US" sz="1800">
              <a:solidFill>
                <a:schemeClr val="tx2"/>
              </a:solidFill>
              <a:latin typeface="FuturaA Hv BT" pitchFamily="34" charset="0"/>
            </a:endParaRPr>
          </a:p>
        </p:txBody>
      </p:sp>
      <p:sp>
        <p:nvSpPr>
          <p:cNvPr id="93229" name="Text Box 45"/>
          <p:cNvSpPr txBox="1">
            <a:spLocks noChangeArrowheads="1"/>
          </p:cNvSpPr>
          <p:nvPr/>
        </p:nvSpPr>
        <p:spPr bwMode="auto">
          <a:xfrm>
            <a:off x="7175500" y="2578100"/>
            <a:ext cx="5207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800">
                <a:solidFill>
                  <a:schemeClr val="tx2"/>
                </a:solidFill>
                <a:latin typeface="FuturaA Hv BT" pitchFamily="34" charset="0"/>
              </a:rPr>
              <a:t>Z</a:t>
            </a:r>
          </a:p>
        </p:txBody>
      </p:sp>
      <p:sp>
        <p:nvSpPr>
          <p:cNvPr id="93230" name="Text Box 46"/>
          <p:cNvSpPr txBox="1">
            <a:spLocks noChangeArrowheads="1"/>
          </p:cNvSpPr>
          <p:nvPr/>
        </p:nvSpPr>
        <p:spPr bwMode="auto">
          <a:xfrm>
            <a:off x="6172200" y="4216400"/>
            <a:ext cx="5207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800" b="1">
                <a:solidFill>
                  <a:schemeClr val="tx2"/>
                </a:solidFill>
                <a:latin typeface="FuturaA Hv BT" pitchFamily="34" charset="0"/>
                <a:sym typeface="Symbol" panose="05050102010706020507" pitchFamily="18" charset="2"/>
              </a:rPr>
              <a:t></a:t>
            </a:r>
            <a:endParaRPr lang="en-GB" altLang="en-US" sz="1800">
              <a:solidFill>
                <a:schemeClr val="tx2"/>
              </a:solidFill>
              <a:latin typeface="FuturaA Hv BT" pitchFamily="34" charset="0"/>
            </a:endParaRPr>
          </a:p>
        </p:txBody>
      </p:sp>
      <p:sp>
        <p:nvSpPr>
          <p:cNvPr id="93231" name="Text Box 47"/>
          <p:cNvSpPr txBox="1">
            <a:spLocks noChangeArrowheads="1"/>
          </p:cNvSpPr>
          <p:nvPr/>
        </p:nvSpPr>
        <p:spPr bwMode="auto">
          <a:xfrm>
            <a:off x="6743700" y="3340100"/>
            <a:ext cx="12827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600" dirty="0">
                <a:solidFill>
                  <a:srgbClr val="FF0000"/>
                </a:solidFill>
                <a:latin typeface="Arial" panose="020B0604020202020204" pitchFamily="34" charset="0"/>
                <a:cs typeface="Arial" panose="020B0604020202020204" pitchFamily="34" charset="0"/>
              </a:rPr>
              <a:t>OPERATE</a:t>
            </a:r>
          </a:p>
        </p:txBody>
      </p:sp>
      <p:sp>
        <p:nvSpPr>
          <p:cNvPr id="93232" name="Text Box 48"/>
          <p:cNvSpPr txBox="1">
            <a:spLocks noChangeArrowheads="1"/>
          </p:cNvSpPr>
          <p:nvPr/>
        </p:nvSpPr>
        <p:spPr bwMode="auto">
          <a:xfrm>
            <a:off x="5962133" y="1783230"/>
            <a:ext cx="12573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600" dirty="0">
                <a:solidFill>
                  <a:schemeClr val="tx2"/>
                </a:solidFill>
                <a:latin typeface="Arial" panose="020B0604020202020204" pitchFamily="34" charset="0"/>
                <a:cs typeface="Arial" panose="020B0604020202020204" pitchFamily="34" charset="0"/>
              </a:rPr>
              <a:t>RESTRAIN</a:t>
            </a:r>
          </a:p>
        </p:txBody>
      </p:sp>
      <p:sp>
        <p:nvSpPr>
          <p:cNvPr id="93233" name="Line 49"/>
          <p:cNvSpPr>
            <a:spLocks noChangeShapeType="1"/>
          </p:cNvSpPr>
          <p:nvPr/>
        </p:nvSpPr>
        <p:spPr bwMode="auto">
          <a:xfrm>
            <a:off x="6489700" y="2206625"/>
            <a:ext cx="34925" cy="18415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93234" name="Line 50"/>
          <p:cNvSpPr>
            <a:spLocks noChangeShapeType="1"/>
          </p:cNvSpPr>
          <p:nvPr/>
        </p:nvSpPr>
        <p:spPr bwMode="auto">
          <a:xfrm>
            <a:off x="5175250" y="3629025"/>
            <a:ext cx="174625"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93235" name="Line 51"/>
          <p:cNvSpPr>
            <a:spLocks noChangeShapeType="1"/>
          </p:cNvSpPr>
          <p:nvPr/>
        </p:nvSpPr>
        <p:spPr bwMode="auto">
          <a:xfrm flipH="1">
            <a:off x="7858125" y="3667125"/>
            <a:ext cx="187325" cy="2540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93236" name="Line 52"/>
          <p:cNvSpPr>
            <a:spLocks noChangeShapeType="1"/>
          </p:cNvSpPr>
          <p:nvPr/>
        </p:nvSpPr>
        <p:spPr bwMode="auto">
          <a:xfrm flipH="1" flipV="1">
            <a:off x="6638925" y="4841875"/>
            <a:ext cx="9525" cy="23495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grpSp>
        <p:nvGrpSpPr>
          <p:cNvPr id="36" name="Group 35"/>
          <p:cNvGrpSpPr/>
          <p:nvPr/>
        </p:nvGrpSpPr>
        <p:grpSpPr>
          <a:xfrm rot="231594">
            <a:off x="6523648" y="3082622"/>
            <a:ext cx="373063" cy="766490"/>
            <a:chOff x="8453052" y="3336859"/>
            <a:chExt cx="373063" cy="720725"/>
          </a:xfrm>
        </p:grpSpPr>
        <p:sp>
          <p:nvSpPr>
            <p:cNvPr id="37" name="Line 112"/>
            <p:cNvSpPr>
              <a:spLocks noChangeShapeType="1"/>
            </p:cNvSpPr>
            <p:nvPr/>
          </p:nvSpPr>
          <p:spPr bwMode="auto">
            <a:xfrm flipV="1">
              <a:off x="8562945" y="3503547"/>
              <a:ext cx="98425" cy="250825"/>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8" name="Group 37"/>
            <p:cNvGrpSpPr/>
            <p:nvPr/>
          </p:nvGrpSpPr>
          <p:grpSpPr>
            <a:xfrm>
              <a:off x="8453052" y="3336859"/>
              <a:ext cx="373063" cy="720725"/>
              <a:chOff x="8321679" y="2473327"/>
              <a:chExt cx="373063" cy="720725"/>
            </a:xfrm>
          </p:grpSpPr>
          <p:sp>
            <p:nvSpPr>
              <p:cNvPr id="39" name="Line 111"/>
              <p:cNvSpPr>
                <a:spLocks noChangeShapeType="1"/>
              </p:cNvSpPr>
              <p:nvPr/>
            </p:nvSpPr>
            <p:spPr bwMode="auto">
              <a:xfrm>
                <a:off x="8321679" y="2473327"/>
                <a:ext cx="117475" cy="417513"/>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 name="Line 113"/>
              <p:cNvSpPr>
                <a:spLocks noChangeShapeType="1"/>
              </p:cNvSpPr>
              <p:nvPr/>
            </p:nvSpPr>
            <p:spPr bwMode="auto">
              <a:xfrm>
                <a:off x="8539167" y="2644777"/>
                <a:ext cx="155575" cy="549275"/>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41" name="Group 40"/>
          <p:cNvGrpSpPr/>
          <p:nvPr/>
        </p:nvGrpSpPr>
        <p:grpSpPr>
          <a:xfrm rot="231594">
            <a:off x="4900613" y="4790156"/>
            <a:ext cx="373063" cy="766490"/>
            <a:chOff x="8453052" y="3336859"/>
            <a:chExt cx="373063" cy="720725"/>
          </a:xfrm>
        </p:grpSpPr>
        <p:sp>
          <p:nvSpPr>
            <p:cNvPr id="42" name="Line 112"/>
            <p:cNvSpPr>
              <a:spLocks noChangeShapeType="1"/>
            </p:cNvSpPr>
            <p:nvPr/>
          </p:nvSpPr>
          <p:spPr bwMode="auto">
            <a:xfrm flipV="1">
              <a:off x="8562945" y="3503547"/>
              <a:ext cx="98425" cy="250825"/>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43" name="Group 42"/>
            <p:cNvGrpSpPr/>
            <p:nvPr/>
          </p:nvGrpSpPr>
          <p:grpSpPr>
            <a:xfrm>
              <a:off x="8453052" y="3336859"/>
              <a:ext cx="373063" cy="720725"/>
              <a:chOff x="8321679" y="2473327"/>
              <a:chExt cx="373063" cy="720725"/>
            </a:xfrm>
          </p:grpSpPr>
          <p:sp>
            <p:nvSpPr>
              <p:cNvPr id="44" name="Line 111"/>
              <p:cNvSpPr>
                <a:spLocks noChangeShapeType="1"/>
              </p:cNvSpPr>
              <p:nvPr/>
            </p:nvSpPr>
            <p:spPr bwMode="auto">
              <a:xfrm>
                <a:off x="8321679" y="2473327"/>
                <a:ext cx="117475" cy="417513"/>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 name="Line 113"/>
              <p:cNvSpPr>
                <a:spLocks noChangeShapeType="1"/>
              </p:cNvSpPr>
              <p:nvPr/>
            </p:nvSpPr>
            <p:spPr bwMode="auto">
              <a:xfrm>
                <a:off x="8539167" y="2644777"/>
                <a:ext cx="155575" cy="549275"/>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46" name="Group 45"/>
          <p:cNvGrpSpPr/>
          <p:nvPr/>
        </p:nvGrpSpPr>
        <p:grpSpPr>
          <a:xfrm rot="231594">
            <a:off x="7399314" y="1629705"/>
            <a:ext cx="373063" cy="766490"/>
            <a:chOff x="8453052" y="3336859"/>
            <a:chExt cx="373063" cy="720725"/>
          </a:xfrm>
        </p:grpSpPr>
        <p:sp>
          <p:nvSpPr>
            <p:cNvPr id="47" name="Line 112"/>
            <p:cNvSpPr>
              <a:spLocks noChangeShapeType="1"/>
            </p:cNvSpPr>
            <p:nvPr/>
          </p:nvSpPr>
          <p:spPr bwMode="auto">
            <a:xfrm flipV="1">
              <a:off x="8562945" y="3503547"/>
              <a:ext cx="98425" cy="250825"/>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48" name="Group 47"/>
            <p:cNvGrpSpPr/>
            <p:nvPr/>
          </p:nvGrpSpPr>
          <p:grpSpPr>
            <a:xfrm>
              <a:off x="8453052" y="3336859"/>
              <a:ext cx="373063" cy="720725"/>
              <a:chOff x="8321679" y="2473327"/>
              <a:chExt cx="373063" cy="720725"/>
            </a:xfrm>
          </p:grpSpPr>
          <p:sp>
            <p:nvSpPr>
              <p:cNvPr id="49" name="Line 111"/>
              <p:cNvSpPr>
                <a:spLocks noChangeShapeType="1"/>
              </p:cNvSpPr>
              <p:nvPr/>
            </p:nvSpPr>
            <p:spPr bwMode="auto">
              <a:xfrm>
                <a:off x="8321679" y="2473327"/>
                <a:ext cx="117475" cy="417513"/>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 name="Line 113"/>
              <p:cNvSpPr>
                <a:spLocks noChangeShapeType="1"/>
              </p:cNvSpPr>
              <p:nvPr/>
            </p:nvSpPr>
            <p:spPr bwMode="auto">
              <a:xfrm>
                <a:off x="8539167" y="2644777"/>
                <a:ext cx="155575" cy="549275"/>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56" name="Text Box 43"/>
          <p:cNvSpPr txBox="1">
            <a:spLocks noChangeArrowheads="1"/>
          </p:cNvSpPr>
          <p:nvPr/>
        </p:nvSpPr>
        <p:spPr bwMode="auto">
          <a:xfrm>
            <a:off x="7735211" y="2106613"/>
            <a:ext cx="5207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800" dirty="0">
                <a:solidFill>
                  <a:schemeClr val="tx2"/>
                </a:solidFill>
                <a:latin typeface="FuturaA Hv BT" pitchFamily="34" charset="0"/>
              </a:rPr>
              <a:t>F</a:t>
            </a:r>
            <a:r>
              <a:rPr lang="en-GB" altLang="en-US" sz="1800" baseline="-25000" dirty="0">
                <a:solidFill>
                  <a:schemeClr val="tx2"/>
                </a:solidFill>
                <a:latin typeface="FuturaA Hv BT" pitchFamily="34" charset="0"/>
              </a:rPr>
              <a:t>2</a:t>
            </a:r>
            <a:endParaRPr lang="en-GB" altLang="en-US" sz="1800" dirty="0">
              <a:solidFill>
                <a:schemeClr val="tx2"/>
              </a:solidFill>
              <a:latin typeface="FuturaA Hv BT" pitchFamily="34" charset="0"/>
            </a:endParaRPr>
          </a:p>
        </p:txBody>
      </p:sp>
    </p:spTree>
    <p:extLst>
      <p:ext uri="{BB962C8B-B14F-4D97-AF65-F5344CB8AC3E}">
        <p14:creationId xmlns:p14="http://schemas.microsoft.com/office/powerpoint/2010/main" val="4203406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40" name="Rectangle 60"/>
          <p:cNvSpPr>
            <a:spLocks noGrp="1" noChangeArrowheads="1"/>
          </p:cNvSpPr>
          <p:nvPr>
            <p:ph type="title"/>
          </p:nvPr>
        </p:nvSpPr>
        <p:spPr bwMode="auto">
          <a:xfrm>
            <a:off x="299085" y="137606"/>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dirty="0"/>
              <a:t>Offset Mho Characteristic:</a:t>
            </a:r>
          </a:p>
        </p:txBody>
      </p:sp>
      <p:sp>
        <p:nvSpPr>
          <p:cNvPr id="97341" name="Text Box 61"/>
          <p:cNvSpPr txBox="1">
            <a:spLocks noChangeArrowheads="1"/>
          </p:cNvSpPr>
          <p:nvPr/>
        </p:nvSpPr>
        <p:spPr bwMode="auto">
          <a:xfrm>
            <a:off x="549594" y="1118392"/>
            <a:ext cx="3943985"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381000" indent="-381000">
              <a:defRPr sz="2400">
                <a:solidFill>
                  <a:schemeClr val="tx1"/>
                </a:solidFill>
                <a:latin typeface="Times New Roman" panose="02020603050405020304" pitchFamily="18" charset="0"/>
              </a:defRPr>
            </a:lvl1pPr>
            <a:lvl2pPr marL="571500">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lgn="l">
              <a:spcBef>
                <a:spcPct val="50000"/>
              </a:spcBef>
              <a:buClr>
                <a:srgbClr val="C4122F"/>
              </a:buClr>
              <a:buFont typeface="Wingdings 3" panose="05040102010807070707" pitchFamily="18" charset="2"/>
              <a:buChar char="u"/>
            </a:pPr>
            <a:r>
              <a:rPr lang="en-GB" altLang="en-US" sz="2200" b="1" dirty="0">
                <a:solidFill>
                  <a:schemeClr val="tx2"/>
                </a:solidFill>
                <a:latin typeface="FuturaA Md BT" pitchFamily="34" charset="0"/>
              </a:rPr>
              <a:t>Normally used as backup protection</a:t>
            </a:r>
          </a:p>
          <a:p>
            <a:pPr algn="l">
              <a:spcBef>
                <a:spcPct val="50000"/>
              </a:spcBef>
              <a:buClr>
                <a:srgbClr val="C4122F"/>
              </a:buClr>
              <a:buFont typeface="Wingdings 3" panose="05040102010807070707" pitchFamily="18" charset="2"/>
              <a:buChar char="u"/>
            </a:pPr>
            <a:r>
              <a:rPr lang="en-GB" altLang="en-US" sz="2200" b="1" dirty="0">
                <a:solidFill>
                  <a:schemeClr val="tx2"/>
                </a:solidFill>
                <a:latin typeface="FuturaA Md BT" pitchFamily="34" charset="0"/>
              </a:rPr>
              <a:t>Operates for zero faults (close up faults)</a:t>
            </a:r>
          </a:p>
          <a:p>
            <a:pPr algn="l">
              <a:spcBef>
                <a:spcPct val="50000"/>
              </a:spcBef>
              <a:buClr>
                <a:srgbClr val="C4122F"/>
              </a:buClr>
              <a:buFont typeface="Wingdings 3" panose="05040102010807070707" pitchFamily="18" charset="2"/>
              <a:buChar char="u"/>
            </a:pPr>
            <a:r>
              <a:rPr lang="en-GB" altLang="en-US" sz="2200" b="1" dirty="0">
                <a:solidFill>
                  <a:schemeClr val="tx2"/>
                </a:solidFill>
                <a:latin typeface="FuturaA Md BT" pitchFamily="34" charset="0"/>
              </a:rPr>
              <a:t>Generally time delayed (as not discriminative)</a:t>
            </a:r>
          </a:p>
        </p:txBody>
      </p:sp>
      <p:grpSp>
        <p:nvGrpSpPr>
          <p:cNvPr id="2" name="Group 1"/>
          <p:cNvGrpSpPr/>
          <p:nvPr/>
        </p:nvGrpSpPr>
        <p:grpSpPr>
          <a:xfrm>
            <a:off x="3911601" y="1967309"/>
            <a:ext cx="4592319" cy="4403011"/>
            <a:chOff x="1518402" y="1336676"/>
            <a:chExt cx="3252035" cy="3268662"/>
          </a:xfrm>
        </p:grpSpPr>
        <p:sp>
          <p:nvSpPr>
            <p:cNvPr id="97342" name="Line 62"/>
            <p:cNvSpPr>
              <a:spLocks noChangeShapeType="1"/>
            </p:cNvSpPr>
            <p:nvPr/>
          </p:nvSpPr>
          <p:spPr bwMode="auto">
            <a:xfrm>
              <a:off x="2754313" y="1568451"/>
              <a:ext cx="569" cy="296602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43" name="Line 63"/>
            <p:cNvSpPr>
              <a:spLocks noChangeShapeType="1"/>
            </p:cNvSpPr>
            <p:nvPr/>
          </p:nvSpPr>
          <p:spPr bwMode="auto">
            <a:xfrm flipV="1">
              <a:off x="1518402" y="3872378"/>
              <a:ext cx="2894875" cy="1623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44" name="Line 64"/>
            <p:cNvSpPr>
              <a:spLocks noChangeShapeType="1"/>
            </p:cNvSpPr>
            <p:nvPr/>
          </p:nvSpPr>
          <p:spPr bwMode="auto">
            <a:xfrm flipV="1">
              <a:off x="2636838" y="1884363"/>
              <a:ext cx="668337" cy="2403475"/>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97345" name="Oval 65"/>
            <p:cNvSpPr>
              <a:spLocks noChangeArrowheads="1"/>
            </p:cNvSpPr>
            <p:nvPr/>
          </p:nvSpPr>
          <p:spPr bwMode="auto">
            <a:xfrm>
              <a:off x="1714500" y="1838325"/>
              <a:ext cx="2498725" cy="249713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346" name="Text Box 66"/>
            <p:cNvSpPr txBox="1">
              <a:spLocks noChangeArrowheads="1"/>
            </p:cNvSpPr>
            <p:nvPr/>
          </p:nvSpPr>
          <p:spPr bwMode="auto">
            <a:xfrm>
              <a:off x="2679233" y="1336676"/>
              <a:ext cx="439737"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800" dirty="0" err="1">
                  <a:solidFill>
                    <a:schemeClr val="tx2"/>
                  </a:solidFill>
                  <a:latin typeface="FuturaA Hv BT" pitchFamily="34" charset="0"/>
                </a:rPr>
                <a:t>jX</a:t>
              </a:r>
              <a:endParaRPr lang="en-GB" altLang="en-US" sz="1800" dirty="0">
                <a:solidFill>
                  <a:schemeClr val="tx2"/>
                </a:solidFill>
                <a:latin typeface="FuturaA Hv BT" pitchFamily="34" charset="0"/>
              </a:endParaRPr>
            </a:p>
          </p:txBody>
        </p:sp>
        <p:sp>
          <p:nvSpPr>
            <p:cNvPr id="97347" name="Text Box 67"/>
            <p:cNvSpPr txBox="1">
              <a:spLocks noChangeArrowheads="1"/>
            </p:cNvSpPr>
            <p:nvPr/>
          </p:nvSpPr>
          <p:spPr bwMode="auto">
            <a:xfrm>
              <a:off x="4330700" y="3689021"/>
              <a:ext cx="439737"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800" dirty="0">
                  <a:solidFill>
                    <a:schemeClr val="tx2"/>
                  </a:solidFill>
                  <a:latin typeface="FuturaA Hv BT" pitchFamily="34" charset="0"/>
                </a:rPr>
                <a:t>R</a:t>
              </a:r>
            </a:p>
          </p:txBody>
        </p:sp>
        <p:sp>
          <p:nvSpPr>
            <p:cNvPr id="97348" name="Text Box 68"/>
            <p:cNvSpPr txBox="1">
              <a:spLocks noChangeArrowheads="1"/>
            </p:cNvSpPr>
            <p:nvPr/>
          </p:nvSpPr>
          <p:spPr bwMode="auto">
            <a:xfrm>
              <a:off x="2922588" y="1863725"/>
              <a:ext cx="439737"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800">
                  <a:solidFill>
                    <a:schemeClr val="tx2"/>
                  </a:solidFill>
                  <a:latin typeface="FuturaA Hv BT" pitchFamily="34" charset="0"/>
                </a:rPr>
                <a:t>Z</a:t>
              </a:r>
            </a:p>
          </p:txBody>
        </p:sp>
        <p:sp>
          <p:nvSpPr>
            <p:cNvPr id="97349" name="Text Box 69"/>
            <p:cNvSpPr txBox="1">
              <a:spLocks noChangeArrowheads="1"/>
            </p:cNvSpPr>
            <p:nvPr/>
          </p:nvSpPr>
          <p:spPr bwMode="auto">
            <a:xfrm>
              <a:off x="2228850" y="4238625"/>
              <a:ext cx="528638"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altLang="en-US" sz="1800">
                  <a:solidFill>
                    <a:schemeClr val="tx2"/>
                  </a:solidFill>
                  <a:latin typeface="FuturaA Hv BT" pitchFamily="34" charset="0"/>
                </a:rPr>
                <a:t>-Z’</a:t>
              </a:r>
            </a:p>
          </p:txBody>
        </p:sp>
      </p:grpSp>
    </p:spTree>
    <p:extLst>
      <p:ext uri="{BB962C8B-B14F-4D97-AF65-F5344CB8AC3E}">
        <p14:creationId xmlns:p14="http://schemas.microsoft.com/office/powerpoint/2010/main" val="2626524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601" name="Rectangle 225"/>
          <p:cNvSpPr>
            <a:spLocks noGrp="1" noChangeArrowheads="1"/>
          </p:cNvSpPr>
          <p:nvPr>
            <p:ph type="title"/>
          </p:nvPr>
        </p:nvSpPr>
        <p:spPr bwMode="auto">
          <a:xfrm>
            <a:off x="267308" y="211577"/>
            <a:ext cx="8634413" cy="587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dirty="0"/>
              <a:t>Quadrilateral Characteristic</a:t>
            </a:r>
          </a:p>
        </p:txBody>
      </p:sp>
      <p:sp>
        <p:nvSpPr>
          <p:cNvPr id="101602" name="Freeform 226"/>
          <p:cNvSpPr>
            <a:spLocks/>
          </p:cNvSpPr>
          <p:nvPr/>
        </p:nvSpPr>
        <p:spPr bwMode="auto">
          <a:xfrm>
            <a:off x="6085046" y="1623807"/>
            <a:ext cx="1165860" cy="3645937"/>
          </a:xfrm>
          <a:custGeom>
            <a:avLst/>
            <a:gdLst>
              <a:gd name="T0" fmla="*/ 18 w 541"/>
              <a:gd name="T1" fmla="*/ 158 h 1752"/>
              <a:gd name="T2" fmla="*/ 61 w 541"/>
              <a:gd name="T3" fmla="*/ 234 h 1752"/>
              <a:gd name="T4" fmla="*/ 102 w 541"/>
              <a:gd name="T5" fmla="*/ 307 h 1752"/>
              <a:gd name="T6" fmla="*/ 128 w 541"/>
              <a:gd name="T7" fmla="*/ 368 h 1752"/>
              <a:gd name="T8" fmla="*/ 154 w 541"/>
              <a:gd name="T9" fmla="*/ 440 h 1752"/>
              <a:gd name="T10" fmla="*/ 176 w 541"/>
              <a:gd name="T11" fmla="*/ 513 h 1752"/>
              <a:gd name="T12" fmla="*/ 191 w 541"/>
              <a:gd name="T13" fmla="*/ 589 h 1752"/>
              <a:gd name="T14" fmla="*/ 209 w 541"/>
              <a:gd name="T15" fmla="*/ 668 h 1752"/>
              <a:gd name="T16" fmla="*/ 219 w 541"/>
              <a:gd name="T17" fmla="*/ 762 h 1752"/>
              <a:gd name="T18" fmla="*/ 224 w 541"/>
              <a:gd name="T19" fmla="*/ 860 h 1752"/>
              <a:gd name="T20" fmla="*/ 228 w 541"/>
              <a:gd name="T21" fmla="*/ 944 h 1752"/>
              <a:gd name="T22" fmla="*/ 224 w 541"/>
              <a:gd name="T23" fmla="*/ 1016 h 1752"/>
              <a:gd name="T24" fmla="*/ 212 w 541"/>
              <a:gd name="T25" fmla="*/ 1102 h 1752"/>
              <a:gd name="T26" fmla="*/ 197 w 541"/>
              <a:gd name="T27" fmla="*/ 1187 h 1752"/>
              <a:gd name="T28" fmla="*/ 169 w 541"/>
              <a:gd name="T29" fmla="*/ 1300 h 1752"/>
              <a:gd name="T30" fmla="*/ 137 w 541"/>
              <a:gd name="T31" fmla="*/ 1400 h 1752"/>
              <a:gd name="T32" fmla="*/ 97 w 541"/>
              <a:gd name="T33" fmla="*/ 1493 h 1752"/>
              <a:gd name="T34" fmla="*/ 42 w 541"/>
              <a:gd name="T35" fmla="*/ 1603 h 1752"/>
              <a:gd name="T36" fmla="*/ 0 w 541"/>
              <a:gd name="T37" fmla="*/ 1675 h 1752"/>
              <a:gd name="T38" fmla="*/ 143 w 541"/>
              <a:gd name="T39" fmla="*/ 1751 h 1752"/>
              <a:gd name="T40" fmla="*/ 297 w 541"/>
              <a:gd name="T41" fmla="*/ 1642 h 1752"/>
              <a:gd name="T42" fmla="*/ 304 w 541"/>
              <a:gd name="T43" fmla="*/ 1530 h 1752"/>
              <a:gd name="T44" fmla="*/ 371 w 541"/>
              <a:gd name="T45" fmla="*/ 1467 h 1752"/>
              <a:gd name="T46" fmla="*/ 312 w 541"/>
              <a:gd name="T47" fmla="*/ 1339 h 1752"/>
              <a:gd name="T48" fmla="*/ 443 w 541"/>
              <a:gd name="T49" fmla="*/ 1220 h 1752"/>
              <a:gd name="T50" fmla="*/ 458 w 541"/>
              <a:gd name="T51" fmla="*/ 1072 h 1752"/>
              <a:gd name="T52" fmla="*/ 494 w 541"/>
              <a:gd name="T53" fmla="*/ 1016 h 1752"/>
              <a:gd name="T54" fmla="*/ 436 w 541"/>
              <a:gd name="T55" fmla="*/ 711 h 1752"/>
              <a:gd name="T56" fmla="*/ 540 w 541"/>
              <a:gd name="T57" fmla="*/ 693 h 1752"/>
              <a:gd name="T58" fmla="*/ 388 w 541"/>
              <a:gd name="T59" fmla="*/ 492 h 1752"/>
              <a:gd name="T60" fmla="*/ 397 w 541"/>
              <a:gd name="T61" fmla="*/ 329 h 1752"/>
              <a:gd name="T62" fmla="*/ 221 w 541"/>
              <a:gd name="T63" fmla="*/ 182 h 1752"/>
              <a:gd name="T64" fmla="*/ 212 w 541"/>
              <a:gd name="T65" fmla="*/ 0 h 1752"/>
              <a:gd name="T66" fmla="*/ 18 w 541"/>
              <a:gd name="T67" fmla="*/ 158 h 1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1" h="1752">
                <a:moveTo>
                  <a:pt x="18" y="158"/>
                </a:moveTo>
                <a:lnTo>
                  <a:pt x="61" y="234"/>
                </a:lnTo>
                <a:lnTo>
                  <a:pt x="102" y="307"/>
                </a:lnTo>
                <a:lnTo>
                  <a:pt x="128" y="368"/>
                </a:lnTo>
                <a:lnTo>
                  <a:pt x="154" y="440"/>
                </a:lnTo>
                <a:lnTo>
                  <a:pt x="176" y="513"/>
                </a:lnTo>
                <a:lnTo>
                  <a:pt x="191" y="589"/>
                </a:lnTo>
                <a:lnTo>
                  <a:pt x="209" y="668"/>
                </a:lnTo>
                <a:lnTo>
                  <a:pt x="219" y="762"/>
                </a:lnTo>
                <a:lnTo>
                  <a:pt x="224" y="860"/>
                </a:lnTo>
                <a:lnTo>
                  <a:pt x="228" y="944"/>
                </a:lnTo>
                <a:lnTo>
                  <a:pt x="224" y="1016"/>
                </a:lnTo>
                <a:lnTo>
                  <a:pt x="212" y="1102"/>
                </a:lnTo>
                <a:lnTo>
                  <a:pt x="197" y="1187"/>
                </a:lnTo>
                <a:lnTo>
                  <a:pt x="169" y="1300"/>
                </a:lnTo>
                <a:lnTo>
                  <a:pt x="137" y="1400"/>
                </a:lnTo>
                <a:lnTo>
                  <a:pt x="97" y="1493"/>
                </a:lnTo>
                <a:lnTo>
                  <a:pt x="42" y="1603"/>
                </a:lnTo>
                <a:lnTo>
                  <a:pt x="0" y="1675"/>
                </a:lnTo>
                <a:lnTo>
                  <a:pt x="143" y="1751"/>
                </a:lnTo>
                <a:lnTo>
                  <a:pt x="297" y="1642"/>
                </a:lnTo>
                <a:lnTo>
                  <a:pt x="304" y="1530"/>
                </a:lnTo>
                <a:lnTo>
                  <a:pt x="371" y="1467"/>
                </a:lnTo>
                <a:lnTo>
                  <a:pt x="312" y="1339"/>
                </a:lnTo>
                <a:lnTo>
                  <a:pt x="443" y="1220"/>
                </a:lnTo>
                <a:lnTo>
                  <a:pt x="458" y="1072"/>
                </a:lnTo>
                <a:lnTo>
                  <a:pt x="494" y="1016"/>
                </a:lnTo>
                <a:lnTo>
                  <a:pt x="436" y="711"/>
                </a:lnTo>
                <a:lnTo>
                  <a:pt x="540" y="693"/>
                </a:lnTo>
                <a:lnTo>
                  <a:pt x="388" y="492"/>
                </a:lnTo>
                <a:lnTo>
                  <a:pt x="397" y="329"/>
                </a:lnTo>
                <a:lnTo>
                  <a:pt x="221" y="182"/>
                </a:lnTo>
                <a:lnTo>
                  <a:pt x="212" y="0"/>
                </a:lnTo>
                <a:lnTo>
                  <a:pt x="18" y="158"/>
                </a:lnTo>
              </a:path>
            </a:pathLst>
          </a:custGeom>
          <a:solidFill>
            <a:srgbClr val="CECECE"/>
          </a:solidFill>
          <a:ln w="25400" cap="rnd" cmpd="sng">
            <a:solidFill>
              <a:srgbClr val="1E1E7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1603" name="Freeform 227"/>
          <p:cNvSpPr>
            <a:spLocks/>
          </p:cNvSpPr>
          <p:nvPr/>
        </p:nvSpPr>
        <p:spPr bwMode="auto">
          <a:xfrm>
            <a:off x="1425416" y="2361456"/>
            <a:ext cx="4145280" cy="1765943"/>
          </a:xfrm>
          <a:custGeom>
            <a:avLst/>
            <a:gdLst>
              <a:gd name="T0" fmla="*/ 0 w 1923"/>
              <a:gd name="T1" fmla="*/ 474 h 848"/>
              <a:gd name="T2" fmla="*/ 94 w 1923"/>
              <a:gd name="T3" fmla="*/ 0 h 848"/>
              <a:gd name="T4" fmla="*/ 1922 w 1923"/>
              <a:gd name="T5" fmla="*/ 0 h 848"/>
              <a:gd name="T6" fmla="*/ 1740 w 1923"/>
              <a:gd name="T7" fmla="*/ 847 h 848"/>
              <a:gd name="T8" fmla="*/ 0 w 1923"/>
              <a:gd name="T9" fmla="*/ 474 h 848"/>
            </a:gdLst>
            <a:ahLst/>
            <a:cxnLst>
              <a:cxn ang="0">
                <a:pos x="T0" y="T1"/>
              </a:cxn>
              <a:cxn ang="0">
                <a:pos x="T2" y="T3"/>
              </a:cxn>
              <a:cxn ang="0">
                <a:pos x="T4" y="T5"/>
              </a:cxn>
              <a:cxn ang="0">
                <a:pos x="T6" y="T7"/>
              </a:cxn>
              <a:cxn ang="0">
                <a:pos x="T8" y="T9"/>
              </a:cxn>
            </a:cxnLst>
            <a:rect l="0" t="0" r="r" b="b"/>
            <a:pathLst>
              <a:path w="1923" h="848">
                <a:moveTo>
                  <a:pt x="0" y="474"/>
                </a:moveTo>
                <a:lnTo>
                  <a:pt x="94" y="0"/>
                </a:lnTo>
                <a:lnTo>
                  <a:pt x="1922" y="0"/>
                </a:lnTo>
                <a:lnTo>
                  <a:pt x="1740" y="847"/>
                </a:lnTo>
                <a:lnTo>
                  <a:pt x="0" y="474"/>
                </a:lnTo>
              </a:path>
            </a:pathLst>
          </a:custGeom>
          <a:solidFill>
            <a:srgbClr val="FAFD00"/>
          </a:solidFill>
          <a:ln w="25400" cap="rnd" cmpd="sng">
            <a:solidFill>
              <a:srgbClr val="1E1E7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1604" name="Oval 228"/>
          <p:cNvSpPr>
            <a:spLocks noChangeArrowheads="1"/>
          </p:cNvSpPr>
          <p:nvPr/>
        </p:nvSpPr>
        <p:spPr bwMode="auto">
          <a:xfrm>
            <a:off x="2718911" y="2372493"/>
            <a:ext cx="1419225" cy="1370445"/>
          </a:xfrm>
          <a:prstGeom prst="ellipse">
            <a:avLst/>
          </a:prstGeom>
          <a:solidFill>
            <a:srgbClr val="FF0000"/>
          </a:solidFill>
          <a:ln w="2857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01605" name="Line 229"/>
          <p:cNvSpPr>
            <a:spLocks noChangeShapeType="1"/>
          </p:cNvSpPr>
          <p:nvPr/>
        </p:nvSpPr>
        <p:spPr bwMode="auto">
          <a:xfrm>
            <a:off x="3328512" y="3442311"/>
            <a:ext cx="1984534" cy="2368"/>
          </a:xfrm>
          <a:prstGeom prst="line">
            <a:avLst/>
          </a:prstGeom>
          <a:noFill/>
          <a:ln w="25400">
            <a:solidFill>
              <a:srgbClr val="1E1E7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606" name="Line 230"/>
          <p:cNvSpPr>
            <a:spLocks noChangeShapeType="1"/>
          </p:cNvSpPr>
          <p:nvPr/>
        </p:nvSpPr>
        <p:spPr bwMode="auto">
          <a:xfrm>
            <a:off x="1179432" y="3443927"/>
            <a:ext cx="6296501" cy="753"/>
          </a:xfrm>
          <a:prstGeom prst="line">
            <a:avLst/>
          </a:prstGeom>
          <a:noFill/>
          <a:ln w="25400">
            <a:solidFill>
              <a:srgbClr val="1E1E7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607" name="Line 231"/>
          <p:cNvSpPr>
            <a:spLocks noChangeShapeType="1"/>
          </p:cNvSpPr>
          <p:nvPr/>
        </p:nvSpPr>
        <p:spPr bwMode="auto">
          <a:xfrm flipH="1">
            <a:off x="3488531" y="2777188"/>
            <a:ext cx="563880" cy="0"/>
          </a:xfrm>
          <a:prstGeom prst="line">
            <a:avLst/>
          </a:prstGeom>
          <a:noFill/>
          <a:ln w="25400">
            <a:solidFill>
              <a:srgbClr val="1E1E78"/>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608" name="Line 232"/>
          <p:cNvSpPr>
            <a:spLocks noChangeShapeType="1"/>
          </p:cNvSpPr>
          <p:nvPr/>
        </p:nvSpPr>
        <p:spPr bwMode="auto">
          <a:xfrm flipH="1">
            <a:off x="4052411" y="2777188"/>
            <a:ext cx="1407795" cy="0"/>
          </a:xfrm>
          <a:prstGeom prst="line">
            <a:avLst/>
          </a:prstGeom>
          <a:noFill/>
          <a:ln w="25400">
            <a:solidFill>
              <a:srgbClr val="1E1E78"/>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609" name="Line 233"/>
          <p:cNvSpPr>
            <a:spLocks noChangeShapeType="1"/>
          </p:cNvSpPr>
          <p:nvPr/>
        </p:nvSpPr>
        <p:spPr bwMode="auto">
          <a:xfrm flipV="1">
            <a:off x="3328511" y="1140012"/>
            <a:ext cx="0" cy="4129732"/>
          </a:xfrm>
          <a:prstGeom prst="line">
            <a:avLst/>
          </a:prstGeom>
          <a:noFill/>
          <a:ln w="25400">
            <a:solidFill>
              <a:srgbClr val="1E1E7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610" name="Line 234"/>
          <p:cNvSpPr>
            <a:spLocks noChangeShapeType="1"/>
          </p:cNvSpPr>
          <p:nvPr/>
        </p:nvSpPr>
        <p:spPr bwMode="auto">
          <a:xfrm flipV="1">
            <a:off x="3328511" y="1515275"/>
            <a:ext cx="392430" cy="1918624"/>
          </a:xfrm>
          <a:prstGeom prst="line">
            <a:avLst/>
          </a:prstGeom>
          <a:noFill/>
          <a:ln w="25400">
            <a:solidFill>
              <a:srgbClr val="1E1E7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611" name="Line 235"/>
          <p:cNvSpPr>
            <a:spLocks noChangeShapeType="1"/>
          </p:cNvSpPr>
          <p:nvPr/>
        </p:nvSpPr>
        <p:spPr bwMode="auto">
          <a:xfrm>
            <a:off x="3507581" y="1901575"/>
            <a:ext cx="375285" cy="64383"/>
          </a:xfrm>
          <a:prstGeom prst="line">
            <a:avLst/>
          </a:prstGeom>
          <a:noFill/>
          <a:ln w="25400">
            <a:solidFill>
              <a:srgbClr val="1E1E7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612" name="AutoShape 236"/>
          <p:cNvSpPr>
            <a:spLocks noChangeArrowheads="1"/>
          </p:cNvSpPr>
          <p:nvPr/>
        </p:nvSpPr>
        <p:spPr bwMode="auto">
          <a:xfrm rot="720000">
            <a:off x="3432016" y="2374332"/>
            <a:ext cx="186690" cy="239138"/>
          </a:xfrm>
          <a:prstGeom prst="triangle">
            <a:avLst>
              <a:gd name="adj" fmla="val 49995"/>
            </a:avLst>
          </a:prstGeom>
          <a:solidFill>
            <a:srgbClr val="1E1E78"/>
          </a:solidFill>
          <a:ln w="12700">
            <a:solidFill>
              <a:srgbClr val="1E1E7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613" name="Rectangle 237"/>
          <p:cNvSpPr>
            <a:spLocks noChangeArrowheads="1"/>
          </p:cNvSpPr>
          <p:nvPr/>
        </p:nvSpPr>
        <p:spPr bwMode="auto">
          <a:xfrm>
            <a:off x="3756729" y="1489193"/>
            <a:ext cx="373501"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b="1" dirty="0"/>
              <a:t>ZL</a:t>
            </a:r>
          </a:p>
        </p:txBody>
      </p:sp>
      <p:sp>
        <p:nvSpPr>
          <p:cNvPr id="101615" name="Rectangle 239"/>
          <p:cNvSpPr>
            <a:spLocks noChangeArrowheads="1"/>
          </p:cNvSpPr>
          <p:nvPr/>
        </p:nvSpPr>
        <p:spPr bwMode="auto">
          <a:xfrm>
            <a:off x="3227546" y="928355"/>
            <a:ext cx="521970" cy="5261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b="1" dirty="0" err="1"/>
              <a:t>jX</a:t>
            </a:r>
            <a:endParaRPr lang="en-GB" altLang="en-US" b="1" dirty="0"/>
          </a:p>
        </p:txBody>
      </p:sp>
      <p:sp>
        <p:nvSpPr>
          <p:cNvPr id="101616" name="Rectangle 240"/>
          <p:cNvSpPr>
            <a:spLocks noChangeArrowheads="1"/>
          </p:cNvSpPr>
          <p:nvPr/>
        </p:nvSpPr>
        <p:spPr bwMode="auto">
          <a:xfrm>
            <a:off x="3601713" y="2125997"/>
            <a:ext cx="362280"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b="1" dirty="0"/>
              <a:t>Z1</a:t>
            </a:r>
          </a:p>
        </p:txBody>
      </p:sp>
      <p:sp>
        <p:nvSpPr>
          <p:cNvPr id="101617" name="Rectangle 241"/>
          <p:cNvSpPr>
            <a:spLocks noChangeArrowheads="1"/>
          </p:cNvSpPr>
          <p:nvPr/>
        </p:nvSpPr>
        <p:spPr bwMode="auto">
          <a:xfrm>
            <a:off x="5450505" y="2661298"/>
            <a:ext cx="331170"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lang="en-GB" altLang="en-US" b="1" dirty="0" err="1"/>
              <a:t>Rf</a:t>
            </a:r>
            <a:endParaRPr lang="en-GB" altLang="en-US" b="1" dirty="0"/>
          </a:p>
        </p:txBody>
      </p:sp>
      <p:sp>
        <p:nvSpPr>
          <p:cNvPr id="101619" name="Rectangle 243"/>
          <p:cNvSpPr>
            <a:spLocks noChangeArrowheads="1"/>
          </p:cNvSpPr>
          <p:nvPr/>
        </p:nvSpPr>
        <p:spPr bwMode="auto">
          <a:xfrm>
            <a:off x="7045166" y="3224193"/>
            <a:ext cx="422910" cy="5261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b="1"/>
              <a:t>R</a:t>
            </a:r>
          </a:p>
        </p:txBody>
      </p:sp>
      <p:sp>
        <p:nvSpPr>
          <p:cNvPr id="101620" name="Rectangle 244"/>
          <p:cNvSpPr>
            <a:spLocks noChangeArrowheads="1"/>
          </p:cNvSpPr>
          <p:nvPr/>
        </p:nvSpPr>
        <p:spPr bwMode="auto">
          <a:xfrm>
            <a:off x="7100988" y="2107820"/>
            <a:ext cx="734176"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b="1" dirty="0">
                <a:latin typeface="Arial" panose="020B0604020202020204" pitchFamily="34" charset="0"/>
                <a:cs typeface="Arial" panose="020B0604020202020204" pitchFamily="34" charset="0"/>
              </a:rPr>
              <a:t>Load</a:t>
            </a:r>
          </a:p>
        </p:txBody>
      </p:sp>
      <p:sp>
        <p:nvSpPr>
          <p:cNvPr id="101624" name="Rectangle 248"/>
          <p:cNvSpPr>
            <a:spLocks noChangeArrowheads="1"/>
          </p:cNvSpPr>
          <p:nvPr/>
        </p:nvSpPr>
        <p:spPr bwMode="auto">
          <a:xfrm>
            <a:off x="5261316" y="3453091"/>
            <a:ext cx="309380" cy="42832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sz="2200" b="1" dirty="0"/>
              <a:t>R</a:t>
            </a:r>
          </a:p>
        </p:txBody>
      </p:sp>
    </p:spTree>
    <p:extLst>
      <p:ext uri="{BB962C8B-B14F-4D97-AF65-F5344CB8AC3E}">
        <p14:creationId xmlns:p14="http://schemas.microsoft.com/office/powerpoint/2010/main" val="4080167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1610"/>
                                        </p:tgtEl>
                                        <p:attrNameLst>
                                          <p:attrName>style.visibility</p:attrName>
                                        </p:attrNameLst>
                                      </p:cBhvr>
                                      <p:to>
                                        <p:strVal val="visible"/>
                                      </p:to>
                                    </p:set>
                                    <p:animEffect transition="in" filter="blinds(horizontal)">
                                      <p:cBhvr>
                                        <p:cTn id="7" dur="500"/>
                                        <p:tgtEl>
                                          <p:spTgt spid="101610"/>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01613"/>
                                        </p:tgtEl>
                                        <p:attrNameLst>
                                          <p:attrName>style.visibility</p:attrName>
                                        </p:attrNameLst>
                                      </p:cBhvr>
                                      <p:to>
                                        <p:strVal val="visible"/>
                                      </p:to>
                                    </p:set>
                                    <p:animEffect transition="in" filter="blinds(horizontal)">
                                      <p:cBhvr>
                                        <p:cTn id="11" dur="500"/>
                                        <p:tgtEl>
                                          <p:spTgt spid="101613"/>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01611"/>
                                        </p:tgtEl>
                                        <p:attrNameLst>
                                          <p:attrName>style.visibility</p:attrName>
                                        </p:attrNameLst>
                                      </p:cBhvr>
                                      <p:to>
                                        <p:strVal val="visible"/>
                                      </p:to>
                                    </p:set>
                                    <p:animEffect transition="in" filter="blinds(horizontal)">
                                      <p:cBhvr>
                                        <p:cTn id="16" dur="500"/>
                                        <p:tgtEl>
                                          <p:spTgt spid="10161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01605"/>
                                        </p:tgtEl>
                                        <p:attrNameLst>
                                          <p:attrName>style.visibility</p:attrName>
                                        </p:attrNameLst>
                                      </p:cBhvr>
                                      <p:to>
                                        <p:strVal val="visible"/>
                                      </p:to>
                                    </p:set>
                                    <p:animEffect transition="in" filter="blinds(horizontal)">
                                      <p:cBhvr>
                                        <p:cTn id="21" dur="500"/>
                                        <p:tgtEl>
                                          <p:spTgt spid="101605"/>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101624"/>
                                        </p:tgtEl>
                                        <p:attrNameLst>
                                          <p:attrName>style.visibility</p:attrName>
                                        </p:attrNameLst>
                                      </p:cBhvr>
                                      <p:to>
                                        <p:strVal val="visible"/>
                                      </p:to>
                                    </p:set>
                                    <p:animEffect transition="in" filter="blinds(horizontal)">
                                      <p:cBhvr>
                                        <p:cTn id="25" dur="500"/>
                                        <p:tgtEl>
                                          <p:spTgt spid="10162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1612"/>
                                        </p:tgtEl>
                                        <p:attrNameLst>
                                          <p:attrName>style.visibility</p:attrName>
                                        </p:attrNameLst>
                                      </p:cBhvr>
                                      <p:to>
                                        <p:strVal val="visible"/>
                                      </p:to>
                                    </p:set>
                                    <p:animEffect transition="in" filter="blinds(horizontal)">
                                      <p:cBhvr>
                                        <p:cTn id="30" dur="500"/>
                                        <p:tgtEl>
                                          <p:spTgt spid="101612"/>
                                        </p:tgtEl>
                                      </p:cBhvr>
                                    </p:animEffect>
                                  </p:childTnLst>
                                </p:cTn>
                              </p:par>
                            </p:childTnLst>
                          </p:cTn>
                        </p:par>
                        <p:par>
                          <p:cTn id="31" fill="hold">
                            <p:stCondLst>
                              <p:cond delay="500"/>
                            </p:stCondLst>
                            <p:childTnLst>
                              <p:par>
                                <p:cTn id="32" presetID="3" presetClass="entr" presetSubtype="10" fill="hold" grpId="0" nodeType="afterEffect">
                                  <p:stCondLst>
                                    <p:cond delay="0"/>
                                  </p:stCondLst>
                                  <p:childTnLst>
                                    <p:set>
                                      <p:cBhvr>
                                        <p:cTn id="33" dur="1" fill="hold">
                                          <p:stCondLst>
                                            <p:cond delay="0"/>
                                          </p:stCondLst>
                                        </p:cTn>
                                        <p:tgtEl>
                                          <p:spTgt spid="101616"/>
                                        </p:tgtEl>
                                        <p:attrNameLst>
                                          <p:attrName>style.visibility</p:attrName>
                                        </p:attrNameLst>
                                      </p:cBhvr>
                                      <p:to>
                                        <p:strVal val="visible"/>
                                      </p:to>
                                    </p:set>
                                    <p:animEffect transition="in" filter="blinds(horizontal)">
                                      <p:cBhvr>
                                        <p:cTn id="34" dur="500"/>
                                        <p:tgtEl>
                                          <p:spTgt spid="101616"/>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01603"/>
                                        </p:tgtEl>
                                        <p:attrNameLst>
                                          <p:attrName>style.visibility</p:attrName>
                                        </p:attrNameLst>
                                      </p:cBhvr>
                                      <p:to>
                                        <p:strVal val="visible"/>
                                      </p:to>
                                    </p:set>
                                    <p:animEffect transition="in" filter="blinds(horizontal)">
                                      <p:cBhvr>
                                        <p:cTn id="39" dur="500"/>
                                        <p:tgtEl>
                                          <p:spTgt spid="101603"/>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01602"/>
                                        </p:tgtEl>
                                        <p:attrNameLst>
                                          <p:attrName>style.visibility</p:attrName>
                                        </p:attrNameLst>
                                      </p:cBhvr>
                                      <p:to>
                                        <p:strVal val="visible"/>
                                      </p:to>
                                    </p:set>
                                    <p:animEffect transition="in" filter="blinds(horizontal)">
                                      <p:cBhvr>
                                        <p:cTn id="44" dur="500"/>
                                        <p:tgtEl>
                                          <p:spTgt spid="101602"/>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01604"/>
                                        </p:tgtEl>
                                        <p:attrNameLst>
                                          <p:attrName>style.visibility</p:attrName>
                                        </p:attrNameLst>
                                      </p:cBhvr>
                                      <p:to>
                                        <p:strVal val="visible"/>
                                      </p:to>
                                    </p:set>
                                    <p:animEffect transition="in" filter="blinds(horizontal)">
                                      <p:cBhvr>
                                        <p:cTn id="49" dur="500"/>
                                        <p:tgtEl>
                                          <p:spTgt spid="101604"/>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01607"/>
                                        </p:tgtEl>
                                        <p:attrNameLst>
                                          <p:attrName>style.visibility</p:attrName>
                                        </p:attrNameLst>
                                      </p:cBhvr>
                                      <p:to>
                                        <p:strVal val="visible"/>
                                      </p:to>
                                    </p:set>
                                    <p:animEffect transition="in" filter="blinds(horizontal)">
                                      <p:cBhvr>
                                        <p:cTn id="54" dur="500"/>
                                        <p:tgtEl>
                                          <p:spTgt spid="101607"/>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01608"/>
                                        </p:tgtEl>
                                        <p:attrNameLst>
                                          <p:attrName>style.visibility</p:attrName>
                                        </p:attrNameLst>
                                      </p:cBhvr>
                                      <p:to>
                                        <p:strVal val="visible"/>
                                      </p:to>
                                    </p:set>
                                    <p:animEffect transition="in" filter="blinds(horizontal)">
                                      <p:cBhvr>
                                        <p:cTn id="59" dur="500"/>
                                        <p:tgtEl>
                                          <p:spTgt spid="101608"/>
                                        </p:tgtEl>
                                      </p:cBhvr>
                                    </p:animEffect>
                                  </p:childTnLst>
                                </p:cTn>
                              </p:par>
                            </p:childTnLst>
                          </p:cTn>
                        </p:par>
                        <p:par>
                          <p:cTn id="60" fill="hold">
                            <p:stCondLst>
                              <p:cond delay="500"/>
                            </p:stCondLst>
                            <p:childTnLst>
                              <p:par>
                                <p:cTn id="61" presetID="3" presetClass="entr" presetSubtype="10" fill="hold" grpId="0" nodeType="afterEffect">
                                  <p:stCondLst>
                                    <p:cond delay="0"/>
                                  </p:stCondLst>
                                  <p:childTnLst>
                                    <p:set>
                                      <p:cBhvr>
                                        <p:cTn id="62" dur="1" fill="hold">
                                          <p:stCondLst>
                                            <p:cond delay="0"/>
                                          </p:stCondLst>
                                        </p:cTn>
                                        <p:tgtEl>
                                          <p:spTgt spid="101617"/>
                                        </p:tgtEl>
                                        <p:attrNameLst>
                                          <p:attrName>style.visibility</p:attrName>
                                        </p:attrNameLst>
                                      </p:cBhvr>
                                      <p:to>
                                        <p:strVal val="visible"/>
                                      </p:to>
                                    </p:set>
                                    <p:animEffect transition="in" filter="blinds(horizontal)">
                                      <p:cBhvr>
                                        <p:cTn id="63" dur="500"/>
                                        <p:tgtEl>
                                          <p:spTgt spid="101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602" grpId="0" animBg="1"/>
      <p:bldP spid="101603" grpId="0" animBg="1"/>
      <p:bldP spid="101604" grpId="0" animBg="1"/>
      <p:bldP spid="101605" grpId="0" animBg="1"/>
      <p:bldP spid="101607" grpId="0" animBg="1"/>
      <p:bldP spid="101608" grpId="0" animBg="1"/>
      <p:bldP spid="101610" grpId="0" animBg="1"/>
      <p:bldP spid="101611" grpId="0" animBg="1"/>
      <p:bldP spid="101612" grpId="0" animBg="1"/>
      <p:bldP spid="101613" grpId="0"/>
      <p:bldP spid="101616" grpId="0"/>
      <p:bldP spid="101617" grpId="0"/>
      <p:bldP spid="1016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4520" y="2657475"/>
            <a:ext cx="4597400" cy="836295"/>
          </a:xfrm>
        </p:spPr>
        <p:txBody>
          <a:bodyPr/>
          <a:lstStyle/>
          <a:p>
            <a:pPr algn="ctr"/>
            <a:r>
              <a:rPr lang="en-US" dirty="0"/>
              <a:t>Protection Zone</a:t>
            </a:r>
          </a:p>
        </p:txBody>
      </p:sp>
    </p:spTree>
    <p:extLst>
      <p:ext uri="{BB962C8B-B14F-4D97-AF65-F5344CB8AC3E}">
        <p14:creationId xmlns:p14="http://schemas.microsoft.com/office/powerpoint/2010/main" val="2639719047"/>
      </p:ext>
    </p:extLst>
  </p:cSld>
  <p:clrMapOvr>
    <a:masterClrMapping/>
  </p:clrMapOvr>
  <p:transition>
    <p:randomBa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16" name="Rectangle 100"/>
          <p:cNvSpPr>
            <a:spLocks noChangeArrowheads="1"/>
          </p:cNvSpPr>
          <p:nvPr/>
        </p:nvSpPr>
        <p:spPr bwMode="auto">
          <a:xfrm>
            <a:off x="238125" y="76200"/>
            <a:ext cx="863441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l">
              <a:lnSpc>
                <a:spcPct val="90000"/>
              </a:lnSpc>
            </a:pPr>
            <a:r>
              <a:rPr lang="en-GB" altLang="en-US" sz="3600" dirty="0">
                <a:solidFill>
                  <a:schemeClr val="accent1"/>
                </a:solidFill>
                <a:latin typeface="Arial" panose="020B0604020202020204" pitchFamily="34" charset="0"/>
                <a:ea typeface="+mj-ea"/>
                <a:cs typeface="Arial" panose="020B0604020202020204" pitchFamily="34" charset="0"/>
              </a:rPr>
              <a:t>Zones of Protection</a:t>
            </a:r>
          </a:p>
        </p:txBody>
      </p:sp>
      <p:grpSp>
        <p:nvGrpSpPr>
          <p:cNvPr id="111770" name="Group 154"/>
          <p:cNvGrpSpPr>
            <a:grpSpLocks/>
          </p:cNvGrpSpPr>
          <p:nvPr/>
        </p:nvGrpSpPr>
        <p:grpSpPr bwMode="auto">
          <a:xfrm>
            <a:off x="1149350" y="957263"/>
            <a:ext cx="7770813" cy="5146675"/>
            <a:chOff x="724" y="603"/>
            <a:chExt cx="4895" cy="3242"/>
          </a:xfrm>
        </p:grpSpPr>
        <p:sp>
          <p:nvSpPr>
            <p:cNvPr id="111717" name="Rectangle 101"/>
            <p:cNvSpPr>
              <a:spLocks noChangeArrowheads="1"/>
            </p:cNvSpPr>
            <p:nvPr/>
          </p:nvSpPr>
          <p:spPr bwMode="auto">
            <a:xfrm>
              <a:off x="1852" y="1564"/>
              <a:ext cx="32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Z2A</a:t>
              </a:r>
            </a:p>
          </p:txBody>
        </p:sp>
        <p:sp>
          <p:nvSpPr>
            <p:cNvPr id="111718" name="Rectangle 102"/>
            <p:cNvSpPr>
              <a:spLocks noChangeArrowheads="1"/>
            </p:cNvSpPr>
            <p:nvPr/>
          </p:nvSpPr>
          <p:spPr bwMode="auto">
            <a:xfrm>
              <a:off x="3235" y="1605"/>
              <a:ext cx="339"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Z2C</a:t>
              </a:r>
            </a:p>
          </p:txBody>
        </p:sp>
        <p:sp>
          <p:nvSpPr>
            <p:cNvPr id="111719" name="Rectangle 103"/>
            <p:cNvSpPr>
              <a:spLocks noChangeArrowheads="1"/>
            </p:cNvSpPr>
            <p:nvPr/>
          </p:nvSpPr>
          <p:spPr bwMode="auto">
            <a:xfrm>
              <a:off x="1860" y="1070"/>
              <a:ext cx="32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Z3A</a:t>
              </a:r>
            </a:p>
          </p:txBody>
        </p:sp>
        <p:sp>
          <p:nvSpPr>
            <p:cNvPr id="111720" name="Rectangle 104"/>
            <p:cNvSpPr>
              <a:spLocks noChangeArrowheads="1"/>
            </p:cNvSpPr>
            <p:nvPr/>
          </p:nvSpPr>
          <p:spPr bwMode="auto">
            <a:xfrm>
              <a:off x="4138" y="1111"/>
              <a:ext cx="340"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Z3C</a:t>
              </a:r>
            </a:p>
          </p:txBody>
        </p:sp>
        <p:sp>
          <p:nvSpPr>
            <p:cNvPr id="111721" name="Rectangle 105"/>
            <p:cNvSpPr>
              <a:spLocks noChangeArrowheads="1"/>
            </p:cNvSpPr>
            <p:nvPr/>
          </p:nvSpPr>
          <p:spPr bwMode="auto">
            <a:xfrm>
              <a:off x="795" y="603"/>
              <a:ext cx="441"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Time</a:t>
              </a:r>
            </a:p>
          </p:txBody>
        </p:sp>
        <p:sp>
          <p:nvSpPr>
            <p:cNvPr id="111722" name="Rectangle 106"/>
            <p:cNvSpPr>
              <a:spLocks noChangeArrowheads="1"/>
            </p:cNvSpPr>
            <p:nvPr/>
          </p:nvSpPr>
          <p:spPr bwMode="auto">
            <a:xfrm>
              <a:off x="725" y="1159"/>
              <a:ext cx="22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T3</a:t>
              </a:r>
            </a:p>
          </p:txBody>
        </p:sp>
        <p:sp>
          <p:nvSpPr>
            <p:cNvPr id="111723" name="Rectangle 107"/>
            <p:cNvSpPr>
              <a:spLocks noChangeArrowheads="1"/>
            </p:cNvSpPr>
            <p:nvPr/>
          </p:nvSpPr>
          <p:spPr bwMode="auto">
            <a:xfrm>
              <a:off x="725" y="1646"/>
              <a:ext cx="22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T2</a:t>
              </a:r>
            </a:p>
          </p:txBody>
        </p:sp>
        <p:sp>
          <p:nvSpPr>
            <p:cNvPr id="111724" name="Rectangle 108"/>
            <p:cNvSpPr>
              <a:spLocks noChangeArrowheads="1"/>
            </p:cNvSpPr>
            <p:nvPr/>
          </p:nvSpPr>
          <p:spPr bwMode="auto">
            <a:xfrm>
              <a:off x="3027" y="2058"/>
              <a:ext cx="339"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Z1C</a:t>
              </a:r>
            </a:p>
          </p:txBody>
        </p:sp>
        <p:sp>
          <p:nvSpPr>
            <p:cNvPr id="111725" name="Rectangle 109"/>
            <p:cNvSpPr>
              <a:spLocks noChangeArrowheads="1"/>
            </p:cNvSpPr>
            <p:nvPr/>
          </p:nvSpPr>
          <p:spPr bwMode="auto">
            <a:xfrm>
              <a:off x="1860" y="2058"/>
              <a:ext cx="32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Z1A</a:t>
              </a:r>
            </a:p>
          </p:txBody>
        </p:sp>
        <p:sp>
          <p:nvSpPr>
            <p:cNvPr id="111726" name="Rectangle 110"/>
            <p:cNvSpPr>
              <a:spLocks noChangeArrowheads="1"/>
            </p:cNvSpPr>
            <p:nvPr/>
          </p:nvSpPr>
          <p:spPr bwMode="auto">
            <a:xfrm>
              <a:off x="2056" y="2460"/>
              <a:ext cx="35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Z1B</a:t>
              </a:r>
            </a:p>
          </p:txBody>
        </p:sp>
        <p:sp>
          <p:nvSpPr>
            <p:cNvPr id="111727" name="Rectangle 111"/>
            <p:cNvSpPr>
              <a:spLocks noChangeArrowheads="1"/>
            </p:cNvSpPr>
            <p:nvPr/>
          </p:nvSpPr>
          <p:spPr bwMode="auto">
            <a:xfrm>
              <a:off x="3644" y="2442"/>
              <a:ext cx="162"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D</a:t>
              </a:r>
            </a:p>
          </p:txBody>
        </p:sp>
        <p:sp>
          <p:nvSpPr>
            <p:cNvPr id="111728" name="Rectangle 112"/>
            <p:cNvSpPr>
              <a:spLocks noChangeArrowheads="1"/>
            </p:cNvSpPr>
            <p:nvPr/>
          </p:nvSpPr>
          <p:spPr bwMode="auto">
            <a:xfrm>
              <a:off x="2833" y="2442"/>
              <a:ext cx="15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C</a:t>
              </a:r>
            </a:p>
          </p:txBody>
        </p:sp>
        <p:sp>
          <p:nvSpPr>
            <p:cNvPr id="111729" name="Rectangle 113"/>
            <p:cNvSpPr>
              <a:spLocks noChangeArrowheads="1"/>
            </p:cNvSpPr>
            <p:nvPr/>
          </p:nvSpPr>
          <p:spPr bwMode="auto">
            <a:xfrm>
              <a:off x="1474" y="2435"/>
              <a:ext cx="132"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A</a:t>
              </a:r>
            </a:p>
          </p:txBody>
        </p:sp>
        <p:sp>
          <p:nvSpPr>
            <p:cNvPr id="111730" name="Rectangle 114"/>
            <p:cNvSpPr>
              <a:spLocks noChangeArrowheads="1"/>
            </p:cNvSpPr>
            <p:nvPr/>
          </p:nvSpPr>
          <p:spPr bwMode="auto">
            <a:xfrm>
              <a:off x="2074" y="2845"/>
              <a:ext cx="355"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Z2B</a:t>
              </a:r>
            </a:p>
          </p:txBody>
        </p:sp>
        <p:sp>
          <p:nvSpPr>
            <p:cNvPr id="111731" name="Rectangle 115"/>
            <p:cNvSpPr>
              <a:spLocks noChangeArrowheads="1"/>
            </p:cNvSpPr>
            <p:nvPr/>
          </p:nvSpPr>
          <p:spPr bwMode="auto">
            <a:xfrm>
              <a:off x="725" y="2648"/>
              <a:ext cx="22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T2</a:t>
              </a:r>
            </a:p>
          </p:txBody>
        </p:sp>
        <p:sp>
          <p:nvSpPr>
            <p:cNvPr id="111732" name="Line 116"/>
            <p:cNvSpPr>
              <a:spLocks noChangeShapeType="1"/>
            </p:cNvSpPr>
            <p:nvPr/>
          </p:nvSpPr>
          <p:spPr bwMode="auto">
            <a:xfrm flipV="1">
              <a:off x="970" y="775"/>
              <a:ext cx="0" cy="2030"/>
            </a:xfrm>
            <a:prstGeom prst="line">
              <a:avLst/>
            </a:prstGeom>
            <a:noFill/>
            <a:ln w="28575">
              <a:solidFill>
                <a:srgbClr val="000099"/>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33" name="Line 117"/>
            <p:cNvSpPr>
              <a:spLocks noChangeShapeType="1"/>
            </p:cNvSpPr>
            <p:nvPr/>
          </p:nvSpPr>
          <p:spPr bwMode="auto">
            <a:xfrm>
              <a:off x="946" y="1238"/>
              <a:ext cx="75" cy="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34" name="Line 118"/>
            <p:cNvSpPr>
              <a:spLocks noChangeShapeType="1"/>
            </p:cNvSpPr>
            <p:nvPr/>
          </p:nvSpPr>
          <p:spPr bwMode="auto">
            <a:xfrm>
              <a:off x="946" y="1737"/>
              <a:ext cx="75" cy="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35" name="Line 119"/>
            <p:cNvSpPr>
              <a:spLocks noChangeShapeType="1"/>
            </p:cNvSpPr>
            <p:nvPr/>
          </p:nvSpPr>
          <p:spPr bwMode="auto">
            <a:xfrm>
              <a:off x="890" y="2377"/>
              <a:ext cx="161" cy="1"/>
            </a:xfrm>
            <a:prstGeom prst="line">
              <a:avLst/>
            </a:prstGeom>
            <a:noFill/>
            <a:ln w="12700">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36" name="Line 120"/>
            <p:cNvSpPr>
              <a:spLocks noChangeShapeType="1"/>
            </p:cNvSpPr>
            <p:nvPr/>
          </p:nvSpPr>
          <p:spPr bwMode="auto">
            <a:xfrm>
              <a:off x="946" y="2733"/>
              <a:ext cx="75" cy="1"/>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37" name="Line 121"/>
            <p:cNvSpPr>
              <a:spLocks noChangeShapeType="1"/>
            </p:cNvSpPr>
            <p:nvPr/>
          </p:nvSpPr>
          <p:spPr bwMode="auto">
            <a:xfrm>
              <a:off x="1130" y="1238"/>
              <a:ext cx="2964" cy="0"/>
            </a:xfrm>
            <a:prstGeom prst="line">
              <a:avLst/>
            </a:prstGeom>
            <a:noFill/>
            <a:ln w="28575">
              <a:solidFill>
                <a:schemeClr val="bg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38" name="Line 122"/>
            <p:cNvSpPr>
              <a:spLocks noChangeShapeType="1"/>
            </p:cNvSpPr>
            <p:nvPr/>
          </p:nvSpPr>
          <p:spPr bwMode="auto">
            <a:xfrm>
              <a:off x="2572" y="1309"/>
              <a:ext cx="2644" cy="0"/>
            </a:xfrm>
            <a:prstGeom prst="line">
              <a:avLst/>
            </a:prstGeom>
            <a:noFill/>
            <a:ln w="28575">
              <a:solidFill>
                <a:schemeClr val="bg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39" name="Line 123"/>
            <p:cNvSpPr>
              <a:spLocks noChangeShapeType="1"/>
            </p:cNvSpPr>
            <p:nvPr/>
          </p:nvSpPr>
          <p:spPr bwMode="auto">
            <a:xfrm>
              <a:off x="1450" y="1743"/>
              <a:ext cx="1683" cy="0"/>
            </a:xfrm>
            <a:prstGeom prst="line">
              <a:avLst/>
            </a:prstGeom>
            <a:noFill/>
            <a:ln w="28575">
              <a:solidFill>
                <a:srgbClr val="10EE1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40" name="Line 124"/>
            <p:cNvSpPr>
              <a:spLocks noChangeShapeType="1"/>
            </p:cNvSpPr>
            <p:nvPr/>
          </p:nvSpPr>
          <p:spPr bwMode="auto">
            <a:xfrm>
              <a:off x="2791" y="1824"/>
              <a:ext cx="1122" cy="1"/>
            </a:xfrm>
            <a:prstGeom prst="line">
              <a:avLst/>
            </a:prstGeom>
            <a:noFill/>
            <a:ln w="28575">
              <a:solidFill>
                <a:srgbClr val="10EE1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41" name="Line 125"/>
            <p:cNvSpPr>
              <a:spLocks noChangeShapeType="1"/>
            </p:cNvSpPr>
            <p:nvPr/>
          </p:nvSpPr>
          <p:spPr bwMode="auto">
            <a:xfrm>
              <a:off x="1450" y="2235"/>
              <a:ext cx="1123" cy="0"/>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42" name="Line 126"/>
            <p:cNvSpPr>
              <a:spLocks noChangeShapeType="1"/>
            </p:cNvSpPr>
            <p:nvPr/>
          </p:nvSpPr>
          <p:spPr bwMode="auto">
            <a:xfrm>
              <a:off x="724" y="2377"/>
              <a:ext cx="4895" cy="1"/>
            </a:xfrm>
            <a:prstGeom prst="line">
              <a:avLst/>
            </a:prstGeom>
            <a:noFill/>
            <a:ln w="50800">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43" name="Line 127"/>
            <p:cNvSpPr>
              <a:spLocks noChangeShapeType="1"/>
            </p:cNvSpPr>
            <p:nvPr/>
          </p:nvSpPr>
          <p:spPr bwMode="auto">
            <a:xfrm flipV="1">
              <a:off x="1450" y="2306"/>
              <a:ext cx="2" cy="143"/>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44" name="Line 128"/>
            <p:cNvSpPr>
              <a:spLocks noChangeShapeType="1"/>
            </p:cNvSpPr>
            <p:nvPr/>
          </p:nvSpPr>
          <p:spPr bwMode="auto">
            <a:xfrm flipV="1">
              <a:off x="2813" y="2306"/>
              <a:ext cx="0" cy="143"/>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45" name="Line 129"/>
            <p:cNvSpPr>
              <a:spLocks noChangeShapeType="1"/>
            </p:cNvSpPr>
            <p:nvPr/>
          </p:nvSpPr>
          <p:spPr bwMode="auto">
            <a:xfrm flipV="1">
              <a:off x="3774" y="2306"/>
              <a:ext cx="0" cy="143"/>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46" name="Line 130"/>
            <p:cNvSpPr>
              <a:spLocks noChangeShapeType="1"/>
            </p:cNvSpPr>
            <p:nvPr/>
          </p:nvSpPr>
          <p:spPr bwMode="auto">
            <a:xfrm flipV="1">
              <a:off x="4734" y="2306"/>
              <a:ext cx="1" cy="143"/>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47" name="Line 131"/>
            <p:cNvSpPr>
              <a:spLocks noChangeShapeType="1"/>
            </p:cNvSpPr>
            <p:nvPr/>
          </p:nvSpPr>
          <p:spPr bwMode="auto">
            <a:xfrm>
              <a:off x="2813" y="2235"/>
              <a:ext cx="801" cy="0"/>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48" name="Line 132"/>
            <p:cNvSpPr>
              <a:spLocks noChangeShapeType="1"/>
            </p:cNvSpPr>
            <p:nvPr/>
          </p:nvSpPr>
          <p:spPr bwMode="auto">
            <a:xfrm>
              <a:off x="1657" y="2673"/>
              <a:ext cx="1122" cy="1"/>
            </a:xfrm>
            <a:prstGeom prst="line">
              <a:avLst/>
            </a:prstGeom>
            <a:noFill/>
            <a:ln w="28575">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49" name="Line 133"/>
            <p:cNvSpPr>
              <a:spLocks noChangeShapeType="1"/>
            </p:cNvSpPr>
            <p:nvPr/>
          </p:nvSpPr>
          <p:spPr bwMode="auto">
            <a:xfrm>
              <a:off x="1138" y="2840"/>
              <a:ext cx="1683" cy="0"/>
            </a:xfrm>
            <a:prstGeom prst="line">
              <a:avLst/>
            </a:prstGeom>
            <a:noFill/>
            <a:ln w="28575">
              <a:solidFill>
                <a:srgbClr val="10EE1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nvGrpSpPr>
            <p:cNvPr id="111750" name="Group 134"/>
            <p:cNvGrpSpPr>
              <a:grpSpLocks/>
            </p:cNvGrpSpPr>
            <p:nvPr/>
          </p:nvGrpSpPr>
          <p:grpSpPr bwMode="auto">
            <a:xfrm>
              <a:off x="1500" y="2329"/>
              <a:ext cx="97" cy="86"/>
              <a:chOff x="0" y="0"/>
              <a:chExt cx="20000" cy="20000"/>
            </a:xfrm>
          </p:grpSpPr>
          <p:sp>
            <p:nvSpPr>
              <p:cNvPr id="111751" name="Line 135"/>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52" name="Line 136"/>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grpSp>
          <p:nvGrpSpPr>
            <p:cNvPr id="111753" name="Group 137"/>
            <p:cNvGrpSpPr>
              <a:grpSpLocks/>
            </p:cNvGrpSpPr>
            <p:nvPr/>
          </p:nvGrpSpPr>
          <p:grpSpPr bwMode="auto">
            <a:xfrm>
              <a:off x="2662" y="2329"/>
              <a:ext cx="98" cy="86"/>
              <a:chOff x="0" y="0"/>
              <a:chExt cx="20000" cy="20000"/>
            </a:xfrm>
          </p:grpSpPr>
          <p:sp>
            <p:nvSpPr>
              <p:cNvPr id="111754" name="Line 138"/>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55" name="Line 139"/>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grpSp>
          <p:nvGrpSpPr>
            <p:cNvPr id="111756" name="Group 140"/>
            <p:cNvGrpSpPr>
              <a:grpSpLocks/>
            </p:cNvGrpSpPr>
            <p:nvPr/>
          </p:nvGrpSpPr>
          <p:grpSpPr bwMode="auto">
            <a:xfrm>
              <a:off x="2859" y="2330"/>
              <a:ext cx="98" cy="85"/>
              <a:chOff x="0" y="0"/>
              <a:chExt cx="20000" cy="20000"/>
            </a:xfrm>
          </p:grpSpPr>
          <p:sp>
            <p:nvSpPr>
              <p:cNvPr id="111757" name="Line 141"/>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58" name="Line 142"/>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grpSp>
          <p:nvGrpSpPr>
            <p:cNvPr id="111759" name="Group 143"/>
            <p:cNvGrpSpPr>
              <a:grpSpLocks/>
            </p:cNvGrpSpPr>
            <p:nvPr/>
          </p:nvGrpSpPr>
          <p:grpSpPr bwMode="auto">
            <a:xfrm>
              <a:off x="3627" y="2333"/>
              <a:ext cx="98" cy="85"/>
              <a:chOff x="0" y="0"/>
              <a:chExt cx="20000" cy="20000"/>
            </a:xfrm>
          </p:grpSpPr>
          <p:sp>
            <p:nvSpPr>
              <p:cNvPr id="111760" name="Line 144"/>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61" name="Line 145"/>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grpSp>
          <p:nvGrpSpPr>
            <p:cNvPr id="111762" name="Group 146"/>
            <p:cNvGrpSpPr>
              <a:grpSpLocks/>
            </p:cNvGrpSpPr>
            <p:nvPr/>
          </p:nvGrpSpPr>
          <p:grpSpPr bwMode="auto">
            <a:xfrm>
              <a:off x="3824" y="2333"/>
              <a:ext cx="98" cy="85"/>
              <a:chOff x="0" y="0"/>
              <a:chExt cx="20000" cy="20000"/>
            </a:xfrm>
          </p:grpSpPr>
          <p:sp>
            <p:nvSpPr>
              <p:cNvPr id="111763" name="Line 147"/>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64" name="Line 148"/>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grpSp>
          <p:nvGrpSpPr>
            <p:cNvPr id="111765" name="Group 149"/>
            <p:cNvGrpSpPr>
              <a:grpSpLocks/>
            </p:cNvGrpSpPr>
            <p:nvPr/>
          </p:nvGrpSpPr>
          <p:grpSpPr bwMode="auto">
            <a:xfrm>
              <a:off x="4593" y="2333"/>
              <a:ext cx="97" cy="85"/>
              <a:chOff x="0" y="0"/>
              <a:chExt cx="20000" cy="20000"/>
            </a:xfrm>
          </p:grpSpPr>
          <p:sp>
            <p:nvSpPr>
              <p:cNvPr id="111766" name="Line 150"/>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1767" name="Line 151"/>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sp>
          <p:nvSpPr>
            <p:cNvPr id="111768" name="Text Box 152"/>
            <p:cNvSpPr txBox="1">
              <a:spLocks noChangeArrowheads="1"/>
            </p:cNvSpPr>
            <p:nvPr/>
          </p:nvSpPr>
          <p:spPr bwMode="auto">
            <a:xfrm>
              <a:off x="1561" y="3063"/>
              <a:ext cx="2904" cy="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Aft>
                  <a:spcPct val="20000"/>
                </a:spcAft>
              </a:pPr>
              <a:r>
                <a:rPr lang="en-GB" altLang="en-US" dirty="0">
                  <a:solidFill>
                    <a:srgbClr val="FF0000"/>
                  </a:solidFill>
                  <a:latin typeface="Arial" panose="020B0604020202020204" pitchFamily="34" charset="0"/>
                  <a:cs typeface="Arial" panose="020B0604020202020204" pitchFamily="34" charset="0"/>
                </a:rPr>
                <a:t>Z1A  =  80% of Z</a:t>
              </a:r>
              <a:r>
                <a:rPr lang="en-GB" altLang="en-US" sz="2800" baseline="-25000" dirty="0">
                  <a:solidFill>
                    <a:srgbClr val="FF0000"/>
                  </a:solidFill>
                  <a:latin typeface="Arial" panose="020B0604020202020204" pitchFamily="34" charset="0"/>
                  <a:cs typeface="Arial" panose="020B0604020202020204" pitchFamily="34" charset="0"/>
                </a:rPr>
                <a:t>AB</a:t>
              </a:r>
              <a:endParaRPr lang="en-GB" altLang="en-US" dirty="0">
                <a:solidFill>
                  <a:srgbClr val="FF0000"/>
                </a:solidFill>
                <a:latin typeface="Arial" panose="020B0604020202020204" pitchFamily="34" charset="0"/>
                <a:cs typeface="Arial" panose="020B0604020202020204" pitchFamily="34" charset="0"/>
              </a:endParaRPr>
            </a:p>
            <a:p>
              <a:pPr algn="l">
                <a:spcAft>
                  <a:spcPct val="20000"/>
                </a:spcAft>
              </a:pPr>
              <a:r>
                <a:rPr lang="en-GB" altLang="en-US" dirty="0">
                  <a:solidFill>
                    <a:srgbClr val="10EE10"/>
                  </a:solidFill>
                  <a:latin typeface="Arial" panose="020B0604020202020204" pitchFamily="34" charset="0"/>
                  <a:cs typeface="Arial" panose="020B0604020202020204" pitchFamily="34" charset="0"/>
                </a:rPr>
                <a:t>Z2A  =  120% of Z</a:t>
              </a:r>
              <a:r>
                <a:rPr lang="en-GB" altLang="en-US" sz="2800" baseline="-25000" dirty="0">
                  <a:solidFill>
                    <a:srgbClr val="10EE10"/>
                  </a:solidFill>
                  <a:latin typeface="Arial" panose="020B0604020202020204" pitchFamily="34" charset="0"/>
                  <a:cs typeface="Arial" panose="020B0604020202020204" pitchFamily="34" charset="0"/>
                </a:rPr>
                <a:t>AB</a:t>
              </a:r>
            </a:p>
            <a:p>
              <a:pPr algn="l"/>
              <a:r>
                <a:rPr lang="en-GB" altLang="en-US" dirty="0">
                  <a:solidFill>
                    <a:schemeClr val="bg2"/>
                  </a:solidFill>
                  <a:latin typeface="Arial" panose="020B0604020202020204" pitchFamily="34" charset="0"/>
                  <a:cs typeface="Arial" panose="020B0604020202020204" pitchFamily="34" charset="0"/>
                </a:rPr>
                <a:t>Z3A(FORWARD)  =  120% of {Z</a:t>
              </a:r>
              <a:r>
                <a:rPr lang="en-GB" altLang="en-US" sz="2800" baseline="-25000" dirty="0">
                  <a:solidFill>
                    <a:schemeClr val="bg2"/>
                  </a:solidFill>
                  <a:latin typeface="Arial" panose="020B0604020202020204" pitchFamily="34" charset="0"/>
                  <a:cs typeface="Arial" panose="020B0604020202020204" pitchFamily="34" charset="0"/>
                </a:rPr>
                <a:t>AB </a:t>
              </a:r>
              <a:r>
                <a:rPr lang="en-GB" altLang="en-US" dirty="0">
                  <a:solidFill>
                    <a:schemeClr val="bg2"/>
                  </a:solidFill>
                  <a:latin typeface="Arial" panose="020B0604020202020204" pitchFamily="34" charset="0"/>
                  <a:cs typeface="Arial" panose="020B0604020202020204" pitchFamily="34" charset="0"/>
                </a:rPr>
                <a:t>+ Z</a:t>
              </a:r>
              <a:r>
                <a:rPr lang="en-GB" altLang="en-US" sz="2800" baseline="-25000" dirty="0">
                  <a:solidFill>
                    <a:schemeClr val="bg2"/>
                  </a:solidFill>
                  <a:latin typeface="Arial" panose="020B0604020202020204" pitchFamily="34" charset="0"/>
                  <a:cs typeface="Arial" panose="020B0604020202020204" pitchFamily="34" charset="0"/>
                </a:rPr>
                <a:t>CD</a:t>
              </a:r>
              <a:r>
                <a:rPr lang="en-GB" altLang="en-US" dirty="0">
                  <a:solidFill>
                    <a:schemeClr val="bg2"/>
                  </a:solidFill>
                  <a:latin typeface="Arial" panose="020B0604020202020204" pitchFamily="34" charset="0"/>
                  <a:cs typeface="Arial" panose="020B0604020202020204" pitchFamily="34" charset="0"/>
                </a:rPr>
                <a:t>}</a:t>
              </a:r>
              <a:endParaRPr lang="en-GB" altLang="en-US" sz="2800" baseline="-25000" dirty="0">
                <a:solidFill>
                  <a:srgbClr val="FF0000"/>
                </a:solidFill>
                <a:latin typeface="Arial" panose="020B0604020202020204" pitchFamily="34" charset="0"/>
                <a:cs typeface="Arial" panose="020B0604020202020204" pitchFamily="34" charset="0"/>
              </a:endParaRPr>
            </a:p>
          </p:txBody>
        </p:sp>
        <p:sp>
          <p:nvSpPr>
            <p:cNvPr id="111769" name="Rectangle 153"/>
            <p:cNvSpPr>
              <a:spLocks noChangeArrowheads="1"/>
            </p:cNvSpPr>
            <p:nvPr/>
          </p:nvSpPr>
          <p:spPr bwMode="auto">
            <a:xfrm>
              <a:off x="2614" y="2447"/>
              <a:ext cx="15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latin typeface="Arial" panose="020B0604020202020204" pitchFamily="34" charset="0"/>
                  <a:cs typeface="Arial" panose="020B0604020202020204" pitchFamily="34" charset="0"/>
                </a:rPr>
                <a:t>B </a:t>
              </a:r>
            </a:p>
          </p:txBody>
        </p:sp>
      </p:grpSp>
    </p:spTree>
    <p:extLst>
      <p:ext uri="{BB962C8B-B14F-4D97-AF65-F5344CB8AC3E}">
        <p14:creationId xmlns:p14="http://schemas.microsoft.com/office/powerpoint/2010/main" val="1337617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788" name="Rectangle 124"/>
          <p:cNvSpPr>
            <a:spLocks noChangeArrowheads="1"/>
          </p:cNvSpPr>
          <p:nvPr/>
        </p:nvSpPr>
        <p:spPr bwMode="auto">
          <a:xfrm>
            <a:off x="238125" y="76200"/>
            <a:ext cx="863441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l">
              <a:lnSpc>
                <a:spcPct val="90000"/>
              </a:lnSpc>
            </a:pPr>
            <a:r>
              <a:rPr lang="en-GB" altLang="en-US" sz="3600" dirty="0">
                <a:solidFill>
                  <a:schemeClr val="accent1"/>
                </a:solidFill>
                <a:latin typeface="Arial" panose="020B0604020202020204" pitchFamily="34" charset="0"/>
                <a:ea typeface="+mj-ea"/>
                <a:cs typeface="Arial" panose="020B0604020202020204" pitchFamily="34" charset="0"/>
              </a:rPr>
              <a:t>Zones of Protection ( Mho)</a:t>
            </a:r>
          </a:p>
        </p:txBody>
      </p:sp>
      <p:sp>
        <p:nvSpPr>
          <p:cNvPr id="113789" name="Rectangle 125"/>
          <p:cNvSpPr>
            <a:spLocks noChangeArrowheads="1"/>
          </p:cNvSpPr>
          <p:nvPr/>
        </p:nvSpPr>
        <p:spPr bwMode="auto">
          <a:xfrm>
            <a:off x="7323138" y="5281613"/>
            <a:ext cx="301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t>R</a:t>
            </a:r>
          </a:p>
        </p:txBody>
      </p:sp>
      <p:sp>
        <p:nvSpPr>
          <p:cNvPr id="113790" name="Rectangle 126"/>
          <p:cNvSpPr>
            <a:spLocks noChangeArrowheads="1"/>
          </p:cNvSpPr>
          <p:nvPr/>
        </p:nvSpPr>
        <p:spPr bwMode="auto">
          <a:xfrm>
            <a:off x="4213225" y="5084763"/>
            <a:ext cx="301625" cy="333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t>A</a:t>
            </a:r>
          </a:p>
        </p:txBody>
      </p:sp>
      <p:sp>
        <p:nvSpPr>
          <p:cNvPr id="113791" name="Rectangle 127"/>
          <p:cNvSpPr>
            <a:spLocks noChangeArrowheads="1"/>
          </p:cNvSpPr>
          <p:nvPr/>
        </p:nvSpPr>
        <p:spPr bwMode="auto">
          <a:xfrm>
            <a:off x="5421313" y="2014538"/>
            <a:ext cx="301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t>D</a:t>
            </a:r>
          </a:p>
        </p:txBody>
      </p:sp>
      <p:sp>
        <p:nvSpPr>
          <p:cNvPr id="113792" name="Rectangle 128"/>
          <p:cNvSpPr>
            <a:spLocks noChangeArrowheads="1"/>
          </p:cNvSpPr>
          <p:nvPr/>
        </p:nvSpPr>
        <p:spPr bwMode="auto">
          <a:xfrm>
            <a:off x="5026025" y="3059113"/>
            <a:ext cx="301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t>C</a:t>
            </a:r>
          </a:p>
        </p:txBody>
      </p:sp>
      <p:sp>
        <p:nvSpPr>
          <p:cNvPr id="113793" name="Rectangle 129"/>
          <p:cNvSpPr>
            <a:spLocks noChangeArrowheads="1"/>
          </p:cNvSpPr>
          <p:nvPr/>
        </p:nvSpPr>
        <p:spPr bwMode="auto">
          <a:xfrm>
            <a:off x="4910138" y="3330575"/>
            <a:ext cx="301625"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t>B</a:t>
            </a:r>
          </a:p>
        </p:txBody>
      </p:sp>
      <p:sp>
        <p:nvSpPr>
          <p:cNvPr id="113794" name="Rectangle 130"/>
          <p:cNvSpPr>
            <a:spLocks noChangeArrowheads="1"/>
          </p:cNvSpPr>
          <p:nvPr/>
        </p:nvSpPr>
        <p:spPr bwMode="auto">
          <a:xfrm>
            <a:off x="5324475" y="3603625"/>
            <a:ext cx="59055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t>Z1A</a:t>
            </a:r>
          </a:p>
        </p:txBody>
      </p:sp>
      <p:sp>
        <p:nvSpPr>
          <p:cNvPr id="113795" name="Rectangle 131"/>
          <p:cNvSpPr>
            <a:spLocks noChangeArrowheads="1"/>
          </p:cNvSpPr>
          <p:nvPr/>
        </p:nvSpPr>
        <p:spPr bwMode="auto">
          <a:xfrm>
            <a:off x="5668963" y="3100388"/>
            <a:ext cx="590550"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t>Z2A</a:t>
            </a:r>
          </a:p>
        </p:txBody>
      </p:sp>
      <p:sp>
        <p:nvSpPr>
          <p:cNvPr id="113796" name="Rectangle 132"/>
          <p:cNvSpPr>
            <a:spLocks noChangeArrowheads="1"/>
          </p:cNvSpPr>
          <p:nvPr/>
        </p:nvSpPr>
        <p:spPr bwMode="auto">
          <a:xfrm>
            <a:off x="6711950" y="1947863"/>
            <a:ext cx="592138"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t>Z3A</a:t>
            </a:r>
          </a:p>
        </p:txBody>
      </p:sp>
      <p:sp>
        <p:nvSpPr>
          <p:cNvPr id="113797" name="Rectangle 133"/>
          <p:cNvSpPr>
            <a:spLocks noChangeArrowheads="1"/>
          </p:cNvSpPr>
          <p:nvPr/>
        </p:nvSpPr>
        <p:spPr bwMode="auto">
          <a:xfrm>
            <a:off x="3717925" y="1035050"/>
            <a:ext cx="303213"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t>jX</a:t>
            </a:r>
          </a:p>
        </p:txBody>
      </p:sp>
      <p:sp>
        <p:nvSpPr>
          <p:cNvPr id="113798" name="Oval 134"/>
          <p:cNvSpPr>
            <a:spLocks noChangeArrowheads="1"/>
          </p:cNvSpPr>
          <p:nvPr/>
        </p:nvSpPr>
        <p:spPr bwMode="auto">
          <a:xfrm>
            <a:off x="3430588" y="3511550"/>
            <a:ext cx="2103437" cy="2014538"/>
          </a:xfrm>
          <a:prstGeom prst="ellipse">
            <a:avLst/>
          </a:prstGeom>
          <a:noFill/>
          <a:ln w="3810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799" name="Oval 135"/>
          <p:cNvSpPr>
            <a:spLocks noChangeArrowheads="1"/>
          </p:cNvSpPr>
          <p:nvPr/>
        </p:nvSpPr>
        <p:spPr bwMode="auto">
          <a:xfrm>
            <a:off x="3244850" y="2941638"/>
            <a:ext cx="2720975" cy="2617787"/>
          </a:xfrm>
          <a:prstGeom prst="ellipse">
            <a:avLst/>
          </a:prstGeom>
          <a:noFill/>
          <a:ln w="38100">
            <a:solidFill>
              <a:srgbClr val="10EE1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800" name="Oval 136"/>
          <p:cNvSpPr>
            <a:spLocks noChangeArrowheads="1"/>
          </p:cNvSpPr>
          <p:nvPr/>
        </p:nvSpPr>
        <p:spPr bwMode="auto">
          <a:xfrm>
            <a:off x="2524125" y="1431925"/>
            <a:ext cx="4703763" cy="4527550"/>
          </a:xfrm>
          <a:prstGeom prst="ellipse">
            <a:avLst/>
          </a:prstGeom>
          <a:noFill/>
          <a:ln w="38100">
            <a:solidFill>
              <a:schemeClr val="bg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801" name="Line 137"/>
          <p:cNvSpPr>
            <a:spLocks noChangeShapeType="1"/>
          </p:cNvSpPr>
          <p:nvPr/>
        </p:nvSpPr>
        <p:spPr bwMode="auto">
          <a:xfrm>
            <a:off x="4054475" y="992188"/>
            <a:ext cx="0" cy="5170487"/>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802" name="Line 138"/>
          <p:cNvSpPr>
            <a:spLocks noChangeShapeType="1"/>
          </p:cNvSpPr>
          <p:nvPr/>
        </p:nvSpPr>
        <p:spPr bwMode="auto">
          <a:xfrm flipH="1">
            <a:off x="3765550" y="1409700"/>
            <a:ext cx="1814513" cy="4767263"/>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803" name="Line 139"/>
          <p:cNvSpPr>
            <a:spLocks noChangeShapeType="1"/>
          </p:cNvSpPr>
          <p:nvPr/>
        </p:nvSpPr>
        <p:spPr bwMode="auto">
          <a:xfrm>
            <a:off x="5256213" y="1871663"/>
            <a:ext cx="268287" cy="100012"/>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804" name="Line 140"/>
          <p:cNvSpPr>
            <a:spLocks noChangeShapeType="1"/>
          </p:cNvSpPr>
          <p:nvPr/>
        </p:nvSpPr>
        <p:spPr bwMode="auto">
          <a:xfrm>
            <a:off x="4762500" y="3217863"/>
            <a:ext cx="268288" cy="98425"/>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805" name="Line 141"/>
          <p:cNvSpPr>
            <a:spLocks noChangeShapeType="1"/>
          </p:cNvSpPr>
          <p:nvPr/>
        </p:nvSpPr>
        <p:spPr bwMode="auto">
          <a:xfrm>
            <a:off x="2330450" y="5448300"/>
            <a:ext cx="4943475"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3806" name="Group 142"/>
          <p:cNvGrpSpPr>
            <a:grpSpLocks/>
          </p:cNvGrpSpPr>
          <p:nvPr/>
        </p:nvGrpSpPr>
        <p:grpSpPr bwMode="auto">
          <a:xfrm rot="1342583">
            <a:off x="5368925" y="1746250"/>
            <a:ext cx="130175" cy="123825"/>
            <a:chOff x="0" y="0"/>
            <a:chExt cx="20000" cy="20000"/>
          </a:xfrm>
        </p:grpSpPr>
        <p:sp>
          <p:nvSpPr>
            <p:cNvPr id="113807" name="Line 143"/>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808" name="Line 144"/>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13809" name="Group 145"/>
          <p:cNvGrpSpPr>
            <a:grpSpLocks/>
          </p:cNvGrpSpPr>
          <p:nvPr/>
        </p:nvGrpSpPr>
        <p:grpSpPr bwMode="auto">
          <a:xfrm rot="1342583">
            <a:off x="5267325" y="2016125"/>
            <a:ext cx="130175" cy="127000"/>
            <a:chOff x="0" y="0"/>
            <a:chExt cx="20000" cy="20000"/>
          </a:xfrm>
        </p:grpSpPr>
        <p:sp>
          <p:nvSpPr>
            <p:cNvPr id="113810" name="Line 146"/>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811" name="Line 147"/>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13812" name="Group 148"/>
          <p:cNvGrpSpPr>
            <a:grpSpLocks/>
          </p:cNvGrpSpPr>
          <p:nvPr/>
        </p:nvGrpSpPr>
        <p:grpSpPr bwMode="auto">
          <a:xfrm rot="1342583">
            <a:off x="4852988" y="3082925"/>
            <a:ext cx="130175" cy="125413"/>
            <a:chOff x="0" y="0"/>
            <a:chExt cx="20000" cy="20000"/>
          </a:xfrm>
        </p:grpSpPr>
        <p:sp>
          <p:nvSpPr>
            <p:cNvPr id="113813" name="Line 149"/>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814" name="Line 150"/>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13815" name="Group 151"/>
          <p:cNvGrpSpPr>
            <a:grpSpLocks/>
          </p:cNvGrpSpPr>
          <p:nvPr/>
        </p:nvGrpSpPr>
        <p:grpSpPr bwMode="auto">
          <a:xfrm rot="1342583">
            <a:off x="4751388" y="3354388"/>
            <a:ext cx="131762" cy="123825"/>
            <a:chOff x="0" y="0"/>
            <a:chExt cx="20000" cy="20000"/>
          </a:xfrm>
        </p:grpSpPr>
        <p:sp>
          <p:nvSpPr>
            <p:cNvPr id="113816" name="Line 152"/>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817" name="Line 153"/>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13818" name="Group 154"/>
          <p:cNvGrpSpPr>
            <a:grpSpLocks/>
          </p:cNvGrpSpPr>
          <p:nvPr/>
        </p:nvGrpSpPr>
        <p:grpSpPr bwMode="auto">
          <a:xfrm rot="1342583">
            <a:off x="4049713" y="5202238"/>
            <a:ext cx="131762" cy="123825"/>
            <a:chOff x="0" y="0"/>
            <a:chExt cx="20000" cy="20000"/>
          </a:xfrm>
        </p:grpSpPr>
        <p:sp>
          <p:nvSpPr>
            <p:cNvPr id="113819" name="Line 155"/>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3820" name="Line 156"/>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Tree>
    <p:extLst>
      <p:ext uri="{BB962C8B-B14F-4D97-AF65-F5344CB8AC3E}">
        <p14:creationId xmlns:p14="http://schemas.microsoft.com/office/powerpoint/2010/main" val="2055707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09" name="Rectangle 97"/>
          <p:cNvSpPr>
            <a:spLocks noChangeArrowheads="1"/>
          </p:cNvSpPr>
          <p:nvPr/>
        </p:nvSpPr>
        <p:spPr bwMode="auto">
          <a:xfrm>
            <a:off x="238125" y="76200"/>
            <a:ext cx="863441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l">
              <a:lnSpc>
                <a:spcPct val="90000"/>
              </a:lnSpc>
            </a:pPr>
            <a:r>
              <a:rPr lang="en-GB" altLang="en-US" sz="3600" dirty="0">
                <a:solidFill>
                  <a:schemeClr val="accent1"/>
                </a:solidFill>
                <a:latin typeface="Arial" panose="020B0604020202020204" pitchFamily="34" charset="0"/>
                <a:ea typeface="+mj-ea"/>
                <a:cs typeface="Arial" panose="020B0604020202020204" pitchFamily="34" charset="0"/>
              </a:rPr>
              <a:t>Zone 1</a:t>
            </a:r>
          </a:p>
        </p:txBody>
      </p:sp>
      <p:sp>
        <p:nvSpPr>
          <p:cNvPr id="115810" name="Text Box 98"/>
          <p:cNvSpPr txBox="1">
            <a:spLocks noChangeArrowheads="1"/>
          </p:cNvSpPr>
          <p:nvPr/>
        </p:nvSpPr>
        <p:spPr bwMode="auto">
          <a:xfrm>
            <a:off x="592137" y="906145"/>
            <a:ext cx="7926387" cy="524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4650" indent="-374650">
              <a:tabLst>
                <a:tab pos="765175" algn="l"/>
                <a:tab pos="1241425" algn="l"/>
              </a:tabLst>
              <a:defRPr sz="2400">
                <a:solidFill>
                  <a:schemeClr val="tx1"/>
                </a:solidFill>
                <a:latin typeface="Times New Roman" panose="02020603050405020304" pitchFamily="18" charset="0"/>
              </a:defRPr>
            </a:lvl1pPr>
            <a:lvl2pPr marL="565150">
              <a:tabLst>
                <a:tab pos="765175" algn="l"/>
                <a:tab pos="1241425" algn="l"/>
              </a:tabLst>
              <a:defRPr sz="2400">
                <a:solidFill>
                  <a:schemeClr val="tx1"/>
                </a:solidFill>
                <a:latin typeface="Times New Roman" panose="02020603050405020304" pitchFamily="18" charset="0"/>
              </a:defRPr>
            </a:lvl2pPr>
            <a:lvl3pPr>
              <a:tabLst>
                <a:tab pos="765175" algn="l"/>
                <a:tab pos="1241425" algn="l"/>
              </a:tabLst>
              <a:defRPr sz="2400">
                <a:solidFill>
                  <a:schemeClr val="tx1"/>
                </a:solidFill>
                <a:latin typeface="Times New Roman" panose="02020603050405020304" pitchFamily="18" charset="0"/>
              </a:defRPr>
            </a:lvl3pPr>
            <a:lvl4pPr>
              <a:tabLst>
                <a:tab pos="765175" algn="l"/>
                <a:tab pos="1241425" algn="l"/>
              </a:tabLst>
              <a:defRPr sz="2400">
                <a:solidFill>
                  <a:schemeClr val="tx1"/>
                </a:solidFill>
                <a:latin typeface="Times New Roman" panose="02020603050405020304" pitchFamily="18" charset="0"/>
              </a:defRPr>
            </a:lvl4pPr>
            <a:lvl5pPr>
              <a:tabLst>
                <a:tab pos="765175" algn="l"/>
                <a:tab pos="1241425"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65175" algn="l"/>
                <a:tab pos="1241425"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65175" algn="l"/>
                <a:tab pos="1241425"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65175" algn="l"/>
                <a:tab pos="1241425"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65175" algn="l"/>
                <a:tab pos="1241425" algn="l"/>
              </a:tabLst>
              <a:defRPr sz="2400">
                <a:solidFill>
                  <a:schemeClr val="tx1"/>
                </a:solidFill>
                <a:latin typeface="Times New Roman" panose="02020603050405020304" pitchFamily="18" charset="0"/>
              </a:defRPr>
            </a:lvl9pPr>
          </a:lstStyle>
          <a:p>
            <a:pPr algn="l">
              <a:spcAft>
                <a:spcPct val="20000"/>
              </a:spcAft>
              <a:buClr>
                <a:srgbClr val="C4122F"/>
              </a:buClr>
              <a:buFont typeface="Wingdings 3" panose="05040102010807070707" pitchFamily="18" charset="2"/>
              <a:buChar char="u"/>
            </a:pPr>
            <a:r>
              <a:rPr lang="en-GB" altLang="en-US" b="1" dirty="0">
                <a:latin typeface="Arial" panose="020B0604020202020204" pitchFamily="34" charset="0"/>
              </a:rPr>
              <a:t>FAST OPERATION</a:t>
            </a:r>
          </a:p>
          <a:p>
            <a:pPr algn="l"/>
            <a:r>
              <a:rPr lang="en-GB" altLang="en-US" b="1" dirty="0">
                <a:latin typeface="Arial" panose="020B0604020202020204" pitchFamily="34" charset="0"/>
              </a:rPr>
              <a:t>		Trips circuit breaker without delay as soon as</a:t>
            </a:r>
          </a:p>
          <a:p>
            <a:pPr algn="l"/>
            <a:r>
              <a:rPr lang="en-GB" altLang="en-US" b="1" dirty="0">
                <a:latin typeface="Arial" panose="020B0604020202020204" pitchFamily="34" charset="0"/>
              </a:rPr>
              <a:t>		fault within Zone 1 reach is detected.</a:t>
            </a:r>
          </a:p>
          <a:p>
            <a:pPr algn="l"/>
            <a:endParaRPr lang="en-GB" altLang="en-US" b="1" dirty="0">
              <a:latin typeface="Arial" panose="020B0604020202020204" pitchFamily="34" charset="0"/>
            </a:endParaRPr>
          </a:p>
          <a:p>
            <a:pPr algn="l">
              <a:spcAft>
                <a:spcPct val="20000"/>
              </a:spcAft>
              <a:buClr>
                <a:srgbClr val="C4122F"/>
              </a:buClr>
              <a:buFont typeface="Wingdings 3" panose="05040102010807070707" pitchFamily="18" charset="2"/>
              <a:buChar char="u"/>
            </a:pPr>
            <a:r>
              <a:rPr lang="en-GB" altLang="en-US" b="1" dirty="0">
                <a:latin typeface="Arial" panose="020B0604020202020204" pitchFamily="34" charset="0"/>
              </a:rPr>
              <a:t>REACH SETTING</a:t>
            </a:r>
          </a:p>
          <a:p>
            <a:pPr algn="l"/>
            <a:r>
              <a:rPr lang="en-GB" altLang="en-US" b="1" dirty="0">
                <a:latin typeface="Arial" panose="020B0604020202020204" pitchFamily="34" charset="0"/>
              </a:rPr>
              <a:t>		Cannot be set to 100% of protected line or may</a:t>
            </a:r>
          </a:p>
          <a:p>
            <a:pPr algn="l">
              <a:spcAft>
                <a:spcPct val="20000"/>
              </a:spcAft>
            </a:pPr>
            <a:r>
              <a:rPr lang="en-GB" altLang="en-US" b="1" dirty="0">
                <a:latin typeface="Arial" panose="020B0604020202020204" pitchFamily="34" charset="0"/>
              </a:rPr>
              <a:t>		overreach into next section.</a:t>
            </a:r>
          </a:p>
          <a:p>
            <a:pPr algn="l">
              <a:spcBef>
                <a:spcPct val="20000"/>
              </a:spcBef>
            </a:pPr>
            <a:r>
              <a:rPr lang="en-GB" altLang="en-US" b="1" dirty="0">
                <a:latin typeface="Arial" panose="020B0604020202020204" pitchFamily="34" charset="0"/>
              </a:rPr>
              <a:t>		Overreach caused by possible errors in :-</a:t>
            </a:r>
          </a:p>
          <a:p>
            <a:pPr algn="l"/>
            <a:endParaRPr lang="en-GB" altLang="en-US" sz="1200" b="1" dirty="0">
              <a:latin typeface="Arial" panose="020B0604020202020204" pitchFamily="34" charset="0"/>
            </a:endParaRPr>
          </a:p>
          <a:p>
            <a:pPr algn="l">
              <a:spcAft>
                <a:spcPct val="20000"/>
              </a:spcAft>
            </a:pPr>
            <a:r>
              <a:rPr lang="en-GB" altLang="en-US" b="1" dirty="0">
                <a:latin typeface="Arial" panose="020B0604020202020204" pitchFamily="34" charset="0"/>
              </a:rPr>
              <a:t>			CTs</a:t>
            </a:r>
          </a:p>
          <a:p>
            <a:pPr algn="l">
              <a:spcAft>
                <a:spcPct val="20000"/>
              </a:spcAft>
            </a:pPr>
            <a:r>
              <a:rPr lang="en-GB" altLang="en-US" b="1" dirty="0">
                <a:latin typeface="Arial" panose="020B0604020202020204" pitchFamily="34" charset="0"/>
              </a:rPr>
              <a:t>			VTs</a:t>
            </a:r>
          </a:p>
          <a:p>
            <a:pPr algn="l">
              <a:spcAft>
                <a:spcPct val="20000"/>
              </a:spcAft>
            </a:pPr>
            <a:r>
              <a:rPr lang="en-GB" altLang="en-US" b="1" dirty="0">
                <a:latin typeface="Arial" panose="020B0604020202020204" pitchFamily="34" charset="0"/>
              </a:rPr>
              <a:t>			Z</a:t>
            </a:r>
            <a:r>
              <a:rPr lang="en-GB" altLang="en-US" sz="2800" b="1" baseline="-25000" dirty="0">
                <a:latin typeface="Arial" panose="020B0604020202020204" pitchFamily="34" charset="0"/>
              </a:rPr>
              <a:t>LINE</a:t>
            </a:r>
            <a:r>
              <a:rPr lang="en-GB" altLang="en-US" b="1" dirty="0">
                <a:latin typeface="Arial" panose="020B0604020202020204" pitchFamily="34" charset="0"/>
              </a:rPr>
              <a:t> information</a:t>
            </a:r>
          </a:p>
          <a:p>
            <a:pPr algn="l">
              <a:spcAft>
                <a:spcPct val="20000"/>
              </a:spcAft>
            </a:pPr>
            <a:r>
              <a:rPr lang="en-GB" altLang="en-US" b="1" dirty="0">
                <a:latin typeface="Arial" panose="020B0604020202020204" pitchFamily="34" charset="0"/>
              </a:rPr>
              <a:t>			Relay Measurement</a:t>
            </a:r>
            <a:endParaRPr lang="en-GB" altLang="en-US" sz="2800" b="1" baseline="-25000" dirty="0">
              <a:latin typeface="Arial" panose="020B0604020202020204" pitchFamily="34" charset="0"/>
            </a:endParaRPr>
          </a:p>
        </p:txBody>
      </p:sp>
    </p:spTree>
    <p:extLst>
      <p:ext uri="{BB962C8B-B14F-4D97-AF65-F5344CB8AC3E}">
        <p14:creationId xmlns:p14="http://schemas.microsoft.com/office/powerpoint/2010/main" val="1561462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903" name="Rectangle 143"/>
          <p:cNvSpPr>
            <a:spLocks noChangeArrowheads="1"/>
          </p:cNvSpPr>
          <p:nvPr/>
        </p:nvSpPr>
        <p:spPr bwMode="auto">
          <a:xfrm>
            <a:off x="238125" y="76200"/>
            <a:ext cx="863441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l">
              <a:lnSpc>
                <a:spcPct val="90000"/>
              </a:lnSpc>
            </a:pPr>
            <a:r>
              <a:rPr lang="en-GB" altLang="en-US" sz="3600" dirty="0">
                <a:solidFill>
                  <a:schemeClr val="accent1"/>
                </a:solidFill>
                <a:latin typeface="Arial" panose="020B0604020202020204" pitchFamily="34" charset="0"/>
                <a:ea typeface="+mj-ea"/>
                <a:cs typeface="Arial" panose="020B0604020202020204" pitchFamily="34" charset="0"/>
              </a:rPr>
              <a:t>Zone 1</a:t>
            </a:r>
          </a:p>
        </p:txBody>
      </p:sp>
      <p:grpSp>
        <p:nvGrpSpPr>
          <p:cNvPr id="117938" name="Group 178"/>
          <p:cNvGrpSpPr>
            <a:grpSpLocks/>
          </p:cNvGrpSpPr>
          <p:nvPr/>
        </p:nvGrpSpPr>
        <p:grpSpPr bwMode="auto">
          <a:xfrm>
            <a:off x="514985" y="1237933"/>
            <a:ext cx="8499475" cy="4483100"/>
            <a:chOff x="638" y="991"/>
            <a:chExt cx="5354" cy="2824"/>
          </a:xfrm>
        </p:grpSpPr>
        <p:sp>
          <p:nvSpPr>
            <p:cNvPr id="117904" name="Line 144"/>
            <p:cNvSpPr>
              <a:spLocks noChangeShapeType="1"/>
            </p:cNvSpPr>
            <p:nvPr/>
          </p:nvSpPr>
          <p:spPr bwMode="auto">
            <a:xfrm>
              <a:off x="638" y="1684"/>
              <a:ext cx="4749" cy="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05" name="Line 145"/>
            <p:cNvSpPr>
              <a:spLocks noChangeShapeType="1"/>
            </p:cNvSpPr>
            <p:nvPr/>
          </p:nvSpPr>
          <p:spPr bwMode="auto">
            <a:xfrm>
              <a:off x="1193" y="1544"/>
              <a:ext cx="0" cy="28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06" name="Line 146"/>
            <p:cNvSpPr>
              <a:spLocks noChangeShapeType="1"/>
            </p:cNvSpPr>
            <p:nvPr/>
          </p:nvSpPr>
          <p:spPr bwMode="auto">
            <a:xfrm>
              <a:off x="4674" y="1544"/>
              <a:ext cx="0" cy="28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07" name="Line 147"/>
            <p:cNvSpPr>
              <a:spLocks noChangeShapeType="1"/>
            </p:cNvSpPr>
            <p:nvPr/>
          </p:nvSpPr>
          <p:spPr bwMode="auto">
            <a:xfrm>
              <a:off x="1270" y="1473"/>
              <a:ext cx="3404" cy="0"/>
            </a:xfrm>
            <a:prstGeom prst="line">
              <a:avLst/>
            </a:prstGeom>
            <a:noFill/>
            <a:ln w="28575">
              <a:solidFill>
                <a:srgbClr val="000099"/>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08" name="Line 148"/>
            <p:cNvSpPr>
              <a:spLocks noChangeShapeType="1"/>
            </p:cNvSpPr>
            <p:nvPr/>
          </p:nvSpPr>
          <p:spPr bwMode="auto">
            <a:xfrm>
              <a:off x="4662" y="1473"/>
              <a:ext cx="725" cy="0"/>
            </a:xfrm>
            <a:prstGeom prst="line">
              <a:avLst/>
            </a:prstGeom>
            <a:noFill/>
            <a:ln w="28575">
              <a:solidFill>
                <a:srgbClr val="FF0000"/>
              </a:solidFill>
              <a:prstDash val="sys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09" name="Arc 149"/>
            <p:cNvSpPr>
              <a:spLocks/>
            </p:cNvSpPr>
            <p:nvPr/>
          </p:nvSpPr>
          <p:spPr bwMode="auto">
            <a:xfrm flipH="1">
              <a:off x="4929" y="1134"/>
              <a:ext cx="212" cy="292"/>
            </a:xfrm>
            <a:custGeom>
              <a:avLst/>
              <a:gdLst>
                <a:gd name="G0" fmla="+- 0 0 0"/>
                <a:gd name="G1" fmla="+- 20002 0 0"/>
                <a:gd name="G2" fmla="+- 21600 0 0"/>
                <a:gd name="T0" fmla="*/ 8153 w 21600"/>
                <a:gd name="T1" fmla="*/ 0 h 20002"/>
                <a:gd name="T2" fmla="*/ 21600 w 21600"/>
                <a:gd name="T3" fmla="*/ 20002 h 20002"/>
                <a:gd name="T4" fmla="*/ 0 w 21600"/>
                <a:gd name="T5" fmla="*/ 20002 h 20002"/>
              </a:gdLst>
              <a:ahLst/>
              <a:cxnLst>
                <a:cxn ang="0">
                  <a:pos x="T0" y="T1"/>
                </a:cxn>
                <a:cxn ang="0">
                  <a:pos x="T2" y="T3"/>
                </a:cxn>
                <a:cxn ang="0">
                  <a:pos x="T4" y="T5"/>
                </a:cxn>
              </a:cxnLst>
              <a:rect l="0" t="0" r="r" b="b"/>
              <a:pathLst>
                <a:path w="21600" h="20002" fill="none" extrusionOk="0">
                  <a:moveTo>
                    <a:pt x="8153" y="-1"/>
                  </a:moveTo>
                  <a:cubicBezTo>
                    <a:pt x="16284" y="3314"/>
                    <a:pt x="21600" y="11221"/>
                    <a:pt x="21600" y="20002"/>
                  </a:cubicBezTo>
                </a:path>
                <a:path w="21600" h="20002" stroke="0" extrusionOk="0">
                  <a:moveTo>
                    <a:pt x="8153" y="-1"/>
                  </a:moveTo>
                  <a:cubicBezTo>
                    <a:pt x="16284" y="3314"/>
                    <a:pt x="21600" y="11221"/>
                    <a:pt x="21600" y="20002"/>
                  </a:cubicBezTo>
                  <a:lnTo>
                    <a:pt x="0" y="20002"/>
                  </a:lnTo>
                  <a:close/>
                </a:path>
              </a:pathLst>
            </a:custGeom>
            <a:noFill/>
            <a:ln w="1270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nvGrpSpPr>
            <p:cNvPr id="117910" name="Group 150"/>
            <p:cNvGrpSpPr>
              <a:grpSpLocks/>
            </p:cNvGrpSpPr>
            <p:nvPr/>
          </p:nvGrpSpPr>
          <p:grpSpPr bwMode="auto">
            <a:xfrm>
              <a:off x="5045" y="1686"/>
              <a:ext cx="157" cy="397"/>
              <a:chOff x="270" y="7467"/>
              <a:chExt cx="1339" cy="3857"/>
            </a:xfrm>
          </p:grpSpPr>
          <p:sp>
            <p:nvSpPr>
              <p:cNvPr id="117911" name="Line 151"/>
              <p:cNvSpPr>
                <a:spLocks noChangeShapeType="1"/>
              </p:cNvSpPr>
              <p:nvPr/>
            </p:nvSpPr>
            <p:spPr bwMode="auto">
              <a:xfrm>
                <a:off x="270" y="7467"/>
                <a:ext cx="1277" cy="1933"/>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12" name="Line 152"/>
              <p:cNvSpPr>
                <a:spLocks noChangeShapeType="1"/>
              </p:cNvSpPr>
              <p:nvPr/>
            </p:nvSpPr>
            <p:spPr bwMode="auto">
              <a:xfrm flipH="1" flipV="1">
                <a:off x="317" y="9385"/>
                <a:ext cx="1230" cy="1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13" name="Line 153"/>
              <p:cNvSpPr>
                <a:spLocks noChangeShapeType="1"/>
              </p:cNvSpPr>
              <p:nvPr/>
            </p:nvSpPr>
            <p:spPr bwMode="auto">
              <a:xfrm>
                <a:off x="332" y="9391"/>
                <a:ext cx="1277" cy="1933"/>
              </a:xfrm>
              <a:prstGeom prst="line">
                <a:avLst/>
              </a:prstGeom>
              <a:noFill/>
              <a:ln w="28575">
                <a:solidFill>
                  <a:srgbClr val="0000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sp>
          <p:nvSpPr>
            <p:cNvPr id="117914" name="Rectangle 154"/>
            <p:cNvSpPr>
              <a:spLocks noChangeArrowheads="1"/>
            </p:cNvSpPr>
            <p:nvPr/>
          </p:nvSpPr>
          <p:spPr bwMode="auto">
            <a:xfrm>
              <a:off x="5075" y="991"/>
              <a:ext cx="917"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nSpc>
                  <a:spcPct val="80000"/>
                </a:lnSpc>
              </a:pPr>
              <a:r>
                <a:rPr lang="en-GB" altLang="en-US">
                  <a:solidFill>
                    <a:srgbClr val="FF0000"/>
                  </a:solidFill>
                  <a:latin typeface="Arial" panose="020B0604020202020204" pitchFamily="34" charset="0"/>
                  <a:cs typeface="Arial" panose="020B0604020202020204" pitchFamily="34" charset="0"/>
                </a:rPr>
                <a:t>Possible</a:t>
              </a:r>
            </a:p>
            <a:p>
              <a:pPr>
                <a:lnSpc>
                  <a:spcPct val="80000"/>
                </a:lnSpc>
              </a:pPr>
              <a:r>
                <a:rPr lang="en-GB" altLang="en-US">
                  <a:solidFill>
                    <a:srgbClr val="FF0000"/>
                  </a:solidFill>
                  <a:latin typeface="Arial" panose="020B0604020202020204" pitchFamily="34" charset="0"/>
                  <a:cs typeface="Arial" panose="020B0604020202020204" pitchFamily="34" charset="0"/>
                </a:rPr>
                <a:t>Overreach</a:t>
              </a:r>
            </a:p>
          </p:txBody>
        </p:sp>
        <p:sp>
          <p:nvSpPr>
            <p:cNvPr id="117915" name="Rectangle 155"/>
            <p:cNvSpPr>
              <a:spLocks noChangeArrowheads="1"/>
            </p:cNvSpPr>
            <p:nvPr/>
          </p:nvSpPr>
          <p:spPr bwMode="auto">
            <a:xfrm>
              <a:off x="2578" y="1258"/>
              <a:ext cx="1056" cy="2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a:latin typeface="Arial" panose="020B0604020202020204" pitchFamily="34" charset="0"/>
                  <a:cs typeface="Arial" panose="020B0604020202020204" pitchFamily="34" charset="0"/>
                </a:rPr>
                <a:t>ZONE 1 = Z</a:t>
              </a:r>
              <a:r>
                <a:rPr lang="en-GB" altLang="en-US" baseline="-25000">
                  <a:latin typeface="Arial" panose="020B0604020202020204" pitchFamily="34" charset="0"/>
                  <a:cs typeface="Arial" panose="020B0604020202020204" pitchFamily="34" charset="0"/>
                </a:rPr>
                <a:t>L</a:t>
              </a:r>
              <a:endParaRPr lang="en-GB" altLang="en-US">
                <a:latin typeface="Arial" panose="020B0604020202020204" pitchFamily="34" charset="0"/>
                <a:cs typeface="Arial" panose="020B0604020202020204" pitchFamily="34" charset="0"/>
              </a:endParaRPr>
            </a:p>
          </p:txBody>
        </p:sp>
        <p:sp>
          <p:nvSpPr>
            <p:cNvPr id="117916" name="Rectangle 156"/>
            <p:cNvSpPr>
              <a:spLocks noChangeArrowheads="1"/>
            </p:cNvSpPr>
            <p:nvPr/>
          </p:nvSpPr>
          <p:spPr bwMode="auto">
            <a:xfrm>
              <a:off x="3091" y="1684"/>
              <a:ext cx="23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a:latin typeface="Arial" panose="020B0604020202020204" pitchFamily="34" charset="0"/>
                  <a:cs typeface="Arial" panose="020B0604020202020204" pitchFamily="34" charset="0"/>
                </a:rPr>
                <a:t>Z</a:t>
              </a:r>
              <a:r>
                <a:rPr lang="en-GB" altLang="en-US" baseline="-25000">
                  <a:latin typeface="Arial" panose="020B0604020202020204" pitchFamily="34" charset="0"/>
                  <a:cs typeface="Arial" panose="020B0604020202020204" pitchFamily="34" charset="0"/>
                </a:rPr>
                <a:t>L</a:t>
              </a:r>
              <a:endParaRPr lang="en-GB" altLang="en-US">
                <a:latin typeface="Arial" panose="020B0604020202020204" pitchFamily="34" charset="0"/>
                <a:cs typeface="Arial" panose="020B0604020202020204" pitchFamily="34" charset="0"/>
              </a:endParaRPr>
            </a:p>
          </p:txBody>
        </p:sp>
        <p:sp>
          <p:nvSpPr>
            <p:cNvPr id="117917" name="Rectangle 157"/>
            <p:cNvSpPr>
              <a:spLocks noChangeArrowheads="1"/>
            </p:cNvSpPr>
            <p:nvPr/>
          </p:nvSpPr>
          <p:spPr bwMode="auto">
            <a:xfrm>
              <a:off x="5219" y="1932"/>
              <a:ext cx="237"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a:latin typeface="Arial" panose="020B0604020202020204" pitchFamily="34" charset="0"/>
                  <a:cs typeface="Arial" panose="020B0604020202020204" pitchFamily="34" charset="0"/>
                </a:rPr>
                <a:t>F</a:t>
              </a:r>
            </a:p>
          </p:txBody>
        </p:sp>
        <p:sp>
          <p:nvSpPr>
            <p:cNvPr id="117918" name="Line 158"/>
            <p:cNvSpPr>
              <a:spLocks noChangeShapeType="1"/>
            </p:cNvSpPr>
            <p:nvPr/>
          </p:nvSpPr>
          <p:spPr bwMode="auto">
            <a:xfrm>
              <a:off x="827" y="3559"/>
              <a:ext cx="4749" cy="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19" name="Line 159"/>
            <p:cNvSpPr>
              <a:spLocks noChangeShapeType="1"/>
            </p:cNvSpPr>
            <p:nvPr/>
          </p:nvSpPr>
          <p:spPr bwMode="auto">
            <a:xfrm>
              <a:off x="1382" y="3419"/>
              <a:ext cx="0" cy="281"/>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20" name="Line 160"/>
            <p:cNvSpPr>
              <a:spLocks noChangeShapeType="1"/>
            </p:cNvSpPr>
            <p:nvPr/>
          </p:nvSpPr>
          <p:spPr bwMode="auto">
            <a:xfrm>
              <a:off x="4863" y="3419"/>
              <a:ext cx="0" cy="281"/>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21" name="Rectangle 161"/>
            <p:cNvSpPr>
              <a:spLocks noChangeArrowheads="1"/>
            </p:cNvSpPr>
            <p:nvPr/>
          </p:nvSpPr>
          <p:spPr bwMode="auto">
            <a:xfrm>
              <a:off x="2112" y="3213"/>
              <a:ext cx="1494"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a:latin typeface="Arial" panose="020B0604020202020204" pitchFamily="34" charset="0"/>
                  <a:cs typeface="Arial" panose="020B0604020202020204" pitchFamily="34" charset="0"/>
                </a:rPr>
                <a:t>ZONE 1 = 0.8Z</a:t>
              </a:r>
              <a:r>
                <a:rPr lang="en-GB" altLang="en-US" baseline="-25000">
                  <a:latin typeface="Arial" panose="020B0604020202020204" pitchFamily="34" charset="0"/>
                  <a:cs typeface="Arial" panose="020B0604020202020204" pitchFamily="34" charset="0"/>
                </a:rPr>
                <a:t>L</a:t>
              </a:r>
              <a:endParaRPr lang="en-GB" altLang="en-US">
                <a:latin typeface="Arial" panose="020B0604020202020204" pitchFamily="34" charset="0"/>
                <a:cs typeface="Arial" panose="020B0604020202020204" pitchFamily="34" charset="0"/>
              </a:endParaRPr>
            </a:p>
          </p:txBody>
        </p:sp>
        <p:sp>
          <p:nvSpPr>
            <p:cNvPr id="117922" name="Rectangle 162"/>
            <p:cNvSpPr>
              <a:spLocks noChangeArrowheads="1"/>
            </p:cNvSpPr>
            <p:nvPr/>
          </p:nvSpPr>
          <p:spPr bwMode="auto">
            <a:xfrm>
              <a:off x="3173" y="3559"/>
              <a:ext cx="239"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a:latin typeface="Arial" panose="020B0604020202020204" pitchFamily="34" charset="0"/>
                  <a:cs typeface="Arial" panose="020B0604020202020204" pitchFamily="34" charset="0"/>
                </a:rPr>
                <a:t>Z</a:t>
              </a:r>
              <a:r>
                <a:rPr lang="en-GB" altLang="en-US" baseline="-25000">
                  <a:latin typeface="Arial" panose="020B0604020202020204" pitchFamily="34" charset="0"/>
                  <a:cs typeface="Arial" panose="020B0604020202020204" pitchFamily="34" charset="0"/>
                </a:rPr>
                <a:t>L</a:t>
              </a:r>
              <a:endParaRPr lang="en-GB" altLang="en-US">
                <a:latin typeface="Arial" panose="020B0604020202020204" pitchFamily="34" charset="0"/>
                <a:cs typeface="Arial" panose="020B0604020202020204" pitchFamily="34" charset="0"/>
              </a:endParaRPr>
            </a:p>
          </p:txBody>
        </p:sp>
        <p:sp>
          <p:nvSpPr>
            <p:cNvPr id="117923" name="Line 163"/>
            <p:cNvSpPr>
              <a:spLocks noChangeShapeType="1"/>
            </p:cNvSpPr>
            <p:nvPr/>
          </p:nvSpPr>
          <p:spPr bwMode="auto">
            <a:xfrm>
              <a:off x="1533" y="3429"/>
              <a:ext cx="2520" cy="0"/>
            </a:xfrm>
            <a:prstGeom prst="line">
              <a:avLst/>
            </a:prstGeom>
            <a:noFill/>
            <a:ln w="28575">
              <a:solidFill>
                <a:srgbClr val="000099"/>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nvGrpSpPr>
            <p:cNvPr id="117924" name="Group 164"/>
            <p:cNvGrpSpPr>
              <a:grpSpLocks/>
            </p:cNvGrpSpPr>
            <p:nvPr/>
          </p:nvGrpSpPr>
          <p:grpSpPr bwMode="auto">
            <a:xfrm>
              <a:off x="1268" y="1620"/>
              <a:ext cx="155" cy="136"/>
              <a:chOff x="0" y="0"/>
              <a:chExt cx="20000" cy="20000"/>
            </a:xfrm>
          </p:grpSpPr>
          <p:sp>
            <p:nvSpPr>
              <p:cNvPr id="117925" name="Line 165"/>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26" name="Line 166"/>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grpSp>
          <p:nvGrpSpPr>
            <p:cNvPr id="117927" name="Group 167"/>
            <p:cNvGrpSpPr>
              <a:grpSpLocks/>
            </p:cNvGrpSpPr>
            <p:nvPr/>
          </p:nvGrpSpPr>
          <p:grpSpPr bwMode="auto">
            <a:xfrm>
              <a:off x="4755" y="1612"/>
              <a:ext cx="155" cy="137"/>
              <a:chOff x="0" y="0"/>
              <a:chExt cx="20000" cy="20000"/>
            </a:xfrm>
          </p:grpSpPr>
          <p:sp>
            <p:nvSpPr>
              <p:cNvPr id="117928" name="Line 168"/>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29" name="Line 169"/>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grpSp>
          <p:nvGrpSpPr>
            <p:cNvPr id="117930" name="Group 170"/>
            <p:cNvGrpSpPr>
              <a:grpSpLocks/>
            </p:cNvGrpSpPr>
            <p:nvPr/>
          </p:nvGrpSpPr>
          <p:grpSpPr bwMode="auto">
            <a:xfrm>
              <a:off x="4952" y="3496"/>
              <a:ext cx="155" cy="135"/>
              <a:chOff x="0" y="0"/>
              <a:chExt cx="20000" cy="20000"/>
            </a:xfrm>
          </p:grpSpPr>
          <p:sp>
            <p:nvSpPr>
              <p:cNvPr id="117931" name="Line 171"/>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32" name="Line 172"/>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grpSp>
          <p:nvGrpSpPr>
            <p:cNvPr id="117933" name="Group 173"/>
            <p:cNvGrpSpPr>
              <a:grpSpLocks/>
            </p:cNvGrpSpPr>
            <p:nvPr/>
          </p:nvGrpSpPr>
          <p:grpSpPr bwMode="auto">
            <a:xfrm>
              <a:off x="1458" y="3496"/>
              <a:ext cx="155" cy="135"/>
              <a:chOff x="0" y="0"/>
              <a:chExt cx="20000" cy="20000"/>
            </a:xfrm>
          </p:grpSpPr>
          <p:sp>
            <p:nvSpPr>
              <p:cNvPr id="117934" name="Line 174"/>
              <p:cNvSpPr>
                <a:spLocks noChangeShapeType="1"/>
              </p:cNvSpPr>
              <p:nvPr/>
            </p:nvSpPr>
            <p:spPr bwMode="auto">
              <a:xfrm flipH="1">
                <a:off x="0" y="0"/>
                <a:ext cx="20000"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117935" name="Line 175"/>
              <p:cNvSpPr>
                <a:spLocks noChangeShapeType="1"/>
              </p:cNvSpPr>
              <p:nvPr/>
            </p:nvSpPr>
            <p:spPr bwMode="auto">
              <a:xfrm>
                <a:off x="158" y="352"/>
                <a:ext cx="19369" cy="1964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anose="020B0604020202020204" pitchFamily="34" charset="0"/>
                  <a:cs typeface="Arial" panose="020B0604020202020204" pitchFamily="34" charset="0"/>
                </a:endParaRPr>
              </a:p>
            </p:txBody>
          </p:sp>
        </p:grpSp>
        <p:sp>
          <p:nvSpPr>
            <p:cNvPr id="117936" name="Text Box 176"/>
            <p:cNvSpPr txBox="1">
              <a:spLocks noChangeArrowheads="1"/>
            </p:cNvSpPr>
            <p:nvPr/>
          </p:nvSpPr>
          <p:spPr bwMode="auto">
            <a:xfrm>
              <a:off x="1017" y="2097"/>
              <a:ext cx="2919" cy="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Aft>
                  <a:spcPct val="20000"/>
                </a:spcAft>
              </a:pPr>
              <a:r>
                <a:rPr lang="en-GB" altLang="en-US" b="1" dirty="0">
                  <a:latin typeface="Arial" panose="020B0604020202020204" pitchFamily="34" charset="0"/>
                  <a:cs typeface="Arial" panose="020B0604020202020204" pitchFamily="34" charset="0"/>
                </a:rPr>
                <a:t>Possible incorrect tripping for fault at ‘F’</a:t>
              </a:r>
              <a:endParaRPr lang="en-GB" altLang="en-US" b="1" dirty="0">
                <a:solidFill>
                  <a:srgbClr val="000099"/>
                </a:solidFill>
                <a:latin typeface="Arial" panose="020B0604020202020204" pitchFamily="34" charset="0"/>
                <a:cs typeface="Arial" panose="020B0604020202020204" pitchFamily="34" charset="0"/>
              </a:endParaRPr>
            </a:p>
            <a:p>
              <a:pPr>
                <a:spcAft>
                  <a:spcPct val="20000"/>
                </a:spcAft>
              </a:pPr>
              <a:endParaRPr lang="en-GB" altLang="en-US" b="1" dirty="0">
                <a:solidFill>
                  <a:srgbClr val="000099"/>
                </a:solidFill>
                <a:latin typeface="Arial" panose="020B0604020202020204" pitchFamily="34" charset="0"/>
                <a:cs typeface="Arial" panose="020B0604020202020204" pitchFamily="34" charset="0"/>
              </a:endParaRPr>
            </a:p>
            <a:p>
              <a:pPr>
                <a:spcAft>
                  <a:spcPct val="20000"/>
                </a:spcAft>
              </a:pPr>
              <a:r>
                <a:rPr lang="en-GB" altLang="en-US" b="1" dirty="0">
                  <a:solidFill>
                    <a:srgbClr val="FF0000"/>
                  </a:solidFill>
                  <a:latin typeface="Arial" panose="020B0604020202020204" pitchFamily="34" charset="0"/>
                  <a:cs typeface="Arial" panose="020B0604020202020204" pitchFamily="34" charset="0"/>
                  <a:sym typeface="Symbol" panose="05050102010706020507" pitchFamily="18" charset="2"/>
                </a:rPr>
                <a:t>  Zone 1 set to    0.8Z</a:t>
              </a:r>
              <a:r>
                <a:rPr lang="en-GB" altLang="en-US" b="1" baseline="-25000" dirty="0">
                  <a:solidFill>
                    <a:srgbClr val="FF0000"/>
                  </a:solidFill>
                  <a:latin typeface="Arial" panose="020B0604020202020204" pitchFamily="34" charset="0"/>
                  <a:cs typeface="Arial" panose="020B0604020202020204" pitchFamily="34" charset="0"/>
                </a:rPr>
                <a:t>L</a:t>
              </a:r>
            </a:p>
          </p:txBody>
        </p:sp>
      </p:grpSp>
    </p:spTree>
    <p:extLst>
      <p:ext uri="{BB962C8B-B14F-4D97-AF65-F5344CB8AC3E}">
        <p14:creationId xmlns:p14="http://schemas.microsoft.com/office/powerpoint/2010/main" val="2714235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058" name="Rectangle 106"/>
          <p:cNvSpPr>
            <a:spLocks noChangeArrowheads="1"/>
          </p:cNvSpPr>
          <p:nvPr/>
        </p:nvSpPr>
        <p:spPr bwMode="auto">
          <a:xfrm>
            <a:off x="238125" y="76200"/>
            <a:ext cx="863441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l">
              <a:lnSpc>
                <a:spcPct val="90000"/>
              </a:lnSpc>
            </a:pPr>
            <a:r>
              <a:rPr lang="en-GB" altLang="en-US" sz="3600" dirty="0">
                <a:solidFill>
                  <a:schemeClr val="accent1"/>
                </a:solidFill>
                <a:latin typeface="Arial" panose="020B0604020202020204" pitchFamily="34" charset="0"/>
                <a:ea typeface="+mj-ea"/>
                <a:cs typeface="Arial" panose="020B0604020202020204" pitchFamily="34" charset="0"/>
              </a:rPr>
              <a:t>Minimum Zone 1 Reach Setting</a:t>
            </a:r>
          </a:p>
        </p:txBody>
      </p:sp>
      <p:sp>
        <p:nvSpPr>
          <p:cNvPr id="126059" name="Text Box 107"/>
          <p:cNvSpPr txBox="1">
            <a:spLocks noChangeArrowheads="1"/>
          </p:cNvSpPr>
          <p:nvPr/>
        </p:nvSpPr>
        <p:spPr bwMode="auto">
          <a:xfrm>
            <a:off x="705643" y="1363028"/>
            <a:ext cx="769937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Aft>
                <a:spcPct val="20000"/>
              </a:spcAft>
            </a:pPr>
            <a:r>
              <a:rPr lang="en-GB" altLang="en-US" sz="2400" b="1" dirty="0">
                <a:latin typeface="Arial" panose="020B0604020202020204" pitchFamily="34" charset="0"/>
              </a:rPr>
              <a:t>Dictated by :-</a:t>
            </a:r>
          </a:p>
          <a:p>
            <a:pPr algn="l">
              <a:spcAft>
                <a:spcPct val="20000"/>
              </a:spcAft>
            </a:pPr>
            <a:endParaRPr lang="en-GB" altLang="en-US" sz="2400" b="1" dirty="0">
              <a:latin typeface="Arial" panose="020B0604020202020204" pitchFamily="34" charset="0"/>
            </a:endParaRPr>
          </a:p>
          <a:p>
            <a:pPr algn="l">
              <a:spcAft>
                <a:spcPct val="20000"/>
              </a:spcAft>
            </a:pPr>
            <a:r>
              <a:rPr lang="en-GB" altLang="en-US" sz="2400" b="1" dirty="0">
                <a:latin typeface="Arial" panose="020B0604020202020204" pitchFamily="34" charset="0"/>
              </a:rPr>
              <a:t>Minimum relay voltage for fault at Zone 1</a:t>
            </a:r>
          </a:p>
          <a:p>
            <a:pPr algn="l">
              <a:spcAft>
                <a:spcPct val="20000"/>
              </a:spcAft>
            </a:pPr>
            <a:r>
              <a:rPr lang="en-GB" altLang="en-US" sz="2400" b="1" dirty="0">
                <a:latin typeface="Arial" panose="020B0604020202020204" pitchFamily="34" charset="0"/>
              </a:rPr>
              <a:t>reach point to ensure accurate measurement.</a:t>
            </a:r>
          </a:p>
          <a:p>
            <a:pPr algn="l">
              <a:spcAft>
                <a:spcPct val="20000"/>
              </a:spcAft>
            </a:pPr>
            <a:endParaRPr lang="en-GB" altLang="en-US" sz="2400" b="1" dirty="0">
              <a:latin typeface="Arial" panose="020B0604020202020204" pitchFamily="34" charset="0"/>
            </a:endParaRPr>
          </a:p>
          <a:p>
            <a:pPr algn="l">
              <a:spcAft>
                <a:spcPct val="20000"/>
              </a:spcAft>
            </a:pPr>
            <a:r>
              <a:rPr lang="en-GB" altLang="en-US" sz="2400" b="1" dirty="0">
                <a:latin typeface="Arial" panose="020B0604020202020204" pitchFamily="34" charset="0"/>
              </a:rPr>
              <a:t>Minimum voltage depends on relay design </a:t>
            </a:r>
            <a:br>
              <a:rPr lang="en-GB" altLang="en-US" sz="2400" b="1" dirty="0">
                <a:latin typeface="Arial" panose="020B0604020202020204" pitchFamily="34" charset="0"/>
              </a:rPr>
            </a:br>
            <a:r>
              <a:rPr lang="en-GB" altLang="en-US" sz="2400" b="1" dirty="0">
                <a:latin typeface="Arial" panose="020B0604020202020204" pitchFamily="34" charset="0"/>
              </a:rPr>
              <a:t>typically </a:t>
            </a:r>
            <a:r>
              <a:rPr lang="en-GB" altLang="en-US" sz="2400" b="1" dirty="0">
                <a:latin typeface="Arial" panose="020B0604020202020204" pitchFamily="34" charset="0"/>
                <a:sym typeface="Symbol" panose="05050102010706020507" pitchFamily="18" charset="2"/>
              </a:rPr>
              <a:t>1  3 volts.</a:t>
            </a:r>
            <a:endParaRPr lang="en-GB" altLang="en-US" sz="2400" b="1" baseline="-25000" dirty="0">
              <a:latin typeface="Arial" panose="020B0604020202020204" pitchFamily="34" charset="0"/>
            </a:endParaRPr>
          </a:p>
        </p:txBody>
      </p:sp>
    </p:spTree>
    <p:extLst>
      <p:ext uri="{BB962C8B-B14F-4D97-AF65-F5344CB8AC3E}">
        <p14:creationId xmlns:p14="http://schemas.microsoft.com/office/powerpoint/2010/main" val="337260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9" name="Rectangle 11"/>
          <p:cNvSpPr>
            <a:spLocks noChangeArrowheads="1"/>
          </p:cNvSpPr>
          <p:nvPr/>
        </p:nvSpPr>
        <p:spPr bwMode="auto">
          <a:xfrm>
            <a:off x="238125" y="76200"/>
            <a:ext cx="863441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l">
              <a:lnSpc>
                <a:spcPct val="90000"/>
              </a:lnSpc>
            </a:pPr>
            <a:r>
              <a:rPr lang="en-GB" altLang="en-US" sz="3600" dirty="0">
                <a:solidFill>
                  <a:schemeClr val="accent1"/>
                </a:solidFill>
                <a:latin typeface="Arial" panose="020B0604020202020204" pitchFamily="34" charset="0"/>
                <a:ea typeface="+mj-ea"/>
                <a:cs typeface="Arial" panose="020B0604020202020204" pitchFamily="34" charset="0"/>
              </a:rPr>
              <a:t>Zone 2</a:t>
            </a:r>
          </a:p>
        </p:txBody>
      </p:sp>
      <p:grpSp>
        <p:nvGrpSpPr>
          <p:cNvPr id="130092" name="Group 44"/>
          <p:cNvGrpSpPr>
            <a:grpSpLocks/>
          </p:cNvGrpSpPr>
          <p:nvPr/>
        </p:nvGrpSpPr>
        <p:grpSpPr bwMode="auto">
          <a:xfrm>
            <a:off x="788987" y="1096645"/>
            <a:ext cx="7532687" cy="5053013"/>
            <a:chOff x="839" y="678"/>
            <a:chExt cx="4745" cy="3183"/>
          </a:xfrm>
        </p:grpSpPr>
        <p:sp>
          <p:nvSpPr>
            <p:cNvPr id="130060" name="Text Box 12"/>
            <p:cNvSpPr txBox="1">
              <a:spLocks noChangeArrowheads="1"/>
            </p:cNvSpPr>
            <p:nvPr/>
          </p:nvSpPr>
          <p:spPr bwMode="auto">
            <a:xfrm>
              <a:off x="839" y="678"/>
              <a:ext cx="4745" cy="3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241425" algn="l"/>
                </a:tabLst>
                <a:defRPr sz="2400">
                  <a:solidFill>
                    <a:schemeClr val="tx1"/>
                  </a:solidFill>
                  <a:latin typeface="Times New Roman" panose="02020603050405020304" pitchFamily="18" charset="0"/>
                </a:defRPr>
              </a:lvl1pPr>
              <a:lvl2pPr marL="190500">
                <a:tabLst>
                  <a:tab pos="1241425" algn="l"/>
                </a:tabLst>
                <a:defRPr sz="2400">
                  <a:solidFill>
                    <a:schemeClr val="tx1"/>
                  </a:solidFill>
                  <a:latin typeface="Times New Roman" panose="02020603050405020304" pitchFamily="18" charset="0"/>
                </a:defRPr>
              </a:lvl2pPr>
              <a:lvl3pPr>
                <a:tabLst>
                  <a:tab pos="1241425" algn="l"/>
                </a:tabLst>
                <a:defRPr sz="2400">
                  <a:solidFill>
                    <a:schemeClr val="tx1"/>
                  </a:solidFill>
                  <a:latin typeface="Times New Roman" panose="02020603050405020304" pitchFamily="18" charset="0"/>
                </a:defRPr>
              </a:lvl3pPr>
              <a:lvl4pPr>
                <a:tabLst>
                  <a:tab pos="1241425" algn="l"/>
                </a:tabLst>
                <a:defRPr sz="2400">
                  <a:solidFill>
                    <a:schemeClr val="tx1"/>
                  </a:solidFill>
                  <a:latin typeface="Times New Roman" panose="02020603050405020304" pitchFamily="18" charset="0"/>
                </a:defRPr>
              </a:lvl4pPr>
              <a:lvl5pPr>
                <a:tabLst>
                  <a:tab pos="1241425"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1241425"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1241425"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1241425"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1241425" algn="l"/>
                </a:tabLst>
                <a:defRPr sz="2400">
                  <a:solidFill>
                    <a:schemeClr val="tx1"/>
                  </a:solidFill>
                  <a:latin typeface="Times New Roman" panose="02020603050405020304" pitchFamily="18" charset="0"/>
                </a:defRPr>
              </a:lvl9pPr>
            </a:lstStyle>
            <a:p>
              <a:pPr algn="l">
                <a:spcAft>
                  <a:spcPct val="20000"/>
                </a:spcAft>
                <a:buClr>
                  <a:srgbClr val="C4122F"/>
                </a:buClr>
                <a:buFont typeface="Wingdings 3" panose="05040102010807070707" pitchFamily="18" charset="2"/>
                <a:buChar char="u"/>
              </a:pPr>
              <a:r>
                <a:rPr lang="en-GB" altLang="en-US" dirty="0">
                  <a:solidFill>
                    <a:srgbClr val="000099"/>
                  </a:solidFill>
                  <a:latin typeface="FuturaA Md BT" pitchFamily="34" charset="0"/>
                </a:rPr>
                <a:t>  </a:t>
              </a:r>
              <a:r>
                <a:rPr lang="en-GB" altLang="en-US" sz="2200" b="1" dirty="0">
                  <a:latin typeface="Arial" panose="020B0604020202020204" pitchFamily="34" charset="0"/>
                </a:rPr>
                <a:t>Covers last 20% of line not covered by Zone 1.</a:t>
              </a:r>
            </a:p>
            <a:p>
              <a:pPr algn="l">
                <a:spcAft>
                  <a:spcPct val="20000"/>
                </a:spcAft>
                <a:buClr>
                  <a:srgbClr val="C4122F"/>
                </a:buClr>
                <a:buFont typeface="Wingdings 3" panose="05040102010807070707" pitchFamily="18" charset="2"/>
                <a:buChar char="u"/>
              </a:pPr>
              <a:r>
                <a:rPr lang="en-GB" altLang="en-US" sz="2200" b="1" dirty="0">
                  <a:latin typeface="Arial" panose="020B0604020202020204" pitchFamily="34" charset="0"/>
                </a:rPr>
                <a:t>  Provides back-up protection for remote </a:t>
              </a:r>
              <a:r>
                <a:rPr lang="en-GB" altLang="en-US" sz="2200" b="1" dirty="0" err="1">
                  <a:latin typeface="Arial" panose="020B0604020202020204" pitchFamily="34" charset="0"/>
                </a:rPr>
                <a:t>busbars</a:t>
              </a:r>
              <a:r>
                <a:rPr lang="en-GB" altLang="en-US" sz="2200" b="1" dirty="0">
                  <a:latin typeface="Arial" panose="020B0604020202020204" pitchFamily="34" charset="0"/>
                </a:rPr>
                <a:t>.</a:t>
              </a:r>
            </a:p>
            <a:p>
              <a:pPr algn="l">
                <a:spcAft>
                  <a:spcPct val="20000"/>
                </a:spcAft>
                <a:buClr>
                  <a:srgbClr val="FF0000"/>
                </a:buClr>
                <a:buFont typeface="Wingdings" panose="05000000000000000000" pitchFamily="2" charset="2"/>
                <a:buChar char="l"/>
              </a:pPr>
              <a:endParaRPr lang="en-GB" altLang="en-US" sz="2200" b="1" dirty="0">
                <a:latin typeface="Arial" panose="020B0604020202020204" pitchFamily="34" charset="0"/>
              </a:endParaRPr>
            </a:p>
            <a:p>
              <a:pPr algn="l">
                <a:spcAft>
                  <a:spcPct val="20000"/>
                </a:spcAft>
                <a:buClr>
                  <a:srgbClr val="FF0000"/>
                </a:buClr>
                <a:buFont typeface="Wingdings" panose="05000000000000000000" pitchFamily="2" charset="2"/>
                <a:buChar char="l"/>
              </a:pPr>
              <a:endParaRPr lang="en-GB" altLang="en-US" sz="2200" b="1" dirty="0">
                <a:latin typeface="Arial" panose="020B0604020202020204" pitchFamily="34" charset="0"/>
              </a:endParaRPr>
            </a:p>
            <a:p>
              <a:pPr algn="l">
                <a:spcAft>
                  <a:spcPct val="20000"/>
                </a:spcAft>
                <a:buClr>
                  <a:srgbClr val="FF0000"/>
                </a:buClr>
                <a:buFont typeface="Wingdings" panose="05000000000000000000" pitchFamily="2" charset="2"/>
                <a:buChar char="l"/>
              </a:pPr>
              <a:endParaRPr lang="en-GB" altLang="en-US" sz="2200" b="1" dirty="0">
                <a:latin typeface="Arial" panose="020B0604020202020204" pitchFamily="34" charset="0"/>
              </a:endParaRPr>
            </a:p>
            <a:p>
              <a:pPr algn="l">
                <a:spcAft>
                  <a:spcPct val="20000"/>
                </a:spcAft>
                <a:buClr>
                  <a:srgbClr val="FF0000"/>
                </a:buClr>
                <a:buFont typeface="Wingdings" panose="05000000000000000000" pitchFamily="2" charset="2"/>
                <a:buChar char="l"/>
              </a:pPr>
              <a:endParaRPr lang="en-GB" altLang="en-US" sz="2200" b="1" dirty="0">
                <a:latin typeface="Arial" panose="020B0604020202020204" pitchFamily="34" charset="0"/>
              </a:endParaRPr>
            </a:p>
            <a:p>
              <a:pPr algn="l">
                <a:spcAft>
                  <a:spcPct val="20000"/>
                </a:spcAft>
                <a:buClr>
                  <a:srgbClr val="FF0000"/>
                </a:buClr>
                <a:buFont typeface="Wingdings" panose="05000000000000000000" pitchFamily="2" charset="2"/>
                <a:buNone/>
              </a:pPr>
              <a:endParaRPr lang="en-GB" altLang="en-US" sz="1600" dirty="0">
                <a:latin typeface="Arial" panose="020B0604020202020204" pitchFamily="34" charset="0"/>
                <a:cs typeface="Arial" panose="020B0604020202020204" pitchFamily="34" charset="0"/>
              </a:endParaRPr>
            </a:p>
            <a:p>
              <a:pPr algn="l">
                <a:spcAft>
                  <a:spcPct val="20000"/>
                </a:spcAft>
                <a:buClr>
                  <a:srgbClr val="FF0000"/>
                </a:buClr>
                <a:buFont typeface="Wingdings" panose="05000000000000000000" pitchFamily="2" charset="2"/>
                <a:buNone/>
              </a:pPr>
              <a:endParaRPr lang="en-GB" altLang="en-US" sz="1600" dirty="0">
                <a:latin typeface="Arial" panose="020B0604020202020204" pitchFamily="34" charset="0"/>
                <a:cs typeface="Arial" panose="020B0604020202020204" pitchFamily="34" charset="0"/>
              </a:endParaRPr>
            </a:p>
            <a:p>
              <a:pPr algn="l">
                <a:spcAft>
                  <a:spcPct val="20000"/>
                </a:spcAft>
                <a:buClr>
                  <a:srgbClr val="FF0000"/>
                </a:buClr>
                <a:buFont typeface="Wingdings" panose="05000000000000000000" pitchFamily="2" charset="2"/>
                <a:buNone/>
              </a:pPr>
              <a:r>
                <a:rPr lang="en-GB" altLang="en-US" sz="2200" b="1" dirty="0">
                  <a:latin typeface="Arial" panose="020B0604020202020204" pitchFamily="34" charset="0"/>
                </a:rPr>
                <a:t>To allow for errors :-</a:t>
              </a:r>
            </a:p>
            <a:p>
              <a:pPr lvl="1" algn="l">
                <a:spcAft>
                  <a:spcPct val="20000"/>
                </a:spcAft>
                <a:buClr>
                  <a:srgbClr val="FF0000"/>
                </a:buClr>
                <a:buFont typeface="Wingdings" panose="05000000000000000000" pitchFamily="2" charset="2"/>
                <a:buNone/>
              </a:pPr>
              <a:r>
                <a:rPr lang="en-GB" altLang="en-US" sz="2200" b="1" dirty="0">
                  <a:latin typeface="Arial" panose="020B0604020202020204" pitchFamily="34" charset="0"/>
                </a:rPr>
                <a:t>   Z2G  </a:t>
              </a:r>
              <a:r>
                <a:rPr lang="en-GB" altLang="en-US" sz="2200" b="1" u="sng" dirty="0">
                  <a:latin typeface="Arial" panose="020B0604020202020204" pitchFamily="34" charset="0"/>
                </a:rPr>
                <a:t>&gt;</a:t>
              </a:r>
              <a:r>
                <a:rPr lang="en-GB" altLang="en-US" sz="2200" b="1" dirty="0">
                  <a:latin typeface="Arial" panose="020B0604020202020204" pitchFamily="34" charset="0"/>
                </a:rPr>
                <a:t>  1.2 Z</a:t>
              </a:r>
              <a:r>
                <a:rPr lang="en-GB" altLang="en-US" sz="2200" b="1" baseline="-25000" dirty="0">
                  <a:latin typeface="Arial" panose="020B0604020202020204" pitchFamily="34" charset="0"/>
                </a:rPr>
                <a:t>GH</a:t>
              </a:r>
              <a:endParaRPr lang="en-GB" altLang="en-US" sz="2200" b="1" dirty="0">
                <a:latin typeface="Arial" panose="020B0604020202020204" pitchFamily="34" charset="0"/>
              </a:endParaRPr>
            </a:p>
            <a:p>
              <a:pPr lvl="1" algn="l">
                <a:spcAft>
                  <a:spcPct val="20000"/>
                </a:spcAft>
                <a:buClr>
                  <a:srgbClr val="FF0000"/>
                </a:buClr>
                <a:buFont typeface="Wingdings" panose="05000000000000000000" pitchFamily="2" charset="2"/>
                <a:buNone/>
              </a:pPr>
              <a:endParaRPr lang="en-GB" altLang="en-US" sz="2200" b="1" dirty="0">
                <a:latin typeface="Arial" panose="020B0604020202020204" pitchFamily="34" charset="0"/>
              </a:endParaRPr>
            </a:p>
            <a:p>
              <a:pPr algn="l">
                <a:spcAft>
                  <a:spcPct val="20000"/>
                </a:spcAft>
                <a:buClr>
                  <a:srgbClr val="FF0000"/>
                </a:buClr>
                <a:buFont typeface="Wingdings" panose="05000000000000000000" pitchFamily="2" charset="2"/>
                <a:buNone/>
              </a:pPr>
              <a:r>
                <a:rPr lang="en-GB" altLang="en-US" sz="2200" b="1" dirty="0">
                  <a:latin typeface="Arial" panose="020B0604020202020204" pitchFamily="34" charset="0"/>
                </a:rPr>
                <a:t>Zone 2 is time delayed to discriminate with Zone 1 on next section for faults in first 20% of next section.</a:t>
              </a:r>
              <a:endParaRPr lang="en-GB" altLang="en-US" sz="2200" b="1" dirty="0">
                <a:latin typeface="Arial" panose="020B0604020202020204" pitchFamily="34" charset="0"/>
                <a:sym typeface="Symbol" panose="05050102010706020507" pitchFamily="18" charset="2"/>
              </a:endParaRPr>
            </a:p>
          </p:txBody>
        </p:sp>
        <p:sp>
          <p:nvSpPr>
            <p:cNvPr id="130061" name="Line 13"/>
            <p:cNvSpPr>
              <a:spLocks noChangeShapeType="1"/>
            </p:cNvSpPr>
            <p:nvPr/>
          </p:nvSpPr>
          <p:spPr bwMode="auto">
            <a:xfrm>
              <a:off x="1654" y="2212"/>
              <a:ext cx="3433" cy="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0062" name="Line 14"/>
            <p:cNvSpPr>
              <a:spLocks noChangeShapeType="1"/>
            </p:cNvSpPr>
            <p:nvPr/>
          </p:nvSpPr>
          <p:spPr bwMode="auto">
            <a:xfrm>
              <a:off x="1652" y="2097"/>
              <a:ext cx="0" cy="231"/>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30063" name="Group 15"/>
            <p:cNvGrpSpPr>
              <a:grpSpLocks/>
            </p:cNvGrpSpPr>
            <p:nvPr/>
          </p:nvGrpSpPr>
          <p:grpSpPr bwMode="auto">
            <a:xfrm>
              <a:off x="1721" y="2158"/>
              <a:ext cx="121" cy="105"/>
              <a:chOff x="0" y="0"/>
              <a:chExt cx="20000" cy="20000"/>
            </a:xfrm>
          </p:grpSpPr>
          <p:sp>
            <p:nvSpPr>
              <p:cNvPr id="130064" name="Line 16"/>
              <p:cNvSpPr>
                <a:spLocks noChangeShapeType="1"/>
              </p:cNvSpPr>
              <p:nvPr/>
            </p:nvSpPr>
            <p:spPr bwMode="auto">
              <a:xfrm flipH="1">
                <a:off x="0" y="0"/>
                <a:ext cx="19434"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0065" name="Line 17"/>
              <p:cNvSpPr>
                <a:spLocks noChangeShapeType="1"/>
              </p:cNvSpPr>
              <p:nvPr/>
            </p:nvSpPr>
            <p:spPr bwMode="auto">
              <a:xfrm>
                <a:off x="599" y="0"/>
                <a:ext cx="19401"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30066" name="Line 18"/>
            <p:cNvSpPr>
              <a:spLocks noChangeShapeType="1"/>
            </p:cNvSpPr>
            <p:nvPr/>
          </p:nvSpPr>
          <p:spPr bwMode="auto">
            <a:xfrm flipH="1">
              <a:off x="3703" y="2097"/>
              <a:ext cx="7" cy="237"/>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30067" name="Group 19"/>
            <p:cNvGrpSpPr>
              <a:grpSpLocks/>
            </p:cNvGrpSpPr>
            <p:nvPr/>
          </p:nvGrpSpPr>
          <p:grpSpPr bwMode="auto">
            <a:xfrm>
              <a:off x="3524" y="2158"/>
              <a:ext cx="121" cy="105"/>
              <a:chOff x="0" y="0"/>
              <a:chExt cx="20000" cy="20000"/>
            </a:xfrm>
          </p:grpSpPr>
          <p:sp>
            <p:nvSpPr>
              <p:cNvPr id="130068" name="Line 20"/>
              <p:cNvSpPr>
                <a:spLocks noChangeShapeType="1"/>
              </p:cNvSpPr>
              <p:nvPr/>
            </p:nvSpPr>
            <p:spPr bwMode="auto">
              <a:xfrm>
                <a:off x="566" y="0"/>
                <a:ext cx="19434"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0069" name="Line 21"/>
              <p:cNvSpPr>
                <a:spLocks noChangeShapeType="1"/>
              </p:cNvSpPr>
              <p:nvPr/>
            </p:nvSpPr>
            <p:spPr bwMode="auto">
              <a:xfrm flipH="1">
                <a:off x="0" y="0"/>
                <a:ext cx="19401"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30070" name="Line 22"/>
            <p:cNvSpPr>
              <a:spLocks noChangeShapeType="1"/>
            </p:cNvSpPr>
            <p:nvPr/>
          </p:nvSpPr>
          <p:spPr bwMode="auto">
            <a:xfrm flipV="1">
              <a:off x="1755" y="2037"/>
              <a:ext cx="1557" cy="2"/>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30071" name="Group 23"/>
            <p:cNvGrpSpPr>
              <a:grpSpLocks/>
            </p:cNvGrpSpPr>
            <p:nvPr/>
          </p:nvGrpSpPr>
          <p:grpSpPr bwMode="auto">
            <a:xfrm>
              <a:off x="4071" y="2218"/>
              <a:ext cx="117" cy="300"/>
              <a:chOff x="0" y="0"/>
              <a:chExt cx="20000" cy="20001"/>
            </a:xfrm>
          </p:grpSpPr>
          <p:sp>
            <p:nvSpPr>
              <p:cNvPr id="130072" name="Line 24"/>
              <p:cNvSpPr>
                <a:spLocks noChangeShapeType="1"/>
              </p:cNvSpPr>
              <p:nvPr/>
            </p:nvSpPr>
            <p:spPr bwMode="auto">
              <a:xfrm>
                <a:off x="0" y="0"/>
                <a:ext cx="19067" cy="9987"/>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0073" name="Line 25"/>
              <p:cNvSpPr>
                <a:spLocks noChangeShapeType="1"/>
              </p:cNvSpPr>
              <p:nvPr/>
            </p:nvSpPr>
            <p:spPr bwMode="auto">
              <a:xfrm flipH="1">
                <a:off x="691" y="9960"/>
                <a:ext cx="18376" cy="27"/>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0074" name="Line 26"/>
              <p:cNvSpPr>
                <a:spLocks noChangeShapeType="1"/>
              </p:cNvSpPr>
              <p:nvPr/>
            </p:nvSpPr>
            <p:spPr bwMode="auto">
              <a:xfrm>
                <a:off x="933" y="10014"/>
                <a:ext cx="19067" cy="9987"/>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30075" name="Rectangle 27"/>
            <p:cNvSpPr>
              <a:spLocks noChangeArrowheads="1"/>
            </p:cNvSpPr>
            <p:nvPr/>
          </p:nvSpPr>
          <p:spPr bwMode="auto">
            <a:xfrm>
              <a:off x="3872" y="1870"/>
              <a:ext cx="358"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dirty="0">
                  <a:latin typeface="Arial" panose="020B0604020202020204" pitchFamily="34" charset="0"/>
                  <a:cs typeface="Arial" panose="020B0604020202020204" pitchFamily="34" charset="0"/>
                </a:rPr>
                <a:t>Z1H</a:t>
              </a:r>
            </a:p>
          </p:txBody>
        </p:sp>
        <p:sp>
          <p:nvSpPr>
            <p:cNvPr id="130076" name="Rectangle 28"/>
            <p:cNvSpPr>
              <a:spLocks noChangeArrowheads="1"/>
            </p:cNvSpPr>
            <p:nvPr/>
          </p:nvSpPr>
          <p:spPr bwMode="auto">
            <a:xfrm>
              <a:off x="2832" y="1336"/>
              <a:ext cx="345"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dirty="0">
                  <a:latin typeface="Arial" panose="020B0604020202020204" pitchFamily="34" charset="0"/>
                  <a:cs typeface="Arial" panose="020B0604020202020204" pitchFamily="34" charset="0"/>
                </a:rPr>
                <a:t>Z2G</a:t>
              </a:r>
            </a:p>
          </p:txBody>
        </p:sp>
        <p:sp>
          <p:nvSpPr>
            <p:cNvPr id="130077" name="Rectangle 29"/>
            <p:cNvSpPr>
              <a:spLocks noChangeArrowheads="1"/>
            </p:cNvSpPr>
            <p:nvPr/>
          </p:nvSpPr>
          <p:spPr bwMode="auto">
            <a:xfrm>
              <a:off x="1040" y="1726"/>
              <a:ext cx="433"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dirty="0">
                  <a:latin typeface="Arial" panose="020B0604020202020204" pitchFamily="34" charset="0"/>
                  <a:cs typeface="Arial" panose="020B0604020202020204" pitchFamily="34" charset="0"/>
                </a:rPr>
                <a:t>TIME</a:t>
              </a:r>
            </a:p>
          </p:txBody>
        </p:sp>
        <p:sp>
          <p:nvSpPr>
            <p:cNvPr id="130078" name="Rectangle 30"/>
            <p:cNvSpPr>
              <a:spLocks noChangeArrowheads="1"/>
            </p:cNvSpPr>
            <p:nvPr/>
          </p:nvSpPr>
          <p:spPr bwMode="auto">
            <a:xfrm>
              <a:off x="2110" y="1870"/>
              <a:ext cx="345"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dirty="0">
                  <a:latin typeface="Arial" panose="020B0604020202020204" pitchFamily="34" charset="0"/>
                  <a:cs typeface="Arial" panose="020B0604020202020204" pitchFamily="34" charset="0"/>
                </a:rPr>
                <a:t>Z1G</a:t>
              </a:r>
            </a:p>
          </p:txBody>
        </p:sp>
        <p:sp>
          <p:nvSpPr>
            <p:cNvPr id="130079" name="Rectangle 31"/>
            <p:cNvSpPr>
              <a:spLocks noChangeArrowheads="1"/>
            </p:cNvSpPr>
            <p:nvPr/>
          </p:nvSpPr>
          <p:spPr bwMode="auto">
            <a:xfrm>
              <a:off x="1713" y="2262"/>
              <a:ext cx="195"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dirty="0"/>
                <a:t>G</a:t>
              </a:r>
            </a:p>
          </p:txBody>
        </p:sp>
        <p:sp>
          <p:nvSpPr>
            <p:cNvPr id="130080" name="Rectangle 32"/>
            <p:cNvSpPr>
              <a:spLocks noChangeArrowheads="1"/>
            </p:cNvSpPr>
            <p:nvPr/>
          </p:nvSpPr>
          <p:spPr bwMode="auto">
            <a:xfrm>
              <a:off x="3771" y="2271"/>
              <a:ext cx="196"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dirty="0"/>
                <a:t>H</a:t>
              </a:r>
            </a:p>
          </p:txBody>
        </p:sp>
        <p:sp>
          <p:nvSpPr>
            <p:cNvPr id="130081" name="Rectangle 33"/>
            <p:cNvSpPr>
              <a:spLocks noChangeArrowheads="1"/>
            </p:cNvSpPr>
            <p:nvPr/>
          </p:nvSpPr>
          <p:spPr bwMode="auto">
            <a:xfrm>
              <a:off x="4138" y="2491"/>
              <a:ext cx="196"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dirty="0">
                  <a:solidFill>
                    <a:srgbClr val="FF0000"/>
                  </a:solidFill>
                </a:rPr>
                <a:t>F</a:t>
              </a:r>
              <a:endParaRPr lang="en-GB" altLang="en-US" sz="1600" dirty="0">
                <a:solidFill>
                  <a:srgbClr val="000099"/>
                </a:solidFill>
              </a:endParaRPr>
            </a:p>
          </p:txBody>
        </p:sp>
        <p:grpSp>
          <p:nvGrpSpPr>
            <p:cNvPr id="130082" name="Group 34"/>
            <p:cNvGrpSpPr>
              <a:grpSpLocks/>
            </p:cNvGrpSpPr>
            <p:nvPr/>
          </p:nvGrpSpPr>
          <p:grpSpPr bwMode="auto">
            <a:xfrm>
              <a:off x="3780" y="2164"/>
              <a:ext cx="122" cy="105"/>
              <a:chOff x="0" y="0"/>
              <a:chExt cx="20000" cy="20000"/>
            </a:xfrm>
          </p:grpSpPr>
          <p:sp>
            <p:nvSpPr>
              <p:cNvPr id="130083" name="Line 35"/>
              <p:cNvSpPr>
                <a:spLocks noChangeShapeType="1"/>
              </p:cNvSpPr>
              <p:nvPr/>
            </p:nvSpPr>
            <p:spPr bwMode="auto">
              <a:xfrm>
                <a:off x="566" y="0"/>
                <a:ext cx="19434"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0084" name="Line 36"/>
              <p:cNvSpPr>
                <a:spLocks noChangeShapeType="1"/>
              </p:cNvSpPr>
              <p:nvPr/>
            </p:nvSpPr>
            <p:spPr bwMode="auto">
              <a:xfrm flipH="1">
                <a:off x="0" y="0"/>
                <a:ext cx="19401"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30085" name="Line 37"/>
            <p:cNvSpPr>
              <a:spLocks noChangeShapeType="1"/>
            </p:cNvSpPr>
            <p:nvPr/>
          </p:nvSpPr>
          <p:spPr bwMode="auto">
            <a:xfrm flipH="1">
              <a:off x="5087" y="2109"/>
              <a:ext cx="0" cy="228"/>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30086" name="Group 38"/>
            <p:cNvGrpSpPr>
              <a:grpSpLocks/>
            </p:cNvGrpSpPr>
            <p:nvPr/>
          </p:nvGrpSpPr>
          <p:grpSpPr bwMode="auto">
            <a:xfrm>
              <a:off x="4901" y="2170"/>
              <a:ext cx="121" cy="105"/>
              <a:chOff x="0" y="0"/>
              <a:chExt cx="20000" cy="20000"/>
            </a:xfrm>
          </p:grpSpPr>
          <p:sp>
            <p:nvSpPr>
              <p:cNvPr id="130087" name="Line 39"/>
              <p:cNvSpPr>
                <a:spLocks noChangeShapeType="1"/>
              </p:cNvSpPr>
              <p:nvPr/>
            </p:nvSpPr>
            <p:spPr bwMode="auto">
              <a:xfrm>
                <a:off x="599" y="0"/>
                <a:ext cx="19401"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0088" name="Line 40"/>
              <p:cNvSpPr>
                <a:spLocks noChangeShapeType="1"/>
              </p:cNvSpPr>
              <p:nvPr/>
            </p:nvSpPr>
            <p:spPr bwMode="auto">
              <a:xfrm flipH="1">
                <a:off x="0" y="0"/>
                <a:ext cx="19401" cy="2000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30089" name="Line 41"/>
            <p:cNvSpPr>
              <a:spLocks noChangeShapeType="1"/>
            </p:cNvSpPr>
            <p:nvPr/>
          </p:nvSpPr>
          <p:spPr bwMode="auto">
            <a:xfrm flipV="1">
              <a:off x="3821" y="2037"/>
              <a:ext cx="919" cy="2"/>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0090" name="Line 42"/>
            <p:cNvSpPr>
              <a:spLocks noChangeShapeType="1"/>
            </p:cNvSpPr>
            <p:nvPr/>
          </p:nvSpPr>
          <p:spPr bwMode="auto">
            <a:xfrm flipV="1">
              <a:off x="1742" y="1503"/>
              <a:ext cx="2593" cy="2"/>
            </a:xfrm>
            <a:prstGeom prst="line">
              <a:avLst/>
            </a:prstGeom>
            <a:noFill/>
            <a:ln w="28575">
              <a:solidFill>
                <a:srgbClr val="10EE1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0091" name="Line 43"/>
            <p:cNvSpPr>
              <a:spLocks noChangeShapeType="1"/>
            </p:cNvSpPr>
            <p:nvPr/>
          </p:nvSpPr>
          <p:spPr bwMode="auto">
            <a:xfrm flipV="1">
              <a:off x="1650" y="1472"/>
              <a:ext cx="2" cy="535"/>
            </a:xfrm>
            <a:prstGeom prst="line">
              <a:avLst/>
            </a:prstGeom>
            <a:noFill/>
            <a:ln w="28575">
              <a:solidFill>
                <a:srgbClr val="000099"/>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Tree>
    <p:extLst>
      <p:ext uri="{BB962C8B-B14F-4D97-AF65-F5344CB8AC3E}">
        <p14:creationId xmlns:p14="http://schemas.microsoft.com/office/powerpoint/2010/main" val="500515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248" name="Rectangle 152"/>
          <p:cNvSpPr>
            <a:spLocks noChangeArrowheads="1"/>
          </p:cNvSpPr>
          <p:nvPr/>
        </p:nvSpPr>
        <p:spPr bwMode="auto">
          <a:xfrm>
            <a:off x="238125" y="76200"/>
            <a:ext cx="863441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l">
              <a:lnSpc>
                <a:spcPct val="90000"/>
              </a:lnSpc>
            </a:pPr>
            <a:r>
              <a:rPr lang="en-GB" altLang="en-US" sz="3600" dirty="0">
                <a:solidFill>
                  <a:schemeClr val="accent1"/>
                </a:solidFill>
                <a:latin typeface="Arial" panose="020B0604020202020204" pitchFamily="34" charset="0"/>
                <a:ea typeface="+mj-ea"/>
                <a:cs typeface="Arial" panose="020B0604020202020204" pitchFamily="34" charset="0"/>
              </a:rPr>
              <a:t>Zone 2</a:t>
            </a:r>
          </a:p>
        </p:txBody>
      </p:sp>
      <p:grpSp>
        <p:nvGrpSpPr>
          <p:cNvPr id="132283" name="Group 187"/>
          <p:cNvGrpSpPr>
            <a:grpSpLocks/>
          </p:cNvGrpSpPr>
          <p:nvPr/>
        </p:nvGrpSpPr>
        <p:grpSpPr bwMode="auto">
          <a:xfrm>
            <a:off x="776288" y="779463"/>
            <a:ext cx="8367712" cy="5989637"/>
            <a:chOff x="489" y="491"/>
            <a:chExt cx="5271" cy="3773"/>
          </a:xfrm>
        </p:grpSpPr>
        <p:sp>
          <p:nvSpPr>
            <p:cNvPr id="132251" name="Text Box 155"/>
            <p:cNvSpPr txBox="1">
              <a:spLocks noChangeArrowheads="1"/>
            </p:cNvSpPr>
            <p:nvPr/>
          </p:nvSpPr>
          <p:spPr bwMode="auto">
            <a:xfrm>
              <a:off x="489" y="2540"/>
              <a:ext cx="5271" cy="1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4650" indent="-374650">
                <a:tabLst>
                  <a:tab pos="952500" algn="l"/>
                </a:tabLst>
                <a:defRPr sz="2400">
                  <a:solidFill>
                    <a:schemeClr val="tx1"/>
                  </a:solidFill>
                  <a:latin typeface="Times New Roman" panose="02020603050405020304" pitchFamily="18" charset="0"/>
                </a:defRPr>
              </a:lvl1pPr>
              <a:lvl2pPr marL="565150">
                <a:tabLst>
                  <a:tab pos="952500" algn="l"/>
                </a:tabLst>
                <a:defRPr sz="2400">
                  <a:solidFill>
                    <a:schemeClr val="tx1"/>
                  </a:solidFill>
                  <a:latin typeface="Times New Roman" panose="02020603050405020304" pitchFamily="18" charset="0"/>
                </a:defRPr>
              </a:lvl2pPr>
              <a:lvl3pPr marL="7739063">
                <a:tabLst>
                  <a:tab pos="952500" algn="l"/>
                </a:tabLst>
                <a:defRPr sz="2400">
                  <a:solidFill>
                    <a:schemeClr val="tx1"/>
                  </a:solidFill>
                  <a:latin typeface="Times New Roman" panose="02020603050405020304" pitchFamily="18" charset="0"/>
                </a:defRPr>
              </a:lvl3pPr>
              <a:lvl4pPr marL="7929563">
                <a:tabLst>
                  <a:tab pos="952500" algn="l"/>
                </a:tabLst>
                <a:defRPr sz="2400">
                  <a:solidFill>
                    <a:schemeClr val="tx1"/>
                  </a:solidFill>
                  <a:latin typeface="Times New Roman" panose="02020603050405020304" pitchFamily="18" charset="0"/>
                </a:defRPr>
              </a:lvl4pPr>
              <a:lvl5pPr marL="8120063">
                <a:tabLst>
                  <a:tab pos="952500" algn="l"/>
                </a:tabLst>
                <a:defRPr sz="2400">
                  <a:solidFill>
                    <a:schemeClr val="tx1"/>
                  </a:solidFill>
                  <a:latin typeface="Times New Roman" panose="02020603050405020304" pitchFamily="18" charset="0"/>
                </a:defRPr>
              </a:lvl5pPr>
              <a:lvl6pPr marL="8577263" eaLnBrk="0" fontAlgn="base" hangingPunct="0">
                <a:spcBef>
                  <a:spcPct val="0"/>
                </a:spcBef>
                <a:spcAft>
                  <a:spcPct val="0"/>
                </a:spcAft>
                <a:tabLst>
                  <a:tab pos="952500" algn="l"/>
                </a:tabLst>
                <a:defRPr sz="2400">
                  <a:solidFill>
                    <a:schemeClr val="tx1"/>
                  </a:solidFill>
                  <a:latin typeface="Times New Roman" panose="02020603050405020304" pitchFamily="18" charset="0"/>
                </a:defRPr>
              </a:lvl6pPr>
              <a:lvl7pPr marL="9034463" eaLnBrk="0" fontAlgn="base" hangingPunct="0">
                <a:spcBef>
                  <a:spcPct val="0"/>
                </a:spcBef>
                <a:spcAft>
                  <a:spcPct val="0"/>
                </a:spcAft>
                <a:tabLst>
                  <a:tab pos="952500" algn="l"/>
                </a:tabLst>
                <a:defRPr sz="2400">
                  <a:solidFill>
                    <a:schemeClr val="tx1"/>
                  </a:solidFill>
                  <a:latin typeface="Times New Roman" panose="02020603050405020304" pitchFamily="18" charset="0"/>
                </a:defRPr>
              </a:lvl7pPr>
              <a:lvl8pPr marL="9491663" eaLnBrk="0" fontAlgn="base" hangingPunct="0">
                <a:spcBef>
                  <a:spcPct val="0"/>
                </a:spcBef>
                <a:spcAft>
                  <a:spcPct val="0"/>
                </a:spcAft>
                <a:tabLst>
                  <a:tab pos="952500" algn="l"/>
                </a:tabLst>
                <a:defRPr sz="2400">
                  <a:solidFill>
                    <a:schemeClr val="tx1"/>
                  </a:solidFill>
                  <a:latin typeface="Times New Roman" panose="02020603050405020304" pitchFamily="18" charset="0"/>
                </a:defRPr>
              </a:lvl8pPr>
              <a:lvl9pPr marL="9948863" eaLnBrk="0" fontAlgn="base" hangingPunct="0">
                <a:spcBef>
                  <a:spcPct val="0"/>
                </a:spcBef>
                <a:spcAft>
                  <a:spcPct val="0"/>
                </a:spcAft>
                <a:tabLst>
                  <a:tab pos="952500" algn="l"/>
                </a:tabLst>
                <a:defRPr sz="2400">
                  <a:solidFill>
                    <a:schemeClr val="tx1"/>
                  </a:solidFill>
                  <a:latin typeface="Times New Roman" panose="02020603050405020304" pitchFamily="18" charset="0"/>
                </a:defRPr>
              </a:lvl9pPr>
            </a:lstStyle>
            <a:p>
              <a:pPr algn="l">
                <a:spcAft>
                  <a:spcPct val="20000"/>
                </a:spcAft>
                <a:buClr>
                  <a:srgbClr val="C4122F"/>
                </a:buClr>
                <a:buFont typeface="Wingdings 3" panose="05040102010807070707" pitchFamily="18" charset="2"/>
                <a:buChar char="u"/>
              </a:pPr>
              <a:r>
                <a:rPr lang="en-GB" altLang="en-US" sz="1600" b="1" dirty="0">
                  <a:latin typeface="Arial" panose="020B0604020202020204" pitchFamily="34" charset="0"/>
                </a:rPr>
                <a:t>Overlap only occurs for faults in first 20% of following line.</a:t>
              </a:r>
            </a:p>
            <a:p>
              <a:pPr algn="l">
                <a:buClr>
                  <a:srgbClr val="C4122F"/>
                </a:buClr>
                <a:buFont typeface="Wingdings 3" panose="05040102010807070707" pitchFamily="18" charset="2"/>
                <a:buChar char="u"/>
              </a:pPr>
              <a:r>
                <a:rPr lang="en-GB" altLang="en-US" sz="1600" b="1" dirty="0">
                  <a:latin typeface="Arial" panose="020B0604020202020204" pitchFamily="34" charset="0"/>
                </a:rPr>
                <a:t>Faults at ‘F’ should result in operation of Z1H and tripping of circuit breaker ‘H’.</a:t>
              </a:r>
            </a:p>
            <a:p>
              <a:pPr lvl="1" algn="l">
                <a:spcBef>
                  <a:spcPct val="40000"/>
                </a:spcBef>
                <a:spcAft>
                  <a:spcPct val="20000"/>
                </a:spcAft>
                <a:buClr>
                  <a:srgbClr val="FF0000"/>
                </a:buClr>
                <a:buFont typeface="Wingdings" panose="05000000000000000000" pitchFamily="2" charset="2"/>
                <a:buNone/>
              </a:pPr>
              <a:r>
                <a:rPr lang="en-GB" altLang="en-US" sz="1600" b="1" dirty="0">
                  <a:latin typeface="Arial" panose="020B0604020202020204" pitchFamily="34" charset="0"/>
                </a:rPr>
                <a:t>If ‘H’ fails to trip possible causes are :-</a:t>
              </a:r>
            </a:p>
            <a:p>
              <a:pPr lvl="1" algn="l">
                <a:spcAft>
                  <a:spcPct val="20000"/>
                </a:spcAft>
                <a:buClr>
                  <a:srgbClr val="FF0000"/>
                </a:buClr>
                <a:buFont typeface="Wingdings" panose="05000000000000000000" pitchFamily="2" charset="2"/>
                <a:buNone/>
              </a:pPr>
              <a:r>
                <a:rPr lang="en-GB" altLang="en-US" sz="1600" b="1" dirty="0">
                  <a:solidFill>
                    <a:srgbClr val="C4122F"/>
                  </a:solidFill>
                  <a:latin typeface="Arial" panose="020B0604020202020204" pitchFamily="34" charset="0"/>
                  <a:sym typeface="Wingdings" panose="05000000000000000000" pitchFamily="2" charset="2"/>
                </a:rPr>
                <a:t></a:t>
              </a:r>
              <a:r>
                <a:rPr lang="en-GB" altLang="en-US" sz="1600" b="1" dirty="0">
                  <a:latin typeface="Arial" panose="020B0604020202020204" pitchFamily="34" charset="0"/>
                  <a:sym typeface="Wingdings" panose="05000000000000000000" pitchFamily="2" charset="2"/>
                </a:rPr>
                <a:t>	Z1H operates but trip relays fail.</a:t>
              </a:r>
            </a:p>
            <a:p>
              <a:pPr lvl="1" algn="l">
                <a:spcBef>
                  <a:spcPct val="40000"/>
                </a:spcBef>
                <a:buClr>
                  <a:srgbClr val="FF0000"/>
                </a:buClr>
                <a:buFont typeface="Wingdings" panose="05000000000000000000" pitchFamily="2" charset="2"/>
                <a:buNone/>
              </a:pPr>
              <a:r>
                <a:rPr lang="en-GB" altLang="en-US" sz="1600" b="1" dirty="0">
                  <a:latin typeface="Arial" panose="020B0604020202020204" pitchFamily="34" charset="0"/>
                  <a:sym typeface="Wingdings" panose="05000000000000000000" pitchFamily="2" charset="2"/>
                </a:rPr>
                <a:t>	Z2H may operate but will not trip if followed by the same trip relays.</a:t>
              </a:r>
            </a:p>
            <a:p>
              <a:pPr lvl="1" algn="l">
                <a:spcBef>
                  <a:spcPct val="40000"/>
                </a:spcBef>
                <a:spcAft>
                  <a:spcPct val="20000"/>
                </a:spcAft>
                <a:buClr>
                  <a:srgbClr val="FF0000"/>
                </a:buClr>
                <a:buFont typeface="Wingdings" panose="05000000000000000000" pitchFamily="2" charset="2"/>
                <a:buNone/>
              </a:pPr>
              <a:r>
                <a:rPr lang="en-GB" altLang="en-US" sz="1600" b="1" dirty="0">
                  <a:latin typeface="Arial" panose="020B0604020202020204" pitchFamily="34" charset="0"/>
                  <a:sym typeface="Wingdings" panose="05000000000000000000" pitchFamily="2" charset="2"/>
                </a:rPr>
                <a:t>	Fault must be cleared at ‘G’ by Z2G.</a:t>
              </a:r>
            </a:p>
            <a:p>
              <a:pPr lvl="1" algn="l">
                <a:spcBef>
                  <a:spcPct val="40000"/>
                </a:spcBef>
                <a:spcAft>
                  <a:spcPct val="20000"/>
                </a:spcAft>
                <a:buClr>
                  <a:srgbClr val="FF0000"/>
                </a:buClr>
                <a:buFont typeface="Wingdings" panose="05000000000000000000" pitchFamily="2" charset="2"/>
                <a:buNone/>
              </a:pPr>
              <a:r>
                <a:rPr lang="en-GB" altLang="en-US" sz="1600" b="1" dirty="0">
                  <a:latin typeface="Arial" panose="020B0604020202020204" pitchFamily="34" charset="0"/>
                  <a:sym typeface="Wingdings" panose="05000000000000000000" pitchFamily="2" charset="2"/>
                </a:rPr>
                <a:t>	Z1H and trip relays operate but circuit breaker fails to trip.</a:t>
              </a:r>
            </a:p>
            <a:p>
              <a:pPr lvl="1" algn="l">
                <a:spcAft>
                  <a:spcPct val="20000"/>
                </a:spcAft>
                <a:buClr>
                  <a:srgbClr val="FF0000"/>
                </a:buClr>
                <a:buFont typeface="Wingdings" panose="05000000000000000000" pitchFamily="2" charset="2"/>
                <a:buNone/>
              </a:pPr>
              <a:endParaRPr lang="en-GB" altLang="en-US" sz="1600" b="1" dirty="0">
                <a:latin typeface="Arial" panose="020B0604020202020204" pitchFamily="34" charset="0"/>
              </a:endParaRPr>
            </a:p>
          </p:txBody>
        </p:sp>
        <p:sp>
          <p:nvSpPr>
            <p:cNvPr id="132252" name="Text Box 156"/>
            <p:cNvSpPr txBox="1">
              <a:spLocks noChangeArrowheads="1"/>
            </p:cNvSpPr>
            <p:nvPr/>
          </p:nvSpPr>
          <p:spPr bwMode="auto">
            <a:xfrm>
              <a:off x="628" y="491"/>
              <a:ext cx="4740"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241425" algn="l"/>
                </a:tabLst>
                <a:defRPr sz="2400">
                  <a:solidFill>
                    <a:schemeClr val="tx1"/>
                  </a:solidFill>
                  <a:latin typeface="Times New Roman" panose="02020603050405020304" pitchFamily="18" charset="0"/>
                </a:defRPr>
              </a:lvl1pPr>
              <a:lvl2pPr marL="190500">
                <a:tabLst>
                  <a:tab pos="1241425" algn="l"/>
                </a:tabLst>
                <a:defRPr sz="2400">
                  <a:solidFill>
                    <a:schemeClr val="tx1"/>
                  </a:solidFill>
                  <a:latin typeface="Times New Roman" panose="02020603050405020304" pitchFamily="18" charset="0"/>
                </a:defRPr>
              </a:lvl2pPr>
              <a:lvl3pPr>
                <a:tabLst>
                  <a:tab pos="1241425" algn="l"/>
                </a:tabLst>
                <a:defRPr sz="2400">
                  <a:solidFill>
                    <a:schemeClr val="tx1"/>
                  </a:solidFill>
                  <a:latin typeface="Times New Roman" panose="02020603050405020304" pitchFamily="18" charset="0"/>
                </a:defRPr>
              </a:lvl3pPr>
              <a:lvl4pPr>
                <a:tabLst>
                  <a:tab pos="1241425" algn="l"/>
                </a:tabLst>
                <a:defRPr sz="2400">
                  <a:solidFill>
                    <a:schemeClr val="tx1"/>
                  </a:solidFill>
                  <a:latin typeface="Times New Roman" panose="02020603050405020304" pitchFamily="18" charset="0"/>
                </a:defRPr>
              </a:lvl4pPr>
              <a:lvl5pPr>
                <a:tabLst>
                  <a:tab pos="1241425"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1241425"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1241425"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1241425"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1241425" algn="l"/>
                </a:tabLst>
                <a:defRPr sz="2400">
                  <a:solidFill>
                    <a:schemeClr val="tx1"/>
                  </a:solidFill>
                  <a:latin typeface="Times New Roman" panose="02020603050405020304" pitchFamily="18" charset="0"/>
                </a:defRPr>
              </a:lvl9pPr>
            </a:lstStyle>
            <a:p>
              <a:pPr algn="l">
                <a:spcAft>
                  <a:spcPct val="20000"/>
                </a:spcAft>
                <a:buClr>
                  <a:srgbClr val="FF0000"/>
                </a:buClr>
                <a:buSzPct val="80000"/>
                <a:buFont typeface="Wingdings" panose="05000000000000000000" pitchFamily="2" charset="2"/>
                <a:buNone/>
              </a:pPr>
              <a:r>
                <a:rPr lang="en-GB" altLang="en-US" sz="2200" b="1" dirty="0">
                  <a:solidFill>
                    <a:srgbClr val="FF0000"/>
                  </a:solidFill>
                  <a:latin typeface="Arial" panose="020B0604020202020204" pitchFamily="34" charset="0"/>
                </a:rPr>
                <a:t>Zone 2 on adjacent line sections are not normally time graded with each other</a:t>
              </a:r>
              <a:endParaRPr lang="en-GB" altLang="en-US" sz="2200" b="1" dirty="0">
                <a:solidFill>
                  <a:srgbClr val="FF0000"/>
                </a:solidFill>
                <a:latin typeface="Arial" panose="020B0604020202020204" pitchFamily="34" charset="0"/>
                <a:sym typeface="Symbol" panose="05050102010706020507" pitchFamily="18" charset="2"/>
              </a:endParaRPr>
            </a:p>
          </p:txBody>
        </p:sp>
        <p:sp>
          <p:nvSpPr>
            <p:cNvPr id="132253" name="Rectangle 157"/>
            <p:cNvSpPr>
              <a:spLocks noChangeArrowheads="1"/>
            </p:cNvSpPr>
            <p:nvPr/>
          </p:nvSpPr>
          <p:spPr bwMode="auto">
            <a:xfrm>
              <a:off x="1303" y="1553"/>
              <a:ext cx="355"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rPr>
                <a:t>Z1G</a:t>
              </a:r>
            </a:p>
          </p:txBody>
        </p:sp>
        <p:sp>
          <p:nvSpPr>
            <p:cNvPr id="132254" name="Rectangle 158"/>
            <p:cNvSpPr>
              <a:spLocks noChangeArrowheads="1"/>
            </p:cNvSpPr>
            <p:nvPr/>
          </p:nvSpPr>
          <p:spPr bwMode="auto">
            <a:xfrm>
              <a:off x="3945" y="1553"/>
              <a:ext cx="325"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rPr>
                <a:t>Z1H</a:t>
              </a:r>
            </a:p>
          </p:txBody>
        </p:sp>
        <p:sp>
          <p:nvSpPr>
            <p:cNvPr id="132255" name="Rectangle 159"/>
            <p:cNvSpPr>
              <a:spLocks noChangeArrowheads="1"/>
            </p:cNvSpPr>
            <p:nvPr/>
          </p:nvSpPr>
          <p:spPr bwMode="auto">
            <a:xfrm>
              <a:off x="1894" y="1081"/>
              <a:ext cx="346"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rPr>
                <a:t>Z2G</a:t>
              </a:r>
            </a:p>
          </p:txBody>
        </p:sp>
        <p:sp>
          <p:nvSpPr>
            <p:cNvPr id="132256" name="Rectangle 160"/>
            <p:cNvSpPr>
              <a:spLocks noChangeArrowheads="1"/>
            </p:cNvSpPr>
            <p:nvPr/>
          </p:nvSpPr>
          <p:spPr bwMode="auto">
            <a:xfrm>
              <a:off x="4299" y="1120"/>
              <a:ext cx="325"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rPr>
                <a:t>Z2H</a:t>
              </a:r>
            </a:p>
          </p:txBody>
        </p:sp>
        <p:sp>
          <p:nvSpPr>
            <p:cNvPr id="132257" name="Rectangle 161"/>
            <p:cNvSpPr>
              <a:spLocks noChangeArrowheads="1"/>
            </p:cNvSpPr>
            <p:nvPr/>
          </p:nvSpPr>
          <p:spPr bwMode="auto">
            <a:xfrm>
              <a:off x="3517" y="2097"/>
              <a:ext cx="230"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rPr>
                <a:t>‘H’</a:t>
              </a:r>
            </a:p>
          </p:txBody>
        </p:sp>
        <p:sp>
          <p:nvSpPr>
            <p:cNvPr id="132258" name="Rectangle 162"/>
            <p:cNvSpPr>
              <a:spLocks noChangeArrowheads="1"/>
            </p:cNvSpPr>
            <p:nvPr/>
          </p:nvSpPr>
          <p:spPr bwMode="auto">
            <a:xfrm>
              <a:off x="1200" y="2084"/>
              <a:ext cx="229"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chemeClr val="tx2"/>
                  </a:solidFill>
                </a:rPr>
                <a:t>‘G’</a:t>
              </a:r>
            </a:p>
          </p:txBody>
        </p:sp>
        <p:sp>
          <p:nvSpPr>
            <p:cNvPr id="132259" name="Rectangle 163"/>
            <p:cNvSpPr>
              <a:spLocks noChangeArrowheads="1"/>
            </p:cNvSpPr>
            <p:nvPr/>
          </p:nvSpPr>
          <p:spPr bwMode="auto">
            <a:xfrm>
              <a:off x="3958" y="2255"/>
              <a:ext cx="230" cy="164"/>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600">
                  <a:solidFill>
                    <a:srgbClr val="FF0000"/>
                  </a:solidFill>
                </a:rPr>
                <a:t>F</a:t>
              </a:r>
              <a:endParaRPr lang="en-GB" altLang="en-US" sz="1600">
                <a:solidFill>
                  <a:srgbClr val="000099"/>
                </a:solidFill>
              </a:endParaRPr>
            </a:p>
          </p:txBody>
        </p:sp>
        <p:sp>
          <p:nvSpPr>
            <p:cNvPr id="132260" name="Line 164"/>
            <p:cNvSpPr>
              <a:spLocks noChangeShapeType="1"/>
            </p:cNvSpPr>
            <p:nvPr/>
          </p:nvSpPr>
          <p:spPr bwMode="auto">
            <a:xfrm>
              <a:off x="3705" y="1263"/>
              <a:ext cx="0" cy="63"/>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61" name="Line 165"/>
            <p:cNvSpPr>
              <a:spLocks noChangeShapeType="1"/>
            </p:cNvSpPr>
            <p:nvPr/>
          </p:nvSpPr>
          <p:spPr bwMode="auto">
            <a:xfrm>
              <a:off x="1196" y="1242"/>
              <a:ext cx="2833" cy="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62" name="Line 166"/>
            <p:cNvSpPr>
              <a:spLocks noChangeShapeType="1"/>
            </p:cNvSpPr>
            <p:nvPr/>
          </p:nvSpPr>
          <p:spPr bwMode="auto">
            <a:xfrm>
              <a:off x="3702" y="1284"/>
              <a:ext cx="1398" cy="0"/>
            </a:xfrm>
            <a:prstGeom prst="line">
              <a:avLst/>
            </a:prstGeom>
            <a:noFill/>
            <a:ln w="28575">
              <a:solidFill>
                <a:srgbClr val="000099"/>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63" name="Line 167"/>
            <p:cNvSpPr>
              <a:spLocks noChangeShapeType="1"/>
            </p:cNvSpPr>
            <p:nvPr/>
          </p:nvSpPr>
          <p:spPr bwMode="auto">
            <a:xfrm>
              <a:off x="1185" y="1718"/>
              <a:ext cx="1925" cy="1"/>
            </a:xfrm>
            <a:prstGeom prst="line">
              <a:avLst/>
            </a:prstGeom>
            <a:noFill/>
            <a:ln w="28575">
              <a:solidFill>
                <a:srgbClr val="000099"/>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64" name="Line 168"/>
            <p:cNvSpPr>
              <a:spLocks noChangeShapeType="1"/>
            </p:cNvSpPr>
            <p:nvPr/>
          </p:nvSpPr>
          <p:spPr bwMode="auto">
            <a:xfrm>
              <a:off x="3694" y="1714"/>
              <a:ext cx="930" cy="0"/>
            </a:xfrm>
            <a:prstGeom prst="line">
              <a:avLst/>
            </a:prstGeom>
            <a:noFill/>
            <a:ln w="28575">
              <a:solidFill>
                <a:srgbClr val="000099"/>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65" name="Line 169"/>
            <p:cNvSpPr>
              <a:spLocks noChangeShapeType="1"/>
            </p:cNvSpPr>
            <p:nvPr/>
          </p:nvSpPr>
          <p:spPr bwMode="auto">
            <a:xfrm>
              <a:off x="1178" y="2029"/>
              <a:ext cx="3981" cy="0"/>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66" name="Line 170"/>
            <p:cNvSpPr>
              <a:spLocks noChangeShapeType="1"/>
            </p:cNvSpPr>
            <p:nvPr/>
          </p:nvSpPr>
          <p:spPr bwMode="auto">
            <a:xfrm flipV="1">
              <a:off x="1177" y="1961"/>
              <a:ext cx="1" cy="136"/>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67" name="Line 171"/>
            <p:cNvSpPr>
              <a:spLocks noChangeShapeType="1"/>
            </p:cNvSpPr>
            <p:nvPr/>
          </p:nvSpPr>
          <p:spPr bwMode="auto">
            <a:xfrm flipV="1">
              <a:off x="3494" y="1961"/>
              <a:ext cx="0" cy="136"/>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68" name="Line 172"/>
            <p:cNvSpPr>
              <a:spLocks noChangeShapeType="1"/>
            </p:cNvSpPr>
            <p:nvPr/>
          </p:nvSpPr>
          <p:spPr bwMode="auto">
            <a:xfrm flipV="1">
              <a:off x="5017" y="1961"/>
              <a:ext cx="0" cy="136"/>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69" name="Line 173"/>
            <p:cNvSpPr>
              <a:spLocks noChangeShapeType="1"/>
            </p:cNvSpPr>
            <p:nvPr/>
          </p:nvSpPr>
          <p:spPr bwMode="auto">
            <a:xfrm>
              <a:off x="1235" y="1971"/>
              <a:ext cx="128"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70" name="Line 174"/>
            <p:cNvSpPr>
              <a:spLocks noChangeShapeType="1"/>
            </p:cNvSpPr>
            <p:nvPr/>
          </p:nvSpPr>
          <p:spPr bwMode="auto">
            <a:xfrm flipH="1">
              <a:off x="1229" y="1974"/>
              <a:ext cx="129"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71" name="Line 175"/>
            <p:cNvSpPr>
              <a:spLocks noChangeShapeType="1"/>
            </p:cNvSpPr>
            <p:nvPr/>
          </p:nvSpPr>
          <p:spPr bwMode="auto">
            <a:xfrm>
              <a:off x="3316" y="1974"/>
              <a:ext cx="128"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72" name="Line 176"/>
            <p:cNvSpPr>
              <a:spLocks noChangeShapeType="1"/>
            </p:cNvSpPr>
            <p:nvPr/>
          </p:nvSpPr>
          <p:spPr bwMode="auto">
            <a:xfrm flipH="1">
              <a:off x="3310" y="1977"/>
              <a:ext cx="130"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73" name="Line 177"/>
            <p:cNvSpPr>
              <a:spLocks noChangeShapeType="1"/>
            </p:cNvSpPr>
            <p:nvPr/>
          </p:nvSpPr>
          <p:spPr bwMode="auto">
            <a:xfrm>
              <a:off x="3552" y="1974"/>
              <a:ext cx="128"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74" name="Line 178"/>
            <p:cNvSpPr>
              <a:spLocks noChangeShapeType="1"/>
            </p:cNvSpPr>
            <p:nvPr/>
          </p:nvSpPr>
          <p:spPr bwMode="auto">
            <a:xfrm flipH="1">
              <a:off x="3547" y="1977"/>
              <a:ext cx="129"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75" name="Line 179"/>
            <p:cNvSpPr>
              <a:spLocks noChangeShapeType="1"/>
            </p:cNvSpPr>
            <p:nvPr/>
          </p:nvSpPr>
          <p:spPr bwMode="auto">
            <a:xfrm>
              <a:off x="4847" y="1974"/>
              <a:ext cx="128"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76" name="Line 180"/>
            <p:cNvSpPr>
              <a:spLocks noChangeShapeType="1"/>
            </p:cNvSpPr>
            <p:nvPr/>
          </p:nvSpPr>
          <p:spPr bwMode="auto">
            <a:xfrm flipH="1">
              <a:off x="4841" y="1977"/>
              <a:ext cx="130"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77" name="Line 181"/>
            <p:cNvSpPr>
              <a:spLocks noChangeShapeType="1"/>
            </p:cNvSpPr>
            <p:nvPr/>
          </p:nvSpPr>
          <p:spPr bwMode="auto">
            <a:xfrm>
              <a:off x="4029" y="1210"/>
              <a:ext cx="0" cy="64"/>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78" name="Line 182"/>
            <p:cNvSpPr>
              <a:spLocks noChangeShapeType="1"/>
            </p:cNvSpPr>
            <p:nvPr/>
          </p:nvSpPr>
          <p:spPr bwMode="auto">
            <a:xfrm>
              <a:off x="3818" y="2032"/>
              <a:ext cx="121" cy="163"/>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79" name="Line 183"/>
            <p:cNvSpPr>
              <a:spLocks noChangeShapeType="1"/>
            </p:cNvSpPr>
            <p:nvPr/>
          </p:nvSpPr>
          <p:spPr bwMode="auto">
            <a:xfrm flipH="1">
              <a:off x="3822" y="2195"/>
              <a:ext cx="117" cy="0"/>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80" name="Line 184"/>
            <p:cNvSpPr>
              <a:spLocks noChangeShapeType="1"/>
            </p:cNvSpPr>
            <p:nvPr/>
          </p:nvSpPr>
          <p:spPr bwMode="auto">
            <a:xfrm>
              <a:off x="3823" y="2196"/>
              <a:ext cx="122" cy="163"/>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281" name="Line 185"/>
            <p:cNvSpPr>
              <a:spLocks noChangeShapeType="1"/>
            </p:cNvSpPr>
            <p:nvPr/>
          </p:nvSpPr>
          <p:spPr bwMode="auto">
            <a:xfrm>
              <a:off x="3700" y="1238"/>
              <a:ext cx="324"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2282" name="Line 186"/>
            <p:cNvSpPr>
              <a:spLocks noChangeShapeType="1"/>
            </p:cNvSpPr>
            <p:nvPr/>
          </p:nvSpPr>
          <p:spPr bwMode="auto">
            <a:xfrm flipH="1">
              <a:off x="3704" y="1284"/>
              <a:ext cx="324"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278811731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431" name="Rectangle 95"/>
          <p:cNvSpPr>
            <a:spLocks noChangeArrowheads="1"/>
          </p:cNvSpPr>
          <p:nvPr/>
        </p:nvSpPr>
        <p:spPr bwMode="auto">
          <a:xfrm>
            <a:off x="238125" y="76200"/>
            <a:ext cx="863441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l">
              <a:lnSpc>
                <a:spcPct val="90000"/>
              </a:lnSpc>
            </a:pPr>
            <a:r>
              <a:rPr lang="en-GB" altLang="en-US" sz="3600" dirty="0">
                <a:solidFill>
                  <a:schemeClr val="accent1"/>
                </a:solidFill>
                <a:latin typeface="Arial" panose="020B0604020202020204" pitchFamily="34" charset="0"/>
                <a:ea typeface="+mj-ea"/>
                <a:cs typeface="Arial" panose="020B0604020202020204" pitchFamily="34" charset="0"/>
              </a:rPr>
              <a:t>Zone 3</a:t>
            </a:r>
          </a:p>
        </p:txBody>
      </p:sp>
      <p:grpSp>
        <p:nvGrpSpPr>
          <p:cNvPr id="142472" name="Group 136"/>
          <p:cNvGrpSpPr>
            <a:grpSpLocks/>
          </p:cNvGrpSpPr>
          <p:nvPr/>
        </p:nvGrpSpPr>
        <p:grpSpPr bwMode="auto">
          <a:xfrm>
            <a:off x="866775" y="904875"/>
            <a:ext cx="7989888" cy="5461000"/>
            <a:chOff x="546" y="570"/>
            <a:chExt cx="5033" cy="3440"/>
          </a:xfrm>
        </p:grpSpPr>
        <p:sp>
          <p:nvSpPr>
            <p:cNvPr id="142432" name="Text Box 96"/>
            <p:cNvSpPr txBox="1">
              <a:spLocks noChangeArrowheads="1"/>
            </p:cNvSpPr>
            <p:nvPr/>
          </p:nvSpPr>
          <p:spPr bwMode="auto">
            <a:xfrm>
              <a:off x="546" y="570"/>
              <a:ext cx="5033" cy="1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4650" indent="-374650">
                <a:tabLst>
                  <a:tab pos="765175" algn="l"/>
                  <a:tab pos="850900" algn="l"/>
                </a:tabLst>
                <a:defRPr sz="2400">
                  <a:solidFill>
                    <a:schemeClr val="tx1"/>
                  </a:solidFill>
                  <a:latin typeface="Times New Roman" panose="02020603050405020304" pitchFamily="18" charset="0"/>
                </a:defRPr>
              </a:lvl1pPr>
              <a:lvl2pPr marL="666750">
                <a:tabLst>
                  <a:tab pos="765175" algn="l"/>
                  <a:tab pos="850900" algn="l"/>
                </a:tabLst>
                <a:defRPr sz="2400">
                  <a:solidFill>
                    <a:schemeClr val="tx1"/>
                  </a:solidFill>
                  <a:latin typeface="Times New Roman" panose="02020603050405020304" pitchFamily="18" charset="0"/>
                </a:defRPr>
              </a:lvl2pPr>
              <a:lvl3pPr>
                <a:tabLst>
                  <a:tab pos="765175" algn="l"/>
                  <a:tab pos="850900" algn="l"/>
                </a:tabLst>
                <a:defRPr sz="2400">
                  <a:solidFill>
                    <a:schemeClr val="tx1"/>
                  </a:solidFill>
                  <a:latin typeface="Times New Roman" panose="02020603050405020304" pitchFamily="18" charset="0"/>
                </a:defRPr>
              </a:lvl3pPr>
              <a:lvl4pPr>
                <a:tabLst>
                  <a:tab pos="765175" algn="l"/>
                  <a:tab pos="850900" algn="l"/>
                </a:tabLst>
                <a:defRPr sz="2400">
                  <a:solidFill>
                    <a:schemeClr val="tx1"/>
                  </a:solidFill>
                  <a:latin typeface="Times New Roman" panose="02020603050405020304" pitchFamily="18" charset="0"/>
                </a:defRPr>
              </a:lvl4pPr>
              <a:lvl5pPr>
                <a:tabLst>
                  <a:tab pos="765175" algn="l"/>
                  <a:tab pos="8509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65175" algn="l"/>
                  <a:tab pos="8509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65175" algn="l"/>
                  <a:tab pos="8509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65175" algn="l"/>
                  <a:tab pos="8509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65175" algn="l"/>
                  <a:tab pos="850900" algn="l"/>
                </a:tabLst>
                <a:defRPr sz="2400">
                  <a:solidFill>
                    <a:schemeClr val="tx1"/>
                  </a:solidFill>
                  <a:latin typeface="Times New Roman" panose="02020603050405020304" pitchFamily="18" charset="0"/>
                </a:defRPr>
              </a:lvl9pPr>
            </a:lstStyle>
            <a:p>
              <a:pPr algn="l">
                <a:spcAft>
                  <a:spcPct val="20000"/>
                </a:spcAft>
                <a:buClr>
                  <a:srgbClr val="C4122F"/>
                </a:buClr>
                <a:buFont typeface="Wingdings 3" panose="05040102010807070707" pitchFamily="18" charset="2"/>
                <a:buChar char="u"/>
              </a:pPr>
              <a:r>
                <a:rPr lang="en-GB" altLang="en-US" sz="2000" b="1" dirty="0">
                  <a:solidFill>
                    <a:schemeClr val="tx2"/>
                  </a:solidFill>
                  <a:latin typeface="Arial" panose="020B0604020202020204" pitchFamily="34" charset="0"/>
                </a:rPr>
                <a:t>Provides back-up for next adjacent line.</a:t>
              </a:r>
            </a:p>
            <a:p>
              <a:pPr algn="l">
                <a:spcAft>
                  <a:spcPct val="20000"/>
                </a:spcAft>
                <a:buClr>
                  <a:srgbClr val="C4122F"/>
                </a:buClr>
                <a:buFont typeface="Wingdings 3" panose="05040102010807070707" pitchFamily="18" charset="2"/>
                <a:buChar char="u"/>
              </a:pPr>
              <a:r>
                <a:rPr lang="en-GB" altLang="en-US" sz="2000" b="1" dirty="0">
                  <a:solidFill>
                    <a:schemeClr val="tx2"/>
                  </a:solidFill>
                  <a:latin typeface="Arial" panose="020B0604020202020204" pitchFamily="34" charset="0"/>
                </a:rPr>
                <a:t>Provides back-up protection for </a:t>
              </a:r>
              <a:r>
                <a:rPr lang="en-GB" altLang="en-US" sz="2000" b="1" dirty="0" err="1">
                  <a:solidFill>
                    <a:schemeClr val="tx2"/>
                  </a:solidFill>
                  <a:latin typeface="Arial" panose="020B0604020202020204" pitchFamily="34" charset="0"/>
                </a:rPr>
                <a:t>busbars</a:t>
              </a:r>
              <a:r>
                <a:rPr lang="en-GB" altLang="en-US" sz="2000" b="1" dirty="0">
                  <a:solidFill>
                    <a:schemeClr val="tx2"/>
                  </a:solidFill>
                  <a:latin typeface="Arial" panose="020B0604020202020204" pitchFamily="34" charset="0"/>
                </a:rPr>
                <a:t> (reverse offset).</a:t>
              </a:r>
            </a:p>
            <a:p>
              <a:pPr algn="l">
                <a:spcAft>
                  <a:spcPct val="20000"/>
                </a:spcAft>
                <a:buClr>
                  <a:srgbClr val="C4122F"/>
                </a:buClr>
                <a:buFont typeface="Wingdings 3" panose="05040102010807070707" pitchFamily="18" charset="2"/>
                <a:buChar char="u"/>
              </a:pPr>
              <a:r>
                <a:rPr lang="en-GB" altLang="en-US" sz="2000" b="1" dirty="0">
                  <a:solidFill>
                    <a:schemeClr val="tx2"/>
                  </a:solidFill>
                  <a:latin typeface="Arial" panose="020B0604020202020204" pitchFamily="34" charset="0"/>
                </a:rPr>
                <a:t>Actual Zone 3 settings will be scheme specified, i.e. permissive or blocking schemes.</a:t>
              </a:r>
            </a:p>
            <a:p>
              <a:pPr algn="l">
                <a:spcAft>
                  <a:spcPct val="20000"/>
                </a:spcAft>
                <a:buClr>
                  <a:srgbClr val="C4122F"/>
                </a:buClr>
                <a:buFont typeface="Wingdings 3" panose="05040102010807070707" pitchFamily="18" charset="2"/>
                <a:buChar char="u"/>
              </a:pPr>
              <a:r>
                <a:rPr lang="en-GB" altLang="en-US" sz="2000" b="1" dirty="0">
                  <a:solidFill>
                    <a:schemeClr val="tx2"/>
                  </a:solidFill>
                  <a:latin typeface="Arial" panose="020B0604020202020204" pitchFamily="34" charset="0"/>
                </a:rPr>
                <a:t>Many modern relays have more than 3 Zones to allow the use of three forward and an independent reverse zone.</a:t>
              </a:r>
            </a:p>
          </p:txBody>
        </p:sp>
        <p:sp>
          <p:nvSpPr>
            <p:cNvPr id="142433" name="Rectangle 97"/>
            <p:cNvSpPr>
              <a:spLocks noChangeArrowheads="1"/>
            </p:cNvSpPr>
            <p:nvPr/>
          </p:nvSpPr>
          <p:spPr bwMode="auto">
            <a:xfrm>
              <a:off x="2935" y="3068"/>
              <a:ext cx="123" cy="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800" b="1">
                  <a:solidFill>
                    <a:schemeClr val="tx2"/>
                  </a:solidFill>
                  <a:latin typeface="Arial" panose="020B0604020202020204" pitchFamily="34" charset="0"/>
                </a:rPr>
                <a:t>H</a:t>
              </a:r>
            </a:p>
          </p:txBody>
        </p:sp>
        <p:sp>
          <p:nvSpPr>
            <p:cNvPr id="142434" name="Rectangle 98"/>
            <p:cNvSpPr>
              <a:spLocks noChangeArrowheads="1"/>
            </p:cNvSpPr>
            <p:nvPr/>
          </p:nvSpPr>
          <p:spPr bwMode="auto">
            <a:xfrm>
              <a:off x="1464" y="3101"/>
              <a:ext cx="123"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800" b="1">
                  <a:solidFill>
                    <a:schemeClr val="tx2"/>
                  </a:solidFill>
                  <a:latin typeface="Arial" panose="020B0604020202020204" pitchFamily="34" charset="0"/>
                </a:rPr>
                <a:t>G</a:t>
              </a:r>
            </a:p>
          </p:txBody>
        </p:sp>
        <p:sp>
          <p:nvSpPr>
            <p:cNvPr id="142435" name="Line 99"/>
            <p:cNvSpPr>
              <a:spLocks noChangeShapeType="1"/>
            </p:cNvSpPr>
            <p:nvPr/>
          </p:nvSpPr>
          <p:spPr bwMode="auto">
            <a:xfrm>
              <a:off x="1407" y="3030"/>
              <a:ext cx="1372" cy="0"/>
            </a:xfrm>
            <a:prstGeom prst="line">
              <a:avLst/>
            </a:prstGeom>
            <a:noFill/>
            <a:ln w="28575">
              <a:solidFill>
                <a:srgbClr val="000099"/>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36" name="Line 100"/>
            <p:cNvSpPr>
              <a:spLocks noChangeShapeType="1"/>
            </p:cNvSpPr>
            <p:nvPr/>
          </p:nvSpPr>
          <p:spPr bwMode="auto">
            <a:xfrm>
              <a:off x="2794" y="2949"/>
              <a:ext cx="0" cy="172"/>
            </a:xfrm>
            <a:prstGeom prst="line">
              <a:avLst/>
            </a:prstGeom>
            <a:noFill/>
            <a:ln w="28575">
              <a:solidFill>
                <a:srgbClr val="000099"/>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37" name="Line 101"/>
            <p:cNvSpPr>
              <a:spLocks noChangeShapeType="1"/>
            </p:cNvSpPr>
            <p:nvPr/>
          </p:nvSpPr>
          <p:spPr bwMode="auto">
            <a:xfrm>
              <a:off x="1391" y="2938"/>
              <a:ext cx="0" cy="172"/>
            </a:xfrm>
            <a:prstGeom prst="line">
              <a:avLst/>
            </a:prstGeom>
            <a:noFill/>
            <a:ln w="28575">
              <a:solidFill>
                <a:srgbClr val="000099"/>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38" name="Line 102"/>
            <p:cNvSpPr>
              <a:spLocks noChangeShapeType="1"/>
            </p:cNvSpPr>
            <p:nvPr/>
          </p:nvSpPr>
          <p:spPr bwMode="auto">
            <a:xfrm>
              <a:off x="5539" y="2943"/>
              <a:ext cx="0" cy="173"/>
            </a:xfrm>
            <a:prstGeom prst="line">
              <a:avLst/>
            </a:prstGeom>
            <a:noFill/>
            <a:ln w="28575">
              <a:solidFill>
                <a:srgbClr val="000099"/>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42439" name="Group 103"/>
            <p:cNvGrpSpPr>
              <a:grpSpLocks/>
            </p:cNvGrpSpPr>
            <p:nvPr/>
          </p:nvGrpSpPr>
          <p:grpSpPr bwMode="auto">
            <a:xfrm>
              <a:off x="1461" y="2982"/>
              <a:ext cx="99" cy="87"/>
              <a:chOff x="1192" y="2091"/>
              <a:chExt cx="119" cy="118"/>
            </a:xfrm>
          </p:grpSpPr>
          <p:sp>
            <p:nvSpPr>
              <p:cNvPr id="142440" name="Line 104"/>
              <p:cNvSpPr>
                <a:spLocks noChangeShapeType="1"/>
              </p:cNvSpPr>
              <p:nvPr/>
            </p:nvSpPr>
            <p:spPr bwMode="auto">
              <a:xfrm>
                <a:off x="1197" y="2091"/>
                <a:ext cx="114"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41" name="Line 105"/>
              <p:cNvSpPr>
                <a:spLocks noChangeShapeType="1"/>
              </p:cNvSpPr>
              <p:nvPr/>
            </p:nvSpPr>
            <p:spPr bwMode="auto">
              <a:xfrm flipH="1">
                <a:off x="1192" y="2094"/>
                <a:ext cx="115"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42442" name="Group 106"/>
            <p:cNvGrpSpPr>
              <a:grpSpLocks/>
            </p:cNvGrpSpPr>
            <p:nvPr/>
          </p:nvGrpSpPr>
          <p:grpSpPr bwMode="auto">
            <a:xfrm>
              <a:off x="2573" y="2988"/>
              <a:ext cx="98" cy="88"/>
              <a:chOff x="1192" y="2091"/>
              <a:chExt cx="119" cy="118"/>
            </a:xfrm>
          </p:grpSpPr>
          <p:sp>
            <p:nvSpPr>
              <p:cNvPr id="142443" name="Line 107"/>
              <p:cNvSpPr>
                <a:spLocks noChangeShapeType="1"/>
              </p:cNvSpPr>
              <p:nvPr/>
            </p:nvSpPr>
            <p:spPr bwMode="auto">
              <a:xfrm>
                <a:off x="1197" y="2091"/>
                <a:ext cx="114"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44" name="Line 108"/>
              <p:cNvSpPr>
                <a:spLocks noChangeShapeType="1"/>
              </p:cNvSpPr>
              <p:nvPr/>
            </p:nvSpPr>
            <p:spPr bwMode="auto">
              <a:xfrm flipH="1">
                <a:off x="1192" y="2094"/>
                <a:ext cx="115"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42445" name="Group 109"/>
            <p:cNvGrpSpPr>
              <a:grpSpLocks/>
            </p:cNvGrpSpPr>
            <p:nvPr/>
          </p:nvGrpSpPr>
          <p:grpSpPr bwMode="auto">
            <a:xfrm>
              <a:off x="2935" y="2988"/>
              <a:ext cx="98" cy="88"/>
              <a:chOff x="1192" y="2091"/>
              <a:chExt cx="119" cy="118"/>
            </a:xfrm>
          </p:grpSpPr>
          <p:sp>
            <p:nvSpPr>
              <p:cNvPr id="142446" name="Line 110"/>
              <p:cNvSpPr>
                <a:spLocks noChangeShapeType="1"/>
              </p:cNvSpPr>
              <p:nvPr/>
            </p:nvSpPr>
            <p:spPr bwMode="auto">
              <a:xfrm>
                <a:off x="1197" y="2091"/>
                <a:ext cx="114"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47" name="Line 111"/>
              <p:cNvSpPr>
                <a:spLocks noChangeShapeType="1"/>
              </p:cNvSpPr>
              <p:nvPr/>
            </p:nvSpPr>
            <p:spPr bwMode="auto">
              <a:xfrm flipH="1">
                <a:off x="1192" y="2094"/>
                <a:ext cx="115"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42448" name="Line 112"/>
            <p:cNvSpPr>
              <a:spLocks noChangeShapeType="1"/>
            </p:cNvSpPr>
            <p:nvPr/>
          </p:nvSpPr>
          <p:spPr bwMode="auto">
            <a:xfrm>
              <a:off x="2788" y="3030"/>
              <a:ext cx="1373" cy="0"/>
            </a:xfrm>
            <a:prstGeom prst="line">
              <a:avLst/>
            </a:prstGeom>
            <a:noFill/>
            <a:ln w="28575">
              <a:solidFill>
                <a:srgbClr val="000099"/>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49" name="Line 113"/>
            <p:cNvSpPr>
              <a:spLocks noChangeShapeType="1"/>
            </p:cNvSpPr>
            <p:nvPr/>
          </p:nvSpPr>
          <p:spPr bwMode="auto">
            <a:xfrm>
              <a:off x="4175" y="2949"/>
              <a:ext cx="0" cy="172"/>
            </a:xfrm>
            <a:prstGeom prst="line">
              <a:avLst/>
            </a:prstGeom>
            <a:noFill/>
            <a:ln w="28575">
              <a:solidFill>
                <a:srgbClr val="000099"/>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42450" name="Group 114"/>
            <p:cNvGrpSpPr>
              <a:grpSpLocks/>
            </p:cNvGrpSpPr>
            <p:nvPr/>
          </p:nvGrpSpPr>
          <p:grpSpPr bwMode="auto">
            <a:xfrm>
              <a:off x="3954" y="2988"/>
              <a:ext cx="100" cy="88"/>
              <a:chOff x="1192" y="2091"/>
              <a:chExt cx="119" cy="118"/>
            </a:xfrm>
          </p:grpSpPr>
          <p:sp>
            <p:nvSpPr>
              <p:cNvPr id="142451" name="Line 115"/>
              <p:cNvSpPr>
                <a:spLocks noChangeShapeType="1"/>
              </p:cNvSpPr>
              <p:nvPr/>
            </p:nvSpPr>
            <p:spPr bwMode="auto">
              <a:xfrm>
                <a:off x="1197" y="2091"/>
                <a:ext cx="114"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52" name="Line 116"/>
              <p:cNvSpPr>
                <a:spLocks noChangeShapeType="1"/>
              </p:cNvSpPr>
              <p:nvPr/>
            </p:nvSpPr>
            <p:spPr bwMode="auto">
              <a:xfrm flipH="1">
                <a:off x="1192" y="2094"/>
                <a:ext cx="115"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42453" name="Group 117"/>
            <p:cNvGrpSpPr>
              <a:grpSpLocks/>
            </p:cNvGrpSpPr>
            <p:nvPr/>
          </p:nvGrpSpPr>
          <p:grpSpPr bwMode="auto">
            <a:xfrm>
              <a:off x="4312" y="2988"/>
              <a:ext cx="99" cy="88"/>
              <a:chOff x="1192" y="2091"/>
              <a:chExt cx="119" cy="118"/>
            </a:xfrm>
          </p:grpSpPr>
          <p:sp>
            <p:nvSpPr>
              <p:cNvPr id="142454" name="Line 118"/>
              <p:cNvSpPr>
                <a:spLocks noChangeShapeType="1"/>
              </p:cNvSpPr>
              <p:nvPr/>
            </p:nvSpPr>
            <p:spPr bwMode="auto">
              <a:xfrm>
                <a:off x="1197" y="2091"/>
                <a:ext cx="114"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55" name="Line 119"/>
              <p:cNvSpPr>
                <a:spLocks noChangeShapeType="1"/>
              </p:cNvSpPr>
              <p:nvPr/>
            </p:nvSpPr>
            <p:spPr bwMode="auto">
              <a:xfrm flipH="1">
                <a:off x="1192" y="2094"/>
                <a:ext cx="115" cy="115"/>
              </a:xfrm>
              <a:prstGeom prst="line">
                <a:avLst/>
              </a:prstGeom>
              <a:noFill/>
              <a:ln w="28575">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42456" name="Line 120"/>
            <p:cNvSpPr>
              <a:spLocks noChangeShapeType="1"/>
            </p:cNvSpPr>
            <p:nvPr/>
          </p:nvSpPr>
          <p:spPr bwMode="auto">
            <a:xfrm>
              <a:off x="4165" y="3030"/>
              <a:ext cx="1372" cy="0"/>
            </a:xfrm>
            <a:prstGeom prst="line">
              <a:avLst/>
            </a:prstGeom>
            <a:noFill/>
            <a:ln w="28575">
              <a:solidFill>
                <a:srgbClr val="000099"/>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57" name="Rectangle 121"/>
            <p:cNvSpPr>
              <a:spLocks noChangeArrowheads="1"/>
            </p:cNvSpPr>
            <p:nvPr/>
          </p:nvSpPr>
          <p:spPr bwMode="auto">
            <a:xfrm>
              <a:off x="4318" y="3081"/>
              <a:ext cx="123" cy="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800" b="1">
                  <a:solidFill>
                    <a:schemeClr val="tx2"/>
                  </a:solidFill>
                  <a:latin typeface="Arial" panose="020B0604020202020204" pitchFamily="34" charset="0"/>
                </a:rPr>
                <a:t>K</a:t>
              </a:r>
            </a:p>
          </p:txBody>
        </p:sp>
        <p:sp>
          <p:nvSpPr>
            <p:cNvPr id="142458" name="Line 122"/>
            <p:cNvSpPr>
              <a:spLocks noChangeShapeType="1"/>
            </p:cNvSpPr>
            <p:nvPr/>
          </p:nvSpPr>
          <p:spPr bwMode="auto">
            <a:xfrm>
              <a:off x="1671" y="2856"/>
              <a:ext cx="767" cy="0"/>
            </a:xfrm>
            <a:prstGeom prst="line">
              <a:avLst/>
            </a:prstGeom>
            <a:noFill/>
            <a:ln w="28575">
              <a:solidFill>
                <a:srgbClr val="FF0000"/>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59" name="Rectangle 123"/>
            <p:cNvSpPr>
              <a:spLocks noChangeArrowheads="1"/>
            </p:cNvSpPr>
            <p:nvPr/>
          </p:nvSpPr>
          <p:spPr bwMode="auto">
            <a:xfrm>
              <a:off x="1909" y="2677"/>
              <a:ext cx="392" cy="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800" b="1">
                  <a:solidFill>
                    <a:schemeClr val="tx2"/>
                  </a:solidFill>
                  <a:latin typeface="Arial" panose="020B0604020202020204" pitchFamily="34" charset="0"/>
                </a:rPr>
                <a:t>Z1G</a:t>
              </a:r>
            </a:p>
          </p:txBody>
        </p:sp>
        <p:sp>
          <p:nvSpPr>
            <p:cNvPr id="142460" name="Line 124"/>
            <p:cNvSpPr>
              <a:spLocks noChangeShapeType="1"/>
            </p:cNvSpPr>
            <p:nvPr/>
          </p:nvSpPr>
          <p:spPr bwMode="auto">
            <a:xfrm>
              <a:off x="3068" y="2856"/>
              <a:ext cx="768" cy="0"/>
            </a:xfrm>
            <a:prstGeom prst="line">
              <a:avLst/>
            </a:prstGeom>
            <a:noFill/>
            <a:ln w="28575">
              <a:solidFill>
                <a:srgbClr val="FF0000"/>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61" name="Rectangle 125"/>
            <p:cNvSpPr>
              <a:spLocks noChangeArrowheads="1"/>
            </p:cNvSpPr>
            <p:nvPr/>
          </p:nvSpPr>
          <p:spPr bwMode="auto">
            <a:xfrm>
              <a:off x="3307" y="2677"/>
              <a:ext cx="321" cy="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800" b="1">
                  <a:solidFill>
                    <a:schemeClr val="tx2"/>
                  </a:solidFill>
                  <a:latin typeface="Arial" panose="020B0604020202020204" pitchFamily="34" charset="0"/>
                </a:rPr>
                <a:t>Z1H</a:t>
              </a:r>
            </a:p>
          </p:txBody>
        </p:sp>
        <p:sp>
          <p:nvSpPr>
            <p:cNvPr id="142462" name="Line 126"/>
            <p:cNvSpPr>
              <a:spLocks noChangeShapeType="1"/>
            </p:cNvSpPr>
            <p:nvPr/>
          </p:nvSpPr>
          <p:spPr bwMode="auto">
            <a:xfrm>
              <a:off x="1671" y="2600"/>
              <a:ext cx="1811" cy="0"/>
            </a:xfrm>
            <a:prstGeom prst="line">
              <a:avLst/>
            </a:prstGeom>
            <a:noFill/>
            <a:ln w="28575">
              <a:solidFill>
                <a:srgbClr val="10EE10"/>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63" name="Rectangle 127"/>
            <p:cNvSpPr>
              <a:spLocks noChangeArrowheads="1"/>
            </p:cNvSpPr>
            <p:nvPr/>
          </p:nvSpPr>
          <p:spPr bwMode="auto">
            <a:xfrm>
              <a:off x="2346" y="2439"/>
              <a:ext cx="313" cy="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800" b="1">
                  <a:solidFill>
                    <a:schemeClr val="tx2"/>
                  </a:solidFill>
                  <a:latin typeface="Arial" panose="020B0604020202020204" pitchFamily="34" charset="0"/>
                </a:rPr>
                <a:t>Z2G</a:t>
              </a:r>
            </a:p>
          </p:txBody>
        </p:sp>
        <p:sp>
          <p:nvSpPr>
            <p:cNvPr id="142464" name="Line 128"/>
            <p:cNvSpPr>
              <a:spLocks noChangeShapeType="1"/>
            </p:cNvSpPr>
            <p:nvPr/>
          </p:nvSpPr>
          <p:spPr bwMode="auto">
            <a:xfrm>
              <a:off x="1179" y="2324"/>
              <a:ext cx="3443" cy="0"/>
            </a:xfrm>
            <a:prstGeom prst="line">
              <a:avLst/>
            </a:prstGeom>
            <a:noFill/>
            <a:ln w="28575">
              <a:solidFill>
                <a:schemeClr val="tx2"/>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65" name="Rectangle 129"/>
            <p:cNvSpPr>
              <a:spLocks noChangeArrowheads="1"/>
            </p:cNvSpPr>
            <p:nvPr/>
          </p:nvSpPr>
          <p:spPr bwMode="auto">
            <a:xfrm>
              <a:off x="1295" y="1958"/>
              <a:ext cx="495"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800" b="1">
                  <a:solidFill>
                    <a:schemeClr val="tx2"/>
                  </a:solidFill>
                  <a:latin typeface="Arial" panose="020B0604020202020204" pitchFamily="34" charset="0"/>
                </a:rPr>
                <a:t>Z3G REV</a:t>
              </a:r>
            </a:p>
          </p:txBody>
        </p:sp>
        <p:sp>
          <p:nvSpPr>
            <p:cNvPr id="142466" name="Line 130"/>
            <p:cNvSpPr>
              <a:spLocks noChangeShapeType="1"/>
            </p:cNvSpPr>
            <p:nvPr/>
          </p:nvSpPr>
          <p:spPr bwMode="auto">
            <a:xfrm>
              <a:off x="1662" y="2260"/>
              <a:ext cx="1" cy="172"/>
            </a:xfrm>
            <a:prstGeom prst="line">
              <a:avLst/>
            </a:prstGeom>
            <a:noFill/>
            <a:ln w="28575">
              <a:solidFill>
                <a:schemeClr val="tx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67" name="Rectangle 131"/>
            <p:cNvSpPr>
              <a:spLocks noChangeArrowheads="1"/>
            </p:cNvSpPr>
            <p:nvPr/>
          </p:nvSpPr>
          <p:spPr bwMode="auto">
            <a:xfrm>
              <a:off x="2767" y="2157"/>
              <a:ext cx="787" cy="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800" b="1">
                  <a:solidFill>
                    <a:schemeClr val="tx2"/>
                  </a:solidFill>
                  <a:latin typeface="Arial" panose="020B0604020202020204" pitchFamily="34" charset="0"/>
                </a:rPr>
                <a:t>Z3G FWD</a:t>
              </a:r>
            </a:p>
          </p:txBody>
        </p:sp>
        <p:sp>
          <p:nvSpPr>
            <p:cNvPr id="142468" name="Line 132"/>
            <p:cNvSpPr>
              <a:spLocks noChangeShapeType="1"/>
            </p:cNvSpPr>
            <p:nvPr/>
          </p:nvSpPr>
          <p:spPr bwMode="auto">
            <a:xfrm>
              <a:off x="982" y="2345"/>
              <a:ext cx="5" cy="879"/>
            </a:xfrm>
            <a:prstGeom prst="line">
              <a:avLst/>
            </a:prstGeom>
            <a:noFill/>
            <a:ln w="1905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469" name="Rectangle 133"/>
            <p:cNvSpPr>
              <a:spLocks noChangeArrowheads="1"/>
            </p:cNvSpPr>
            <p:nvPr/>
          </p:nvSpPr>
          <p:spPr bwMode="auto">
            <a:xfrm>
              <a:off x="554" y="2666"/>
              <a:ext cx="432"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r>
                <a:rPr lang="en-GB" altLang="en-US" sz="1800" b="1">
                  <a:solidFill>
                    <a:schemeClr val="tx2"/>
                  </a:solidFill>
                  <a:latin typeface="Arial" panose="020B0604020202020204" pitchFamily="34" charset="0"/>
                </a:rPr>
                <a:t>Time</a:t>
              </a:r>
            </a:p>
          </p:txBody>
        </p:sp>
        <p:sp>
          <p:nvSpPr>
            <p:cNvPr id="142470" name="Text Box 134"/>
            <p:cNvSpPr txBox="1">
              <a:spLocks noChangeArrowheads="1"/>
            </p:cNvSpPr>
            <p:nvPr/>
          </p:nvSpPr>
          <p:spPr bwMode="auto">
            <a:xfrm>
              <a:off x="1243" y="3492"/>
              <a:ext cx="3799"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4650" indent="-374650">
                <a:tabLst>
                  <a:tab pos="765175" algn="l"/>
                  <a:tab pos="850900" algn="l"/>
                  <a:tab pos="2381250" algn="l"/>
                </a:tabLst>
                <a:defRPr sz="2400">
                  <a:solidFill>
                    <a:schemeClr val="tx1"/>
                  </a:solidFill>
                  <a:latin typeface="Times New Roman" panose="02020603050405020304" pitchFamily="18" charset="0"/>
                </a:defRPr>
              </a:lvl1pPr>
              <a:lvl2pPr marL="666750">
                <a:tabLst>
                  <a:tab pos="765175" algn="l"/>
                  <a:tab pos="850900" algn="l"/>
                  <a:tab pos="2381250" algn="l"/>
                </a:tabLst>
                <a:defRPr sz="2400">
                  <a:solidFill>
                    <a:schemeClr val="tx1"/>
                  </a:solidFill>
                  <a:latin typeface="Times New Roman" panose="02020603050405020304" pitchFamily="18" charset="0"/>
                </a:defRPr>
              </a:lvl2pPr>
              <a:lvl3pPr>
                <a:tabLst>
                  <a:tab pos="765175" algn="l"/>
                  <a:tab pos="850900" algn="l"/>
                  <a:tab pos="2381250" algn="l"/>
                </a:tabLst>
                <a:defRPr sz="2400">
                  <a:solidFill>
                    <a:schemeClr val="tx1"/>
                  </a:solidFill>
                  <a:latin typeface="Times New Roman" panose="02020603050405020304" pitchFamily="18" charset="0"/>
                </a:defRPr>
              </a:lvl3pPr>
              <a:lvl4pPr>
                <a:tabLst>
                  <a:tab pos="765175" algn="l"/>
                  <a:tab pos="850900" algn="l"/>
                  <a:tab pos="2381250" algn="l"/>
                </a:tabLst>
                <a:defRPr sz="2400">
                  <a:solidFill>
                    <a:schemeClr val="tx1"/>
                  </a:solidFill>
                  <a:latin typeface="Times New Roman" panose="02020603050405020304" pitchFamily="18" charset="0"/>
                </a:defRPr>
              </a:lvl4pPr>
              <a:lvl5pPr>
                <a:tabLst>
                  <a:tab pos="765175" algn="l"/>
                  <a:tab pos="850900" algn="l"/>
                  <a:tab pos="238125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65175" algn="l"/>
                  <a:tab pos="850900" algn="l"/>
                  <a:tab pos="238125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65175" algn="l"/>
                  <a:tab pos="850900" algn="l"/>
                  <a:tab pos="238125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65175" algn="l"/>
                  <a:tab pos="850900" algn="l"/>
                  <a:tab pos="238125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65175" algn="l"/>
                  <a:tab pos="850900" algn="l"/>
                  <a:tab pos="2381250" algn="l"/>
                </a:tabLst>
                <a:defRPr sz="2400">
                  <a:solidFill>
                    <a:schemeClr val="tx1"/>
                  </a:solidFill>
                  <a:latin typeface="Times New Roman" panose="02020603050405020304" pitchFamily="18" charset="0"/>
                </a:defRPr>
              </a:lvl9pPr>
            </a:lstStyle>
            <a:p>
              <a:pPr>
                <a:spcAft>
                  <a:spcPct val="20000"/>
                </a:spcAft>
                <a:buClr>
                  <a:srgbClr val="FF0000"/>
                </a:buClr>
                <a:buSzPct val="80000"/>
                <a:buFont typeface="Wingdings" panose="05000000000000000000" pitchFamily="2" charset="2"/>
                <a:buNone/>
              </a:pPr>
              <a:r>
                <a:rPr lang="en-GB" altLang="en-US" sz="2000" b="1" dirty="0">
                  <a:solidFill>
                    <a:schemeClr val="tx2"/>
                  </a:solidFill>
                  <a:latin typeface="Arial" panose="020B0604020202020204" pitchFamily="34" charset="0"/>
                </a:rPr>
                <a:t>Typical settings  :	Z3FWD &gt; 1.2 x (Z</a:t>
              </a:r>
              <a:r>
                <a:rPr lang="en-GB" altLang="en-US" b="1" baseline="-25000" dirty="0">
                  <a:solidFill>
                    <a:schemeClr val="tx2"/>
                  </a:solidFill>
                  <a:latin typeface="Arial" panose="020B0604020202020204" pitchFamily="34" charset="0"/>
                </a:rPr>
                <a:t>GH</a:t>
              </a:r>
              <a:r>
                <a:rPr lang="en-GB" altLang="en-US" sz="2000" b="1" dirty="0">
                  <a:solidFill>
                    <a:schemeClr val="tx2"/>
                  </a:solidFill>
                  <a:latin typeface="Arial" panose="020B0604020202020204" pitchFamily="34" charset="0"/>
                </a:rPr>
                <a:t> + Z</a:t>
              </a:r>
              <a:r>
                <a:rPr lang="en-GB" altLang="en-US" b="1" baseline="-25000" dirty="0">
                  <a:solidFill>
                    <a:schemeClr val="tx2"/>
                  </a:solidFill>
                  <a:latin typeface="Arial" panose="020B0604020202020204" pitchFamily="34" charset="0"/>
                </a:rPr>
                <a:t>HK</a:t>
              </a:r>
              <a:r>
                <a:rPr lang="en-GB" altLang="en-US" sz="2000" b="1" dirty="0">
                  <a:solidFill>
                    <a:schemeClr val="tx2"/>
                  </a:solidFill>
                  <a:latin typeface="Arial" panose="020B0604020202020204" pitchFamily="34" charset="0"/>
                </a:rPr>
                <a:t>)</a:t>
              </a:r>
            </a:p>
            <a:p>
              <a:pPr>
                <a:spcAft>
                  <a:spcPct val="20000"/>
                </a:spcAft>
                <a:buClr>
                  <a:srgbClr val="FF0000"/>
                </a:buClr>
                <a:buSzPct val="80000"/>
                <a:buFont typeface="Wingdings" panose="05000000000000000000" pitchFamily="2" charset="2"/>
                <a:buNone/>
              </a:pPr>
              <a:r>
                <a:rPr lang="en-GB" altLang="en-US" sz="2000" b="1" dirty="0">
                  <a:solidFill>
                    <a:schemeClr val="tx2"/>
                  </a:solidFill>
                  <a:latin typeface="Arial" panose="020B0604020202020204" pitchFamily="34" charset="0"/>
                </a:rPr>
                <a:t>				Z3REV  0.1 to 0.25 of Z1G</a:t>
              </a:r>
            </a:p>
          </p:txBody>
        </p:sp>
      </p:grpSp>
    </p:spTree>
    <p:extLst>
      <p:ext uri="{BB962C8B-B14F-4D97-AF65-F5344CB8AC3E}">
        <p14:creationId xmlns:p14="http://schemas.microsoft.com/office/powerpoint/2010/main" val="1324722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408" name="Rectangle 24"/>
          <p:cNvSpPr>
            <a:spLocks noChangeArrowheads="1"/>
          </p:cNvSpPr>
          <p:nvPr/>
        </p:nvSpPr>
        <p:spPr bwMode="auto">
          <a:xfrm>
            <a:off x="238125" y="202660"/>
            <a:ext cx="863441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l">
              <a:lnSpc>
                <a:spcPct val="90000"/>
              </a:lnSpc>
            </a:pPr>
            <a:r>
              <a:rPr lang="en-GB" altLang="en-US" sz="3600" dirty="0">
                <a:solidFill>
                  <a:schemeClr val="accent1"/>
                </a:solidFill>
                <a:latin typeface="Arial" panose="020B0604020202020204" pitchFamily="34" charset="0"/>
                <a:ea typeface="+mj-ea"/>
                <a:cs typeface="Arial" panose="020B0604020202020204" pitchFamily="34" charset="0"/>
              </a:rPr>
              <a:t>Zone Time Coordination - Ideal Situation</a:t>
            </a:r>
          </a:p>
        </p:txBody>
      </p:sp>
      <p:sp>
        <p:nvSpPr>
          <p:cNvPr id="144409" name="Text Box 25"/>
          <p:cNvSpPr txBox="1">
            <a:spLocks noChangeArrowheads="1"/>
          </p:cNvSpPr>
          <p:nvPr/>
        </p:nvSpPr>
        <p:spPr bwMode="auto">
          <a:xfrm>
            <a:off x="423863" y="1715135"/>
            <a:ext cx="8448675" cy="290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tabLst>
                <a:tab pos="476250" algn="l"/>
                <a:tab pos="1428750" algn="l"/>
              </a:tabLst>
              <a:defRPr sz="2400">
                <a:solidFill>
                  <a:schemeClr val="tx1"/>
                </a:solidFill>
                <a:latin typeface="Times New Roman" panose="02020603050405020304" pitchFamily="18" charset="0"/>
              </a:defRPr>
            </a:lvl1pPr>
            <a:lvl2pPr marL="666750">
              <a:tabLst>
                <a:tab pos="476250" algn="l"/>
                <a:tab pos="1428750" algn="l"/>
              </a:tabLst>
              <a:defRPr sz="2400">
                <a:solidFill>
                  <a:schemeClr val="tx1"/>
                </a:solidFill>
                <a:latin typeface="Times New Roman" panose="02020603050405020304" pitchFamily="18" charset="0"/>
              </a:defRPr>
            </a:lvl2pPr>
            <a:lvl3pPr>
              <a:tabLst>
                <a:tab pos="476250" algn="l"/>
                <a:tab pos="1428750" algn="l"/>
              </a:tabLst>
              <a:defRPr sz="2400">
                <a:solidFill>
                  <a:schemeClr val="tx1"/>
                </a:solidFill>
                <a:latin typeface="Times New Roman" panose="02020603050405020304" pitchFamily="18" charset="0"/>
              </a:defRPr>
            </a:lvl3pPr>
            <a:lvl4pPr>
              <a:tabLst>
                <a:tab pos="476250" algn="l"/>
                <a:tab pos="1428750" algn="l"/>
              </a:tabLst>
              <a:defRPr sz="2400">
                <a:solidFill>
                  <a:schemeClr val="tx1"/>
                </a:solidFill>
                <a:latin typeface="Times New Roman" panose="02020603050405020304" pitchFamily="18" charset="0"/>
              </a:defRPr>
            </a:lvl4pPr>
            <a:lvl5pPr>
              <a:tabLst>
                <a:tab pos="476250" algn="l"/>
                <a:tab pos="142875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476250" algn="l"/>
                <a:tab pos="142875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476250" algn="l"/>
                <a:tab pos="142875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476250" algn="l"/>
                <a:tab pos="142875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476250" algn="l"/>
                <a:tab pos="1428750" algn="l"/>
              </a:tabLst>
              <a:defRPr sz="2400">
                <a:solidFill>
                  <a:schemeClr val="tx1"/>
                </a:solidFill>
                <a:latin typeface="Times New Roman" panose="02020603050405020304" pitchFamily="18" charset="0"/>
              </a:defRPr>
            </a:lvl9pPr>
          </a:lstStyle>
          <a:p>
            <a:pPr algn="l">
              <a:spcAft>
                <a:spcPct val="20000"/>
              </a:spcAft>
            </a:pPr>
            <a:r>
              <a:rPr lang="en-GB" altLang="en-US" sz="2200" b="1" dirty="0">
                <a:solidFill>
                  <a:schemeClr val="tx2"/>
                </a:solidFill>
                <a:latin typeface="Arial" panose="020B0604020202020204" pitchFamily="34" charset="0"/>
              </a:rPr>
              <a:t>Zone 1 :-	tZ1  =  instantaneous (typically 15 - 35mS)</a:t>
            </a:r>
          </a:p>
          <a:p>
            <a:pPr algn="l">
              <a:spcAft>
                <a:spcPct val="20000"/>
              </a:spcAft>
            </a:pPr>
            <a:endParaRPr lang="en-GB" altLang="en-US" sz="2200" b="1" dirty="0">
              <a:solidFill>
                <a:schemeClr val="tx2"/>
              </a:solidFill>
              <a:latin typeface="Arial" panose="020B0604020202020204" pitchFamily="34" charset="0"/>
            </a:endParaRPr>
          </a:p>
          <a:p>
            <a:pPr algn="l">
              <a:spcAft>
                <a:spcPct val="20000"/>
              </a:spcAft>
            </a:pPr>
            <a:r>
              <a:rPr lang="en-GB" altLang="en-US" sz="2200" b="1" dirty="0">
                <a:solidFill>
                  <a:schemeClr val="tx2"/>
                </a:solidFill>
                <a:latin typeface="Arial" panose="020B0604020202020204" pitchFamily="34" charset="0"/>
              </a:rPr>
              <a:t>Zone 2 :-	tZ2  =  tZ1(down) + CB(down) + Z2(reset) + Margin</a:t>
            </a:r>
          </a:p>
          <a:p>
            <a:pPr algn="l">
              <a:spcAft>
                <a:spcPct val="20000"/>
              </a:spcAft>
            </a:pPr>
            <a:r>
              <a:rPr lang="en-GB" altLang="en-US" sz="2200" b="1" dirty="0">
                <a:solidFill>
                  <a:schemeClr val="tx2"/>
                </a:solidFill>
                <a:latin typeface="Arial" panose="020B0604020202020204" pitchFamily="34" charset="0"/>
              </a:rPr>
              <a:t>		e.g.  tZ2  =  35  +  100  +  40  +  100  =  275mS</a:t>
            </a:r>
          </a:p>
          <a:p>
            <a:pPr algn="l">
              <a:spcAft>
                <a:spcPct val="20000"/>
              </a:spcAft>
            </a:pPr>
            <a:endParaRPr lang="en-GB" altLang="en-US" sz="2200" b="1" dirty="0">
              <a:solidFill>
                <a:schemeClr val="tx2"/>
              </a:solidFill>
              <a:latin typeface="Arial" panose="020B0604020202020204" pitchFamily="34" charset="0"/>
            </a:endParaRPr>
          </a:p>
          <a:p>
            <a:pPr algn="l">
              <a:spcAft>
                <a:spcPct val="20000"/>
              </a:spcAft>
            </a:pPr>
            <a:r>
              <a:rPr lang="en-GB" altLang="en-US" sz="2200" b="1" dirty="0">
                <a:solidFill>
                  <a:schemeClr val="tx2"/>
                </a:solidFill>
                <a:latin typeface="Arial" panose="020B0604020202020204" pitchFamily="34" charset="0"/>
              </a:rPr>
              <a:t>Zone 3 :-	tZ3  =  tZ2(down) + CB(down) + Z3(reset) + Margin</a:t>
            </a:r>
          </a:p>
          <a:p>
            <a:pPr algn="l">
              <a:spcAft>
                <a:spcPct val="20000"/>
              </a:spcAft>
            </a:pPr>
            <a:r>
              <a:rPr lang="en-GB" altLang="en-US" sz="2200" b="1" dirty="0">
                <a:solidFill>
                  <a:schemeClr val="tx2"/>
                </a:solidFill>
                <a:latin typeface="Arial" panose="020B0604020202020204" pitchFamily="34" charset="0"/>
              </a:rPr>
              <a:t>		e.g.  tZ3  =  275  +  100  +  40  +  100  =  515mS</a:t>
            </a:r>
          </a:p>
        </p:txBody>
      </p:sp>
    </p:spTree>
    <p:extLst>
      <p:ext uri="{BB962C8B-B14F-4D97-AF65-F5344CB8AC3E}">
        <p14:creationId xmlns:p14="http://schemas.microsoft.com/office/powerpoint/2010/main" val="2570126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1253" name="Object 5"/>
          <p:cNvGraphicFramePr>
            <a:graphicFrameLocks noChangeAspect="1"/>
          </p:cNvGraphicFramePr>
          <p:nvPr/>
        </p:nvGraphicFramePr>
        <p:xfrm>
          <a:off x="519113" y="6696075"/>
          <a:ext cx="346075" cy="114300"/>
        </p:xfrm>
        <a:graphic>
          <a:graphicData uri="http://schemas.openxmlformats.org/presentationml/2006/ole">
            <mc:AlternateContent xmlns:mc="http://schemas.openxmlformats.org/markup-compatibility/2006">
              <mc:Choice xmlns:v="urn:schemas-microsoft-com:vml" Requires="v">
                <p:oleObj spid="_x0000_s1092705" name="CorelDRAW" r:id="rId4" imgW="461160" imgH="153000" progId="CorelDraw.Graphic.7">
                  <p:embed/>
                </p:oleObj>
              </mc:Choice>
              <mc:Fallback>
                <p:oleObj name="CorelDRAW" r:id="rId4" imgW="461160" imgH="153000" progId="CorelDraw.Graphic.7">
                  <p:embed/>
                  <p:pic>
                    <p:nvPicPr>
                      <p:cNvPr id="181253"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113" y="6696075"/>
                        <a:ext cx="346075" cy="11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itle 2"/>
          <p:cNvSpPr>
            <a:spLocks noGrp="1"/>
          </p:cNvSpPr>
          <p:nvPr>
            <p:ph type="ctrTitle"/>
          </p:nvPr>
        </p:nvSpPr>
        <p:spPr>
          <a:xfrm>
            <a:off x="692150" y="1881981"/>
            <a:ext cx="8280400" cy="1550987"/>
          </a:xfrm>
        </p:spPr>
        <p:txBody>
          <a:bodyPr/>
          <a:lstStyle/>
          <a:p>
            <a:r>
              <a:rPr lang="en-US" dirty="0" err="1"/>
              <a:t>MiCOM</a:t>
            </a:r>
            <a:r>
              <a:rPr lang="en-US" dirty="0"/>
              <a:t> Distance features</a:t>
            </a:r>
          </a:p>
        </p:txBody>
      </p:sp>
    </p:spTree>
    <p:extLst>
      <p:ext uri="{BB962C8B-B14F-4D97-AF65-F5344CB8AC3E}">
        <p14:creationId xmlns:p14="http://schemas.microsoft.com/office/powerpoint/2010/main" val="2219126332"/>
      </p:ext>
    </p:extLst>
  </p:cSld>
  <p:clrMapOvr>
    <a:masterClrMapping/>
  </p:clrMapOvr>
  <p:transition>
    <p:randomBa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9" name="Rectangle 3"/>
          <p:cNvSpPr>
            <a:spLocks noGrp="1" noChangeArrowheads="1"/>
          </p:cNvSpPr>
          <p:nvPr>
            <p:ph type="body" idx="1"/>
          </p:nvPr>
        </p:nvSpPr>
        <p:spPr>
          <a:xfrm>
            <a:off x="431800" y="1506538"/>
            <a:ext cx="8280400" cy="3470275"/>
          </a:xfrm>
          <a:noFill/>
        </p:spPr>
        <p:txBody>
          <a:bodyPr/>
          <a:lstStyle/>
          <a:p>
            <a:pPr marL="381000" indent="-381000" eaLnBrk="0" hangingPunct="0">
              <a:lnSpc>
                <a:spcPct val="110000"/>
              </a:lnSpc>
              <a:spcBef>
                <a:spcPct val="40000"/>
              </a:spcBef>
              <a:buClr>
                <a:srgbClr val="C4122F"/>
              </a:buClr>
              <a:buSzPct val="130000"/>
              <a:buFontTx/>
              <a:buNone/>
            </a:pPr>
            <a:r>
              <a:rPr lang="fr-FR" altLang="en-US" dirty="0"/>
              <a:t>P54x/P44X Use </a:t>
            </a:r>
            <a:r>
              <a:rPr lang="fr-FR" altLang="en-US" dirty="0" err="1"/>
              <a:t>Superimposed</a:t>
            </a:r>
            <a:r>
              <a:rPr lang="fr-FR" altLang="en-US" dirty="0"/>
              <a:t> </a:t>
            </a:r>
            <a:r>
              <a:rPr lang="fr-FR" altLang="en-US" dirty="0" err="1"/>
              <a:t>Current</a:t>
            </a:r>
            <a:endParaRPr lang="fr-FR" altLang="en-US" dirty="0"/>
          </a:p>
          <a:p>
            <a:pPr marL="381000" indent="-381000" eaLnBrk="0" hangingPunct="0">
              <a:lnSpc>
                <a:spcPct val="110000"/>
              </a:lnSpc>
              <a:spcBef>
                <a:spcPct val="40000"/>
              </a:spcBef>
              <a:buClr>
                <a:srgbClr val="C4122F"/>
              </a:buClr>
              <a:buSzPct val="130000"/>
              <a:buFontTx/>
              <a:buNone/>
            </a:pPr>
            <a:r>
              <a:rPr lang="fr-FR" altLang="en-US" dirty="0" err="1"/>
              <a:t>Proven</a:t>
            </a:r>
            <a:r>
              <a:rPr lang="fr-FR" altLang="en-US" dirty="0"/>
              <a:t> DELTA </a:t>
            </a:r>
            <a:r>
              <a:rPr lang="fr-FR" altLang="en-US" dirty="0" err="1"/>
              <a:t>technology</a:t>
            </a:r>
            <a:endParaRPr lang="fr-FR" altLang="en-US" dirty="0"/>
          </a:p>
          <a:p>
            <a:pPr marL="381000" indent="-381000"/>
            <a:endParaRPr lang="en-US" altLang="en-US" dirty="0"/>
          </a:p>
          <a:p>
            <a:pPr marL="381000" indent="-381000"/>
            <a:r>
              <a:rPr lang="en-US" altLang="en-US" dirty="0"/>
              <a:t>Compares pre-faulted system</a:t>
            </a:r>
          </a:p>
          <a:p>
            <a:pPr marL="381000" indent="-381000"/>
            <a:r>
              <a:rPr lang="en-US" altLang="en-US" dirty="0"/>
              <a:t>Acts as a fault detector and faulted phase detector</a:t>
            </a:r>
          </a:p>
          <a:p>
            <a:pPr marL="381000" indent="-381000"/>
            <a:r>
              <a:rPr lang="en-US" altLang="en-US" dirty="0"/>
              <a:t>Can quickly recognize evolving faults and power swings</a:t>
            </a:r>
          </a:p>
          <a:p>
            <a:pPr marL="381000" indent="-381000"/>
            <a:r>
              <a:rPr lang="en-US" altLang="en-US" dirty="0"/>
              <a:t>Provides secure phase selection for complex fault conditions</a:t>
            </a:r>
          </a:p>
          <a:p>
            <a:pPr marL="381000" indent="-381000"/>
            <a:r>
              <a:rPr lang="en-US" altLang="en-US" dirty="0"/>
              <a:t>Sensitive to any fault type</a:t>
            </a:r>
          </a:p>
        </p:txBody>
      </p:sp>
      <p:sp>
        <p:nvSpPr>
          <p:cNvPr id="367625" name="Rectangle 9"/>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dirty="0" err="1"/>
              <a:t>MiCOM</a:t>
            </a:r>
            <a:r>
              <a:rPr lang="en-GB" altLang="en-US" dirty="0"/>
              <a:t> P54x</a:t>
            </a:r>
            <a:r>
              <a:rPr lang="en-US" altLang="zh-CN" dirty="0"/>
              <a:t>/P44X</a:t>
            </a:r>
            <a:br>
              <a:rPr lang="en-GB" altLang="en-US" dirty="0"/>
            </a:br>
            <a:r>
              <a:rPr lang="en-GB" altLang="en-US" dirty="0"/>
              <a:t>Distance protection - Introduction</a:t>
            </a:r>
          </a:p>
        </p:txBody>
      </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US" altLang="en-US" dirty="0" err="1"/>
              <a:t>MiCOM</a:t>
            </a:r>
            <a:r>
              <a:rPr lang="en-US" altLang="en-US" dirty="0"/>
              <a:t> P54x/P44X</a:t>
            </a:r>
            <a:br>
              <a:rPr lang="en-US" altLang="en-US" dirty="0"/>
            </a:br>
            <a:r>
              <a:rPr lang="en-US" altLang="en-US" dirty="0"/>
              <a:t>Faulted = </a:t>
            </a:r>
            <a:r>
              <a:rPr lang="en-US" altLang="en-US" dirty="0" err="1"/>
              <a:t>Unfaulted</a:t>
            </a:r>
            <a:r>
              <a:rPr lang="en-US" altLang="en-US" dirty="0"/>
              <a:t> + Superimposed</a:t>
            </a:r>
            <a:endParaRPr lang="fr-FR" altLang="en-US" dirty="0"/>
          </a:p>
        </p:txBody>
      </p:sp>
      <p:sp>
        <p:nvSpPr>
          <p:cNvPr id="369669" name="Oval 5"/>
          <p:cNvSpPr>
            <a:spLocks noChangeArrowheads="1"/>
          </p:cNvSpPr>
          <p:nvPr/>
        </p:nvSpPr>
        <p:spPr bwMode="auto">
          <a:xfrm>
            <a:off x="1309688" y="4495800"/>
            <a:ext cx="3810000" cy="95250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670" name="Line 6"/>
          <p:cNvSpPr>
            <a:spLocks noChangeShapeType="1"/>
          </p:cNvSpPr>
          <p:nvPr/>
        </p:nvSpPr>
        <p:spPr bwMode="auto">
          <a:xfrm>
            <a:off x="2381250" y="3529013"/>
            <a:ext cx="1819275" cy="0"/>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671" name="Rectangle 7"/>
          <p:cNvSpPr>
            <a:spLocks noChangeArrowheads="1"/>
          </p:cNvSpPr>
          <p:nvPr/>
        </p:nvSpPr>
        <p:spPr bwMode="auto">
          <a:xfrm>
            <a:off x="2105025" y="3022600"/>
            <a:ext cx="417513"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spcBef>
                <a:spcPct val="50000"/>
              </a:spcBef>
            </a:pPr>
            <a:r>
              <a:rPr lang="en-US" altLang="en-US"/>
              <a:t>i</a:t>
            </a:r>
            <a:endParaRPr lang="en-US" altLang="en-US" b="1"/>
          </a:p>
        </p:txBody>
      </p:sp>
      <p:sp>
        <p:nvSpPr>
          <p:cNvPr id="369672" name="Rectangle 8"/>
          <p:cNvSpPr>
            <a:spLocks noChangeArrowheads="1"/>
          </p:cNvSpPr>
          <p:nvPr/>
        </p:nvSpPr>
        <p:spPr bwMode="auto">
          <a:xfrm>
            <a:off x="2200275" y="3114675"/>
            <a:ext cx="506413"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spcBef>
                <a:spcPct val="50000"/>
              </a:spcBef>
            </a:pPr>
            <a:r>
              <a:rPr lang="en-US" altLang="en-US"/>
              <a:t>rly</a:t>
            </a:r>
            <a:endParaRPr lang="en-US" altLang="en-US" b="1"/>
          </a:p>
        </p:txBody>
      </p:sp>
      <p:sp>
        <p:nvSpPr>
          <p:cNvPr id="369673" name="Rectangle 9"/>
          <p:cNvSpPr>
            <a:spLocks noChangeArrowheads="1"/>
          </p:cNvSpPr>
          <p:nvPr/>
        </p:nvSpPr>
        <p:spPr bwMode="auto">
          <a:xfrm>
            <a:off x="4910138" y="3176588"/>
            <a:ext cx="417512" cy="363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spcBef>
                <a:spcPct val="50000"/>
              </a:spcBef>
            </a:pPr>
            <a:r>
              <a:rPr lang="en-US" altLang="en-US" b="1"/>
              <a:t>=</a:t>
            </a:r>
          </a:p>
        </p:txBody>
      </p:sp>
      <p:sp>
        <p:nvSpPr>
          <p:cNvPr id="369674" name="Line 10"/>
          <p:cNvSpPr>
            <a:spLocks noChangeShapeType="1"/>
          </p:cNvSpPr>
          <p:nvPr/>
        </p:nvSpPr>
        <p:spPr bwMode="auto">
          <a:xfrm>
            <a:off x="6292850" y="3498850"/>
            <a:ext cx="1819275" cy="0"/>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675" name="Rectangle 11"/>
          <p:cNvSpPr>
            <a:spLocks noChangeArrowheads="1"/>
          </p:cNvSpPr>
          <p:nvPr/>
        </p:nvSpPr>
        <p:spPr bwMode="auto">
          <a:xfrm>
            <a:off x="5864225" y="3005138"/>
            <a:ext cx="417513" cy="363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spcBef>
                <a:spcPct val="50000"/>
              </a:spcBef>
            </a:pPr>
            <a:r>
              <a:rPr lang="en-US" altLang="en-US"/>
              <a:t>i</a:t>
            </a:r>
            <a:endParaRPr lang="en-US" altLang="en-US" b="1"/>
          </a:p>
        </p:txBody>
      </p:sp>
      <p:sp>
        <p:nvSpPr>
          <p:cNvPr id="369676" name="Rectangle 12"/>
          <p:cNvSpPr>
            <a:spLocks noChangeArrowheads="1"/>
          </p:cNvSpPr>
          <p:nvPr/>
        </p:nvSpPr>
        <p:spPr bwMode="auto">
          <a:xfrm>
            <a:off x="5942013" y="3070225"/>
            <a:ext cx="838200"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spcBef>
                <a:spcPct val="50000"/>
              </a:spcBef>
            </a:pPr>
            <a:r>
              <a:rPr lang="en-US" altLang="en-US"/>
              <a:t>mem</a:t>
            </a:r>
            <a:endParaRPr lang="en-US" altLang="en-US" b="1"/>
          </a:p>
        </p:txBody>
      </p:sp>
      <p:sp>
        <p:nvSpPr>
          <p:cNvPr id="369677" name="Rectangle 13"/>
          <p:cNvSpPr>
            <a:spLocks noChangeArrowheads="1"/>
          </p:cNvSpPr>
          <p:nvPr/>
        </p:nvSpPr>
        <p:spPr bwMode="auto">
          <a:xfrm>
            <a:off x="6980238" y="3662363"/>
            <a:ext cx="417512" cy="363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spcBef>
                <a:spcPct val="50000"/>
              </a:spcBef>
            </a:pPr>
            <a:r>
              <a:rPr lang="en-US" altLang="en-US" b="1"/>
              <a:t>+</a:t>
            </a:r>
            <a:endParaRPr lang="en-US" altLang="en-US"/>
          </a:p>
        </p:txBody>
      </p:sp>
      <p:sp>
        <p:nvSpPr>
          <p:cNvPr id="369678" name="Line 14"/>
          <p:cNvSpPr>
            <a:spLocks noChangeShapeType="1"/>
          </p:cNvSpPr>
          <p:nvPr/>
        </p:nvSpPr>
        <p:spPr bwMode="auto">
          <a:xfrm>
            <a:off x="6292850" y="4840288"/>
            <a:ext cx="1819275" cy="0"/>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679" name="Rectangle 15"/>
          <p:cNvSpPr>
            <a:spLocks noChangeArrowheads="1"/>
          </p:cNvSpPr>
          <p:nvPr/>
        </p:nvSpPr>
        <p:spPr bwMode="auto">
          <a:xfrm>
            <a:off x="6243638" y="4359275"/>
            <a:ext cx="417512"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spcBef>
                <a:spcPct val="50000"/>
              </a:spcBef>
            </a:pPr>
            <a:r>
              <a:rPr lang="en-US" altLang="en-US"/>
              <a:t>i</a:t>
            </a:r>
          </a:p>
        </p:txBody>
      </p:sp>
      <p:sp>
        <p:nvSpPr>
          <p:cNvPr id="369680" name="Rectangle 16"/>
          <p:cNvSpPr>
            <a:spLocks noChangeArrowheads="1"/>
          </p:cNvSpPr>
          <p:nvPr/>
        </p:nvSpPr>
        <p:spPr bwMode="auto">
          <a:xfrm>
            <a:off x="6329363" y="4451350"/>
            <a:ext cx="417512"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spcBef>
                <a:spcPct val="50000"/>
              </a:spcBef>
            </a:pPr>
            <a:r>
              <a:rPr lang="en-US" altLang="en-US"/>
              <a:t>r</a:t>
            </a:r>
            <a:endParaRPr lang="en-US" altLang="en-US" b="1"/>
          </a:p>
        </p:txBody>
      </p:sp>
      <p:sp>
        <p:nvSpPr>
          <p:cNvPr id="369681" name="AutoShape 17"/>
          <p:cNvSpPr>
            <a:spLocks noChangeArrowheads="1"/>
          </p:cNvSpPr>
          <p:nvPr/>
        </p:nvSpPr>
        <p:spPr bwMode="auto">
          <a:xfrm>
            <a:off x="6159500" y="4462463"/>
            <a:ext cx="150813" cy="147637"/>
          </a:xfrm>
          <a:prstGeom prst="triangle">
            <a:avLst>
              <a:gd name="adj" fmla="val 49986"/>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682" name="Freeform 18"/>
          <p:cNvSpPr>
            <a:spLocks/>
          </p:cNvSpPr>
          <p:nvPr/>
        </p:nvSpPr>
        <p:spPr bwMode="auto">
          <a:xfrm>
            <a:off x="2327275" y="2855913"/>
            <a:ext cx="1714500" cy="1211262"/>
          </a:xfrm>
          <a:custGeom>
            <a:avLst/>
            <a:gdLst>
              <a:gd name="T0" fmla="*/ 0 w 1215"/>
              <a:gd name="T1" fmla="*/ 462 h 763"/>
              <a:gd name="T2" fmla="*/ 40 w 1215"/>
              <a:gd name="T3" fmla="*/ 492 h 763"/>
              <a:gd name="T4" fmla="*/ 86 w 1215"/>
              <a:gd name="T5" fmla="*/ 506 h 763"/>
              <a:gd name="T6" fmla="*/ 124 w 1215"/>
              <a:gd name="T7" fmla="*/ 510 h 763"/>
              <a:gd name="T8" fmla="*/ 182 w 1215"/>
              <a:gd name="T9" fmla="*/ 496 h 763"/>
              <a:gd name="T10" fmla="*/ 216 w 1215"/>
              <a:gd name="T11" fmla="*/ 472 h 763"/>
              <a:gd name="T12" fmla="*/ 358 w 1215"/>
              <a:gd name="T13" fmla="*/ 314 h 763"/>
              <a:gd name="T14" fmla="*/ 386 w 1215"/>
              <a:gd name="T15" fmla="*/ 292 h 763"/>
              <a:gd name="T16" fmla="*/ 434 w 1215"/>
              <a:gd name="T17" fmla="*/ 274 h 763"/>
              <a:gd name="T18" fmla="*/ 478 w 1215"/>
              <a:gd name="T19" fmla="*/ 264 h 763"/>
              <a:gd name="T20" fmla="*/ 576 w 1215"/>
              <a:gd name="T21" fmla="*/ 40 h 763"/>
              <a:gd name="T22" fmla="*/ 596 w 1215"/>
              <a:gd name="T23" fmla="*/ 10 h 763"/>
              <a:gd name="T24" fmla="*/ 618 w 1215"/>
              <a:gd name="T25" fmla="*/ 0 h 763"/>
              <a:gd name="T26" fmla="*/ 644 w 1215"/>
              <a:gd name="T27" fmla="*/ 4 h 763"/>
              <a:gd name="T28" fmla="*/ 662 w 1215"/>
              <a:gd name="T29" fmla="*/ 24 h 763"/>
              <a:gd name="T30" fmla="*/ 946 w 1215"/>
              <a:gd name="T31" fmla="*/ 688 h 763"/>
              <a:gd name="T32" fmla="*/ 974 w 1215"/>
              <a:gd name="T33" fmla="*/ 742 h 763"/>
              <a:gd name="T34" fmla="*/ 994 w 1215"/>
              <a:gd name="T35" fmla="*/ 756 h 763"/>
              <a:gd name="T36" fmla="*/ 1020 w 1215"/>
              <a:gd name="T37" fmla="*/ 762 h 763"/>
              <a:gd name="T38" fmla="*/ 1048 w 1215"/>
              <a:gd name="T39" fmla="*/ 748 h 763"/>
              <a:gd name="T40" fmla="*/ 1070 w 1215"/>
              <a:gd name="T41" fmla="*/ 728 h 763"/>
              <a:gd name="T42" fmla="*/ 1174 w 1215"/>
              <a:gd name="T43" fmla="*/ 456 h 763"/>
              <a:gd name="T44" fmla="*/ 1202 w 1215"/>
              <a:gd name="T45" fmla="*/ 362 h 763"/>
              <a:gd name="T46" fmla="*/ 1214 w 1215"/>
              <a:gd name="T47" fmla="*/ 280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15" h="763">
                <a:moveTo>
                  <a:pt x="0" y="462"/>
                </a:moveTo>
                <a:lnTo>
                  <a:pt x="40" y="492"/>
                </a:lnTo>
                <a:lnTo>
                  <a:pt x="86" y="506"/>
                </a:lnTo>
                <a:lnTo>
                  <a:pt x="124" y="510"/>
                </a:lnTo>
                <a:lnTo>
                  <a:pt x="182" y="496"/>
                </a:lnTo>
                <a:lnTo>
                  <a:pt x="216" y="472"/>
                </a:lnTo>
                <a:lnTo>
                  <a:pt x="358" y="314"/>
                </a:lnTo>
                <a:lnTo>
                  <a:pt x="386" y="292"/>
                </a:lnTo>
                <a:lnTo>
                  <a:pt x="434" y="274"/>
                </a:lnTo>
                <a:lnTo>
                  <a:pt x="478" y="264"/>
                </a:lnTo>
                <a:lnTo>
                  <a:pt x="576" y="40"/>
                </a:lnTo>
                <a:lnTo>
                  <a:pt x="596" y="10"/>
                </a:lnTo>
                <a:lnTo>
                  <a:pt x="618" y="0"/>
                </a:lnTo>
                <a:lnTo>
                  <a:pt x="644" y="4"/>
                </a:lnTo>
                <a:lnTo>
                  <a:pt x="662" y="24"/>
                </a:lnTo>
                <a:lnTo>
                  <a:pt x="946" y="688"/>
                </a:lnTo>
                <a:lnTo>
                  <a:pt x="974" y="742"/>
                </a:lnTo>
                <a:lnTo>
                  <a:pt x="994" y="756"/>
                </a:lnTo>
                <a:lnTo>
                  <a:pt x="1020" y="762"/>
                </a:lnTo>
                <a:lnTo>
                  <a:pt x="1048" y="748"/>
                </a:lnTo>
                <a:lnTo>
                  <a:pt x="1070" y="728"/>
                </a:lnTo>
                <a:lnTo>
                  <a:pt x="1174" y="456"/>
                </a:lnTo>
                <a:lnTo>
                  <a:pt x="1202" y="362"/>
                </a:lnTo>
                <a:lnTo>
                  <a:pt x="1214" y="280"/>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9683" name="Freeform 19"/>
          <p:cNvSpPr>
            <a:spLocks/>
          </p:cNvSpPr>
          <p:nvPr/>
        </p:nvSpPr>
        <p:spPr bwMode="auto">
          <a:xfrm>
            <a:off x="6270625" y="3233738"/>
            <a:ext cx="1779588" cy="417512"/>
          </a:xfrm>
          <a:custGeom>
            <a:avLst/>
            <a:gdLst>
              <a:gd name="T0" fmla="*/ 0 w 1261"/>
              <a:gd name="T1" fmla="*/ 212 h 263"/>
              <a:gd name="T2" fmla="*/ 26 w 1261"/>
              <a:gd name="T3" fmla="*/ 242 h 263"/>
              <a:gd name="T4" fmla="*/ 66 w 1261"/>
              <a:gd name="T5" fmla="*/ 258 h 263"/>
              <a:gd name="T6" fmla="*/ 116 w 1261"/>
              <a:gd name="T7" fmla="*/ 262 h 263"/>
              <a:gd name="T8" fmla="*/ 162 w 1261"/>
              <a:gd name="T9" fmla="*/ 258 h 263"/>
              <a:gd name="T10" fmla="*/ 200 w 1261"/>
              <a:gd name="T11" fmla="*/ 230 h 263"/>
              <a:gd name="T12" fmla="*/ 388 w 1261"/>
              <a:gd name="T13" fmla="*/ 36 h 263"/>
              <a:gd name="T14" fmla="*/ 420 w 1261"/>
              <a:gd name="T15" fmla="*/ 18 h 263"/>
              <a:gd name="T16" fmla="*/ 458 w 1261"/>
              <a:gd name="T17" fmla="*/ 6 h 263"/>
              <a:gd name="T18" fmla="*/ 500 w 1261"/>
              <a:gd name="T19" fmla="*/ 0 h 263"/>
              <a:gd name="T20" fmla="*/ 552 w 1261"/>
              <a:gd name="T21" fmla="*/ 10 h 263"/>
              <a:gd name="T22" fmla="*/ 596 w 1261"/>
              <a:gd name="T23" fmla="*/ 34 h 263"/>
              <a:gd name="T24" fmla="*/ 778 w 1261"/>
              <a:gd name="T25" fmla="*/ 208 h 263"/>
              <a:gd name="T26" fmla="*/ 808 w 1261"/>
              <a:gd name="T27" fmla="*/ 228 h 263"/>
              <a:gd name="T28" fmla="*/ 834 w 1261"/>
              <a:gd name="T29" fmla="*/ 238 h 263"/>
              <a:gd name="T30" fmla="*/ 886 w 1261"/>
              <a:gd name="T31" fmla="*/ 244 h 263"/>
              <a:gd name="T32" fmla="*/ 910 w 1261"/>
              <a:gd name="T33" fmla="*/ 244 h 263"/>
              <a:gd name="T34" fmla="*/ 940 w 1261"/>
              <a:gd name="T35" fmla="*/ 238 h 263"/>
              <a:gd name="T36" fmla="*/ 974 w 1261"/>
              <a:gd name="T37" fmla="*/ 212 h 263"/>
              <a:gd name="T38" fmla="*/ 1074 w 1261"/>
              <a:gd name="T39" fmla="*/ 100 h 263"/>
              <a:gd name="T40" fmla="*/ 1092 w 1261"/>
              <a:gd name="T41" fmla="*/ 80 h 263"/>
              <a:gd name="T42" fmla="*/ 1116 w 1261"/>
              <a:gd name="T43" fmla="*/ 62 h 263"/>
              <a:gd name="T44" fmla="*/ 1160 w 1261"/>
              <a:gd name="T45" fmla="*/ 36 h 263"/>
              <a:gd name="T46" fmla="*/ 1198 w 1261"/>
              <a:gd name="T47" fmla="*/ 20 h 263"/>
              <a:gd name="T48" fmla="*/ 1260 w 1261"/>
              <a:gd name="T49" fmla="*/ 8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61" h="263">
                <a:moveTo>
                  <a:pt x="0" y="212"/>
                </a:moveTo>
                <a:lnTo>
                  <a:pt x="26" y="242"/>
                </a:lnTo>
                <a:lnTo>
                  <a:pt x="66" y="258"/>
                </a:lnTo>
                <a:lnTo>
                  <a:pt x="116" y="262"/>
                </a:lnTo>
                <a:lnTo>
                  <a:pt x="162" y="258"/>
                </a:lnTo>
                <a:lnTo>
                  <a:pt x="200" y="230"/>
                </a:lnTo>
                <a:lnTo>
                  <a:pt x="388" y="36"/>
                </a:lnTo>
                <a:lnTo>
                  <a:pt x="420" y="18"/>
                </a:lnTo>
                <a:lnTo>
                  <a:pt x="458" y="6"/>
                </a:lnTo>
                <a:lnTo>
                  <a:pt x="500" y="0"/>
                </a:lnTo>
                <a:lnTo>
                  <a:pt x="552" y="10"/>
                </a:lnTo>
                <a:lnTo>
                  <a:pt x="596" y="34"/>
                </a:lnTo>
                <a:lnTo>
                  <a:pt x="778" y="208"/>
                </a:lnTo>
                <a:lnTo>
                  <a:pt x="808" y="228"/>
                </a:lnTo>
                <a:lnTo>
                  <a:pt x="834" y="238"/>
                </a:lnTo>
                <a:lnTo>
                  <a:pt x="886" y="244"/>
                </a:lnTo>
                <a:lnTo>
                  <a:pt x="910" y="244"/>
                </a:lnTo>
                <a:lnTo>
                  <a:pt x="940" y="238"/>
                </a:lnTo>
                <a:lnTo>
                  <a:pt x="974" y="212"/>
                </a:lnTo>
                <a:lnTo>
                  <a:pt x="1074" y="100"/>
                </a:lnTo>
                <a:lnTo>
                  <a:pt x="1092" y="80"/>
                </a:lnTo>
                <a:lnTo>
                  <a:pt x="1116" y="62"/>
                </a:lnTo>
                <a:lnTo>
                  <a:pt x="1160" y="36"/>
                </a:lnTo>
                <a:lnTo>
                  <a:pt x="1198" y="20"/>
                </a:lnTo>
                <a:lnTo>
                  <a:pt x="1260" y="8"/>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9684" name="Freeform 20"/>
          <p:cNvSpPr>
            <a:spLocks/>
          </p:cNvSpPr>
          <p:nvPr/>
        </p:nvSpPr>
        <p:spPr bwMode="auto">
          <a:xfrm>
            <a:off x="6278563" y="4230688"/>
            <a:ext cx="1782762" cy="1093787"/>
          </a:xfrm>
          <a:custGeom>
            <a:avLst/>
            <a:gdLst>
              <a:gd name="T0" fmla="*/ 0 w 1263"/>
              <a:gd name="T1" fmla="*/ 384 h 689"/>
              <a:gd name="T2" fmla="*/ 506 w 1263"/>
              <a:gd name="T3" fmla="*/ 384 h 689"/>
              <a:gd name="T4" fmla="*/ 584 w 1263"/>
              <a:gd name="T5" fmla="*/ 148 h 689"/>
              <a:gd name="T6" fmla="*/ 604 w 1263"/>
              <a:gd name="T7" fmla="*/ 98 h 689"/>
              <a:gd name="T8" fmla="*/ 634 w 1263"/>
              <a:gd name="T9" fmla="*/ 24 h 689"/>
              <a:gd name="T10" fmla="*/ 652 w 1263"/>
              <a:gd name="T11" fmla="*/ 6 h 689"/>
              <a:gd name="T12" fmla="*/ 676 w 1263"/>
              <a:gd name="T13" fmla="*/ 0 h 689"/>
              <a:gd name="T14" fmla="*/ 704 w 1263"/>
              <a:gd name="T15" fmla="*/ 4 h 689"/>
              <a:gd name="T16" fmla="*/ 724 w 1263"/>
              <a:gd name="T17" fmla="*/ 18 h 689"/>
              <a:gd name="T18" fmla="*/ 1028 w 1263"/>
              <a:gd name="T19" fmla="*/ 662 h 689"/>
              <a:gd name="T20" fmla="*/ 1046 w 1263"/>
              <a:gd name="T21" fmla="*/ 684 h 689"/>
              <a:gd name="T22" fmla="*/ 1070 w 1263"/>
              <a:gd name="T23" fmla="*/ 688 h 689"/>
              <a:gd name="T24" fmla="*/ 1102 w 1263"/>
              <a:gd name="T25" fmla="*/ 684 h 689"/>
              <a:gd name="T26" fmla="*/ 1118 w 1263"/>
              <a:gd name="T27" fmla="*/ 672 h 689"/>
              <a:gd name="T28" fmla="*/ 1262 w 1263"/>
              <a:gd name="T29" fmla="*/ 342 h 6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63" h="689">
                <a:moveTo>
                  <a:pt x="0" y="384"/>
                </a:moveTo>
                <a:lnTo>
                  <a:pt x="506" y="384"/>
                </a:lnTo>
                <a:lnTo>
                  <a:pt x="584" y="148"/>
                </a:lnTo>
                <a:lnTo>
                  <a:pt x="604" y="98"/>
                </a:lnTo>
                <a:lnTo>
                  <a:pt x="634" y="24"/>
                </a:lnTo>
                <a:lnTo>
                  <a:pt x="652" y="6"/>
                </a:lnTo>
                <a:lnTo>
                  <a:pt x="676" y="0"/>
                </a:lnTo>
                <a:lnTo>
                  <a:pt x="704" y="4"/>
                </a:lnTo>
                <a:lnTo>
                  <a:pt x="724" y="18"/>
                </a:lnTo>
                <a:lnTo>
                  <a:pt x="1028" y="662"/>
                </a:lnTo>
                <a:lnTo>
                  <a:pt x="1046" y="684"/>
                </a:lnTo>
                <a:lnTo>
                  <a:pt x="1070" y="688"/>
                </a:lnTo>
                <a:lnTo>
                  <a:pt x="1102" y="684"/>
                </a:lnTo>
                <a:lnTo>
                  <a:pt x="1118" y="672"/>
                </a:lnTo>
                <a:lnTo>
                  <a:pt x="1262" y="342"/>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9685" name="Rectangle 21"/>
          <p:cNvSpPr>
            <a:spLocks noChangeArrowheads="1"/>
          </p:cNvSpPr>
          <p:nvPr/>
        </p:nvSpPr>
        <p:spPr bwMode="auto">
          <a:xfrm>
            <a:off x="1698625" y="2003425"/>
            <a:ext cx="1277938"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spcBef>
                <a:spcPct val="50000"/>
              </a:spcBef>
            </a:pPr>
            <a:r>
              <a:rPr lang="en-US" altLang="en-US"/>
              <a:t>Prefault</a:t>
            </a:r>
          </a:p>
        </p:txBody>
      </p:sp>
      <p:sp>
        <p:nvSpPr>
          <p:cNvPr id="369686" name="Rectangle 22"/>
          <p:cNvSpPr>
            <a:spLocks noChangeArrowheads="1"/>
          </p:cNvSpPr>
          <p:nvPr/>
        </p:nvSpPr>
        <p:spPr bwMode="auto">
          <a:xfrm>
            <a:off x="3206750" y="1998663"/>
            <a:ext cx="1155700" cy="363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spcBef>
                <a:spcPct val="50000"/>
              </a:spcBef>
            </a:pPr>
            <a:r>
              <a:rPr lang="en-US" altLang="en-US"/>
              <a:t>Fault</a:t>
            </a:r>
          </a:p>
        </p:txBody>
      </p:sp>
      <p:sp>
        <p:nvSpPr>
          <p:cNvPr id="369687" name="Rectangle 23"/>
          <p:cNvSpPr>
            <a:spLocks noChangeArrowheads="1"/>
          </p:cNvSpPr>
          <p:nvPr/>
        </p:nvSpPr>
        <p:spPr bwMode="auto">
          <a:xfrm>
            <a:off x="2555875" y="4811713"/>
            <a:ext cx="18589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  Superimposed</a:t>
            </a:r>
            <a:endParaRPr lang="en-GB" altLang="en-US"/>
          </a:p>
        </p:txBody>
      </p:sp>
      <p:sp>
        <p:nvSpPr>
          <p:cNvPr id="369688" name="AutoShape 24"/>
          <p:cNvSpPr>
            <a:spLocks noChangeArrowheads="1"/>
          </p:cNvSpPr>
          <p:nvPr/>
        </p:nvSpPr>
        <p:spPr bwMode="auto">
          <a:xfrm>
            <a:off x="2017713" y="4803775"/>
            <a:ext cx="239712" cy="261938"/>
          </a:xfrm>
          <a:prstGeom prst="triangle">
            <a:avLst>
              <a:gd name="adj" fmla="val 49986"/>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689" name="AutoShape 25"/>
          <p:cNvSpPr>
            <a:spLocks noChangeArrowheads="1"/>
          </p:cNvSpPr>
          <p:nvPr/>
        </p:nvSpPr>
        <p:spPr bwMode="auto">
          <a:xfrm rot="21291964" flipV="1">
            <a:off x="5202238" y="4608513"/>
            <a:ext cx="508000" cy="241300"/>
          </a:xfrm>
          <a:prstGeom prst="rightArrow">
            <a:avLst>
              <a:gd name="adj1" fmla="val 50000"/>
              <a:gd name="adj2" fmla="val 52632"/>
            </a:avLst>
          </a:prstGeom>
          <a:solidFill>
            <a:srgbClr val="5F9E45"/>
          </a:solidFill>
          <a:ln w="12700">
            <a:solidFill>
              <a:srgbClr val="5F9E4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690" name="Line 26"/>
          <p:cNvSpPr>
            <a:spLocks noChangeShapeType="1"/>
          </p:cNvSpPr>
          <p:nvPr/>
        </p:nvSpPr>
        <p:spPr bwMode="auto">
          <a:xfrm>
            <a:off x="2952750" y="2120900"/>
            <a:ext cx="0" cy="873125"/>
          </a:xfrm>
          <a:prstGeom prst="line">
            <a:avLst/>
          </a:prstGeom>
          <a:noFill/>
          <a:ln w="38100">
            <a:solidFill>
              <a:srgbClr val="5F9E45"/>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69691" name="Rectangle 27"/>
          <p:cNvSpPr>
            <a:spLocks noChangeArrowheads="1"/>
          </p:cNvSpPr>
          <p:nvPr/>
        </p:nvSpPr>
        <p:spPr bwMode="auto">
          <a:xfrm>
            <a:off x="917575" y="2644775"/>
            <a:ext cx="1277938"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spcBef>
                <a:spcPct val="50000"/>
              </a:spcBef>
            </a:pPr>
            <a:r>
              <a:rPr lang="en-US" altLang="en-US"/>
              <a:t>Current:-</a:t>
            </a:r>
          </a:p>
        </p:txBody>
      </p:sp>
      <p:sp>
        <p:nvSpPr>
          <p:cNvPr id="369693" name="AutoShape 29"/>
          <p:cNvSpPr>
            <a:spLocks noChangeArrowheads="1"/>
          </p:cNvSpPr>
          <p:nvPr/>
        </p:nvSpPr>
        <p:spPr bwMode="auto">
          <a:xfrm>
            <a:off x="314325" y="1647825"/>
            <a:ext cx="8599488" cy="4652963"/>
          </a:xfrm>
          <a:prstGeom prst="roundRect">
            <a:avLst>
              <a:gd name="adj" fmla="val 16667"/>
            </a:avLst>
          </a:prstGeom>
          <a:noFill/>
          <a:ln w="19050">
            <a:solidFill>
              <a:schemeClr val="accent1"/>
            </a:solidFill>
            <a:round/>
            <a:headEnd/>
            <a:tailEnd/>
          </a:ln>
          <a:effectLst/>
          <a:extLst>
            <a:ext uri="{909E8E84-426E-40DD-AFC4-6F175D3DCCD1}">
              <a14:hiddenFill xmlns:a14="http://schemas.microsoft.com/office/drawing/2010/main">
                <a:solidFill>
                  <a:srgbClr val="FFEA8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5000"/>
              </a:lnSpc>
              <a:spcBef>
                <a:spcPct val="40000"/>
              </a:spcBef>
              <a:buClr>
                <a:schemeClr val="accent2"/>
              </a:buClr>
              <a:buSzPct val="130000"/>
            </a:pPr>
            <a:endParaRPr lang="de-DE" altLang="en-US">
              <a:solidFill>
                <a:schemeClr val="accent1"/>
              </a:solidFill>
            </a:endParaRPr>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US" altLang="en-US" sz="3600"/>
              <a:t>MiCOM P54x</a:t>
            </a:r>
            <a:br>
              <a:rPr lang="en-US" altLang="en-US" sz="3600"/>
            </a:br>
            <a:r>
              <a:rPr lang="en-US" altLang="en-US" sz="3600"/>
              <a:t>Superimposed Components</a:t>
            </a:r>
            <a:endParaRPr lang="en-GB" altLang="en-US" sz="3600"/>
          </a:p>
        </p:txBody>
      </p:sp>
      <p:sp>
        <p:nvSpPr>
          <p:cNvPr id="371716" name="Rectangle 4"/>
          <p:cNvSpPr>
            <a:spLocks noChangeArrowheads="1"/>
          </p:cNvSpPr>
          <p:nvPr/>
        </p:nvSpPr>
        <p:spPr bwMode="auto">
          <a:xfrm>
            <a:off x="6029325" y="5611813"/>
            <a:ext cx="1344613" cy="541337"/>
          </a:xfrm>
          <a:prstGeom prst="rect">
            <a:avLst/>
          </a:prstGeom>
          <a:solidFill>
            <a:schemeClr val="folHlink"/>
          </a:solidFill>
          <a:ln>
            <a:noFill/>
          </a:ln>
          <a:effectLst/>
          <a:extLs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1717" name="Rectangle 5"/>
          <p:cNvSpPr>
            <a:spLocks noChangeArrowheads="1"/>
          </p:cNvSpPr>
          <p:nvPr/>
        </p:nvSpPr>
        <p:spPr bwMode="auto">
          <a:xfrm>
            <a:off x="1758950" y="2976563"/>
            <a:ext cx="304800" cy="360362"/>
          </a:xfrm>
          <a:prstGeom prst="rect">
            <a:avLst/>
          </a:prstGeom>
          <a:solidFill>
            <a:schemeClr val="folHlink"/>
          </a:solidFill>
          <a:ln>
            <a:noFill/>
          </a:ln>
          <a:effectLst/>
          <a:extLs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1718" name="Rectangle 6"/>
          <p:cNvSpPr>
            <a:spLocks noChangeArrowheads="1"/>
          </p:cNvSpPr>
          <p:nvPr/>
        </p:nvSpPr>
        <p:spPr bwMode="auto">
          <a:xfrm>
            <a:off x="1581150" y="4154488"/>
            <a:ext cx="303213" cy="360362"/>
          </a:xfrm>
          <a:prstGeom prst="rect">
            <a:avLst/>
          </a:prstGeom>
          <a:solidFill>
            <a:schemeClr val="folHlink"/>
          </a:solidFill>
          <a:ln>
            <a:noFill/>
          </a:ln>
          <a:effectLst/>
          <a:extLs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371719" name="Object 7">
            <a:hlinkClick r:id="" action="ppaction://ole?verb=0"/>
          </p:cNvPr>
          <p:cNvGraphicFramePr>
            <a:graphicFrameLocks/>
          </p:cNvGraphicFramePr>
          <p:nvPr/>
        </p:nvGraphicFramePr>
        <p:xfrm>
          <a:off x="1520825" y="1436688"/>
          <a:ext cx="6313488" cy="4719637"/>
        </p:xfrm>
        <a:graphic>
          <a:graphicData uri="http://schemas.openxmlformats.org/presentationml/2006/ole">
            <mc:AlternateContent xmlns:mc="http://schemas.openxmlformats.org/markup-compatibility/2006">
              <mc:Choice xmlns:v="urn:schemas-microsoft-com:vml" Requires="v">
                <p:oleObj spid="_x0000_s371825" name="VISIO" r:id="rId4" imgW="7233480" imgH="6040440" progId="Visio.Drawing.5">
                  <p:embed/>
                </p:oleObj>
              </mc:Choice>
              <mc:Fallback>
                <p:oleObj name="VISIO" r:id="rId4" imgW="7233480" imgH="6040440" progId="Visio.Drawing.5">
                  <p:embed/>
                  <p:pic>
                    <p:nvPicPr>
                      <p:cNvPr id="0"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0825" y="1436688"/>
                        <a:ext cx="6313488" cy="4719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1720" name="Line 8"/>
          <p:cNvSpPr>
            <a:spLocks noChangeShapeType="1"/>
          </p:cNvSpPr>
          <p:nvPr/>
        </p:nvSpPr>
        <p:spPr bwMode="auto">
          <a:xfrm>
            <a:off x="2257425" y="5205413"/>
            <a:ext cx="3292475" cy="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21" name="Text Box 9"/>
          <p:cNvSpPr txBox="1">
            <a:spLocks noChangeArrowheads="1"/>
          </p:cNvSpPr>
          <p:nvPr/>
        </p:nvSpPr>
        <p:spPr bwMode="auto">
          <a:xfrm>
            <a:off x="3324225" y="4860925"/>
            <a:ext cx="1679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i="1">
                <a:solidFill>
                  <a:schemeClr val="tx2"/>
                </a:solidFill>
              </a:rPr>
              <a:t>2 cycle window</a:t>
            </a:r>
          </a:p>
        </p:txBody>
      </p:sp>
      <p:sp>
        <p:nvSpPr>
          <p:cNvPr id="371723" name="AutoShape 11"/>
          <p:cNvSpPr>
            <a:spLocks noChangeArrowheads="1"/>
          </p:cNvSpPr>
          <p:nvPr/>
        </p:nvSpPr>
        <p:spPr bwMode="auto">
          <a:xfrm>
            <a:off x="314325" y="1203325"/>
            <a:ext cx="8599488" cy="5173663"/>
          </a:xfrm>
          <a:prstGeom prst="roundRect">
            <a:avLst>
              <a:gd name="adj" fmla="val 16667"/>
            </a:avLst>
          </a:prstGeom>
          <a:noFill/>
          <a:ln w="19050">
            <a:solidFill>
              <a:schemeClr val="accent1"/>
            </a:solidFill>
            <a:round/>
            <a:headEnd/>
            <a:tailEnd/>
          </a:ln>
          <a:effectLst/>
          <a:extLst>
            <a:ext uri="{909E8E84-426E-40DD-AFC4-6F175D3DCCD1}">
              <a14:hiddenFill xmlns:a14="http://schemas.microsoft.com/office/drawing/2010/main">
                <a:solidFill>
                  <a:srgbClr val="FFEA8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5000"/>
              </a:lnSpc>
              <a:spcBef>
                <a:spcPct val="40000"/>
              </a:spcBef>
              <a:buClr>
                <a:schemeClr val="accent2"/>
              </a:buClr>
              <a:buSzPct val="130000"/>
            </a:pPr>
            <a:endParaRPr lang="de-DE" altLang="en-US">
              <a:solidFill>
                <a:schemeClr val="accent1"/>
              </a:solidFill>
            </a:endParaRP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US" altLang="en-US" sz="3600" dirty="0" err="1"/>
              <a:t>MiCOM</a:t>
            </a:r>
            <a:r>
              <a:rPr lang="en-US" altLang="en-US" sz="3600" dirty="0"/>
              <a:t> P54x/P44X</a:t>
            </a:r>
            <a:br>
              <a:rPr lang="en-US" altLang="en-US" sz="3600" dirty="0"/>
            </a:br>
            <a:r>
              <a:rPr lang="en-US" altLang="en-US" sz="3600" dirty="0"/>
              <a:t>Distance Zones, Mho Characteristics</a:t>
            </a:r>
            <a:endParaRPr lang="en-GB" altLang="en-US" sz="3600" dirty="0"/>
          </a:p>
        </p:txBody>
      </p:sp>
      <p:grpSp>
        <p:nvGrpSpPr>
          <p:cNvPr id="373764" name="Group 4"/>
          <p:cNvGrpSpPr>
            <a:grpSpLocks noChangeAspect="1"/>
          </p:cNvGrpSpPr>
          <p:nvPr/>
        </p:nvGrpSpPr>
        <p:grpSpPr bwMode="auto">
          <a:xfrm>
            <a:off x="5656263" y="2274888"/>
            <a:ext cx="2806700" cy="3919537"/>
            <a:chOff x="707" y="902"/>
            <a:chExt cx="2155" cy="3054"/>
          </a:xfrm>
        </p:grpSpPr>
        <p:sp>
          <p:nvSpPr>
            <p:cNvPr id="373765" name="Oval 5"/>
            <p:cNvSpPr>
              <a:spLocks noChangeAspect="1" noChangeArrowheads="1"/>
            </p:cNvSpPr>
            <p:nvPr/>
          </p:nvSpPr>
          <p:spPr bwMode="auto">
            <a:xfrm>
              <a:off x="1596" y="1090"/>
              <a:ext cx="1055" cy="1071"/>
            </a:xfrm>
            <a:prstGeom prst="ellipse">
              <a:avLst/>
            </a:prstGeom>
            <a:solidFill>
              <a:srgbClr val="00AE00"/>
            </a:solidFill>
            <a:ln w="25400">
              <a:solidFill>
                <a:srgbClr val="DCFFD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3766" name="Oval 6"/>
            <p:cNvSpPr>
              <a:spLocks noChangeAspect="1" noChangeArrowheads="1"/>
            </p:cNvSpPr>
            <p:nvPr/>
          </p:nvSpPr>
          <p:spPr bwMode="auto">
            <a:xfrm>
              <a:off x="1582" y="1496"/>
              <a:ext cx="969" cy="966"/>
            </a:xfrm>
            <a:prstGeom prst="ellipse">
              <a:avLst/>
            </a:prstGeom>
            <a:solidFill>
              <a:srgbClr val="D93192"/>
            </a:solidFill>
            <a:ln w="25400">
              <a:solidFill>
                <a:srgbClr val="FED8E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3767" name="Oval 7"/>
            <p:cNvSpPr>
              <a:spLocks noChangeAspect="1" noChangeArrowheads="1"/>
            </p:cNvSpPr>
            <p:nvPr/>
          </p:nvSpPr>
          <p:spPr bwMode="auto">
            <a:xfrm>
              <a:off x="1680" y="1746"/>
              <a:ext cx="671" cy="697"/>
            </a:xfrm>
            <a:prstGeom prst="ellipse">
              <a:avLst/>
            </a:prstGeom>
            <a:solidFill>
              <a:srgbClr val="3365FB"/>
            </a:solidFill>
            <a:ln w="25400">
              <a:solidFill>
                <a:srgbClr val="D6FFFB"/>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3768" name="Oval 8"/>
            <p:cNvSpPr>
              <a:spLocks noChangeAspect="1" noChangeArrowheads="1"/>
            </p:cNvSpPr>
            <p:nvPr/>
          </p:nvSpPr>
          <p:spPr bwMode="auto">
            <a:xfrm>
              <a:off x="1721" y="1979"/>
              <a:ext cx="458" cy="464"/>
            </a:xfrm>
            <a:prstGeom prst="ellipse">
              <a:avLst/>
            </a:prstGeom>
            <a:solidFill>
              <a:srgbClr val="767900"/>
            </a:solidFill>
            <a:ln w="25400">
              <a:solidFill>
                <a:srgbClr val="FAFD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3769" name="Oval 9"/>
            <p:cNvSpPr>
              <a:spLocks noChangeAspect="1" noChangeArrowheads="1"/>
            </p:cNvSpPr>
            <p:nvPr/>
          </p:nvSpPr>
          <p:spPr bwMode="auto">
            <a:xfrm>
              <a:off x="947" y="2426"/>
              <a:ext cx="1449" cy="1471"/>
            </a:xfrm>
            <a:prstGeom prst="ellipse">
              <a:avLst/>
            </a:prstGeom>
            <a:solidFill>
              <a:srgbClr val="AD6900"/>
            </a:solidFill>
            <a:ln w="25400">
              <a:solidFill>
                <a:srgbClr val="FDE3BA"/>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3770" name="Rectangle 10"/>
            <p:cNvSpPr>
              <a:spLocks noChangeAspect="1" noChangeArrowheads="1"/>
            </p:cNvSpPr>
            <p:nvPr/>
          </p:nvSpPr>
          <p:spPr bwMode="auto">
            <a:xfrm>
              <a:off x="2166" y="1165"/>
              <a:ext cx="366" cy="3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000" b="1">
                  <a:solidFill>
                    <a:schemeClr val="bg1"/>
                  </a:solidFill>
                </a:rPr>
                <a:t>Z3</a:t>
              </a:r>
            </a:p>
          </p:txBody>
        </p:sp>
        <p:sp>
          <p:nvSpPr>
            <p:cNvPr id="373771" name="Rectangle 11"/>
            <p:cNvSpPr>
              <a:spLocks noChangeAspect="1" noChangeArrowheads="1"/>
            </p:cNvSpPr>
            <p:nvPr/>
          </p:nvSpPr>
          <p:spPr bwMode="auto">
            <a:xfrm>
              <a:off x="2053" y="1532"/>
              <a:ext cx="373" cy="30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000" b="1">
                  <a:solidFill>
                    <a:schemeClr val="bg1"/>
                  </a:solidFill>
                </a:rPr>
                <a:t>Zp</a:t>
              </a:r>
            </a:p>
          </p:txBody>
        </p:sp>
        <p:sp>
          <p:nvSpPr>
            <p:cNvPr id="373772" name="Rectangle 12"/>
            <p:cNvSpPr>
              <a:spLocks noChangeAspect="1" noChangeArrowheads="1"/>
            </p:cNvSpPr>
            <p:nvPr/>
          </p:nvSpPr>
          <p:spPr bwMode="auto">
            <a:xfrm>
              <a:off x="1850" y="1760"/>
              <a:ext cx="364" cy="3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000" b="1">
                  <a:solidFill>
                    <a:schemeClr val="bg1"/>
                  </a:solidFill>
                </a:rPr>
                <a:t>Z2</a:t>
              </a:r>
            </a:p>
          </p:txBody>
        </p:sp>
        <p:sp>
          <p:nvSpPr>
            <p:cNvPr id="373773" name="Rectangle 13"/>
            <p:cNvSpPr>
              <a:spLocks noChangeAspect="1" noChangeArrowheads="1"/>
            </p:cNvSpPr>
            <p:nvPr/>
          </p:nvSpPr>
          <p:spPr bwMode="auto">
            <a:xfrm>
              <a:off x="1855" y="2169"/>
              <a:ext cx="337" cy="30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000" b="1">
                  <a:solidFill>
                    <a:schemeClr val="bg1"/>
                  </a:solidFill>
                </a:rPr>
                <a:t>Z1</a:t>
              </a:r>
            </a:p>
          </p:txBody>
        </p:sp>
        <p:sp>
          <p:nvSpPr>
            <p:cNvPr id="373774" name="Rectangle 14"/>
            <p:cNvSpPr>
              <a:spLocks noChangeAspect="1" noChangeArrowheads="1"/>
            </p:cNvSpPr>
            <p:nvPr/>
          </p:nvSpPr>
          <p:spPr bwMode="auto">
            <a:xfrm>
              <a:off x="1337" y="3571"/>
              <a:ext cx="374" cy="3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000" b="1">
                  <a:solidFill>
                    <a:schemeClr val="bg1"/>
                  </a:solidFill>
                </a:rPr>
                <a:t>Z4</a:t>
              </a:r>
            </a:p>
          </p:txBody>
        </p:sp>
        <p:sp>
          <p:nvSpPr>
            <p:cNvPr id="373775" name="Line 15"/>
            <p:cNvSpPr>
              <a:spLocks noChangeAspect="1" noChangeShapeType="1"/>
            </p:cNvSpPr>
            <p:nvPr/>
          </p:nvSpPr>
          <p:spPr bwMode="auto">
            <a:xfrm>
              <a:off x="1852" y="902"/>
              <a:ext cx="0" cy="3054"/>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3776" name="Line 16"/>
            <p:cNvSpPr>
              <a:spLocks noChangeAspect="1" noChangeShapeType="1"/>
            </p:cNvSpPr>
            <p:nvPr/>
          </p:nvSpPr>
          <p:spPr bwMode="auto">
            <a:xfrm flipV="1">
              <a:off x="707" y="2464"/>
              <a:ext cx="215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73780" name="Rectangle 20"/>
          <p:cNvSpPr>
            <a:spLocks noChangeArrowheads="1"/>
          </p:cNvSpPr>
          <p:nvPr/>
        </p:nvSpPr>
        <p:spPr bwMode="auto">
          <a:xfrm>
            <a:off x="431800" y="1506538"/>
            <a:ext cx="8477250" cy="3694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D1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18000" bIns="10800"/>
          <a:lstStyle>
            <a:lvl1pPr marL="180975" indent="-180975" algn="l">
              <a:spcBef>
                <a:spcPct val="20000"/>
              </a:spcBef>
              <a:buClr>
                <a:schemeClr val="accent1"/>
              </a:buClr>
              <a:buFont typeface="Arial" panose="020B0604020202020204" pitchFamily="34" charset="0"/>
              <a:buChar char="●"/>
              <a:defRPr sz="2000">
                <a:solidFill>
                  <a:schemeClr val="accent1"/>
                </a:solidFill>
                <a:latin typeface="SEOptimist" pitchFamily="2" charset="0"/>
              </a:defRPr>
            </a:lvl1pPr>
            <a:lvl2pPr marL="541338" indent="-180975" algn="l">
              <a:spcBef>
                <a:spcPct val="20000"/>
              </a:spcBef>
              <a:buClr>
                <a:schemeClr val="bg2"/>
              </a:buClr>
              <a:buFont typeface="Arial" panose="020B0604020202020204" pitchFamily="34" charset="0"/>
              <a:buChar char="●"/>
              <a:defRPr>
                <a:solidFill>
                  <a:schemeClr val="bg2"/>
                </a:solidFill>
                <a:latin typeface="SEOptimist" pitchFamily="2" charset="0"/>
              </a:defRPr>
            </a:lvl2pPr>
            <a:lvl3pPr marL="990600" indent="-173038" algn="l">
              <a:spcBef>
                <a:spcPct val="20000"/>
              </a:spcBef>
              <a:buClr>
                <a:schemeClr val="bg2"/>
              </a:buClr>
              <a:buFont typeface="Arial" panose="020B0604020202020204" pitchFamily="34" charset="0"/>
              <a:buChar char="●"/>
              <a:defRPr sz="1600">
                <a:solidFill>
                  <a:schemeClr val="bg2"/>
                </a:solidFill>
                <a:latin typeface="SEOptimist" pitchFamily="2" charset="0"/>
              </a:defRPr>
            </a:lvl3pPr>
            <a:lvl4pPr marL="1751013" indent="-228600" algn="l">
              <a:spcBef>
                <a:spcPct val="20000"/>
              </a:spcBef>
              <a:buChar char="–"/>
              <a:defRPr sz="2000">
                <a:solidFill>
                  <a:schemeClr val="tx1"/>
                </a:solidFill>
                <a:latin typeface="Arial" panose="020B0604020202020204" pitchFamily="34" charset="0"/>
              </a:defRPr>
            </a:lvl4pPr>
            <a:lvl5pPr marL="2159000" indent="-228600" algn="l">
              <a:spcBef>
                <a:spcPct val="20000"/>
              </a:spcBef>
              <a:buChar char="»"/>
              <a:defRPr sz="2000">
                <a:solidFill>
                  <a:schemeClr val="tx1"/>
                </a:solidFill>
                <a:latin typeface="Arial" panose="020B0604020202020204" pitchFamily="34" charset="0"/>
              </a:defRPr>
            </a:lvl5pPr>
            <a:lvl6pPr marL="2616200" indent="-228600" fontAlgn="base">
              <a:spcBef>
                <a:spcPct val="20000"/>
              </a:spcBef>
              <a:spcAft>
                <a:spcPct val="0"/>
              </a:spcAft>
              <a:buChar char="»"/>
              <a:defRPr sz="2000">
                <a:solidFill>
                  <a:schemeClr val="tx1"/>
                </a:solidFill>
                <a:latin typeface="Arial" panose="020B0604020202020204" pitchFamily="34" charset="0"/>
              </a:defRPr>
            </a:lvl6pPr>
            <a:lvl7pPr marL="3073400" indent="-228600" fontAlgn="base">
              <a:spcBef>
                <a:spcPct val="20000"/>
              </a:spcBef>
              <a:spcAft>
                <a:spcPct val="0"/>
              </a:spcAft>
              <a:buChar char="»"/>
              <a:defRPr sz="2000">
                <a:solidFill>
                  <a:schemeClr val="tx1"/>
                </a:solidFill>
                <a:latin typeface="Arial" panose="020B0604020202020204" pitchFamily="34" charset="0"/>
              </a:defRPr>
            </a:lvl7pPr>
            <a:lvl8pPr marL="3530600" indent="-228600" fontAlgn="base">
              <a:spcBef>
                <a:spcPct val="20000"/>
              </a:spcBef>
              <a:spcAft>
                <a:spcPct val="0"/>
              </a:spcAft>
              <a:buChar char="»"/>
              <a:defRPr sz="2000">
                <a:solidFill>
                  <a:schemeClr val="tx1"/>
                </a:solidFill>
                <a:latin typeface="Arial" panose="020B0604020202020204" pitchFamily="34" charset="0"/>
              </a:defRPr>
            </a:lvl8pPr>
            <a:lvl9pPr marL="3987800" indent="-228600" fontAlgn="base">
              <a:spcBef>
                <a:spcPct val="20000"/>
              </a:spcBef>
              <a:spcAft>
                <a:spcPct val="0"/>
              </a:spcAft>
              <a:buChar char="»"/>
              <a:defRPr sz="2000">
                <a:solidFill>
                  <a:schemeClr val="tx1"/>
                </a:solidFill>
                <a:latin typeface="Arial" panose="020B0604020202020204" pitchFamily="34" charset="0"/>
              </a:defRPr>
            </a:lvl9pPr>
          </a:lstStyle>
          <a:p>
            <a:pPr marL="0" indent="0">
              <a:lnSpc>
                <a:spcPct val="110000"/>
              </a:lnSpc>
              <a:buClr>
                <a:srgbClr val="C4122F"/>
              </a:buClr>
              <a:buSzPct val="130000"/>
              <a:buNone/>
            </a:pPr>
            <a:r>
              <a:rPr lang="fr-FR" altLang="en-US" dirty="0">
                <a:latin typeface="Arial" panose="020B0604020202020204" pitchFamily="34" charset="0"/>
                <a:cs typeface="Arial" panose="020B0604020202020204" pitchFamily="34" charset="0"/>
              </a:rPr>
              <a:t>Avalable for Phase and Ground Protection (21P and 21G)</a:t>
            </a:r>
          </a:p>
          <a:p>
            <a:pPr eaLnBrk="1" hangingPunct="1"/>
            <a:r>
              <a:rPr lang="en-US" altLang="en-US" dirty="0">
                <a:latin typeface="Arial" panose="020B0604020202020204" pitchFamily="34" charset="0"/>
                <a:cs typeface="Arial" panose="020B0604020202020204" pitchFamily="34" charset="0"/>
              </a:rPr>
              <a:t>Three independent Forward zones</a:t>
            </a:r>
            <a:endParaRPr lang="fr-FR" altLang="en-US" dirty="0">
              <a:latin typeface="Arial" panose="020B0604020202020204" pitchFamily="34" charset="0"/>
              <a:cs typeface="Arial" panose="020B0604020202020204" pitchFamily="34" charset="0"/>
            </a:endParaRPr>
          </a:p>
          <a:p>
            <a:pPr lvl="1" eaLnBrk="1" hangingPunct="1"/>
            <a:r>
              <a:rPr lang="en-GB" altLang="en-US" sz="2000" dirty="0">
                <a:solidFill>
                  <a:schemeClr val="accent1"/>
                </a:solidFill>
                <a:latin typeface="Arial" panose="020B0604020202020204" pitchFamily="34" charset="0"/>
                <a:cs typeface="Arial" panose="020B0604020202020204" pitchFamily="34" charset="0"/>
              </a:rPr>
              <a:t> </a:t>
            </a:r>
            <a:r>
              <a:rPr lang="en-US" altLang="en-US" sz="2000" dirty="0">
                <a:solidFill>
                  <a:schemeClr val="accent1"/>
                </a:solidFill>
                <a:latin typeface="Arial" panose="020B0604020202020204" pitchFamily="34" charset="0"/>
                <a:cs typeface="Arial" panose="020B0604020202020204" pitchFamily="34" charset="0"/>
              </a:rPr>
              <a:t>Z1, Z2, Z3 </a:t>
            </a:r>
          </a:p>
          <a:p>
            <a:pPr lvl="1" eaLnBrk="1" hangingPunct="1"/>
            <a:r>
              <a:rPr lang="en-US" altLang="en-US" sz="2000" dirty="0">
                <a:solidFill>
                  <a:schemeClr val="accent1"/>
                </a:solidFill>
                <a:latin typeface="Arial" panose="020B0604020202020204" pitchFamily="34" charset="0"/>
                <a:cs typeface="Arial" panose="020B0604020202020204" pitchFamily="34" charset="0"/>
              </a:rPr>
              <a:t>Z3 optional forward/reverse offset</a:t>
            </a:r>
            <a:endParaRPr lang="en-GB" altLang="en-US" sz="2000" dirty="0">
              <a:solidFill>
                <a:schemeClr val="accent1"/>
              </a:solidFill>
              <a:latin typeface="Arial" panose="020B0604020202020204" pitchFamily="34" charset="0"/>
              <a:cs typeface="Arial" panose="020B0604020202020204" pitchFamily="34" charset="0"/>
            </a:endParaRPr>
          </a:p>
          <a:p>
            <a:pPr eaLnBrk="1" hangingPunct="1"/>
            <a:r>
              <a:rPr lang="en-US" altLang="en-US" dirty="0">
                <a:latin typeface="Arial" panose="020B0604020202020204" pitchFamily="34" charset="0"/>
                <a:cs typeface="Arial" panose="020B0604020202020204" pitchFamily="34" charset="0"/>
              </a:rPr>
              <a:t>One Reverse zone</a:t>
            </a:r>
            <a:endParaRPr lang="en-GB" altLang="en-US" dirty="0">
              <a:latin typeface="Arial" panose="020B0604020202020204" pitchFamily="34" charset="0"/>
              <a:cs typeface="Arial" panose="020B0604020202020204" pitchFamily="34" charset="0"/>
            </a:endParaRPr>
          </a:p>
          <a:p>
            <a:pPr lvl="1" eaLnBrk="1" hangingPunct="1"/>
            <a:r>
              <a:rPr lang="en-US" altLang="en-US" sz="2000" dirty="0">
                <a:solidFill>
                  <a:schemeClr val="accent1"/>
                </a:solidFill>
                <a:latin typeface="Arial" panose="020B0604020202020204" pitchFamily="34" charset="0"/>
                <a:cs typeface="Arial" panose="020B0604020202020204" pitchFamily="34" charset="0"/>
              </a:rPr>
              <a:t>Z4</a:t>
            </a:r>
            <a:endParaRPr lang="en-GB" altLang="en-US" sz="2000" dirty="0">
              <a:solidFill>
                <a:schemeClr val="accent1"/>
              </a:solidFill>
              <a:latin typeface="Arial" panose="020B0604020202020204" pitchFamily="34" charset="0"/>
              <a:cs typeface="Arial" panose="020B0604020202020204" pitchFamily="34" charset="0"/>
            </a:endParaRPr>
          </a:p>
          <a:p>
            <a:pPr eaLnBrk="1" hangingPunct="1"/>
            <a:r>
              <a:rPr lang="en-US" altLang="en-US" dirty="0">
                <a:latin typeface="Arial" panose="020B0604020202020204" pitchFamily="34" charset="0"/>
                <a:cs typeface="Arial" panose="020B0604020202020204" pitchFamily="34" charset="0"/>
              </a:rPr>
              <a:t>Programmable </a:t>
            </a:r>
            <a:r>
              <a:rPr lang="en-US" altLang="en-US" dirty="0" err="1">
                <a:latin typeface="Arial" panose="020B0604020202020204" pitchFamily="34" charset="0"/>
                <a:cs typeface="Arial" panose="020B0604020202020204" pitchFamily="34" charset="0"/>
              </a:rPr>
              <a:t>Fwd</a:t>
            </a:r>
            <a:r>
              <a:rPr lang="en-US" altLang="en-US" dirty="0">
                <a:latin typeface="Arial" panose="020B0604020202020204" pitchFamily="34" charset="0"/>
                <a:cs typeface="Arial" panose="020B0604020202020204" pitchFamily="34" charset="0"/>
              </a:rPr>
              <a:t>/Rev zone</a:t>
            </a:r>
            <a:endParaRPr lang="en-GB" altLang="en-US" dirty="0">
              <a:latin typeface="Arial" panose="020B0604020202020204" pitchFamily="34" charset="0"/>
              <a:cs typeface="Arial" panose="020B0604020202020204" pitchFamily="34" charset="0"/>
            </a:endParaRPr>
          </a:p>
          <a:p>
            <a:pPr lvl="1" eaLnBrk="1" hangingPunct="1"/>
            <a:r>
              <a:rPr lang="en-US" altLang="en-US" sz="2000" dirty="0">
                <a:solidFill>
                  <a:schemeClr val="accent1"/>
                </a:solidFill>
                <a:latin typeface="Arial" panose="020B0604020202020204" pitchFamily="34" charset="0"/>
                <a:cs typeface="Arial" panose="020B0604020202020204" pitchFamily="34" charset="0"/>
              </a:rPr>
              <a:t>Zone p</a:t>
            </a:r>
            <a:endParaRPr lang="en-GB" altLang="en-US" sz="2000" dirty="0">
              <a:solidFill>
                <a:schemeClr val="accent1"/>
              </a:solidFill>
              <a:latin typeface="Arial" panose="020B0604020202020204" pitchFamily="34" charset="0"/>
              <a:cs typeface="Arial" panose="020B0604020202020204" pitchFamily="34" charset="0"/>
            </a:endParaRPr>
          </a:p>
          <a:p>
            <a:pPr eaLnBrk="1" hangingPunct="1">
              <a:buClr>
                <a:schemeClr val="bg2"/>
              </a:buClr>
            </a:pPr>
            <a:endParaRPr lang="fr-FR" altLang="en-US" dirty="0">
              <a:solidFill>
                <a:schemeClr val="bg2"/>
              </a:solidFill>
            </a:endParaRPr>
          </a:p>
          <a:p>
            <a:pPr lvl="1" eaLnBrk="1" hangingPunct="1">
              <a:lnSpc>
                <a:spcPct val="90000"/>
              </a:lnSpc>
            </a:pPr>
            <a:endParaRPr lang="en-GB" altLang="en-US" sz="2000" dirty="0"/>
          </a:p>
        </p:txBody>
      </p:sp>
      <p:sp>
        <p:nvSpPr>
          <p:cNvPr id="373781" name="AutoShape 21"/>
          <p:cNvSpPr>
            <a:spLocks noChangeArrowheads="1"/>
          </p:cNvSpPr>
          <p:nvPr/>
        </p:nvSpPr>
        <p:spPr bwMode="auto">
          <a:xfrm>
            <a:off x="4975225" y="2066925"/>
            <a:ext cx="3938588" cy="4386263"/>
          </a:xfrm>
          <a:prstGeom prst="roundRect">
            <a:avLst>
              <a:gd name="adj" fmla="val 16667"/>
            </a:avLst>
          </a:prstGeom>
          <a:noFill/>
          <a:ln w="19050">
            <a:solidFill>
              <a:schemeClr val="accent1"/>
            </a:solidFill>
            <a:round/>
            <a:headEnd/>
            <a:tailEnd/>
          </a:ln>
          <a:effectLst/>
          <a:extLst>
            <a:ext uri="{909E8E84-426E-40DD-AFC4-6F175D3DCCD1}">
              <a14:hiddenFill xmlns:a14="http://schemas.microsoft.com/office/drawing/2010/main">
                <a:solidFill>
                  <a:srgbClr val="FFEA8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5000"/>
              </a:lnSpc>
              <a:spcBef>
                <a:spcPct val="40000"/>
              </a:spcBef>
              <a:buClr>
                <a:schemeClr val="accent2"/>
              </a:buClr>
              <a:buSzPct val="130000"/>
            </a:pPr>
            <a:endParaRPr lang="de-DE" altLang="en-US">
              <a:solidFill>
                <a:schemeClr val="accent1"/>
              </a:solidFill>
            </a:endParaRPr>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6"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US" altLang="en-US" sz="3600" dirty="0"/>
              <a:t>Distance Zones, </a:t>
            </a:r>
            <a:r>
              <a:rPr lang="en-US" altLang="en-US" sz="3600" dirty="0" err="1"/>
              <a:t>Quatrilateral</a:t>
            </a:r>
            <a:r>
              <a:rPr lang="en-US" altLang="en-US" sz="3600" dirty="0"/>
              <a:t> Characteristics</a:t>
            </a:r>
            <a:endParaRPr lang="en-GB" altLang="en-US" sz="3600" dirty="0"/>
          </a:p>
        </p:txBody>
      </p:sp>
      <p:sp>
        <p:nvSpPr>
          <p:cNvPr id="1040400" name="Rectangle 16"/>
          <p:cNvSpPr>
            <a:spLocks noChangeArrowheads="1"/>
          </p:cNvSpPr>
          <p:nvPr/>
        </p:nvSpPr>
        <p:spPr bwMode="auto">
          <a:xfrm>
            <a:off x="431800" y="1506538"/>
            <a:ext cx="8477250" cy="3694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D1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18000" bIns="10800"/>
          <a:lstStyle/>
          <a:p>
            <a:pPr algn="l">
              <a:lnSpc>
                <a:spcPct val="110000"/>
              </a:lnSpc>
              <a:spcBef>
                <a:spcPct val="20000"/>
              </a:spcBef>
              <a:buClr>
                <a:srgbClr val="C4122F"/>
              </a:buClr>
              <a:buSzPct val="130000"/>
              <a:buFont typeface="Arial" panose="020B0604020202020204" pitchFamily="34" charset="0"/>
              <a:buNone/>
            </a:pPr>
            <a:r>
              <a:rPr lang="fr-FR" altLang="en-US" sz="2000" dirty="0">
                <a:solidFill>
                  <a:schemeClr val="accent1"/>
                </a:solidFill>
                <a:latin typeface="Arial" panose="020B0604020202020204" pitchFamily="34" charset="0"/>
                <a:cs typeface="Arial" panose="020B0604020202020204" pitchFamily="34" charset="0"/>
              </a:rPr>
              <a:t>Avalable for Phase and Ground Protection (21P and 21G)</a:t>
            </a:r>
          </a:p>
          <a:p>
            <a:pPr algn="l">
              <a:lnSpc>
                <a:spcPct val="110000"/>
              </a:lnSpc>
              <a:spcBef>
                <a:spcPct val="20000"/>
              </a:spcBef>
              <a:buClr>
                <a:srgbClr val="C4122F"/>
              </a:buClr>
              <a:buSzPct val="130000"/>
              <a:buFont typeface="Arial" panose="020B0604020202020204" pitchFamily="34" charset="0"/>
              <a:buNone/>
            </a:pPr>
            <a:r>
              <a:rPr lang="en-US" altLang="en-US" sz="2000" dirty="0">
                <a:solidFill>
                  <a:schemeClr val="accent1"/>
                </a:solidFill>
                <a:latin typeface="Arial" panose="020B0604020202020204" pitchFamily="34" charset="0"/>
                <a:cs typeface="Arial" panose="020B0604020202020204" pitchFamily="34" charset="0"/>
              </a:rPr>
              <a:t>Independently selectable</a:t>
            </a:r>
            <a:endParaRPr lang="fr-FR" altLang="en-US" sz="2000" dirty="0">
              <a:solidFill>
                <a:schemeClr val="accent1"/>
              </a:solidFill>
              <a:latin typeface="Arial" panose="020B0604020202020204" pitchFamily="34" charset="0"/>
              <a:cs typeface="Arial" panose="020B0604020202020204" pitchFamily="34" charset="0"/>
            </a:endParaRPr>
          </a:p>
          <a:p>
            <a:pPr marL="541338" lvl="1" indent="-180975" algn="l" eaLnBrk="1" hangingPunct="1">
              <a:spcBef>
                <a:spcPct val="20000"/>
              </a:spcBef>
              <a:buClr>
                <a:schemeClr val="bg2"/>
              </a:buClr>
              <a:buFont typeface="Arial" panose="020B0604020202020204" pitchFamily="34" charset="0"/>
              <a:buChar char="●"/>
            </a:pPr>
            <a:r>
              <a:rPr lang="en-GB" altLang="en-US" sz="2000" dirty="0">
                <a:solidFill>
                  <a:schemeClr val="accent1"/>
                </a:solidFill>
                <a:latin typeface="Arial" panose="020B0604020202020204" pitchFamily="34" charset="0"/>
                <a:cs typeface="Arial" panose="020B0604020202020204" pitchFamily="34" charset="0"/>
              </a:rPr>
              <a:t> </a:t>
            </a:r>
            <a:r>
              <a:rPr lang="en-US" altLang="en-US" sz="2000" dirty="0" err="1">
                <a:solidFill>
                  <a:schemeClr val="accent1"/>
                </a:solidFill>
                <a:latin typeface="Arial" panose="020B0604020202020204" pitchFamily="34" charset="0"/>
                <a:cs typeface="Arial" panose="020B0604020202020204" pitchFamily="34" charset="0"/>
              </a:rPr>
              <a:t>eg</a:t>
            </a:r>
            <a:r>
              <a:rPr lang="en-US" altLang="en-US" sz="2000" dirty="0">
                <a:solidFill>
                  <a:schemeClr val="accent1"/>
                </a:solidFill>
                <a:latin typeface="Arial" panose="020B0604020202020204" pitchFamily="34" charset="0"/>
                <a:cs typeface="Arial" panose="020B0604020202020204" pitchFamily="34" charset="0"/>
              </a:rPr>
              <a:t>. Mho phase + quad </a:t>
            </a:r>
            <a:br>
              <a:rPr lang="en-US" altLang="en-US" sz="2000" dirty="0">
                <a:solidFill>
                  <a:schemeClr val="accent1"/>
                </a:solidFill>
                <a:latin typeface="Arial" panose="020B0604020202020204" pitchFamily="34" charset="0"/>
                <a:cs typeface="Arial" panose="020B0604020202020204" pitchFamily="34" charset="0"/>
              </a:rPr>
            </a:br>
            <a:r>
              <a:rPr lang="en-US" altLang="en-US" sz="2000" dirty="0">
                <a:solidFill>
                  <a:schemeClr val="accent1"/>
                </a:solidFill>
                <a:latin typeface="Arial" panose="020B0604020202020204" pitchFamily="34" charset="0"/>
                <a:cs typeface="Arial" panose="020B0604020202020204" pitchFamily="34" charset="0"/>
              </a:rPr>
              <a:t>ground fault</a:t>
            </a:r>
            <a:endParaRPr lang="fr-FR" altLang="en-US" sz="2000" dirty="0">
              <a:solidFill>
                <a:schemeClr val="accent1"/>
              </a:solidFill>
              <a:latin typeface="Arial" panose="020B0604020202020204" pitchFamily="34" charset="0"/>
              <a:cs typeface="Arial" panose="020B0604020202020204" pitchFamily="34" charset="0"/>
            </a:endParaRPr>
          </a:p>
          <a:p>
            <a:pPr marL="541338" lvl="1" indent="-180975" algn="l" eaLnBrk="1" hangingPunct="1">
              <a:spcBef>
                <a:spcPct val="20000"/>
              </a:spcBef>
              <a:buClr>
                <a:schemeClr val="bg2"/>
              </a:buClr>
              <a:buFont typeface="Arial" panose="020B0604020202020204" pitchFamily="34" charset="0"/>
              <a:buChar char="●"/>
            </a:pPr>
            <a:endParaRPr lang="en-GB" altLang="en-US" sz="2000" dirty="0">
              <a:solidFill>
                <a:schemeClr val="accent1"/>
              </a:solidFill>
              <a:latin typeface="Arial" panose="020B0604020202020204" pitchFamily="34" charset="0"/>
              <a:cs typeface="Arial" panose="020B0604020202020204" pitchFamily="34" charset="0"/>
            </a:endParaRPr>
          </a:p>
        </p:txBody>
      </p:sp>
      <p:sp>
        <p:nvSpPr>
          <p:cNvPr id="1040401" name="AutoShape 17"/>
          <p:cNvSpPr>
            <a:spLocks noChangeArrowheads="1"/>
          </p:cNvSpPr>
          <p:nvPr/>
        </p:nvSpPr>
        <p:spPr bwMode="auto">
          <a:xfrm>
            <a:off x="3806825" y="2066925"/>
            <a:ext cx="5106988" cy="4386263"/>
          </a:xfrm>
          <a:prstGeom prst="roundRect">
            <a:avLst>
              <a:gd name="adj" fmla="val 16667"/>
            </a:avLst>
          </a:prstGeom>
          <a:noFill/>
          <a:ln w="19050">
            <a:solidFill>
              <a:schemeClr val="accent1"/>
            </a:solidFill>
            <a:round/>
            <a:headEnd/>
            <a:tailEnd/>
          </a:ln>
          <a:effectLst/>
          <a:extLst>
            <a:ext uri="{909E8E84-426E-40DD-AFC4-6F175D3DCCD1}">
              <a14:hiddenFill xmlns:a14="http://schemas.microsoft.com/office/drawing/2010/main">
                <a:solidFill>
                  <a:srgbClr val="FFEA8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5000"/>
              </a:lnSpc>
              <a:spcBef>
                <a:spcPct val="40000"/>
              </a:spcBef>
              <a:buClr>
                <a:schemeClr val="accent2"/>
              </a:buClr>
              <a:buSzPct val="130000"/>
            </a:pPr>
            <a:endParaRPr lang="de-DE" altLang="en-US">
              <a:solidFill>
                <a:schemeClr val="accent1"/>
              </a:solidFill>
            </a:endParaRPr>
          </a:p>
        </p:txBody>
      </p:sp>
      <p:grpSp>
        <p:nvGrpSpPr>
          <p:cNvPr id="1040416" name="Group 32"/>
          <p:cNvGrpSpPr>
            <a:grpSpLocks/>
          </p:cNvGrpSpPr>
          <p:nvPr/>
        </p:nvGrpSpPr>
        <p:grpSpPr bwMode="auto">
          <a:xfrm>
            <a:off x="4149725" y="2287588"/>
            <a:ext cx="4313238" cy="3897312"/>
            <a:chOff x="1470" y="1377"/>
            <a:chExt cx="3018" cy="2729"/>
          </a:xfrm>
        </p:grpSpPr>
        <p:sp>
          <p:nvSpPr>
            <p:cNvPr id="1040402" name="Freeform 18"/>
            <p:cNvSpPr>
              <a:spLocks/>
            </p:cNvSpPr>
            <p:nvPr/>
          </p:nvSpPr>
          <p:spPr bwMode="auto">
            <a:xfrm>
              <a:off x="1892" y="1568"/>
              <a:ext cx="1935" cy="1399"/>
            </a:xfrm>
            <a:custGeom>
              <a:avLst/>
              <a:gdLst>
                <a:gd name="T0" fmla="*/ 0 w 2315"/>
                <a:gd name="T1" fmla="*/ 1490 h 1594"/>
                <a:gd name="T2" fmla="*/ 310 w 2315"/>
                <a:gd name="T3" fmla="*/ 0 h 1594"/>
                <a:gd name="T4" fmla="*/ 2314 w 2315"/>
                <a:gd name="T5" fmla="*/ 45 h 1594"/>
                <a:gd name="T6" fmla="*/ 1910 w 2315"/>
                <a:gd name="T7" fmla="*/ 1593 h 1594"/>
                <a:gd name="T8" fmla="*/ 0 w 2315"/>
                <a:gd name="T9" fmla="*/ 1490 h 1594"/>
              </a:gdLst>
              <a:ahLst/>
              <a:cxnLst>
                <a:cxn ang="0">
                  <a:pos x="T0" y="T1"/>
                </a:cxn>
                <a:cxn ang="0">
                  <a:pos x="T2" y="T3"/>
                </a:cxn>
                <a:cxn ang="0">
                  <a:pos x="T4" y="T5"/>
                </a:cxn>
                <a:cxn ang="0">
                  <a:pos x="T6" y="T7"/>
                </a:cxn>
                <a:cxn ang="0">
                  <a:pos x="T8" y="T9"/>
                </a:cxn>
              </a:cxnLst>
              <a:rect l="0" t="0" r="r" b="b"/>
              <a:pathLst>
                <a:path w="2315" h="1594">
                  <a:moveTo>
                    <a:pt x="0" y="1490"/>
                  </a:moveTo>
                  <a:lnTo>
                    <a:pt x="310" y="0"/>
                  </a:lnTo>
                  <a:lnTo>
                    <a:pt x="2314" y="45"/>
                  </a:lnTo>
                  <a:lnTo>
                    <a:pt x="1910" y="1593"/>
                  </a:lnTo>
                  <a:lnTo>
                    <a:pt x="0" y="1490"/>
                  </a:lnTo>
                </a:path>
              </a:pathLst>
            </a:custGeom>
            <a:solidFill>
              <a:srgbClr val="009900"/>
            </a:solidFill>
            <a:ln w="25400" cap="rnd" cmpd="sng">
              <a:solidFill>
                <a:schemeClr val="folHlink"/>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0403" name="Freeform 19"/>
            <p:cNvSpPr>
              <a:spLocks/>
            </p:cNvSpPr>
            <p:nvPr/>
          </p:nvSpPr>
          <p:spPr bwMode="auto">
            <a:xfrm>
              <a:off x="1583" y="1847"/>
              <a:ext cx="2146" cy="2110"/>
            </a:xfrm>
            <a:custGeom>
              <a:avLst/>
              <a:gdLst>
                <a:gd name="T0" fmla="*/ 449 w 2570"/>
                <a:gd name="T1" fmla="*/ 0 h 2405"/>
                <a:gd name="T2" fmla="*/ 0 w 2570"/>
                <a:gd name="T3" fmla="*/ 2152 h 2405"/>
                <a:gd name="T4" fmla="*/ 2569 w 2570"/>
                <a:gd name="T5" fmla="*/ 2404 h 2405"/>
                <a:gd name="T6" fmla="*/ 449 w 2570"/>
                <a:gd name="T7" fmla="*/ 0 h 2405"/>
              </a:gdLst>
              <a:ahLst/>
              <a:cxnLst>
                <a:cxn ang="0">
                  <a:pos x="T0" y="T1"/>
                </a:cxn>
                <a:cxn ang="0">
                  <a:pos x="T2" y="T3"/>
                </a:cxn>
                <a:cxn ang="0">
                  <a:pos x="T4" y="T5"/>
                </a:cxn>
                <a:cxn ang="0">
                  <a:pos x="T6" y="T7"/>
                </a:cxn>
              </a:cxnLst>
              <a:rect l="0" t="0" r="r" b="b"/>
              <a:pathLst>
                <a:path w="2570" h="2405">
                  <a:moveTo>
                    <a:pt x="449" y="0"/>
                  </a:moveTo>
                  <a:lnTo>
                    <a:pt x="0" y="2152"/>
                  </a:lnTo>
                  <a:lnTo>
                    <a:pt x="2569" y="2404"/>
                  </a:lnTo>
                  <a:lnTo>
                    <a:pt x="449" y="0"/>
                  </a:lnTo>
                </a:path>
              </a:pathLst>
            </a:custGeom>
            <a:solidFill>
              <a:schemeClr val="bg2"/>
            </a:solidFill>
            <a:ln w="25400" cap="rnd" cmpd="sng">
              <a:solidFill>
                <a:srgbClr val="00339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0404" name="Freeform 20"/>
            <p:cNvSpPr>
              <a:spLocks/>
            </p:cNvSpPr>
            <p:nvPr/>
          </p:nvSpPr>
          <p:spPr bwMode="auto">
            <a:xfrm>
              <a:off x="2150" y="2304"/>
              <a:ext cx="1045" cy="1009"/>
            </a:xfrm>
            <a:custGeom>
              <a:avLst/>
              <a:gdLst>
                <a:gd name="T0" fmla="*/ 230 w 1251"/>
                <a:gd name="T1" fmla="*/ 0 h 1150"/>
                <a:gd name="T2" fmla="*/ 0 w 1251"/>
                <a:gd name="T3" fmla="*/ 1024 h 1150"/>
                <a:gd name="T4" fmla="*/ 1250 w 1251"/>
                <a:gd name="T5" fmla="*/ 1149 h 1150"/>
                <a:gd name="T6" fmla="*/ 230 w 1251"/>
                <a:gd name="T7" fmla="*/ 0 h 1150"/>
              </a:gdLst>
              <a:ahLst/>
              <a:cxnLst>
                <a:cxn ang="0">
                  <a:pos x="T0" y="T1"/>
                </a:cxn>
                <a:cxn ang="0">
                  <a:pos x="T2" y="T3"/>
                </a:cxn>
                <a:cxn ang="0">
                  <a:pos x="T4" y="T5"/>
                </a:cxn>
                <a:cxn ang="0">
                  <a:pos x="T6" y="T7"/>
                </a:cxn>
              </a:cxnLst>
              <a:rect l="0" t="0" r="r" b="b"/>
              <a:pathLst>
                <a:path w="1251" h="1150">
                  <a:moveTo>
                    <a:pt x="230" y="0"/>
                  </a:moveTo>
                  <a:lnTo>
                    <a:pt x="0" y="1024"/>
                  </a:lnTo>
                  <a:lnTo>
                    <a:pt x="1250" y="1149"/>
                  </a:lnTo>
                  <a:lnTo>
                    <a:pt x="230" y="0"/>
                  </a:lnTo>
                </a:path>
              </a:pathLst>
            </a:custGeom>
            <a:noFill/>
            <a:ln w="25400" cap="flat" cmpd="sng">
              <a:solidFill>
                <a:srgbClr val="D3FFFB"/>
              </a:solidFill>
              <a:prstDash val="dash"/>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0405" name="Freeform 21"/>
            <p:cNvSpPr>
              <a:spLocks/>
            </p:cNvSpPr>
            <p:nvPr/>
          </p:nvSpPr>
          <p:spPr bwMode="auto">
            <a:xfrm>
              <a:off x="2159" y="2063"/>
              <a:ext cx="1306" cy="1169"/>
            </a:xfrm>
            <a:custGeom>
              <a:avLst/>
              <a:gdLst>
                <a:gd name="T0" fmla="*/ 0 w 1563"/>
                <a:gd name="T1" fmla="*/ 0 h 1332"/>
                <a:gd name="T2" fmla="*/ 1562 w 1563"/>
                <a:gd name="T3" fmla="*/ 39 h 1332"/>
                <a:gd name="T4" fmla="*/ 1167 w 1563"/>
                <a:gd name="T5" fmla="*/ 1331 h 1332"/>
                <a:gd name="T6" fmla="*/ 0 w 1563"/>
                <a:gd name="T7" fmla="*/ 0 h 1332"/>
              </a:gdLst>
              <a:ahLst/>
              <a:cxnLst>
                <a:cxn ang="0">
                  <a:pos x="T0" y="T1"/>
                </a:cxn>
                <a:cxn ang="0">
                  <a:pos x="T2" y="T3"/>
                </a:cxn>
                <a:cxn ang="0">
                  <a:pos x="T4" y="T5"/>
                </a:cxn>
                <a:cxn ang="0">
                  <a:pos x="T6" y="T7"/>
                </a:cxn>
              </a:cxnLst>
              <a:rect l="0" t="0" r="r" b="b"/>
              <a:pathLst>
                <a:path w="1563" h="1332">
                  <a:moveTo>
                    <a:pt x="0" y="0"/>
                  </a:moveTo>
                  <a:lnTo>
                    <a:pt x="1562" y="39"/>
                  </a:lnTo>
                  <a:lnTo>
                    <a:pt x="1167" y="1331"/>
                  </a:lnTo>
                  <a:lnTo>
                    <a:pt x="0" y="0"/>
                  </a:lnTo>
                </a:path>
              </a:pathLst>
            </a:custGeom>
            <a:solidFill>
              <a:srgbClr val="FF99FF"/>
            </a:solidFill>
            <a:ln w="25400" cap="rnd" cmpd="sng">
              <a:solidFill>
                <a:srgbClr val="00339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0406" name="Freeform 22"/>
            <p:cNvSpPr>
              <a:spLocks/>
            </p:cNvSpPr>
            <p:nvPr/>
          </p:nvSpPr>
          <p:spPr bwMode="auto">
            <a:xfrm>
              <a:off x="2311" y="2251"/>
              <a:ext cx="952" cy="851"/>
            </a:xfrm>
            <a:custGeom>
              <a:avLst/>
              <a:gdLst>
                <a:gd name="T0" fmla="*/ 0 w 1141"/>
                <a:gd name="T1" fmla="*/ 0 h 970"/>
                <a:gd name="T2" fmla="*/ 1140 w 1141"/>
                <a:gd name="T3" fmla="*/ 55 h 970"/>
                <a:gd name="T4" fmla="*/ 850 w 1141"/>
                <a:gd name="T5" fmla="*/ 969 h 970"/>
                <a:gd name="T6" fmla="*/ 0 w 1141"/>
                <a:gd name="T7" fmla="*/ 0 h 970"/>
              </a:gdLst>
              <a:ahLst/>
              <a:cxnLst>
                <a:cxn ang="0">
                  <a:pos x="T0" y="T1"/>
                </a:cxn>
                <a:cxn ang="0">
                  <a:pos x="T2" y="T3"/>
                </a:cxn>
                <a:cxn ang="0">
                  <a:pos x="T4" y="T5"/>
                </a:cxn>
                <a:cxn ang="0">
                  <a:pos x="T6" y="T7"/>
                </a:cxn>
              </a:cxnLst>
              <a:rect l="0" t="0" r="r" b="b"/>
              <a:pathLst>
                <a:path w="1141" h="970">
                  <a:moveTo>
                    <a:pt x="0" y="0"/>
                  </a:moveTo>
                  <a:lnTo>
                    <a:pt x="1140" y="55"/>
                  </a:lnTo>
                  <a:lnTo>
                    <a:pt x="850" y="969"/>
                  </a:lnTo>
                  <a:lnTo>
                    <a:pt x="0" y="0"/>
                  </a:lnTo>
                </a:path>
              </a:pathLst>
            </a:custGeom>
            <a:solidFill>
              <a:srgbClr val="00279F"/>
            </a:solidFill>
            <a:ln w="25400" cap="rnd" cmpd="sng">
              <a:solidFill>
                <a:srgbClr val="E0FFF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0407" name="Freeform 23"/>
            <p:cNvSpPr>
              <a:spLocks/>
            </p:cNvSpPr>
            <p:nvPr/>
          </p:nvSpPr>
          <p:spPr bwMode="auto">
            <a:xfrm>
              <a:off x="2406" y="2361"/>
              <a:ext cx="674" cy="607"/>
            </a:xfrm>
            <a:custGeom>
              <a:avLst/>
              <a:gdLst>
                <a:gd name="T0" fmla="*/ 0 w 806"/>
                <a:gd name="T1" fmla="*/ 0 h 691"/>
                <a:gd name="T2" fmla="*/ 805 w 806"/>
                <a:gd name="T3" fmla="*/ 44 h 691"/>
                <a:gd name="T4" fmla="*/ 608 w 806"/>
                <a:gd name="T5" fmla="*/ 690 h 691"/>
                <a:gd name="T6" fmla="*/ 0 w 806"/>
                <a:gd name="T7" fmla="*/ 0 h 691"/>
              </a:gdLst>
              <a:ahLst/>
              <a:cxnLst>
                <a:cxn ang="0">
                  <a:pos x="T0" y="T1"/>
                </a:cxn>
                <a:cxn ang="0">
                  <a:pos x="T2" y="T3"/>
                </a:cxn>
                <a:cxn ang="0">
                  <a:pos x="T4" y="T5"/>
                </a:cxn>
                <a:cxn ang="0">
                  <a:pos x="T6" y="T7"/>
                </a:cxn>
              </a:cxnLst>
              <a:rect l="0" t="0" r="r" b="b"/>
              <a:pathLst>
                <a:path w="806" h="691">
                  <a:moveTo>
                    <a:pt x="0" y="0"/>
                  </a:moveTo>
                  <a:lnTo>
                    <a:pt x="805" y="44"/>
                  </a:lnTo>
                  <a:lnTo>
                    <a:pt x="608" y="690"/>
                  </a:lnTo>
                  <a:lnTo>
                    <a:pt x="0" y="0"/>
                  </a:lnTo>
                </a:path>
              </a:pathLst>
            </a:custGeom>
            <a:solidFill>
              <a:srgbClr val="4E4F00"/>
            </a:solidFill>
            <a:ln w="25400" cap="rnd" cmpd="sng">
              <a:solidFill>
                <a:srgbClr val="FAFD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0408" name="Rectangle 24"/>
            <p:cNvSpPr>
              <a:spLocks noChangeArrowheads="1"/>
            </p:cNvSpPr>
            <p:nvPr/>
          </p:nvSpPr>
          <p:spPr bwMode="auto">
            <a:xfrm>
              <a:off x="3044" y="1377"/>
              <a:ext cx="1444" cy="2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80000"/>
                </a:lnSpc>
              </a:pPr>
              <a:r>
                <a:rPr lang="en-US" altLang="en-US"/>
                <a:t>Z3 (reverse offset)</a:t>
              </a:r>
            </a:p>
          </p:txBody>
        </p:sp>
        <p:sp>
          <p:nvSpPr>
            <p:cNvPr id="1040409" name="Rectangle 25"/>
            <p:cNvSpPr>
              <a:spLocks noChangeArrowheads="1"/>
            </p:cNvSpPr>
            <p:nvPr/>
          </p:nvSpPr>
          <p:spPr bwMode="auto">
            <a:xfrm>
              <a:off x="1938" y="3249"/>
              <a:ext cx="843" cy="5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80000"/>
                </a:lnSpc>
              </a:pPr>
              <a:r>
                <a:rPr lang="en-US" altLang="en-US" b="1">
                  <a:solidFill>
                    <a:schemeClr val="bg1"/>
                  </a:solidFill>
                </a:rPr>
                <a:t> Zp </a:t>
              </a:r>
            </a:p>
            <a:p>
              <a:pPr>
                <a:lnSpc>
                  <a:spcPct val="80000"/>
                </a:lnSpc>
              </a:pPr>
              <a:r>
                <a:rPr lang="en-US" altLang="en-US" b="1">
                  <a:solidFill>
                    <a:schemeClr val="bg1"/>
                  </a:solidFill>
                </a:rPr>
                <a:t>(if reverse</a:t>
              </a:r>
            </a:p>
            <a:p>
              <a:pPr>
                <a:lnSpc>
                  <a:spcPct val="80000"/>
                </a:lnSpc>
              </a:pPr>
              <a:r>
                <a:rPr lang="en-US" altLang="en-US" b="1">
                  <a:solidFill>
                    <a:schemeClr val="bg1"/>
                  </a:solidFill>
                </a:rPr>
                <a:t>looking)</a:t>
              </a:r>
            </a:p>
          </p:txBody>
        </p:sp>
        <p:sp>
          <p:nvSpPr>
            <p:cNvPr id="1040410" name="Line 26"/>
            <p:cNvSpPr>
              <a:spLocks noChangeShapeType="1"/>
            </p:cNvSpPr>
            <p:nvPr/>
          </p:nvSpPr>
          <p:spPr bwMode="auto">
            <a:xfrm>
              <a:off x="1470" y="2738"/>
              <a:ext cx="253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11" name="Line 27"/>
            <p:cNvSpPr>
              <a:spLocks noChangeShapeType="1"/>
            </p:cNvSpPr>
            <p:nvPr/>
          </p:nvSpPr>
          <p:spPr bwMode="auto">
            <a:xfrm>
              <a:off x="2721" y="1435"/>
              <a:ext cx="0" cy="260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12" name="Line 28"/>
            <p:cNvSpPr>
              <a:spLocks noChangeShapeType="1"/>
            </p:cNvSpPr>
            <p:nvPr/>
          </p:nvSpPr>
          <p:spPr bwMode="auto">
            <a:xfrm>
              <a:off x="1784" y="1631"/>
              <a:ext cx="1971" cy="2353"/>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13" name="Rectangle 29"/>
            <p:cNvSpPr>
              <a:spLocks noChangeArrowheads="1"/>
            </p:cNvSpPr>
            <p:nvPr/>
          </p:nvSpPr>
          <p:spPr bwMode="auto">
            <a:xfrm>
              <a:off x="2115" y="3849"/>
              <a:ext cx="322"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Z4</a:t>
              </a:r>
              <a:endParaRPr lang="en-GB" altLang="en-US"/>
            </a:p>
          </p:txBody>
        </p:sp>
        <p:sp>
          <p:nvSpPr>
            <p:cNvPr id="1040414" name="Rectangle 30"/>
            <p:cNvSpPr>
              <a:spLocks noChangeArrowheads="1"/>
            </p:cNvSpPr>
            <p:nvPr/>
          </p:nvSpPr>
          <p:spPr bwMode="auto">
            <a:xfrm>
              <a:off x="2901" y="1898"/>
              <a:ext cx="312"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Z2</a:t>
              </a:r>
              <a:endParaRPr lang="en-GB" altLang="en-US"/>
            </a:p>
          </p:txBody>
        </p:sp>
        <p:sp>
          <p:nvSpPr>
            <p:cNvPr id="1040415" name="Rectangle 31"/>
            <p:cNvSpPr>
              <a:spLocks noChangeArrowheads="1"/>
            </p:cNvSpPr>
            <p:nvPr/>
          </p:nvSpPr>
          <p:spPr bwMode="auto">
            <a:xfrm>
              <a:off x="2755" y="2424"/>
              <a:ext cx="290"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rgbClr val="FFFF00"/>
                  </a:solidFill>
                </a:rPr>
                <a:t>Z1</a:t>
              </a:r>
              <a:endParaRPr lang="en-GB" altLang="en-US">
                <a:solidFill>
                  <a:srgbClr val="FFFF00"/>
                </a:solidFill>
              </a:endParaRPr>
            </a:p>
          </p:txBody>
        </p:sp>
      </p:gr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6071" name="Group 23"/>
          <p:cNvGrpSpPr>
            <a:grpSpLocks noChangeAspect="1"/>
          </p:cNvGrpSpPr>
          <p:nvPr/>
        </p:nvGrpSpPr>
        <p:grpSpPr bwMode="auto">
          <a:xfrm>
            <a:off x="1974850" y="2166938"/>
            <a:ext cx="6391275" cy="3929062"/>
            <a:chOff x="612" y="685"/>
            <a:chExt cx="4970" cy="3055"/>
          </a:xfrm>
        </p:grpSpPr>
        <p:sp>
          <p:nvSpPr>
            <p:cNvPr id="386051" name="Freeform 3"/>
            <p:cNvSpPr>
              <a:spLocks noChangeAspect="1"/>
            </p:cNvSpPr>
            <p:nvPr/>
          </p:nvSpPr>
          <p:spPr bwMode="auto">
            <a:xfrm>
              <a:off x="1149" y="1096"/>
              <a:ext cx="1132" cy="1832"/>
            </a:xfrm>
            <a:custGeom>
              <a:avLst/>
              <a:gdLst>
                <a:gd name="T0" fmla="*/ 0 w 1132"/>
                <a:gd name="T1" fmla="*/ 1816 h 1832"/>
                <a:gd name="T2" fmla="*/ 116 w 1132"/>
                <a:gd name="T3" fmla="*/ 1832 h 1832"/>
                <a:gd name="T4" fmla="*/ 264 w 1132"/>
                <a:gd name="T5" fmla="*/ 1832 h 1832"/>
                <a:gd name="T6" fmla="*/ 392 w 1132"/>
                <a:gd name="T7" fmla="*/ 1820 h 1832"/>
                <a:gd name="T8" fmla="*/ 588 w 1132"/>
                <a:gd name="T9" fmla="*/ 1752 h 1832"/>
                <a:gd name="T10" fmla="*/ 708 w 1132"/>
                <a:gd name="T11" fmla="*/ 1688 h 1832"/>
                <a:gd name="T12" fmla="*/ 688 w 1132"/>
                <a:gd name="T13" fmla="*/ 1624 h 1832"/>
                <a:gd name="T14" fmla="*/ 668 w 1132"/>
                <a:gd name="T15" fmla="*/ 1576 h 1832"/>
                <a:gd name="T16" fmla="*/ 636 w 1132"/>
                <a:gd name="T17" fmla="*/ 1516 h 1832"/>
                <a:gd name="T18" fmla="*/ 1032 w 1132"/>
                <a:gd name="T19" fmla="*/ 1328 h 1832"/>
                <a:gd name="T20" fmla="*/ 1080 w 1132"/>
                <a:gd name="T21" fmla="*/ 1216 h 1832"/>
                <a:gd name="T22" fmla="*/ 1124 w 1132"/>
                <a:gd name="T23" fmla="*/ 1040 h 1832"/>
                <a:gd name="T24" fmla="*/ 1132 w 1132"/>
                <a:gd name="T25" fmla="*/ 888 h 1832"/>
                <a:gd name="T26" fmla="*/ 1124 w 1132"/>
                <a:gd name="T27" fmla="*/ 736 h 1832"/>
                <a:gd name="T28" fmla="*/ 1084 w 1132"/>
                <a:gd name="T29" fmla="*/ 596 h 1832"/>
                <a:gd name="T30" fmla="*/ 992 w 1132"/>
                <a:gd name="T31" fmla="*/ 412 h 1832"/>
                <a:gd name="T32" fmla="*/ 908 w 1132"/>
                <a:gd name="T33" fmla="*/ 300 h 1832"/>
                <a:gd name="T34" fmla="*/ 808 w 1132"/>
                <a:gd name="T35" fmla="*/ 204 h 1832"/>
                <a:gd name="T36" fmla="*/ 692 w 1132"/>
                <a:gd name="T37" fmla="*/ 132 h 1832"/>
                <a:gd name="T38" fmla="*/ 584 w 1132"/>
                <a:gd name="T39" fmla="*/ 72 h 1832"/>
                <a:gd name="T40" fmla="*/ 472 w 1132"/>
                <a:gd name="T41" fmla="*/ 32 h 1832"/>
                <a:gd name="T42" fmla="*/ 392 w 1132"/>
                <a:gd name="T43" fmla="*/ 16 h 1832"/>
                <a:gd name="T44" fmla="*/ 296 w 1132"/>
                <a:gd name="T45" fmla="*/ 0 h 1832"/>
                <a:gd name="T46" fmla="*/ 0 w 1132"/>
                <a:gd name="T47" fmla="*/ 1816 h 1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32" h="1832">
                  <a:moveTo>
                    <a:pt x="0" y="1816"/>
                  </a:moveTo>
                  <a:lnTo>
                    <a:pt x="116" y="1832"/>
                  </a:lnTo>
                  <a:lnTo>
                    <a:pt x="264" y="1832"/>
                  </a:lnTo>
                  <a:lnTo>
                    <a:pt x="392" y="1820"/>
                  </a:lnTo>
                  <a:lnTo>
                    <a:pt x="588" y="1752"/>
                  </a:lnTo>
                  <a:lnTo>
                    <a:pt x="708" y="1688"/>
                  </a:lnTo>
                  <a:lnTo>
                    <a:pt x="688" y="1624"/>
                  </a:lnTo>
                  <a:lnTo>
                    <a:pt x="668" y="1576"/>
                  </a:lnTo>
                  <a:lnTo>
                    <a:pt x="636" y="1516"/>
                  </a:lnTo>
                  <a:lnTo>
                    <a:pt x="1032" y="1328"/>
                  </a:lnTo>
                  <a:lnTo>
                    <a:pt x="1080" y="1216"/>
                  </a:lnTo>
                  <a:lnTo>
                    <a:pt x="1124" y="1040"/>
                  </a:lnTo>
                  <a:lnTo>
                    <a:pt x="1132" y="888"/>
                  </a:lnTo>
                  <a:lnTo>
                    <a:pt x="1124" y="736"/>
                  </a:lnTo>
                  <a:lnTo>
                    <a:pt x="1084" y="596"/>
                  </a:lnTo>
                  <a:lnTo>
                    <a:pt x="992" y="412"/>
                  </a:lnTo>
                  <a:lnTo>
                    <a:pt x="908" y="300"/>
                  </a:lnTo>
                  <a:lnTo>
                    <a:pt x="808" y="204"/>
                  </a:lnTo>
                  <a:lnTo>
                    <a:pt x="692" y="132"/>
                  </a:lnTo>
                  <a:lnTo>
                    <a:pt x="584" y="72"/>
                  </a:lnTo>
                  <a:lnTo>
                    <a:pt x="472" y="32"/>
                  </a:lnTo>
                  <a:lnTo>
                    <a:pt x="392" y="16"/>
                  </a:lnTo>
                  <a:lnTo>
                    <a:pt x="296" y="0"/>
                  </a:lnTo>
                  <a:lnTo>
                    <a:pt x="0" y="1816"/>
                  </a:lnTo>
                  <a:close/>
                </a:path>
              </a:pathLst>
            </a:custGeom>
            <a:gradFill rotWithShape="0">
              <a:gsLst>
                <a:gs pos="0">
                  <a:srgbClr val="FF9933"/>
                </a:gs>
                <a:gs pos="100000">
                  <a:srgbClr val="FFFF66"/>
                </a:gs>
              </a:gsLst>
              <a:lin ang="0" scaled="1"/>
            </a:gradFill>
            <a:ln w="28575" cap="flat" cmpd="sng">
              <a:solidFill>
                <a:srgbClr val="FF33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6052" name="Line 4"/>
            <p:cNvSpPr>
              <a:spLocks noChangeAspect="1" noChangeShapeType="1"/>
            </p:cNvSpPr>
            <p:nvPr/>
          </p:nvSpPr>
          <p:spPr bwMode="auto">
            <a:xfrm flipH="1" flipV="1">
              <a:off x="1145" y="797"/>
              <a:ext cx="2" cy="294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86053" name="Line 5"/>
            <p:cNvSpPr>
              <a:spLocks noChangeAspect="1" noChangeShapeType="1"/>
            </p:cNvSpPr>
            <p:nvPr/>
          </p:nvSpPr>
          <p:spPr bwMode="auto">
            <a:xfrm flipV="1">
              <a:off x="1147" y="685"/>
              <a:ext cx="368" cy="2232"/>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86054" name="Line 6"/>
            <p:cNvSpPr>
              <a:spLocks noChangeAspect="1" noChangeShapeType="1"/>
            </p:cNvSpPr>
            <p:nvPr/>
          </p:nvSpPr>
          <p:spPr bwMode="auto">
            <a:xfrm flipV="1">
              <a:off x="612" y="2917"/>
              <a:ext cx="476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86055" name="Text Box 7"/>
            <p:cNvSpPr txBox="1">
              <a:spLocks noChangeAspect="1" noChangeArrowheads="1"/>
            </p:cNvSpPr>
            <p:nvPr/>
          </p:nvSpPr>
          <p:spPr bwMode="auto">
            <a:xfrm>
              <a:off x="1507" y="820"/>
              <a:ext cx="252"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Z</a:t>
              </a:r>
            </a:p>
          </p:txBody>
        </p:sp>
        <p:sp>
          <p:nvSpPr>
            <p:cNvPr id="386056" name="Text Box 8"/>
            <p:cNvSpPr txBox="1">
              <a:spLocks noChangeAspect="1" noChangeArrowheads="1"/>
            </p:cNvSpPr>
            <p:nvPr/>
          </p:nvSpPr>
          <p:spPr bwMode="auto">
            <a:xfrm>
              <a:off x="5334" y="2564"/>
              <a:ext cx="248"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R</a:t>
              </a:r>
            </a:p>
          </p:txBody>
        </p:sp>
        <p:sp>
          <p:nvSpPr>
            <p:cNvPr id="386057" name="Text Box 9"/>
            <p:cNvSpPr txBox="1">
              <a:spLocks noChangeAspect="1" noChangeArrowheads="1"/>
            </p:cNvSpPr>
            <p:nvPr/>
          </p:nvSpPr>
          <p:spPr bwMode="auto">
            <a:xfrm>
              <a:off x="696" y="895"/>
              <a:ext cx="251"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X</a:t>
              </a:r>
            </a:p>
          </p:txBody>
        </p:sp>
        <p:sp>
          <p:nvSpPr>
            <p:cNvPr id="386058" name="Freeform 10"/>
            <p:cNvSpPr>
              <a:spLocks noChangeAspect="1"/>
            </p:cNvSpPr>
            <p:nvPr/>
          </p:nvSpPr>
          <p:spPr bwMode="auto">
            <a:xfrm>
              <a:off x="2009" y="2136"/>
              <a:ext cx="1480" cy="752"/>
            </a:xfrm>
            <a:custGeom>
              <a:avLst/>
              <a:gdLst>
                <a:gd name="T0" fmla="*/ 1480 w 1480"/>
                <a:gd name="T1" fmla="*/ 728 h 752"/>
                <a:gd name="T2" fmla="*/ 48 w 1480"/>
                <a:gd name="T3" fmla="*/ 752 h 752"/>
                <a:gd name="T4" fmla="*/ 0 w 1480"/>
                <a:gd name="T5" fmla="*/ 464 h 752"/>
                <a:gd name="T6" fmla="*/ 1384 w 1480"/>
                <a:gd name="T7" fmla="*/ 0 h 752"/>
                <a:gd name="T8" fmla="*/ 1480 w 1480"/>
                <a:gd name="T9" fmla="*/ 728 h 752"/>
              </a:gdLst>
              <a:ahLst/>
              <a:cxnLst>
                <a:cxn ang="0">
                  <a:pos x="T0" y="T1"/>
                </a:cxn>
                <a:cxn ang="0">
                  <a:pos x="T2" y="T3"/>
                </a:cxn>
                <a:cxn ang="0">
                  <a:pos x="T4" y="T5"/>
                </a:cxn>
                <a:cxn ang="0">
                  <a:pos x="T6" y="T7"/>
                </a:cxn>
                <a:cxn ang="0">
                  <a:pos x="T8" y="T9"/>
                </a:cxn>
              </a:cxnLst>
              <a:rect l="0" t="0" r="r" b="b"/>
              <a:pathLst>
                <a:path w="1480" h="752">
                  <a:moveTo>
                    <a:pt x="1480" y="728"/>
                  </a:moveTo>
                  <a:lnTo>
                    <a:pt x="48" y="752"/>
                  </a:lnTo>
                  <a:lnTo>
                    <a:pt x="0" y="464"/>
                  </a:lnTo>
                  <a:lnTo>
                    <a:pt x="1384" y="0"/>
                  </a:lnTo>
                  <a:lnTo>
                    <a:pt x="1480" y="728"/>
                  </a:lnTo>
                  <a:close/>
                </a:path>
              </a:pathLst>
            </a:custGeom>
            <a:solidFill>
              <a:schemeClr val="folHlink"/>
            </a:solidFill>
            <a:ln w="9525" cap="flat" cmpd="sng">
              <a:solidFill>
                <a:srgbClr val="272CED"/>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6059" name="Text Box 11"/>
            <p:cNvSpPr txBox="1">
              <a:spLocks noChangeAspect="1" noChangeArrowheads="1"/>
            </p:cNvSpPr>
            <p:nvPr/>
          </p:nvSpPr>
          <p:spPr bwMode="auto">
            <a:xfrm>
              <a:off x="2287" y="2569"/>
              <a:ext cx="932"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Load Area</a:t>
              </a:r>
            </a:p>
          </p:txBody>
        </p:sp>
        <p:sp>
          <p:nvSpPr>
            <p:cNvPr id="386060" name="Line 12"/>
            <p:cNvSpPr>
              <a:spLocks noChangeAspect="1" noChangeShapeType="1"/>
            </p:cNvSpPr>
            <p:nvPr/>
          </p:nvSpPr>
          <p:spPr bwMode="auto">
            <a:xfrm flipV="1">
              <a:off x="2341" y="1400"/>
              <a:ext cx="2092" cy="952"/>
            </a:xfrm>
            <a:prstGeom prst="line">
              <a:avLst/>
            </a:prstGeom>
            <a:noFill/>
            <a:ln w="285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86061" name="Text Box 13"/>
            <p:cNvSpPr txBox="1">
              <a:spLocks noChangeAspect="1" noChangeArrowheads="1"/>
            </p:cNvSpPr>
            <p:nvPr/>
          </p:nvSpPr>
          <p:spPr bwMode="auto">
            <a:xfrm>
              <a:off x="4544" y="1217"/>
              <a:ext cx="70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Blinder</a:t>
              </a:r>
            </a:p>
            <a:p>
              <a:pPr algn="l"/>
              <a:r>
                <a:rPr lang="en-US" altLang="en-US"/>
                <a:t> Angle</a:t>
              </a:r>
            </a:p>
          </p:txBody>
        </p:sp>
        <p:sp>
          <p:nvSpPr>
            <p:cNvPr id="386062" name="Arc 14"/>
            <p:cNvSpPr>
              <a:spLocks noChangeAspect="1"/>
            </p:cNvSpPr>
            <p:nvPr/>
          </p:nvSpPr>
          <p:spPr bwMode="auto">
            <a:xfrm rot="-119842">
              <a:off x="4371" y="1442"/>
              <a:ext cx="154" cy="31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86063" name="Freeform 15"/>
            <p:cNvSpPr>
              <a:spLocks noChangeAspect="1"/>
            </p:cNvSpPr>
            <p:nvPr/>
          </p:nvSpPr>
          <p:spPr bwMode="auto">
            <a:xfrm>
              <a:off x="1857" y="2976"/>
              <a:ext cx="272" cy="488"/>
            </a:xfrm>
            <a:custGeom>
              <a:avLst/>
              <a:gdLst>
                <a:gd name="T0" fmla="*/ 0 w 432"/>
                <a:gd name="T1" fmla="*/ 0 h 488"/>
                <a:gd name="T2" fmla="*/ 0 w 432"/>
                <a:gd name="T3" fmla="*/ 488 h 488"/>
                <a:gd name="T4" fmla="*/ 432 w 432"/>
                <a:gd name="T5" fmla="*/ 488 h 488"/>
              </a:gdLst>
              <a:ahLst/>
              <a:cxnLst>
                <a:cxn ang="0">
                  <a:pos x="T0" y="T1"/>
                </a:cxn>
                <a:cxn ang="0">
                  <a:pos x="T2" y="T3"/>
                </a:cxn>
                <a:cxn ang="0">
                  <a:pos x="T4" y="T5"/>
                </a:cxn>
              </a:cxnLst>
              <a:rect l="0" t="0" r="r" b="b"/>
              <a:pathLst>
                <a:path w="432" h="488">
                  <a:moveTo>
                    <a:pt x="0" y="0"/>
                  </a:moveTo>
                  <a:lnTo>
                    <a:pt x="0" y="488"/>
                  </a:lnTo>
                  <a:lnTo>
                    <a:pt x="432" y="488"/>
                  </a:lnTo>
                </a:path>
              </a:pathLst>
            </a:custGeom>
            <a:noFill/>
            <a:ln w="28575" cap="flat" cmpd="sng">
              <a:solidFill>
                <a:schemeClr val="tx2"/>
              </a:solidFill>
              <a:prstDash val="sysDot"/>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86064" name="Text Box 16"/>
            <p:cNvSpPr txBox="1">
              <a:spLocks noChangeAspect="1" noChangeArrowheads="1"/>
            </p:cNvSpPr>
            <p:nvPr/>
          </p:nvSpPr>
          <p:spPr bwMode="auto">
            <a:xfrm>
              <a:off x="2139" y="3201"/>
              <a:ext cx="1791"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t>Blinder Impedance</a:t>
              </a:r>
            </a:p>
            <a:p>
              <a:pPr algn="l"/>
              <a:r>
                <a:rPr lang="en-US" altLang="en-US"/>
                <a:t>Setting</a:t>
              </a:r>
            </a:p>
          </p:txBody>
        </p:sp>
      </p:grpSp>
      <p:sp>
        <p:nvSpPr>
          <p:cNvPr id="386069" name="Rectangle 21"/>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err="1"/>
              <a:t>MiCOM</a:t>
            </a:r>
            <a:r>
              <a:rPr lang="en-GB" altLang="en-US" sz="3600" dirty="0"/>
              <a:t> P54x/P44X</a:t>
            </a:r>
            <a:br>
              <a:rPr lang="en-GB" altLang="en-US" sz="3600" dirty="0"/>
            </a:br>
            <a:r>
              <a:rPr lang="en-GB" altLang="en-US" sz="3600" dirty="0"/>
              <a:t>Distance protection, </a:t>
            </a:r>
            <a:r>
              <a:rPr lang="en-GB" altLang="en-US" sz="3600" dirty="0" err="1"/>
              <a:t>loadblinders</a:t>
            </a:r>
            <a:endParaRPr lang="en-GB" altLang="en-US" sz="3600" dirty="0"/>
          </a:p>
        </p:txBody>
      </p:sp>
      <p:sp>
        <p:nvSpPr>
          <p:cNvPr id="386070" name="Rectangle 22"/>
          <p:cNvSpPr>
            <a:spLocks noChangeArrowheads="1"/>
          </p:cNvSpPr>
          <p:nvPr/>
        </p:nvSpPr>
        <p:spPr bwMode="auto">
          <a:xfrm>
            <a:off x="949960" y="1381125"/>
            <a:ext cx="7956550" cy="471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D1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18000" bIns="10800"/>
          <a:lstStyle>
            <a:lvl1pPr marL="180975" indent="-180975" algn="l">
              <a:spcBef>
                <a:spcPct val="20000"/>
              </a:spcBef>
              <a:buClr>
                <a:schemeClr val="accent1"/>
              </a:buClr>
              <a:buFont typeface="Arial" panose="020B0604020202020204" pitchFamily="34" charset="0"/>
              <a:buChar char="●"/>
              <a:defRPr sz="2000">
                <a:solidFill>
                  <a:schemeClr val="accent1"/>
                </a:solidFill>
                <a:latin typeface="SEOptimist" pitchFamily="2" charset="0"/>
              </a:defRPr>
            </a:lvl1pPr>
            <a:lvl2pPr marL="541338" indent="-180975" algn="l">
              <a:spcBef>
                <a:spcPct val="20000"/>
              </a:spcBef>
              <a:buClr>
                <a:schemeClr val="bg2"/>
              </a:buClr>
              <a:buFont typeface="Arial" panose="020B0604020202020204" pitchFamily="34" charset="0"/>
              <a:buChar char="●"/>
              <a:defRPr>
                <a:solidFill>
                  <a:schemeClr val="bg2"/>
                </a:solidFill>
                <a:latin typeface="SEOptimist" pitchFamily="2" charset="0"/>
              </a:defRPr>
            </a:lvl2pPr>
            <a:lvl3pPr marL="990600" indent="-173038" algn="l">
              <a:spcBef>
                <a:spcPct val="20000"/>
              </a:spcBef>
              <a:buClr>
                <a:schemeClr val="bg2"/>
              </a:buClr>
              <a:buFont typeface="Arial" panose="020B0604020202020204" pitchFamily="34" charset="0"/>
              <a:buChar char="●"/>
              <a:defRPr sz="1600">
                <a:solidFill>
                  <a:schemeClr val="bg2"/>
                </a:solidFill>
                <a:latin typeface="SEOptimist" pitchFamily="2" charset="0"/>
              </a:defRPr>
            </a:lvl3pPr>
            <a:lvl4pPr marL="1751013" indent="-228600" algn="l">
              <a:spcBef>
                <a:spcPct val="20000"/>
              </a:spcBef>
              <a:buChar char="–"/>
              <a:defRPr sz="2000">
                <a:solidFill>
                  <a:schemeClr val="tx1"/>
                </a:solidFill>
                <a:latin typeface="Arial" panose="020B0604020202020204" pitchFamily="34" charset="0"/>
              </a:defRPr>
            </a:lvl4pPr>
            <a:lvl5pPr marL="2159000" indent="-228600" algn="l">
              <a:spcBef>
                <a:spcPct val="20000"/>
              </a:spcBef>
              <a:buChar char="»"/>
              <a:defRPr sz="2000">
                <a:solidFill>
                  <a:schemeClr val="tx1"/>
                </a:solidFill>
                <a:latin typeface="Arial" panose="020B0604020202020204" pitchFamily="34" charset="0"/>
              </a:defRPr>
            </a:lvl5pPr>
            <a:lvl6pPr marL="2616200" indent="-228600" fontAlgn="base">
              <a:spcBef>
                <a:spcPct val="20000"/>
              </a:spcBef>
              <a:spcAft>
                <a:spcPct val="0"/>
              </a:spcAft>
              <a:buChar char="»"/>
              <a:defRPr sz="2000">
                <a:solidFill>
                  <a:schemeClr val="tx1"/>
                </a:solidFill>
                <a:latin typeface="Arial" panose="020B0604020202020204" pitchFamily="34" charset="0"/>
              </a:defRPr>
            </a:lvl6pPr>
            <a:lvl7pPr marL="3073400" indent="-228600" fontAlgn="base">
              <a:spcBef>
                <a:spcPct val="20000"/>
              </a:spcBef>
              <a:spcAft>
                <a:spcPct val="0"/>
              </a:spcAft>
              <a:buChar char="»"/>
              <a:defRPr sz="2000">
                <a:solidFill>
                  <a:schemeClr val="tx1"/>
                </a:solidFill>
                <a:latin typeface="Arial" panose="020B0604020202020204" pitchFamily="34" charset="0"/>
              </a:defRPr>
            </a:lvl7pPr>
            <a:lvl8pPr marL="3530600" indent="-228600" fontAlgn="base">
              <a:spcBef>
                <a:spcPct val="20000"/>
              </a:spcBef>
              <a:spcAft>
                <a:spcPct val="0"/>
              </a:spcAft>
              <a:buChar char="»"/>
              <a:defRPr sz="2000">
                <a:solidFill>
                  <a:schemeClr val="tx1"/>
                </a:solidFill>
                <a:latin typeface="Arial" panose="020B0604020202020204" pitchFamily="34" charset="0"/>
              </a:defRPr>
            </a:lvl8pPr>
            <a:lvl9pPr marL="39878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r>
              <a:rPr lang="fr-FR" altLang="en-US" dirty="0">
                <a:latin typeface="Arial" panose="020B0604020202020204" pitchFamily="34" charset="0"/>
                <a:cs typeface="Arial" panose="020B0604020202020204" pitchFamily="34" charset="0"/>
              </a:rPr>
              <a:t>Blinder </a:t>
            </a:r>
            <a:r>
              <a:rPr lang="fr-FR" altLang="en-US" dirty="0" err="1">
                <a:latin typeface="Arial" panose="020B0604020202020204" pitchFamily="34" charset="0"/>
                <a:cs typeface="Arial" panose="020B0604020202020204" pitchFamily="34" charset="0"/>
              </a:rPr>
              <a:t>Allows</a:t>
            </a:r>
            <a:r>
              <a:rPr lang="fr-FR" altLang="en-US" dirty="0">
                <a:latin typeface="Arial" panose="020B0604020202020204" pitchFamily="34" charset="0"/>
                <a:cs typeface="Arial" panose="020B0604020202020204" pitchFamily="34" charset="0"/>
              </a:rPr>
              <a:t> </a:t>
            </a:r>
            <a:r>
              <a:rPr lang="fr-FR" altLang="en-US" dirty="0" err="1">
                <a:latin typeface="Arial" panose="020B0604020202020204" pitchFamily="34" charset="0"/>
                <a:cs typeface="Arial" panose="020B0604020202020204" pitchFamily="34" charset="0"/>
              </a:rPr>
              <a:t>Stability</a:t>
            </a:r>
            <a:r>
              <a:rPr lang="fr-FR" altLang="en-US" dirty="0">
                <a:latin typeface="Arial" panose="020B0604020202020204" pitchFamily="34" charset="0"/>
                <a:cs typeface="Arial" panose="020B0604020202020204" pitchFamily="34" charset="0"/>
              </a:rPr>
              <a:t> </a:t>
            </a:r>
            <a:r>
              <a:rPr lang="fr-FR" altLang="en-US" dirty="0" err="1">
                <a:latin typeface="Arial" panose="020B0604020202020204" pitchFamily="34" charset="0"/>
                <a:cs typeface="Arial" panose="020B0604020202020204" pitchFamily="34" charset="0"/>
              </a:rPr>
              <a:t>Notch</a:t>
            </a:r>
            <a:r>
              <a:rPr lang="fr-FR" altLang="en-US" dirty="0">
                <a:latin typeface="Arial" panose="020B0604020202020204" pitchFamily="34" charset="0"/>
                <a:cs typeface="Arial" panose="020B0604020202020204" pitchFamily="34" charset="0"/>
              </a:rPr>
              <a:t> </a:t>
            </a:r>
            <a:r>
              <a:rPr lang="fr-FR" altLang="en-US" dirty="0" err="1">
                <a:latin typeface="Arial" panose="020B0604020202020204" pitchFamily="34" charset="0"/>
                <a:cs typeface="Arial" panose="020B0604020202020204" pitchFamily="34" charset="0"/>
              </a:rPr>
              <a:t>around</a:t>
            </a:r>
            <a:r>
              <a:rPr lang="fr-FR" altLang="en-US" dirty="0">
                <a:latin typeface="Arial" panose="020B0604020202020204" pitchFamily="34" charset="0"/>
                <a:cs typeface="Arial" panose="020B0604020202020204" pitchFamily="34" charset="0"/>
              </a:rPr>
              <a:t> </a:t>
            </a:r>
            <a:r>
              <a:rPr lang="fr-FR" altLang="en-US" dirty="0" err="1">
                <a:latin typeface="Arial" panose="020B0604020202020204" pitchFamily="34" charset="0"/>
                <a:cs typeface="Arial" panose="020B0604020202020204" pitchFamily="34" charset="0"/>
              </a:rPr>
              <a:t>Load</a:t>
            </a:r>
            <a:endParaRPr lang="en-GB" altLang="en-US" dirty="0">
              <a:latin typeface="Arial" panose="020B0604020202020204" pitchFamily="34" charset="0"/>
              <a:cs typeface="Arial" panose="020B0604020202020204" pitchFamily="34" charset="0"/>
            </a:endParaRPr>
          </a:p>
        </p:txBody>
      </p:sp>
      <p:sp>
        <p:nvSpPr>
          <p:cNvPr id="386072" name="AutoShape 24"/>
          <p:cNvSpPr>
            <a:spLocks noChangeArrowheads="1"/>
          </p:cNvSpPr>
          <p:nvPr/>
        </p:nvSpPr>
        <p:spPr bwMode="auto">
          <a:xfrm>
            <a:off x="1698625" y="2003425"/>
            <a:ext cx="6973888" cy="4449763"/>
          </a:xfrm>
          <a:prstGeom prst="roundRect">
            <a:avLst>
              <a:gd name="adj" fmla="val 16667"/>
            </a:avLst>
          </a:prstGeom>
          <a:noFill/>
          <a:ln w="19050">
            <a:solidFill>
              <a:schemeClr val="accent1"/>
            </a:solidFill>
            <a:round/>
            <a:headEnd/>
            <a:tailEnd/>
          </a:ln>
          <a:effectLst/>
          <a:extLst>
            <a:ext uri="{909E8E84-426E-40DD-AFC4-6F175D3DCCD1}">
              <a14:hiddenFill xmlns:a14="http://schemas.microsoft.com/office/drawing/2010/main">
                <a:solidFill>
                  <a:srgbClr val="FFEA8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5000"/>
              </a:lnSpc>
              <a:spcBef>
                <a:spcPct val="40000"/>
              </a:spcBef>
              <a:buClr>
                <a:schemeClr val="accent2"/>
              </a:buClr>
              <a:buSzPct val="130000"/>
            </a:pPr>
            <a:endParaRPr lang="de-DE" altLang="en-US">
              <a:solidFill>
                <a:schemeClr val="accent1"/>
              </a:solidFill>
            </a:endParaRPr>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53" name="Rectangle 17"/>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err="1"/>
              <a:t>MiCOM</a:t>
            </a:r>
            <a:r>
              <a:rPr lang="en-GB" altLang="en-US" sz="3600" dirty="0"/>
              <a:t> P54x/P44X</a:t>
            </a:r>
            <a:br>
              <a:rPr lang="en-GB" altLang="en-US" sz="3600" dirty="0"/>
            </a:br>
            <a:r>
              <a:rPr lang="en-GB" altLang="en-US" sz="3600" dirty="0"/>
              <a:t>Distance protection, Blinder for faults</a:t>
            </a:r>
          </a:p>
        </p:txBody>
      </p:sp>
      <p:sp>
        <p:nvSpPr>
          <p:cNvPr id="1038354" name="Rectangle 18"/>
          <p:cNvSpPr>
            <a:spLocks noChangeArrowheads="1"/>
          </p:cNvSpPr>
          <p:nvPr/>
        </p:nvSpPr>
        <p:spPr bwMode="auto">
          <a:xfrm>
            <a:off x="431800" y="1506538"/>
            <a:ext cx="7956550" cy="471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D1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18000" bIns="10800"/>
          <a:lstStyle>
            <a:lvl1pPr marL="180975" indent="-180975" algn="l">
              <a:spcBef>
                <a:spcPct val="20000"/>
              </a:spcBef>
              <a:buClr>
                <a:schemeClr val="accent1"/>
              </a:buClr>
              <a:buFont typeface="Arial" panose="020B0604020202020204" pitchFamily="34" charset="0"/>
              <a:buChar char="●"/>
              <a:defRPr sz="2000">
                <a:solidFill>
                  <a:schemeClr val="accent1"/>
                </a:solidFill>
                <a:latin typeface="SEOptimist" pitchFamily="2" charset="0"/>
              </a:defRPr>
            </a:lvl1pPr>
            <a:lvl2pPr marL="541338" indent="-180975" algn="l">
              <a:spcBef>
                <a:spcPct val="20000"/>
              </a:spcBef>
              <a:buClr>
                <a:schemeClr val="bg2"/>
              </a:buClr>
              <a:buFont typeface="Arial" panose="020B0604020202020204" pitchFamily="34" charset="0"/>
              <a:buChar char="●"/>
              <a:defRPr>
                <a:solidFill>
                  <a:schemeClr val="bg2"/>
                </a:solidFill>
                <a:latin typeface="SEOptimist" pitchFamily="2" charset="0"/>
              </a:defRPr>
            </a:lvl2pPr>
            <a:lvl3pPr marL="990600" indent="-173038" algn="l">
              <a:spcBef>
                <a:spcPct val="20000"/>
              </a:spcBef>
              <a:buClr>
                <a:schemeClr val="bg2"/>
              </a:buClr>
              <a:buFont typeface="Arial" panose="020B0604020202020204" pitchFamily="34" charset="0"/>
              <a:buChar char="●"/>
              <a:defRPr sz="1600">
                <a:solidFill>
                  <a:schemeClr val="bg2"/>
                </a:solidFill>
                <a:latin typeface="SEOptimist" pitchFamily="2" charset="0"/>
              </a:defRPr>
            </a:lvl3pPr>
            <a:lvl4pPr marL="1751013" indent="-228600" algn="l">
              <a:spcBef>
                <a:spcPct val="20000"/>
              </a:spcBef>
              <a:buChar char="–"/>
              <a:defRPr sz="2000">
                <a:solidFill>
                  <a:schemeClr val="tx1"/>
                </a:solidFill>
                <a:latin typeface="Arial" panose="020B0604020202020204" pitchFamily="34" charset="0"/>
              </a:defRPr>
            </a:lvl4pPr>
            <a:lvl5pPr marL="2159000" indent="-228600" algn="l">
              <a:spcBef>
                <a:spcPct val="20000"/>
              </a:spcBef>
              <a:buChar char="»"/>
              <a:defRPr sz="2000">
                <a:solidFill>
                  <a:schemeClr val="tx1"/>
                </a:solidFill>
                <a:latin typeface="Arial" panose="020B0604020202020204" pitchFamily="34" charset="0"/>
              </a:defRPr>
            </a:lvl5pPr>
            <a:lvl6pPr marL="2616200" indent="-228600" fontAlgn="base">
              <a:spcBef>
                <a:spcPct val="20000"/>
              </a:spcBef>
              <a:spcAft>
                <a:spcPct val="0"/>
              </a:spcAft>
              <a:buChar char="»"/>
              <a:defRPr sz="2000">
                <a:solidFill>
                  <a:schemeClr val="tx1"/>
                </a:solidFill>
                <a:latin typeface="Arial" panose="020B0604020202020204" pitchFamily="34" charset="0"/>
              </a:defRPr>
            </a:lvl6pPr>
            <a:lvl7pPr marL="3073400" indent="-228600" fontAlgn="base">
              <a:spcBef>
                <a:spcPct val="20000"/>
              </a:spcBef>
              <a:spcAft>
                <a:spcPct val="0"/>
              </a:spcAft>
              <a:buChar char="»"/>
              <a:defRPr sz="2000">
                <a:solidFill>
                  <a:schemeClr val="tx1"/>
                </a:solidFill>
                <a:latin typeface="Arial" panose="020B0604020202020204" pitchFamily="34" charset="0"/>
              </a:defRPr>
            </a:lvl7pPr>
            <a:lvl8pPr marL="3530600" indent="-228600" fontAlgn="base">
              <a:spcBef>
                <a:spcPct val="20000"/>
              </a:spcBef>
              <a:spcAft>
                <a:spcPct val="0"/>
              </a:spcAft>
              <a:buChar char="»"/>
              <a:defRPr sz="2000">
                <a:solidFill>
                  <a:schemeClr val="tx1"/>
                </a:solidFill>
                <a:latin typeface="Arial" panose="020B0604020202020204" pitchFamily="34" charset="0"/>
              </a:defRPr>
            </a:lvl8pPr>
            <a:lvl9pPr marL="39878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r>
              <a:rPr lang="fr-FR" altLang="en-US" dirty="0" err="1">
                <a:latin typeface="Arial" panose="020B0604020202020204" pitchFamily="34" charset="0"/>
                <a:cs typeface="Arial" panose="020B0604020202020204" pitchFamily="34" charset="0"/>
              </a:rPr>
              <a:t>Better</a:t>
            </a:r>
            <a:r>
              <a:rPr lang="fr-FR" altLang="en-US" dirty="0">
                <a:latin typeface="Arial" panose="020B0604020202020204" pitchFamily="34" charset="0"/>
                <a:cs typeface="Arial" panose="020B0604020202020204" pitchFamily="34" charset="0"/>
              </a:rPr>
              <a:t> </a:t>
            </a:r>
            <a:r>
              <a:rPr lang="fr-FR" altLang="en-US" dirty="0" err="1">
                <a:latin typeface="Arial" panose="020B0604020202020204" pitchFamily="34" charset="0"/>
                <a:cs typeface="Arial" panose="020B0604020202020204" pitchFamily="34" charset="0"/>
              </a:rPr>
              <a:t>Resisitive</a:t>
            </a:r>
            <a:r>
              <a:rPr lang="fr-FR" altLang="en-US" dirty="0">
                <a:latin typeface="Arial" panose="020B0604020202020204" pitchFamily="34" charset="0"/>
                <a:cs typeface="Arial" panose="020B0604020202020204" pitchFamily="34" charset="0"/>
              </a:rPr>
              <a:t> </a:t>
            </a:r>
            <a:r>
              <a:rPr lang="fr-FR" altLang="en-US" dirty="0" err="1">
                <a:latin typeface="Arial" panose="020B0604020202020204" pitchFamily="34" charset="0"/>
                <a:cs typeface="Arial" panose="020B0604020202020204" pitchFamily="34" charset="0"/>
              </a:rPr>
              <a:t>Coverage</a:t>
            </a:r>
            <a:r>
              <a:rPr lang="fr-FR" altLang="en-US" dirty="0">
                <a:latin typeface="Arial" panose="020B0604020202020204" pitchFamily="34" charset="0"/>
                <a:cs typeface="Arial" panose="020B0604020202020204" pitchFamily="34" charset="0"/>
              </a:rPr>
              <a:t> on </a:t>
            </a:r>
            <a:r>
              <a:rPr lang="fr-FR" altLang="en-US" dirty="0" err="1">
                <a:latin typeface="Arial" panose="020B0604020202020204" pitchFamily="34" charset="0"/>
                <a:cs typeface="Arial" panose="020B0604020202020204" pitchFamily="34" charset="0"/>
              </a:rPr>
              <a:t>Fault</a:t>
            </a:r>
            <a:r>
              <a:rPr lang="fr-FR" altLang="en-US" dirty="0">
                <a:latin typeface="Arial" panose="020B0604020202020204" pitchFamily="34" charset="0"/>
                <a:cs typeface="Arial" panose="020B0604020202020204" pitchFamily="34" charset="0"/>
              </a:rPr>
              <a:t> </a:t>
            </a:r>
            <a:r>
              <a:rPr lang="fr-FR" altLang="en-US" dirty="0" err="1">
                <a:latin typeface="Arial" panose="020B0604020202020204" pitchFamily="34" charset="0"/>
                <a:cs typeface="Arial" panose="020B0604020202020204" pitchFamily="34" charset="0"/>
              </a:rPr>
              <a:t>Inception</a:t>
            </a:r>
            <a:endParaRPr lang="en-GB" altLang="en-US" dirty="0">
              <a:latin typeface="Arial" panose="020B0604020202020204" pitchFamily="34" charset="0"/>
              <a:cs typeface="Arial" panose="020B0604020202020204" pitchFamily="34" charset="0"/>
            </a:endParaRPr>
          </a:p>
        </p:txBody>
      </p:sp>
      <p:sp>
        <p:nvSpPr>
          <p:cNvPr id="1038355" name="AutoShape 19"/>
          <p:cNvSpPr>
            <a:spLocks noChangeArrowheads="1"/>
          </p:cNvSpPr>
          <p:nvPr/>
        </p:nvSpPr>
        <p:spPr bwMode="auto">
          <a:xfrm>
            <a:off x="1698625" y="2003425"/>
            <a:ext cx="6973888" cy="4449763"/>
          </a:xfrm>
          <a:prstGeom prst="roundRect">
            <a:avLst>
              <a:gd name="adj" fmla="val 16667"/>
            </a:avLst>
          </a:prstGeom>
          <a:noFill/>
          <a:ln w="19050">
            <a:solidFill>
              <a:schemeClr val="accent1"/>
            </a:solidFill>
            <a:round/>
            <a:headEnd/>
            <a:tailEnd/>
          </a:ln>
          <a:effectLst/>
          <a:extLst>
            <a:ext uri="{909E8E84-426E-40DD-AFC4-6F175D3DCCD1}">
              <a14:hiddenFill xmlns:a14="http://schemas.microsoft.com/office/drawing/2010/main">
                <a:solidFill>
                  <a:srgbClr val="FFEA8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5000"/>
              </a:lnSpc>
              <a:spcBef>
                <a:spcPct val="40000"/>
              </a:spcBef>
              <a:buClr>
                <a:schemeClr val="accent2"/>
              </a:buClr>
              <a:buSzPct val="130000"/>
            </a:pPr>
            <a:endParaRPr lang="de-DE" altLang="en-US">
              <a:solidFill>
                <a:schemeClr val="accent1"/>
              </a:solidFill>
            </a:endParaRPr>
          </a:p>
        </p:txBody>
      </p:sp>
      <p:grpSp>
        <p:nvGrpSpPr>
          <p:cNvPr id="1038356" name="Group 20"/>
          <p:cNvGrpSpPr>
            <a:grpSpLocks noChangeAspect="1"/>
          </p:cNvGrpSpPr>
          <p:nvPr/>
        </p:nvGrpSpPr>
        <p:grpSpPr bwMode="auto">
          <a:xfrm>
            <a:off x="2025650" y="2230438"/>
            <a:ext cx="6392863" cy="3930314"/>
            <a:chOff x="612" y="685"/>
            <a:chExt cx="4970" cy="3055"/>
          </a:xfrm>
        </p:grpSpPr>
        <p:sp>
          <p:nvSpPr>
            <p:cNvPr id="1038357" name="Freeform 21"/>
            <p:cNvSpPr>
              <a:spLocks noChangeAspect="1"/>
            </p:cNvSpPr>
            <p:nvPr/>
          </p:nvSpPr>
          <p:spPr bwMode="auto">
            <a:xfrm>
              <a:off x="1149" y="1104"/>
              <a:ext cx="1260" cy="1800"/>
            </a:xfrm>
            <a:custGeom>
              <a:avLst/>
              <a:gdLst>
                <a:gd name="T0" fmla="*/ 0 w 1108"/>
                <a:gd name="T1" fmla="*/ 1560 h 1560"/>
                <a:gd name="T2" fmla="*/ 832 w 1108"/>
                <a:gd name="T3" fmla="*/ 1560 h 1560"/>
                <a:gd name="T4" fmla="*/ 956 w 1108"/>
                <a:gd name="T5" fmla="*/ 1412 h 1560"/>
                <a:gd name="T6" fmla="*/ 1036 w 1108"/>
                <a:gd name="T7" fmla="*/ 1284 h 1560"/>
                <a:gd name="T8" fmla="*/ 1092 w 1108"/>
                <a:gd name="T9" fmla="*/ 1100 h 1560"/>
                <a:gd name="T10" fmla="*/ 1108 w 1108"/>
                <a:gd name="T11" fmla="*/ 960 h 1560"/>
                <a:gd name="T12" fmla="*/ 1096 w 1108"/>
                <a:gd name="T13" fmla="*/ 748 h 1560"/>
                <a:gd name="T14" fmla="*/ 1032 w 1108"/>
                <a:gd name="T15" fmla="*/ 552 h 1560"/>
                <a:gd name="T16" fmla="*/ 948 w 1108"/>
                <a:gd name="T17" fmla="*/ 408 h 1560"/>
                <a:gd name="T18" fmla="*/ 844 w 1108"/>
                <a:gd name="T19" fmla="*/ 288 h 1560"/>
                <a:gd name="T20" fmla="*/ 732 w 1108"/>
                <a:gd name="T21" fmla="*/ 188 h 1560"/>
                <a:gd name="T22" fmla="*/ 596 w 1108"/>
                <a:gd name="T23" fmla="*/ 108 h 1560"/>
                <a:gd name="T24" fmla="*/ 460 w 1108"/>
                <a:gd name="T25" fmla="*/ 48 h 1560"/>
                <a:gd name="T26" fmla="*/ 364 w 1108"/>
                <a:gd name="T27" fmla="*/ 20 h 1560"/>
                <a:gd name="T28" fmla="*/ 260 w 1108"/>
                <a:gd name="T29" fmla="*/ 0 h 1560"/>
                <a:gd name="T30" fmla="*/ 0 w 1108"/>
                <a:gd name="T31" fmla="*/ 1560 h 1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08" h="1560">
                  <a:moveTo>
                    <a:pt x="0" y="1560"/>
                  </a:moveTo>
                  <a:lnTo>
                    <a:pt x="832" y="1560"/>
                  </a:lnTo>
                  <a:lnTo>
                    <a:pt x="956" y="1412"/>
                  </a:lnTo>
                  <a:lnTo>
                    <a:pt x="1036" y="1284"/>
                  </a:lnTo>
                  <a:lnTo>
                    <a:pt x="1092" y="1100"/>
                  </a:lnTo>
                  <a:lnTo>
                    <a:pt x="1108" y="960"/>
                  </a:lnTo>
                  <a:lnTo>
                    <a:pt x="1096" y="748"/>
                  </a:lnTo>
                  <a:lnTo>
                    <a:pt x="1032" y="552"/>
                  </a:lnTo>
                  <a:lnTo>
                    <a:pt x="948" y="408"/>
                  </a:lnTo>
                  <a:lnTo>
                    <a:pt x="844" y="288"/>
                  </a:lnTo>
                  <a:lnTo>
                    <a:pt x="732" y="188"/>
                  </a:lnTo>
                  <a:lnTo>
                    <a:pt x="596" y="108"/>
                  </a:lnTo>
                  <a:lnTo>
                    <a:pt x="460" y="48"/>
                  </a:lnTo>
                  <a:lnTo>
                    <a:pt x="364" y="20"/>
                  </a:lnTo>
                  <a:lnTo>
                    <a:pt x="260" y="0"/>
                  </a:lnTo>
                  <a:lnTo>
                    <a:pt x="0" y="1560"/>
                  </a:lnTo>
                  <a:close/>
                </a:path>
              </a:pathLst>
            </a:custGeom>
            <a:solidFill>
              <a:srgbClr val="FFCCCC"/>
            </a:solidFill>
            <a:ln w="28575" cap="flat" cmpd="sng">
              <a:solidFill>
                <a:srgbClr val="FF33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038358" name="Freeform 22"/>
            <p:cNvSpPr>
              <a:spLocks noChangeAspect="1"/>
            </p:cNvSpPr>
            <p:nvPr/>
          </p:nvSpPr>
          <p:spPr bwMode="auto">
            <a:xfrm>
              <a:off x="1149" y="1096"/>
              <a:ext cx="1132" cy="1832"/>
            </a:xfrm>
            <a:custGeom>
              <a:avLst/>
              <a:gdLst>
                <a:gd name="T0" fmla="*/ 0 w 1132"/>
                <a:gd name="T1" fmla="*/ 1816 h 1832"/>
                <a:gd name="T2" fmla="*/ 116 w 1132"/>
                <a:gd name="T3" fmla="*/ 1832 h 1832"/>
                <a:gd name="T4" fmla="*/ 264 w 1132"/>
                <a:gd name="T5" fmla="*/ 1832 h 1832"/>
                <a:gd name="T6" fmla="*/ 392 w 1132"/>
                <a:gd name="T7" fmla="*/ 1820 h 1832"/>
                <a:gd name="T8" fmla="*/ 588 w 1132"/>
                <a:gd name="T9" fmla="*/ 1752 h 1832"/>
                <a:gd name="T10" fmla="*/ 708 w 1132"/>
                <a:gd name="T11" fmla="*/ 1688 h 1832"/>
                <a:gd name="T12" fmla="*/ 688 w 1132"/>
                <a:gd name="T13" fmla="*/ 1624 h 1832"/>
                <a:gd name="T14" fmla="*/ 668 w 1132"/>
                <a:gd name="T15" fmla="*/ 1576 h 1832"/>
                <a:gd name="T16" fmla="*/ 636 w 1132"/>
                <a:gd name="T17" fmla="*/ 1516 h 1832"/>
                <a:gd name="T18" fmla="*/ 1032 w 1132"/>
                <a:gd name="T19" fmla="*/ 1328 h 1832"/>
                <a:gd name="T20" fmla="*/ 1080 w 1132"/>
                <a:gd name="T21" fmla="*/ 1216 h 1832"/>
                <a:gd name="T22" fmla="*/ 1124 w 1132"/>
                <a:gd name="T23" fmla="*/ 1040 h 1832"/>
                <a:gd name="T24" fmla="*/ 1132 w 1132"/>
                <a:gd name="T25" fmla="*/ 888 h 1832"/>
                <a:gd name="T26" fmla="*/ 1124 w 1132"/>
                <a:gd name="T27" fmla="*/ 736 h 1832"/>
                <a:gd name="T28" fmla="*/ 1084 w 1132"/>
                <a:gd name="T29" fmla="*/ 596 h 1832"/>
                <a:gd name="T30" fmla="*/ 992 w 1132"/>
                <a:gd name="T31" fmla="*/ 412 h 1832"/>
                <a:gd name="T32" fmla="*/ 908 w 1132"/>
                <a:gd name="T33" fmla="*/ 300 h 1832"/>
                <a:gd name="T34" fmla="*/ 808 w 1132"/>
                <a:gd name="T35" fmla="*/ 204 h 1832"/>
                <a:gd name="T36" fmla="*/ 692 w 1132"/>
                <a:gd name="T37" fmla="*/ 132 h 1832"/>
                <a:gd name="T38" fmla="*/ 584 w 1132"/>
                <a:gd name="T39" fmla="*/ 72 h 1832"/>
                <a:gd name="T40" fmla="*/ 472 w 1132"/>
                <a:gd name="T41" fmla="*/ 32 h 1832"/>
                <a:gd name="T42" fmla="*/ 392 w 1132"/>
                <a:gd name="T43" fmla="*/ 16 h 1832"/>
                <a:gd name="T44" fmla="*/ 296 w 1132"/>
                <a:gd name="T45" fmla="*/ 0 h 1832"/>
                <a:gd name="T46" fmla="*/ 0 w 1132"/>
                <a:gd name="T47" fmla="*/ 1816 h 1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32" h="1832">
                  <a:moveTo>
                    <a:pt x="0" y="1816"/>
                  </a:moveTo>
                  <a:lnTo>
                    <a:pt x="116" y="1832"/>
                  </a:lnTo>
                  <a:lnTo>
                    <a:pt x="264" y="1832"/>
                  </a:lnTo>
                  <a:lnTo>
                    <a:pt x="392" y="1820"/>
                  </a:lnTo>
                  <a:lnTo>
                    <a:pt x="588" y="1752"/>
                  </a:lnTo>
                  <a:lnTo>
                    <a:pt x="708" y="1688"/>
                  </a:lnTo>
                  <a:lnTo>
                    <a:pt x="688" y="1624"/>
                  </a:lnTo>
                  <a:lnTo>
                    <a:pt x="668" y="1576"/>
                  </a:lnTo>
                  <a:lnTo>
                    <a:pt x="636" y="1516"/>
                  </a:lnTo>
                  <a:lnTo>
                    <a:pt x="1032" y="1328"/>
                  </a:lnTo>
                  <a:lnTo>
                    <a:pt x="1080" y="1216"/>
                  </a:lnTo>
                  <a:lnTo>
                    <a:pt x="1124" y="1040"/>
                  </a:lnTo>
                  <a:lnTo>
                    <a:pt x="1132" y="888"/>
                  </a:lnTo>
                  <a:lnTo>
                    <a:pt x="1124" y="736"/>
                  </a:lnTo>
                  <a:lnTo>
                    <a:pt x="1084" y="596"/>
                  </a:lnTo>
                  <a:lnTo>
                    <a:pt x="992" y="412"/>
                  </a:lnTo>
                  <a:lnTo>
                    <a:pt x="908" y="300"/>
                  </a:lnTo>
                  <a:lnTo>
                    <a:pt x="808" y="204"/>
                  </a:lnTo>
                  <a:lnTo>
                    <a:pt x="692" y="132"/>
                  </a:lnTo>
                  <a:lnTo>
                    <a:pt x="584" y="72"/>
                  </a:lnTo>
                  <a:lnTo>
                    <a:pt x="472" y="32"/>
                  </a:lnTo>
                  <a:lnTo>
                    <a:pt x="392" y="16"/>
                  </a:lnTo>
                  <a:lnTo>
                    <a:pt x="296" y="0"/>
                  </a:lnTo>
                  <a:lnTo>
                    <a:pt x="0" y="1816"/>
                  </a:lnTo>
                  <a:close/>
                </a:path>
              </a:pathLst>
            </a:custGeom>
            <a:gradFill rotWithShape="0">
              <a:gsLst>
                <a:gs pos="0">
                  <a:srgbClr val="FF9933"/>
                </a:gs>
                <a:gs pos="100000">
                  <a:srgbClr val="FFFF66"/>
                </a:gs>
              </a:gsLst>
              <a:lin ang="0" scaled="1"/>
            </a:gradFill>
            <a:ln w="28575" cap="flat" cmpd="sng">
              <a:solidFill>
                <a:srgbClr val="FF3300"/>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38359" name="Line 23"/>
            <p:cNvSpPr>
              <a:spLocks noChangeAspect="1" noChangeShapeType="1"/>
            </p:cNvSpPr>
            <p:nvPr/>
          </p:nvSpPr>
          <p:spPr bwMode="auto">
            <a:xfrm flipH="1" flipV="1">
              <a:off x="1145" y="805"/>
              <a:ext cx="2" cy="293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038360" name="Line 24"/>
            <p:cNvSpPr>
              <a:spLocks noChangeAspect="1" noChangeShapeType="1"/>
            </p:cNvSpPr>
            <p:nvPr/>
          </p:nvSpPr>
          <p:spPr bwMode="auto">
            <a:xfrm flipV="1">
              <a:off x="612" y="2917"/>
              <a:ext cx="476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038361" name="Text Box 25"/>
            <p:cNvSpPr txBox="1">
              <a:spLocks noChangeAspect="1" noChangeArrowheads="1"/>
            </p:cNvSpPr>
            <p:nvPr/>
          </p:nvSpPr>
          <p:spPr bwMode="auto">
            <a:xfrm>
              <a:off x="5334" y="2563"/>
              <a:ext cx="248"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R</a:t>
              </a:r>
            </a:p>
          </p:txBody>
        </p:sp>
        <p:sp>
          <p:nvSpPr>
            <p:cNvPr id="1038362" name="Text Box 26"/>
            <p:cNvSpPr txBox="1">
              <a:spLocks noChangeAspect="1" noChangeArrowheads="1"/>
            </p:cNvSpPr>
            <p:nvPr/>
          </p:nvSpPr>
          <p:spPr bwMode="auto">
            <a:xfrm>
              <a:off x="698" y="896"/>
              <a:ext cx="251"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X</a:t>
              </a:r>
            </a:p>
          </p:txBody>
        </p:sp>
        <p:sp>
          <p:nvSpPr>
            <p:cNvPr id="1038363" name="Freeform 27" descr="Small confetti"/>
            <p:cNvSpPr>
              <a:spLocks noChangeAspect="1"/>
            </p:cNvSpPr>
            <p:nvPr/>
          </p:nvSpPr>
          <p:spPr bwMode="auto">
            <a:xfrm>
              <a:off x="2009" y="2136"/>
              <a:ext cx="1480" cy="752"/>
            </a:xfrm>
            <a:custGeom>
              <a:avLst/>
              <a:gdLst>
                <a:gd name="T0" fmla="*/ 1480 w 1480"/>
                <a:gd name="T1" fmla="*/ 728 h 752"/>
                <a:gd name="T2" fmla="*/ 48 w 1480"/>
                <a:gd name="T3" fmla="*/ 752 h 752"/>
                <a:gd name="T4" fmla="*/ 0 w 1480"/>
                <a:gd name="T5" fmla="*/ 464 h 752"/>
                <a:gd name="T6" fmla="*/ 1384 w 1480"/>
                <a:gd name="T7" fmla="*/ 0 h 752"/>
                <a:gd name="T8" fmla="*/ 1480 w 1480"/>
                <a:gd name="T9" fmla="*/ 728 h 752"/>
              </a:gdLst>
              <a:ahLst/>
              <a:cxnLst>
                <a:cxn ang="0">
                  <a:pos x="T0" y="T1"/>
                </a:cxn>
                <a:cxn ang="0">
                  <a:pos x="T2" y="T3"/>
                </a:cxn>
                <a:cxn ang="0">
                  <a:pos x="T4" y="T5"/>
                </a:cxn>
                <a:cxn ang="0">
                  <a:pos x="T6" y="T7"/>
                </a:cxn>
                <a:cxn ang="0">
                  <a:pos x="T8" y="T9"/>
                </a:cxn>
              </a:cxnLst>
              <a:rect l="0" t="0" r="r" b="b"/>
              <a:pathLst>
                <a:path w="1480" h="752">
                  <a:moveTo>
                    <a:pt x="1480" y="728"/>
                  </a:moveTo>
                  <a:lnTo>
                    <a:pt x="48" y="752"/>
                  </a:lnTo>
                  <a:lnTo>
                    <a:pt x="0" y="464"/>
                  </a:lnTo>
                  <a:lnTo>
                    <a:pt x="1384" y="0"/>
                  </a:lnTo>
                  <a:lnTo>
                    <a:pt x="1480" y="728"/>
                  </a:lnTo>
                  <a:close/>
                </a:path>
              </a:pathLst>
            </a:custGeom>
            <a:pattFill prst="smConfetti">
              <a:fgClr>
                <a:srgbClr val="92B8F0"/>
              </a:fgClr>
              <a:bgClr>
                <a:schemeClr val="bg1"/>
              </a:bgClr>
            </a:pattFill>
            <a:ln w="38100" cap="flat" cmpd="sng">
              <a:solidFill>
                <a:srgbClr val="272CED"/>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38364" name="Text Box 28"/>
            <p:cNvSpPr txBox="1">
              <a:spLocks noChangeAspect="1" noChangeArrowheads="1"/>
            </p:cNvSpPr>
            <p:nvPr/>
          </p:nvSpPr>
          <p:spPr bwMode="auto">
            <a:xfrm>
              <a:off x="2376" y="2562"/>
              <a:ext cx="931"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Load Area</a:t>
              </a:r>
            </a:p>
          </p:txBody>
        </p:sp>
        <p:sp>
          <p:nvSpPr>
            <p:cNvPr id="1038365" name="Text Box 29"/>
            <p:cNvSpPr txBox="1">
              <a:spLocks noChangeAspect="1" noChangeArrowheads="1"/>
            </p:cNvSpPr>
            <p:nvPr/>
          </p:nvSpPr>
          <p:spPr bwMode="auto">
            <a:xfrm>
              <a:off x="1892" y="3144"/>
              <a:ext cx="3125" cy="287"/>
            </a:xfrm>
            <a:prstGeom prst="rect">
              <a:avLst/>
            </a:prstGeom>
            <a:solidFill>
              <a:srgbClr val="FF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dirty="0">
                  <a:latin typeface="Arial" panose="020B0604020202020204" pitchFamily="34" charset="0"/>
                  <a:cs typeface="Arial" panose="020B0604020202020204" pitchFamily="34" charset="0"/>
                </a:rPr>
                <a:t>Blinder disappears for volts below V&lt;</a:t>
              </a:r>
            </a:p>
          </p:txBody>
        </p:sp>
        <p:sp>
          <p:nvSpPr>
            <p:cNvPr id="1038366" name="Line 30"/>
            <p:cNvSpPr>
              <a:spLocks noChangeAspect="1" noChangeShapeType="1"/>
            </p:cNvSpPr>
            <p:nvPr/>
          </p:nvSpPr>
          <p:spPr bwMode="auto">
            <a:xfrm>
              <a:off x="1278" y="2228"/>
              <a:ext cx="1123" cy="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038367" name="Text Box 31"/>
            <p:cNvSpPr txBox="1">
              <a:spLocks noChangeAspect="1" noChangeArrowheads="1"/>
            </p:cNvSpPr>
            <p:nvPr/>
          </p:nvSpPr>
          <p:spPr bwMode="auto">
            <a:xfrm>
              <a:off x="1634" y="1957"/>
              <a:ext cx="311"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tx2"/>
                  </a:solidFill>
                </a:rPr>
                <a:t>Rf</a:t>
              </a:r>
              <a:endParaRPr lang="en-US" altLang="en-US">
                <a:solidFill>
                  <a:srgbClr val="FF3300"/>
                </a:solidFill>
              </a:endParaRPr>
            </a:p>
          </p:txBody>
        </p:sp>
        <p:sp>
          <p:nvSpPr>
            <p:cNvPr id="1038368" name="Line 32"/>
            <p:cNvSpPr>
              <a:spLocks noChangeAspect="1" noChangeShapeType="1"/>
            </p:cNvSpPr>
            <p:nvPr/>
          </p:nvSpPr>
          <p:spPr bwMode="auto">
            <a:xfrm flipV="1">
              <a:off x="2377" y="1216"/>
              <a:ext cx="1160" cy="848"/>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038369" name="Text Box 33"/>
            <p:cNvSpPr txBox="1">
              <a:spLocks noChangeAspect="1" noChangeArrowheads="1"/>
            </p:cNvSpPr>
            <p:nvPr/>
          </p:nvSpPr>
          <p:spPr bwMode="auto">
            <a:xfrm>
              <a:off x="3583" y="922"/>
              <a:ext cx="1240"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dirty="0">
                  <a:latin typeface="Arial" panose="020B0604020202020204" pitchFamily="34" charset="0"/>
                  <a:cs typeface="Arial" panose="020B0604020202020204" pitchFamily="34" charset="0"/>
                </a:rPr>
                <a:t>Characteristic</a:t>
              </a:r>
            </a:p>
            <a:p>
              <a:pPr algn="l"/>
              <a:r>
                <a:rPr lang="en-GB" altLang="en-US" dirty="0">
                  <a:latin typeface="Arial" panose="020B0604020202020204" pitchFamily="34" charset="0"/>
                  <a:cs typeface="Arial" panose="020B0604020202020204" pitchFamily="34" charset="0"/>
                </a:rPr>
                <a:t>  Expansion</a:t>
              </a:r>
            </a:p>
          </p:txBody>
        </p:sp>
        <p:sp>
          <p:nvSpPr>
            <p:cNvPr id="1038370" name="Line 34"/>
            <p:cNvSpPr>
              <a:spLocks noChangeAspect="1" noChangeShapeType="1"/>
            </p:cNvSpPr>
            <p:nvPr/>
          </p:nvSpPr>
          <p:spPr bwMode="auto">
            <a:xfrm flipV="1">
              <a:off x="1147" y="685"/>
              <a:ext cx="368" cy="2232"/>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038371" name="Text Box 35"/>
            <p:cNvSpPr txBox="1">
              <a:spLocks noChangeAspect="1" noChangeArrowheads="1"/>
            </p:cNvSpPr>
            <p:nvPr/>
          </p:nvSpPr>
          <p:spPr bwMode="auto">
            <a:xfrm>
              <a:off x="1506" y="820"/>
              <a:ext cx="251"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Z</a:t>
              </a:r>
            </a:p>
          </p:txBody>
        </p:sp>
      </p:gr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ctrTitle"/>
          </p:nvPr>
        </p:nvSpPr>
        <p:spPr>
          <a:xfrm>
            <a:off x="331875" y="2229114"/>
            <a:ext cx="8240003" cy="1143000"/>
          </a:xfrm>
        </p:spPr>
        <p:txBody>
          <a:bodyPr/>
          <a:lstStyle/>
          <a:p>
            <a:r>
              <a:rPr lang="fr-FR" altLang="en-US" sz="4400" dirty="0"/>
              <a:t>Channel </a:t>
            </a:r>
            <a:r>
              <a:rPr lang="fr-FR" altLang="en-US" sz="4400" dirty="0" err="1"/>
              <a:t>Dependant</a:t>
            </a:r>
            <a:r>
              <a:rPr lang="fr-FR" altLang="en-US" sz="4400" dirty="0"/>
              <a:t> </a:t>
            </a:r>
            <a:r>
              <a:rPr lang="fr-FR" altLang="en-US" sz="4400" dirty="0" err="1"/>
              <a:t>Schemes</a:t>
            </a:r>
            <a:endParaRPr lang="en-GB" altLang="en-US" sz="4400" dirty="0"/>
          </a:p>
        </p:txBody>
      </p:sp>
    </p:spTree>
    <p:extLst>
      <p:ext uri="{BB962C8B-B14F-4D97-AF65-F5344CB8AC3E}">
        <p14:creationId xmlns:p14="http://schemas.microsoft.com/office/powerpoint/2010/main" val="580915662"/>
      </p:ext>
    </p:extLst>
  </p:cSld>
  <p:clrMapOvr>
    <a:masterClrMapping/>
  </p:clrMapOvr>
  <p:transition>
    <p:randomBa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79" name="Text Box 27"/>
          <p:cNvSpPr txBox="1">
            <a:spLocks noChangeArrowheads="1"/>
          </p:cNvSpPr>
          <p:nvPr/>
        </p:nvSpPr>
        <p:spPr bwMode="auto">
          <a:xfrm>
            <a:off x="4054475" y="3676154"/>
            <a:ext cx="460375" cy="46166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1200" i="0" dirty="0" err="1">
                <a:solidFill>
                  <a:schemeClr val="bg2"/>
                </a:solidFill>
              </a:rPr>
              <a:t>Tx</a:t>
            </a:r>
            <a:r>
              <a:rPr lang="en-GB" altLang="en-US" sz="1200" i="0" dirty="0">
                <a:solidFill>
                  <a:schemeClr val="bg2"/>
                </a:solidFill>
              </a:rPr>
              <a:t> </a:t>
            </a:r>
            <a:br>
              <a:rPr lang="en-GB" altLang="en-US" sz="1200" i="0" dirty="0">
                <a:solidFill>
                  <a:schemeClr val="bg2"/>
                </a:solidFill>
              </a:rPr>
            </a:br>
            <a:r>
              <a:rPr lang="en-GB" altLang="en-US" sz="1200" i="0" dirty="0">
                <a:solidFill>
                  <a:schemeClr val="bg2"/>
                </a:solidFill>
              </a:rPr>
              <a:t>Rx</a:t>
            </a:r>
            <a:endParaRPr lang="en-GB" altLang="en-US" sz="1200" i="0" dirty="0">
              <a:solidFill>
                <a:schemeClr val="tx1"/>
              </a:solidFill>
            </a:endParaRPr>
          </a:p>
        </p:txBody>
      </p:sp>
      <p:sp>
        <p:nvSpPr>
          <p:cNvPr id="23580" name="Line 28"/>
          <p:cNvSpPr>
            <a:spLocks noChangeShapeType="1"/>
          </p:cNvSpPr>
          <p:nvPr/>
        </p:nvSpPr>
        <p:spPr bwMode="auto">
          <a:xfrm>
            <a:off x="4040188" y="3914775"/>
            <a:ext cx="4556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81" name="Text Box 29"/>
          <p:cNvSpPr txBox="1">
            <a:spLocks noChangeArrowheads="1"/>
          </p:cNvSpPr>
          <p:nvPr/>
        </p:nvSpPr>
        <p:spPr bwMode="auto">
          <a:xfrm flipH="1">
            <a:off x="5159375" y="3671888"/>
            <a:ext cx="447675" cy="46166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1200" i="0" dirty="0" err="1">
                <a:solidFill>
                  <a:schemeClr val="bg2"/>
                </a:solidFill>
              </a:rPr>
              <a:t>Tx</a:t>
            </a:r>
            <a:r>
              <a:rPr lang="en-GB" altLang="en-US" sz="1200" i="0" dirty="0">
                <a:solidFill>
                  <a:schemeClr val="bg2"/>
                </a:solidFill>
              </a:rPr>
              <a:t> Rx</a:t>
            </a:r>
            <a:endParaRPr lang="en-GB" altLang="en-US" sz="1200" i="0" dirty="0">
              <a:solidFill>
                <a:schemeClr val="tx1"/>
              </a:solidFill>
            </a:endParaRPr>
          </a:p>
        </p:txBody>
      </p:sp>
      <p:sp>
        <p:nvSpPr>
          <p:cNvPr id="23582" name="Line 30"/>
          <p:cNvSpPr>
            <a:spLocks noChangeShapeType="1"/>
          </p:cNvSpPr>
          <p:nvPr/>
        </p:nvSpPr>
        <p:spPr bwMode="auto">
          <a:xfrm flipH="1">
            <a:off x="5175250" y="3914775"/>
            <a:ext cx="4302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84" name="Text Box 32"/>
          <p:cNvSpPr txBox="1">
            <a:spLocks noChangeArrowheads="1"/>
          </p:cNvSpPr>
          <p:nvPr/>
        </p:nvSpPr>
        <p:spPr bwMode="auto">
          <a:xfrm>
            <a:off x="229141" y="2841953"/>
            <a:ext cx="174413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lang="en-GB" altLang="en-US" sz="1400" i="0" dirty="0">
                <a:latin typeface="FuturaA Md BT" pitchFamily="34" charset="0"/>
              </a:rPr>
              <a:t>Send </a:t>
            </a:r>
            <a:r>
              <a:rPr lang="en-GB" altLang="en-US" sz="1400" i="0" dirty="0">
                <a:latin typeface="Arial" panose="020B0604020202020204" pitchFamily="34" charset="0"/>
                <a:cs typeface="Arial" panose="020B0604020202020204" pitchFamily="34" charset="0"/>
              </a:rPr>
              <a:t>Logic</a:t>
            </a:r>
            <a:r>
              <a:rPr lang="en-GB" altLang="en-US" sz="1400" i="0" dirty="0">
                <a:latin typeface="FuturaA Md BT" pitchFamily="34" charset="0"/>
              </a:rPr>
              <a:t> : Z1</a:t>
            </a:r>
          </a:p>
          <a:p>
            <a:pPr algn="l"/>
            <a:r>
              <a:rPr lang="en-GB" altLang="en-US" sz="1400" i="0" dirty="0">
                <a:latin typeface="FuturaA Md BT" pitchFamily="34" charset="0"/>
              </a:rPr>
              <a:t>Trip Logic : Rx + Z2</a:t>
            </a:r>
          </a:p>
        </p:txBody>
      </p:sp>
      <p:sp>
        <p:nvSpPr>
          <p:cNvPr id="23585" name="Text Box 33"/>
          <p:cNvSpPr txBox="1">
            <a:spLocks noChangeArrowheads="1"/>
          </p:cNvSpPr>
          <p:nvPr/>
        </p:nvSpPr>
        <p:spPr bwMode="auto">
          <a:xfrm>
            <a:off x="2259013" y="619442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Z3</a:t>
            </a:r>
            <a:endParaRPr lang="en-GB" altLang="en-US" b="0" i="0">
              <a:solidFill>
                <a:schemeClr val="bg2"/>
              </a:solidFill>
            </a:endParaRPr>
          </a:p>
        </p:txBody>
      </p:sp>
      <p:sp>
        <p:nvSpPr>
          <p:cNvPr id="23586" name="Text Box 34"/>
          <p:cNvSpPr txBox="1">
            <a:spLocks noChangeArrowheads="1"/>
          </p:cNvSpPr>
          <p:nvPr/>
        </p:nvSpPr>
        <p:spPr bwMode="auto">
          <a:xfrm>
            <a:off x="2259013" y="561657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sp>
        <p:nvSpPr>
          <p:cNvPr id="23587" name="Text Box 35"/>
          <p:cNvSpPr txBox="1">
            <a:spLocks noChangeArrowheads="1"/>
          </p:cNvSpPr>
          <p:nvPr/>
        </p:nvSpPr>
        <p:spPr bwMode="auto">
          <a:xfrm>
            <a:off x="2259013" y="525462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23588" name="Text Box 36"/>
          <p:cNvSpPr txBox="1">
            <a:spLocks noChangeArrowheads="1"/>
          </p:cNvSpPr>
          <p:nvPr/>
        </p:nvSpPr>
        <p:spPr bwMode="auto">
          <a:xfrm>
            <a:off x="3871913" y="5257800"/>
            <a:ext cx="258762" cy="668338"/>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sp>
        <p:nvSpPr>
          <p:cNvPr id="23589" name="Line 37"/>
          <p:cNvSpPr>
            <a:spLocks noChangeShapeType="1"/>
          </p:cNvSpPr>
          <p:nvPr/>
        </p:nvSpPr>
        <p:spPr bwMode="auto">
          <a:xfrm>
            <a:off x="2735263" y="5397500"/>
            <a:ext cx="1130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90" name="Text Box 38"/>
          <p:cNvSpPr txBox="1">
            <a:spLocks noChangeArrowheads="1"/>
          </p:cNvSpPr>
          <p:nvPr/>
        </p:nvSpPr>
        <p:spPr bwMode="auto">
          <a:xfrm>
            <a:off x="2928938" y="562292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3592" name="Text Box 40"/>
          <p:cNvSpPr txBox="1">
            <a:spLocks noChangeArrowheads="1"/>
          </p:cNvSpPr>
          <p:nvPr/>
        </p:nvSpPr>
        <p:spPr bwMode="auto">
          <a:xfrm>
            <a:off x="2935288" y="6194425"/>
            <a:ext cx="390525"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rgbClr val="FFFFC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23593" name="Line 41"/>
          <p:cNvSpPr>
            <a:spLocks noChangeShapeType="1"/>
          </p:cNvSpPr>
          <p:nvPr/>
        </p:nvSpPr>
        <p:spPr bwMode="auto">
          <a:xfrm>
            <a:off x="2570163" y="6345238"/>
            <a:ext cx="3683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94" name="Line 42"/>
          <p:cNvSpPr>
            <a:spLocks noChangeShapeType="1"/>
          </p:cNvSpPr>
          <p:nvPr/>
        </p:nvSpPr>
        <p:spPr bwMode="auto">
          <a:xfrm>
            <a:off x="3281363" y="5761038"/>
            <a:ext cx="857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95" name="Line 43"/>
          <p:cNvSpPr>
            <a:spLocks noChangeShapeType="1"/>
          </p:cNvSpPr>
          <p:nvPr/>
        </p:nvSpPr>
        <p:spPr bwMode="auto">
          <a:xfrm flipV="1">
            <a:off x="3365500" y="5495925"/>
            <a:ext cx="0" cy="28098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96" name="Line 44"/>
          <p:cNvSpPr>
            <a:spLocks noChangeShapeType="1"/>
          </p:cNvSpPr>
          <p:nvPr/>
        </p:nvSpPr>
        <p:spPr bwMode="auto">
          <a:xfrm>
            <a:off x="3370263" y="5510213"/>
            <a:ext cx="5032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97" name="Line 45"/>
          <p:cNvSpPr>
            <a:spLocks noChangeShapeType="1"/>
          </p:cNvSpPr>
          <p:nvPr/>
        </p:nvSpPr>
        <p:spPr bwMode="auto">
          <a:xfrm>
            <a:off x="3281363" y="6343650"/>
            <a:ext cx="3254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98" name="Line 46"/>
          <p:cNvSpPr>
            <a:spLocks noChangeShapeType="1"/>
          </p:cNvSpPr>
          <p:nvPr/>
        </p:nvSpPr>
        <p:spPr bwMode="auto">
          <a:xfrm flipV="1">
            <a:off x="3606800" y="5613400"/>
            <a:ext cx="0" cy="74453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99" name="Line 47"/>
          <p:cNvSpPr>
            <a:spLocks noChangeShapeType="1"/>
          </p:cNvSpPr>
          <p:nvPr/>
        </p:nvSpPr>
        <p:spPr bwMode="auto">
          <a:xfrm>
            <a:off x="3606800" y="5614988"/>
            <a:ext cx="2619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01" name="Text Box 49"/>
          <p:cNvSpPr txBox="1">
            <a:spLocks noChangeArrowheads="1"/>
          </p:cNvSpPr>
          <p:nvPr/>
        </p:nvSpPr>
        <p:spPr bwMode="auto">
          <a:xfrm>
            <a:off x="4227513" y="5273675"/>
            <a:ext cx="473075"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Trip</a:t>
            </a:r>
          </a:p>
        </p:txBody>
      </p:sp>
      <p:sp>
        <p:nvSpPr>
          <p:cNvPr id="23602" name="Text Box 50"/>
          <p:cNvSpPr txBox="1">
            <a:spLocks noChangeArrowheads="1"/>
          </p:cNvSpPr>
          <p:nvPr/>
        </p:nvSpPr>
        <p:spPr bwMode="auto">
          <a:xfrm>
            <a:off x="2928938" y="5622925"/>
            <a:ext cx="390525"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rgbClr val="FFFFC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3603" name="Line 51"/>
          <p:cNvSpPr>
            <a:spLocks noChangeShapeType="1"/>
          </p:cNvSpPr>
          <p:nvPr/>
        </p:nvSpPr>
        <p:spPr bwMode="auto">
          <a:xfrm>
            <a:off x="2716213" y="3803650"/>
            <a:ext cx="13176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04" name="Line 52"/>
          <p:cNvSpPr>
            <a:spLocks noChangeShapeType="1"/>
          </p:cNvSpPr>
          <p:nvPr/>
        </p:nvSpPr>
        <p:spPr bwMode="auto">
          <a:xfrm>
            <a:off x="2725738" y="3797300"/>
            <a:ext cx="0" cy="161607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605" name="Oval 53"/>
          <p:cNvSpPr>
            <a:spLocks noChangeArrowheads="1"/>
          </p:cNvSpPr>
          <p:nvPr/>
        </p:nvSpPr>
        <p:spPr bwMode="auto">
          <a:xfrm flipH="1">
            <a:off x="2697163" y="535463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06" name="Line 54"/>
          <p:cNvSpPr>
            <a:spLocks noChangeShapeType="1"/>
          </p:cNvSpPr>
          <p:nvPr/>
        </p:nvSpPr>
        <p:spPr bwMode="auto">
          <a:xfrm>
            <a:off x="2576513" y="5400675"/>
            <a:ext cx="158750"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607" name="Text Box 55"/>
          <p:cNvSpPr txBox="1">
            <a:spLocks noChangeArrowheads="1"/>
          </p:cNvSpPr>
          <p:nvPr/>
        </p:nvSpPr>
        <p:spPr bwMode="auto">
          <a:xfrm>
            <a:off x="2928938" y="4841875"/>
            <a:ext cx="322262"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23608" name="Oval 56"/>
          <p:cNvSpPr>
            <a:spLocks noChangeArrowheads="1"/>
          </p:cNvSpPr>
          <p:nvPr/>
        </p:nvSpPr>
        <p:spPr bwMode="auto">
          <a:xfrm flipH="1">
            <a:off x="2805113" y="572293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09" name="Text Box 57"/>
          <p:cNvSpPr txBox="1">
            <a:spLocks noChangeArrowheads="1"/>
          </p:cNvSpPr>
          <p:nvPr/>
        </p:nvSpPr>
        <p:spPr bwMode="auto">
          <a:xfrm flipH="1">
            <a:off x="7092950" y="619442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Z3</a:t>
            </a:r>
            <a:endParaRPr lang="en-GB" altLang="en-US" b="0" i="0">
              <a:solidFill>
                <a:schemeClr val="bg2"/>
              </a:solidFill>
            </a:endParaRPr>
          </a:p>
        </p:txBody>
      </p:sp>
      <p:sp>
        <p:nvSpPr>
          <p:cNvPr id="23610" name="Text Box 58"/>
          <p:cNvSpPr txBox="1">
            <a:spLocks noChangeArrowheads="1"/>
          </p:cNvSpPr>
          <p:nvPr/>
        </p:nvSpPr>
        <p:spPr bwMode="auto">
          <a:xfrm flipH="1">
            <a:off x="7092950" y="561657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sp>
        <p:nvSpPr>
          <p:cNvPr id="23611" name="Text Box 59"/>
          <p:cNvSpPr txBox="1">
            <a:spLocks noChangeArrowheads="1"/>
          </p:cNvSpPr>
          <p:nvPr/>
        </p:nvSpPr>
        <p:spPr bwMode="auto">
          <a:xfrm flipH="1">
            <a:off x="7092950" y="525462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23612" name="Text Box 60"/>
          <p:cNvSpPr txBox="1">
            <a:spLocks noChangeArrowheads="1"/>
          </p:cNvSpPr>
          <p:nvPr/>
        </p:nvSpPr>
        <p:spPr bwMode="auto">
          <a:xfrm flipH="1">
            <a:off x="5543550" y="5257800"/>
            <a:ext cx="258763" cy="668338"/>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sp>
        <p:nvSpPr>
          <p:cNvPr id="23613" name="Text Box 61"/>
          <p:cNvSpPr txBox="1">
            <a:spLocks noChangeArrowheads="1"/>
          </p:cNvSpPr>
          <p:nvPr/>
        </p:nvSpPr>
        <p:spPr bwMode="auto">
          <a:xfrm flipH="1">
            <a:off x="6397625" y="562292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3614" name="Line 62"/>
          <p:cNvSpPr>
            <a:spLocks noChangeShapeType="1"/>
          </p:cNvSpPr>
          <p:nvPr/>
        </p:nvSpPr>
        <p:spPr bwMode="auto">
          <a:xfrm flipH="1">
            <a:off x="6735763" y="5767388"/>
            <a:ext cx="11747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15" name="Text Box 63"/>
          <p:cNvSpPr txBox="1">
            <a:spLocks noChangeArrowheads="1"/>
          </p:cNvSpPr>
          <p:nvPr/>
        </p:nvSpPr>
        <p:spPr bwMode="auto">
          <a:xfrm flipH="1">
            <a:off x="6391275" y="6194425"/>
            <a:ext cx="390525"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rgbClr val="FFFFC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23616" name="Line 64"/>
          <p:cNvSpPr>
            <a:spLocks noChangeShapeType="1"/>
          </p:cNvSpPr>
          <p:nvPr/>
        </p:nvSpPr>
        <p:spPr bwMode="auto">
          <a:xfrm flipH="1">
            <a:off x="6735763" y="6345238"/>
            <a:ext cx="3683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17" name="Line 65"/>
          <p:cNvSpPr>
            <a:spLocks noChangeShapeType="1"/>
          </p:cNvSpPr>
          <p:nvPr/>
        </p:nvSpPr>
        <p:spPr bwMode="auto">
          <a:xfrm flipH="1">
            <a:off x="6305550" y="5761038"/>
            <a:ext cx="857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18" name="Line 66"/>
          <p:cNvSpPr>
            <a:spLocks noChangeShapeType="1"/>
          </p:cNvSpPr>
          <p:nvPr/>
        </p:nvSpPr>
        <p:spPr bwMode="auto">
          <a:xfrm flipH="1" flipV="1">
            <a:off x="6307138" y="5495925"/>
            <a:ext cx="0" cy="28098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19" name="Line 67"/>
          <p:cNvSpPr>
            <a:spLocks noChangeShapeType="1"/>
          </p:cNvSpPr>
          <p:nvPr/>
        </p:nvSpPr>
        <p:spPr bwMode="auto">
          <a:xfrm flipH="1">
            <a:off x="5799138" y="5510213"/>
            <a:ext cx="5048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20" name="Line 68"/>
          <p:cNvSpPr>
            <a:spLocks noChangeShapeType="1"/>
          </p:cNvSpPr>
          <p:nvPr/>
        </p:nvSpPr>
        <p:spPr bwMode="auto">
          <a:xfrm flipH="1">
            <a:off x="6065838" y="6343650"/>
            <a:ext cx="3270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21" name="Line 69"/>
          <p:cNvSpPr>
            <a:spLocks noChangeShapeType="1"/>
          </p:cNvSpPr>
          <p:nvPr/>
        </p:nvSpPr>
        <p:spPr bwMode="auto">
          <a:xfrm flipH="1" flipV="1">
            <a:off x="6065838" y="5613400"/>
            <a:ext cx="0" cy="74453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22" name="Line 70"/>
          <p:cNvSpPr>
            <a:spLocks noChangeShapeType="1"/>
          </p:cNvSpPr>
          <p:nvPr/>
        </p:nvSpPr>
        <p:spPr bwMode="auto">
          <a:xfrm flipH="1">
            <a:off x="5803900" y="5614988"/>
            <a:ext cx="2619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24" name="Text Box 72"/>
          <p:cNvSpPr txBox="1">
            <a:spLocks noChangeArrowheads="1"/>
          </p:cNvSpPr>
          <p:nvPr/>
        </p:nvSpPr>
        <p:spPr bwMode="auto">
          <a:xfrm flipH="1">
            <a:off x="4987925" y="5280025"/>
            <a:ext cx="473075"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Trip</a:t>
            </a:r>
          </a:p>
        </p:txBody>
      </p:sp>
      <p:sp>
        <p:nvSpPr>
          <p:cNvPr id="23625" name="Text Box 73"/>
          <p:cNvSpPr txBox="1">
            <a:spLocks noChangeArrowheads="1"/>
          </p:cNvSpPr>
          <p:nvPr/>
        </p:nvSpPr>
        <p:spPr bwMode="auto">
          <a:xfrm flipH="1">
            <a:off x="6397625" y="5622925"/>
            <a:ext cx="390525"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rgbClr val="FFFFC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3626" name="Oval 74"/>
          <p:cNvSpPr>
            <a:spLocks noChangeArrowheads="1"/>
          </p:cNvSpPr>
          <p:nvPr/>
        </p:nvSpPr>
        <p:spPr bwMode="auto">
          <a:xfrm>
            <a:off x="6908800" y="535463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27" name="Text Box 75"/>
          <p:cNvSpPr txBox="1">
            <a:spLocks noChangeArrowheads="1"/>
          </p:cNvSpPr>
          <p:nvPr/>
        </p:nvSpPr>
        <p:spPr bwMode="auto">
          <a:xfrm flipH="1">
            <a:off x="6457950" y="4841875"/>
            <a:ext cx="322263"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23628" name="Oval 76"/>
          <p:cNvSpPr>
            <a:spLocks noChangeArrowheads="1"/>
          </p:cNvSpPr>
          <p:nvPr/>
        </p:nvSpPr>
        <p:spPr bwMode="auto">
          <a:xfrm>
            <a:off x="6800850" y="572293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63" name="Rectangle 111"/>
          <p:cNvSpPr>
            <a:spLocks noChangeArrowheads="1"/>
          </p:cNvSpPr>
          <p:nvPr/>
        </p:nvSpPr>
        <p:spPr bwMode="auto">
          <a:xfrm>
            <a:off x="6115050" y="3881438"/>
            <a:ext cx="358775" cy="465137"/>
          </a:xfrm>
          <a:prstGeom prst="rect">
            <a:avLst/>
          </a:prstGeom>
          <a:solidFill>
            <a:srgbClr val="FFFFC3"/>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659" name="Rectangle 107"/>
          <p:cNvSpPr>
            <a:spLocks noChangeArrowheads="1"/>
          </p:cNvSpPr>
          <p:nvPr/>
        </p:nvSpPr>
        <p:spPr bwMode="auto">
          <a:xfrm>
            <a:off x="3214688" y="3906838"/>
            <a:ext cx="387350" cy="465137"/>
          </a:xfrm>
          <a:prstGeom prst="rect">
            <a:avLst/>
          </a:prstGeom>
          <a:solidFill>
            <a:srgbClr val="FFFFC3"/>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660" name="Rectangle 108"/>
          <p:cNvSpPr>
            <a:spLocks noChangeArrowheads="1"/>
          </p:cNvSpPr>
          <p:nvPr/>
        </p:nvSpPr>
        <p:spPr bwMode="auto">
          <a:xfrm>
            <a:off x="3359150" y="4183063"/>
            <a:ext cx="219075" cy="149225"/>
          </a:xfrm>
          <a:prstGeom prst="rect">
            <a:avLst/>
          </a:prstGeom>
          <a:noFill/>
          <a:ln>
            <a:noFill/>
          </a:ln>
          <a:effectLst/>
          <a:extLst>
            <a:ext uri="{909E8E84-426E-40DD-AFC4-6F175D3DCCD1}">
              <a14:hiddenFill xmlns:a14="http://schemas.microsoft.com/office/drawing/2010/main">
                <a:solidFill>
                  <a:srgbClr val="FFFFC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900" i="0">
                <a:solidFill>
                  <a:schemeClr val="bg2"/>
                </a:solidFill>
              </a:rPr>
              <a:t>100</a:t>
            </a:r>
            <a:endParaRPr lang="en-GB" altLang="en-US" sz="1000" b="0" i="0">
              <a:solidFill>
                <a:schemeClr val="tx1"/>
              </a:solidFill>
            </a:endParaRPr>
          </a:p>
        </p:txBody>
      </p:sp>
      <p:sp>
        <p:nvSpPr>
          <p:cNvPr id="23661" name="Rectangle 109"/>
          <p:cNvSpPr>
            <a:spLocks noChangeArrowheads="1"/>
          </p:cNvSpPr>
          <p:nvPr/>
        </p:nvSpPr>
        <p:spPr bwMode="auto">
          <a:xfrm>
            <a:off x="3289300" y="3927475"/>
            <a:ext cx="209550" cy="157163"/>
          </a:xfrm>
          <a:prstGeom prst="rect">
            <a:avLst/>
          </a:prstGeom>
          <a:noFill/>
          <a:ln>
            <a:noFill/>
          </a:ln>
          <a:effectLst/>
          <a:extLst>
            <a:ext uri="{909E8E84-426E-40DD-AFC4-6F175D3DCCD1}">
              <a14:hiddenFill xmlns:a14="http://schemas.microsoft.com/office/drawing/2010/main">
                <a:solidFill>
                  <a:srgbClr val="FFFFC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200" i="0">
                <a:solidFill>
                  <a:schemeClr val="bg2"/>
                </a:solidFill>
              </a:rPr>
              <a:t>0</a:t>
            </a:r>
            <a:endParaRPr lang="en-GB" altLang="en-US" sz="1600" b="0" i="0">
              <a:solidFill>
                <a:schemeClr val="tx1"/>
              </a:solidFill>
            </a:endParaRPr>
          </a:p>
        </p:txBody>
      </p:sp>
      <p:sp>
        <p:nvSpPr>
          <p:cNvPr id="23662" name="Line 110"/>
          <p:cNvSpPr>
            <a:spLocks noChangeShapeType="1"/>
          </p:cNvSpPr>
          <p:nvPr/>
        </p:nvSpPr>
        <p:spPr bwMode="auto">
          <a:xfrm flipV="1">
            <a:off x="3214688" y="3913188"/>
            <a:ext cx="387350" cy="4492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64" name="Rectangle 112"/>
          <p:cNvSpPr>
            <a:spLocks noChangeArrowheads="1"/>
          </p:cNvSpPr>
          <p:nvPr/>
        </p:nvSpPr>
        <p:spPr bwMode="auto">
          <a:xfrm>
            <a:off x="6240463" y="4152900"/>
            <a:ext cx="217487" cy="169863"/>
          </a:xfrm>
          <a:prstGeom prst="rect">
            <a:avLst/>
          </a:prstGeom>
          <a:noFill/>
          <a:ln>
            <a:noFill/>
          </a:ln>
          <a:effectLst/>
          <a:extLst>
            <a:ext uri="{909E8E84-426E-40DD-AFC4-6F175D3DCCD1}">
              <a14:hiddenFill xmlns:a14="http://schemas.microsoft.com/office/drawing/2010/main">
                <a:solidFill>
                  <a:srgbClr val="FFFFC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900" i="0">
                <a:solidFill>
                  <a:schemeClr val="bg2"/>
                </a:solidFill>
              </a:rPr>
              <a:t>100</a:t>
            </a:r>
            <a:endParaRPr lang="en-GB" altLang="en-US" sz="900" b="0" i="0">
              <a:solidFill>
                <a:schemeClr val="tx1"/>
              </a:solidFill>
            </a:endParaRPr>
          </a:p>
        </p:txBody>
      </p:sp>
      <p:sp>
        <p:nvSpPr>
          <p:cNvPr id="23665" name="Rectangle 113"/>
          <p:cNvSpPr>
            <a:spLocks noChangeArrowheads="1"/>
          </p:cNvSpPr>
          <p:nvPr/>
        </p:nvSpPr>
        <p:spPr bwMode="auto">
          <a:xfrm>
            <a:off x="6176963" y="3906838"/>
            <a:ext cx="187325" cy="152400"/>
          </a:xfrm>
          <a:prstGeom prst="rect">
            <a:avLst/>
          </a:prstGeom>
          <a:noFill/>
          <a:ln>
            <a:noFill/>
          </a:ln>
          <a:effectLst/>
          <a:extLst>
            <a:ext uri="{909E8E84-426E-40DD-AFC4-6F175D3DCCD1}">
              <a14:hiddenFill xmlns:a14="http://schemas.microsoft.com/office/drawing/2010/main">
                <a:solidFill>
                  <a:srgbClr val="FFFFC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200" i="0">
                <a:solidFill>
                  <a:schemeClr val="bg2"/>
                </a:solidFill>
              </a:rPr>
              <a:t>0</a:t>
            </a:r>
            <a:endParaRPr lang="en-GB" altLang="en-US" sz="1600" b="0" i="0">
              <a:solidFill>
                <a:schemeClr val="tx1"/>
              </a:solidFill>
            </a:endParaRPr>
          </a:p>
        </p:txBody>
      </p:sp>
      <p:sp>
        <p:nvSpPr>
          <p:cNvPr id="23666" name="Line 114"/>
          <p:cNvSpPr>
            <a:spLocks noChangeShapeType="1"/>
          </p:cNvSpPr>
          <p:nvPr/>
        </p:nvSpPr>
        <p:spPr bwMode="auto">
          <a:xfrm flipV="1">
            <a:off x="6115050" y="3887788"/>
            <a:ext cx="344488" cy="4492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46" name="Rectangle 194"/>
          <p:cNvSpPr>
            <a:spLocks noGrp="1" noChangeArrowheads="1"/>
          </p:cNvSpPr>
          <p:nvPr>
            <p:ph type="title"/>
          </p:nvPr>
        </p:nvSpPr>
        <p:spPr>
          <a:xfrm>
            <a:off x="632619" y="145662"/>
            <a:ext cx="8280400" cy="728662"/>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a:t>Permissive Under reach Scheme (PUR)</a:t>
            </a:r>
          </a:p>
        </p:txBody>
      </p:sp>
      <p:grpSp>
        <p:nvGrpSpPr>
          <p:cNvPr id="23711" name="Group 159"/>
          <p:cNvGrpSpPr>
            <a:grpSpLocks/>
          </p:cNvGrpSpPr>
          <p:nvPr/>
        </p:nvGrpSpPr>
        <p:grpSpPr bwMode="auto">
          <a:xfrm>
            <a:off x="2565400" y="3800475"/>
            <a:ext cx="4564063" cy="1968500"/>
            <a:chOff x="2073" y="2156"/>
            <a:chExt cx="2875" cy="1240"/>
          </a:xfrm>
        </p:grpSpPr>
        <p:sp>
          <p:nvSpPr>
            <p:cNvPr id="23712" name="Line 160"/>
            <p:cNvSpPr>
              <a:spLocks noChangeShapeType="1"/>
            </p:cNvSpPr>
            <p:nvPr/>
          </p:nvSpPr>
          <p:spPr bwMode="auto">
            <a:xfrm>
              <a:off x="2233" y="3395"/>
              <a:ext cx="7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13" name="Line 161"/>
            <p:cNvSpPr>
              <a:spLocks noChangeShapeType="1"/>
            </p:cNvSpPr>
            <p:nvPr/>
          </p:nvSpPr>
          <p:spPr bwMode="auto">
            <a:xfrm>
              <a:off x="3060" y="3171"/>
              <a:ext cx="96"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14" name="Line 162"/>
            <p:cNvSpPr>
              <a:spLocks noChangeShapeType="1"/>
            </p:cNvSpPr>
            <p:nvPr/>
          </p:nvSpPr>
          <p:spPr bwMode="auto">
            <a:xfrm flipH="1">
              <a:off x="3852" y="3171"/>
              <a:ext cx="96"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21" name="Line 169"/>
            <p:cNvSpPr>
              <a:spLocks noChangeShapeType="1"/>
            </p:cNvSpPr>
            <p:nvPr/>
          </p:nvSpPr>
          <p:spPr bwMode="auto">
            <a:xfrm flipH="1">
              <a:off x="2571" y="3104"/>
              <a:ext cx="32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22" name="Line 170"/>
            <p:cNvSpPr>
              <a:spLocks noChangeShapeType="1"/>
            </p:cNvSpPr>
            <p:nvPr/>
          </p:nvSpPr>
          <p:spPr bwMode="auto">
            <a:xfrm flipV="1">
              <a:off x="2247" y="2356"/>
              <a:ext cx="0" cy="50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23" name="Line 171"/>
            <p:cNvSpPr>
              <a:spLocks noChangeShapeType="1"/>
            </p:cNvSpPr>
            <p:nvPr/>
          </p:nvSpPr>
          <p:spPr bwMode="auto">
            <a:xfrm>
              <a:off x="2723" y="2308"/>
              <a:ext cx="281"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24" name="Line 172"/>
            <p:cNvSpPr>
              <a:spLocks noChangeShapeType="1"/>
            </p:cNvSpPr>
            <p:nvPr/>
          </p:nvSpPr>
          <p:spPr bwMode="auto">
            <a:xfrm>
              <a:off x="2240" y="2356"/>
              <a:ext cx="23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25" name="Line 173"/>
            <p:cNvSpPr>
              <a:spLocks noChangeShapeType="1"/>
            </p:cNvSpPr>
            <p:nvPr/>
          </p:nvSpPr>
          <p:spPr bwMode="auto">
            <a:xfrm>
              <a:off x="2247" y="2852"/>
              <a:ext cx="61"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26" name="Line 174"/>
            <p:cNvSpPr>
              <a:spLocks noChangeShapeType="1"/>
            </p:cNvSpPr>
            <p:nvPr/>
          </p:nvSpPr>
          <p:spPr bwMode="auto">
            <a:xfrm flipV="1">
              <a:off x="2247" y="2968"/>
              <a:ext cx="0" cy="42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27" name="Line 175"/>
            <p:cNvSpPr>
              <a:spLocks noChangeShapeType="1"/>
            </p:cNvSpPr>
            <p:nvPr/>
          </p:nvSpPr>
          <p:spPr bwMode="auto">
            <a:xfrm>
              <a:off x="2073" y="3396"/>
              <a:ext cx="16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28" name="Line 176"/>
            <p:cNvSpPr>
              <a:spLocks noChangeShapeType="1"/>
            </p:cNvSpPr>
            <p:nvPr/>
          </p:nvSpPr>
          <p:spPr bwMode="auto">
            <a:xfrm>
              <a:off x="2247" y="2976"/>
              <a:ext cx="61"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29" name="Line 177"/>
            <p:cNvSpPr>
              <a:spLocks noChangeShapeType="1"/>
            </p:cNvSpPr>
            <p:nvPr/>
          </p:nvSpPr>
          <p:spPr bwMode="auto">
            <a:xfrm>
              <a:off x="2506" y="2912"/>
              <a:ext cx="7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30" name="Line 178"/>
            <p:cNvSpPr>
              <a:spLocks noChangeShapeType="1"/>
            </p:cNvSpPr>
            <p:nvPr/>
          </p:nvSpPr>
          <p:spPr bwMode="auto">
            <a:xfrm flipV="1">
              <a:off x="2574" y="2904"/>
              <a:ext cx="0" cy="20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31" name="Line 179"/>
            <p:cNvSpPr>
              <a:spLocks noChangeShapeType="1"/>
            </p:cNvSpPr>
            <p:nvPr/>
          </p:nvSpPr>
          <p:spPr bwMode="auto">
            <a:xfrm flipH="1">
              <a:off x="3991" y="2158"/>
              <a:ext cx="85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32" name="Line 180"/>
            <p:cNvSpPr>
              <a:spLocks noChangeShapeType="1"/>
            </p:cNvSpPr>
            <p:nvPr/>
          </p:nvSpPr>
          <p:spPr bwMode="auto">
            <a:xfrm>
              <a:off x="4113" y="3104"/>
              <a:ext cx="32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33" name="Line 181"/>
            <p:cNvSpPr>
              <a:spLocks noChangeShapeType="1"/>
            </p:cNvSpPr>
            <p:nvPr/>
          </p:nvSpPr>
          <p:spPr bwMode="auto">
            <a:xfrm flipH="1" flipV="1">
              <a:off x="4760" y="2356"/>
              <a:ext cx="0" cy="50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34" name="Line 182"/>
            <p:cNvSpPr>
              <a:spLocks noChangeShapeType="1"/>
            </p:cNvSpPr>
            <p:nvPr/>
          </p:nvSpPr>
          <p:spPr bwMode="auto">
            <a:xfrm flipH="1">
              <a:off x="3987" y="2308"/>
              <a:ext cx="321"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35" name="Line 183"/>
            <p:cNvSpPr>
              <a:spLocks noChangeShapeType="1"/>
            </p:cNvSpPr>
            <p:nvPr/>
          </p:nvSpPr>
          <p:spPr bwMode="auto">
            <a:xfrm flipH="1">
              <a:off x="4833" y="2156"/>
              <a:ext cx="0" cy="101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36" name="Line 184"/>
            <p:cNvSpPr>
              <a:spLocks noChangeShapeType="1"/>
            </p:cNvSpPr>
            <p:nvPr/>
          </p:nvSpPr>
          <p:spPr bwMode="auto">
            <a:xfrm flipH="1">
              <a:off x="4529" y="2356"/>
              <a:ext cx="23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37" name="Line 185"/>
            <p:cNvSpPr>
              <a:spLocks noChangeShapeType="1"/>
            </p:cNvSpPr>
            <p:nvPr/>
          </p:nvSpPr>
          <p:spPr bwMode="auto">
            <a:xfrm flipH="1">
              <a:off x="4723" y="2852"/>
              <a:ext cx="37"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38" name="Line 186"/>
            <p:cNvSpPr>
              <a:spLocks noChangeShapeType="1"/>
            </p:cNvSpPr>
            <p:nvPr/>
          </p:nvSpPr>
          <p:spPr bwMode="auto">
            <a:xfrm flipH="1" flipV="1">
              <a:off x="4760" y="2968"/>
              <a:ext cx="0" cy="42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39" name="Line 187"/>
            <p:cNvSpPr>
              <a:spLocks noChangeShapeType="1"/>
            </p:cNvSpPr>
            <p:nvPr/>
          </p:nvSpPr>
          <p:spPr bwMode="auto">
            <a:xfrm flipH="1">
              <a:off x="4770" y="3396"/>
              <a:ext cx="16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40" name="Line 188"/>
            <p:cNvSpPr>
              <a:spLocks noChangeShapeType="1"/>
            </p:cNvSpPr>
            <p:nvPr/>
          </p:nvSpPr>
          <p:spPr bwMode="auto">
            <a:xfrm flipH="1">
              <a:off x="4723" y="2976"/>
              <a:ext cx="37"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41" name="Line 189"/>
            <p:cNvSpPr>
              <a:spLocks noChangeShapeType="1"/>
            </p:cNvSpPr>
            <p:nvPr/>
          </p:nvSpPr>
          <p:spPr bwMode="auto">
            <a:xfrm flipH="1">
              <a:off x="4426" y="2912"/>
              <a:ext cx="10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42" name="Line 190"/>
            <p:cNvSpPr>
              <a:spLocks noChangeShapeType="1"/>
            </p:cNvSpPr>
            <p:nvPr/>
          </p:nvSpPr>
          <p:spPr bwMode="auto">
            <a:xfrm flipH="1" flipV="1">
              <a:off x="4433" y="2904"/>
              <a:ext cx="0" cy="2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43" name="Line 191"/>
            <p:cNvSpPr>
              <a:spLocks noChangeShapeType="1"/>
            </p:cNvSpPr>
            <p:nvPr/>
          </p:nvSpPr>
          <p:spPr bwMode="auto">
            <a:xfrm>
              <a:off x="4120" y="3162"/>
              <a:ext cx="71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44" name="Line 192"/>
            <p:cNvSpPr>
              <a:spLocks noChangeShapeType="1"/>
            </p:cNvSpPr>
            <p:nvPr/>
          </p:nvSpPr>
          <p:spPr bwMode="auto">
            <a:xfrm>
              <a:off x="4848" y="3164"/>
              <a:ext cx="10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23747" name="Group 195"/>
          <p:cNvGrpSpPr>
            <a:grpSpLocks/>
          </p:cNvGrpSpPr>
          <p:nvPr/>
        </p:nvGrpSpPr>
        <p:grpSpPr bwMode="auto">
          <a:xfrm>
            <a:off x="3535363" y="2127692"/>
            <a:ext cx="2349500" cy="392112"/>
            <a:chOff x="666" y="981"/>
            <a:chExt cx="2100" cy="312"/>
          </a:xfrm>
        </p:grpSpPr>
        <p:sp>
          <p:nvSpPr>
            <p:cNvPr id="23748" name="Line 196"/>
            <p:cNvSpPr>
              <a:spLocks noChangeShapeType="1"/>
            </p:cNvSpPr>
            <p:nvPr/>
          </p:nvSpPr>
          <p:spPr bwMode="auto">
            <a:xfrm flipV="1">
              <a:off x="666" y="1137"/>
              <a:ext cx="21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49" name="Line 197"/>
            <p:cNvSpPr>
              <a:spLocks noChangeShapeType="1"/>
            </p:cNvSpPr>
            <p:nvPr/>
          </p:nvSpPr>
          <p:spPr bwMode="auto">
            <a:xfrm>
              <a:off x="250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0" name="Line 198"/>
            <p:cNvSpPr>
              <a:spLocks noChangeShapeType="1"/>
            </p:cNvSpPr>
            <p:nvPr/>
          </p:nvSpPr>
          <p:spPr bwMode="auto">
            <a:xfrm>
              <a:off x="2130"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1" name="Line 199"/>
            <p:cNvSpPr>
              <a:spLocks noChangeShapeType="1"/>
            </p:cNvSpPr>
            <p:nvPr/>
          </p:nvSpPr>
          <p:spPr bwMode="auto">
            <a:xfrm>
              <a:off x="121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2" name="Line 200"/>
            <p:cNvSpPr>
              <a:spLocks noChangeShapeType="1"/>
            </p:cNvSpPr>
            <p:nvPr/>
          </p:nvSpPr>
          <p:spPr bwMode="auto">
            <a:xfrm>
              <a:off x="846"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3753" name="Group 201"/>
            <p:cNvGrpSpPr>
              <a:grpSpLocks/>
            </p:cNvGrpSpPr>
            <p:nvPr/>
          </p:nvGrpSpPr>
          <p:grpSpPr bwMode="auto">
            <a:xfrm>
              <a:off x="1271" y="1094"/>
              <a:ext cx="84" cy="87"/>
              <a:chOff x="2636" y="2286"/>
              <a:chExt cx="33" cy="34"/>
            </a:xfrm>
          </p:grpSpPr>
          <p:sp>
            <p:nvSpPr>
              <p:cNvPr id="23754" name="Line 202"/>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55" name="Line 203"/>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3756" name="Group 204"/>
            <p:cNvGrpSpPr>
              <a:grpSpLocks/>
            </p:cNvGrpSpPr>
            <p:nvPr/>
          </p:nvGrpSpPr>
          <p:grpSpPr bwMode="auto">
            <a:xfrm>
              <a:off x="1997" y="1093"/>
              <a:ext cx="84" cy="87"/>
              <a:chOff x="2636" y="2286"/>
              <a:chExt cx="33" cy="34"/>
            </a:xfrm>
          </p:grpSpPr>
          <p:sp>
            <p:nvSpPr>
              <p:cNvPr id="23757" name="Line 205"/>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58" name="Line 206"/>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3759" name="Line 207"/>
          <p:cNvSpPr>
            <a:spLocks noChangeShapeType="1"/>
          </p:cNvSpPr>
          <p:nvPr/>
        </p:nvSpPr>
        <p:spPr bwMode="auto">
          <a:xfrm>
            <a:off x="4252913" y="2056254"/>
            <a:ext cx="644525"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0" name="Line 208"/>
          <p:cNvSpPr>
            <a:spLocks noChangeShapeType="1"/>
          </p:cNvSpPr>
          <p:nvPr/>
        </p:nvSpPr>
        <p:spPr bwMode="auto">
          <a:xfrm>
            <a:off x="4462463" y="2599179"/>
            <a:ext cx="644525"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 name="Line 209"/>
          <p:cNvSpPr>
            <a:spLocks noChangeShapeType="1"/>
          </p:cNvSpPr>
          <p:nvPr/>
        </p:nvSpPr>
        <p:spPr bwMode="auto">
          <a:xfrm>
            <a:off x="4262438" y="1811779"/>
            <a:ext cx="1020762"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2" name="Line 210"/>
          <p:cNvSpPr>
            <a:spLocks noChangeShapeType="1"/>
          </p:cNvSpPr>
          <p:nvPr/>
        </p:nvSpPr>
        <p:spPr bwMode="auto">
          <a:xfrm>
            <a:off x="4108450" y="1567304"/>
            <a:ext cx="1649413"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3" name="Line 211"/>
          <p:cNvSpPr>
            <a:spLocks noChangeShapeType="1"/>
          </p:cNvSpPr>
          <p:nvPr/>
        </p:nvSpPr>
        <p:spPr bwMode="auto">
          <a:xfrm>
            <a:off x="4081463" y="2838892"/>
            <a:ext cx="1020762"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4" name="Line 212"/>
          <p:cNvSpPr>
            <a:spLocks noChangeShapeType="1"/>
          </p:cNvSpPr>
          <p:nvPr/>
        </p:nvSpPr>
        <p:spPr bwMode="auto">
          <a:xfrm>
            <a:off x="3614738" y="3092892"/>
            <a:ext cx="1649412"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5" name="Text Box 213"/>
          <p:cNvSpPr txBox="1">
            <a:spLocks noChangeArrowheads="1"/>
          </p:cNvSpPr>
          <p:nvPr/>
        </p:nvSpPr>
        <p:spPr bwMode="auto">
          <a:xfrm>
            <a:off x="5715000" y="1453004"/>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Z3</a:t>
            </a:r>
            <a:endParaRPr lang="en-GB" altLang="en-US" b="0" i="0">
              <a:solidFill>
                <a:schemeClr val="tx1"/>
              </a:solidFill>
            </a:endParaRPr>
          </a:p>
        </p:txBody>
      </p:sp>
      <p:sp>
        <p:nvSpPr>
          <p:cNvPr id="23766" name="Text Box 214"/>
          <p:cNvSpPr txBox="1">
            <a:spLocks noChangeArrowheads="1"/>
          </p:cNvSpPr>
          <p:nvPr/>
        </p:nvSpPr>
        <p:spPr bwMode="auto">
          <a:xfrm>
            <a:off x="3346450" y="2978592"/>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Z3</a:t>
            </a:r>
            <a:endParaRPr lang="en-GB" altLang="en-US" b="0" i="0">
              <a:solidFill>
                <a:schemeClr val="tx1"/>
              </a:solidFill>
            </a:endParaRPr>
          </a:p>
        </p:txBody>
      </p:sp>
      <p:sp>
        <p:nvSpPr>
          <p:cNvPr id="23767" name="Text Box 215"/>
          <p:cNvSpPr txBox="1">
            <a:spLocks noChangeArrowheads="1"/>
          </p:cNvSpPr>
          <p:nvPr/>
        </p:nvSpPr>
        <p:spPr bwMode="auto">
          <a:xfrm>
            <a:off x="4841875" y="1913379"/>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23768" name="Text Box 216"/>
          <p:cNvSpPr txBox="1">
            <a:spLocks noChangeArrowheads="1"/>
          </p:cNvSpPr>
          <p:nvPr/>
        </p:nvSpPr>
        <p:spPr bwMode="auto">
          <a:xfrm>
            <a:off x="4197350" y="2484879"/>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23769" name="Text Box 217"/>
          <p:cNvSpPr txBox="1">
            <a:spLocks noChangeArrowheads="1"/>
          </p:cNvSpPr>
          <p:nvPr/>
        </p:nvSpPr>
        <p:spPr bwMode="auto">
          <a:xfrm>
            <a:off x="5229225" y="1699067"/>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sp>
        <p:nvSpPr>
          <p:cNvPr id="23770" name="Text Box 218"/>
          <p:cNvSpPr txBox="1">
            <a:spLocks noChangeArrowheads="1"/>
          </p:cNvSpPr>
          <p:nvPr/>
        </p:nvSpPr>
        <p:spPr bwMode="auto">
          <a:xfrm>
            <a:off x="3816350" y="2721417"/>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grpSp>
        <p:nvGrpSpPr>
          <p:cNvPr id="23771" name="Group 219"/>
          <p:cNvGrpSpPr>
            <a:grpSpLocks/>
          </p:cNvGrpSpPr>
          <p:nvPr/>
        </p:nvGrpSpPr>
        <p:grpSpPr bwMode="auto">
          <a:xfrm>
            <a:off x="4864100" y="2180079"/>
            <a:ext cx="106363" cy="396875"/>
            <a:chOff x="5516" y="4124"/>
            <a:chExt cx="164" cy="544"/>
          </a:xfrm>
        </p:grpSpPr>
        <p:sp>
          <p:nvSpPr>
            <p:cNvPr id="23772" name="Line 220"/>
            <p:cNvSpPr>
              <a:spLocks noChangeShapeType="1"/>
            </p:cNvSpPr>
            <p:nvPr/>
          </p:nvSpPr>
          <p:spPr bwMode="auto">
            <a:xfrm flipH="1">
              <a:off x="5516" y="4360"/>
              <a:ext cx="157" cy="308"/>
            </a:xfrm>
            <a:prstGeom prst="line">
              <a:avLst/>
            </a:prstGeom>
            <a:noFill/>
            <a:ln w="19050">
              <a:solidFill>
                <a:srgbClr val="FF0000"/>
              </a:solidFill>
              <a:round/>
              <a:headEnd type="none" w="med"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773" name="Line 221"/>
            <p:cNvSpPr>
              <a:spLocks noChangeShapeType="1"/>
            </p:cNvSpPr>
            <p:nvPr/>
          </p:nvSpPr>
          <p:spPr bwMode="auto">
            <a:xfrm flipH="1">
              <a:off x="5516" y="4124"/>
              <a:ext cx="129" cy="259"/>
            </a:xfrm>
            <a:prstGeom prst="line">
              <a:avLst/>
            </a:prstGeom>
            <a:noFill/>
            <a:ln w="19050">
              <a:solidFill>
                <a:srgbClr val="FF00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774" name="Line 222"/>
            <p:cNvSpPr>
              <a:spLocks noChangeShapeType="1"/>
            </p:cNvSpPr>
            <p:nvPr/>
          </p:nvSpPr>
          <p:spPr bwMode="auto">
            <a:xfrm>
              <a:off x="5524" y="4375"/>
              <a:ext cx="156" cy="0"/>
            </a:xfrm>
            <a:prstGeom prst="line">
              <a:avLst/>
            </a:prstGeom>
            <a:noFill/>
            <a:ln w="19050">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cxnSp>
        <p:nvCxnSpPr>
          <p:cNvPr id="3" name="Straight Arrow Connector 2"/>
          <p:cNvCxnSpPr/>
          <p:nvPr/>
        </p:nvCxnSpPr>
        <p:spPr bwMode="auto">
          <a:xfrm flipH="1" flipV="1">
            <a:off x="4503953" y="3773173"/>
            <a:ext cx="626847" cy="245550"/>
          </a:xfrm>
          <a:prstGeom prst="straightConnector1">
            <a:avLst/>
          </a:prstGeom>
          <a:solidFill>
            <a:schemeClr val="accent1"/>
          </a:solidFill>
          <a:ln w="19050" cap="flat" cmpd="sng" algn="ctr">
            <a:solidFill>
              <a:schemeClr val="tx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Straight Arrow Connector 6"/>
          <p:cNvCxnSpPr/>
          <p:nvPr/>
        </p:nvCxnSpPr>
        <p:spPr bwMode="auto">
          <a:xfrm flipV="1">
            <a:off x="4538980" y="3764280"/>
            <a:ext cx="620395" cy="256540"/>
          </a:xfrm>
          <a:prstGeom prst="straightConnector1">
            <a:avLst/>
          </a:prstGeom>
          <a:solidFill>
            <a:schemeClr val="accent1"/>
          </a:solidFill>
          <a:ln w="1905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6967038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ChangeArrowheads="1"/>
          </p:cNvSpPr>
          <p:nvPr/>
        </p:nvSpPr>
        <p:spPr bwMode="auto">
          <a:xfrm>
            <a:off x="1784350" y="1727200"/>
            <a:ext cx="166688" cy="252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600" i="0">
                <a:solidFill>
                  <a:schemeClr val="bg2"/>
                </a:solidFill>
              </a:rPr>
              <a:t>A</a:t>
            </a:r>
            <a:endParaRPr lang="en-GB" altLang="en-US" sz="1600" b="0" i="0">
              <a:solidFill>
                <a:schemeClr val="bg2"/>
              </a:solidFill>
            </a:endParaRPr>
          </a:p>
        </p:txBody>
      </p:sp>
      <p:sp>
        <p:nvSpPr>
          <p:cNvPr id="24580" name="Line 4"/>
          <p:cNvSpPr>
            <a:spLocks noChangeShapeType="1"/>
          </p:cNvSpPr>
          <p:nvPr/>
        </p:nvSpPr>
        <p:spPr bwMode="auto">
          <a:xfrm>
            <a:off x="1585913" y="2057400"/>
            <a:ext cx="3146425" cy="1588"/>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24581" name="Group 5"/>
          <p:cNvGrpSpPr>
            <a:grpSpLocks/>
          </p:cNvGrpSpPr>
          <p:nvPr/>
        </p:nvGrpSpPr>
        <p:grpSpPr bwMode="auto">
          <a:xfrm>
            <a:off x="1801813" y="1978025"/>
            <a:ext cx="142875" cy="155575"/>
            <a:chOff x="0" y="0"/>
            <a:chExt cx="19999" cy="20000"/>
          </a:xfrm>
        </p:grpSpPr>
        <p:sp>
          <p:nvSpPr>
            <p:cNvPr id="24582" name="Line 6"/>
            <p:cNvSpPr>
              <a:spLocks noChangeShapeType="1"/>
            </p:cNvSpPr>
            <p:nvPr/>
          </p:nvSpPr>
          <p:spPr bwMode="auto">
            <a:xfrm flipH="1">
              <a:off x="0"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83" name="Line 7"/>
            <p:cNvSpPr>
              <a:spLocks noChangeShapeType="1"/>
            </p:cNvSpPr>
            <p:nvPr/>
          </p:nvSpPr>
          <p:spPr bwMode="auto">
            <a:xfrm>
              <a:off x="601"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24584" name="Group 8"/>
          <p:cNvGrpSpPr>
            <a:grpSpLocks/>
          </p:cNvGrpSpPr>
          <p:nvPr/>
        </p:nvGrpSpPr>
        <p:grpSpPr bwMode="auto">
          <a:xfrm>
            <a:off x="2228850" y="2860675"/>
            <a:ext cx="307975" cy="150813"/>
            <a:chOff x="8109" y="3289"/>
            <a:chExt cx="2296" cy="999"/>
          </a:xfrm>
        </p:grpSpPr>
        <p:sp>
          <p:nvSpPr>
            <p:cNvPr id="24585" name="Arc 9"/>
            <p:cNvSpPr>
              <a:spLocks/>
            </p:cNvSpPr>
            <p:nvPr/>
          </p:nvSpPr>
          <p:spPr bwMode="auto">
            <a:xfrm>
              <a:off x="9713" y="3289"/>
              <a:ext cx="554" cy="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86" name="Arc 10"/>
            <p:cNvSpPr>
              <a:spLocks/>
            </p:cNvSpPr>
            <p:nvPr/>
          </p:nvSpPr>
          <p:spPr bwMode="auto">
            <a:xfrm flipH="1">
              <a:off x="9184" y="3293"/>
              <a:ext cx="538" cy="60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87" name="Freeform 11"/>
            <p:cNvSpPr>
              <a:spLocks/>
            </p:cNvSpPr>
            <p:nvPr/>
          </p:nvSpPr>
          <p:spPr bwMode="auto">
            <a:xfrm>
              <a:off x="9200" y="3891"/>
              <a:ext cx="3" cy="39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88" name="Arc 12"/>
            <p:cNvSpPr>
              <a:spLocks/>
            </p:cNvSpPr>
            <p:nvPr/>
          </p:nvSpPr>
          <p:spPr bwMode="auto">
            <a:xfrm>
              <a:off x="8646" y="3289"/>
              <a:ext cx="546"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89" name="Arc 13"/>
            <p:cNvSpPr>
              <a:spLocks/>
            </p:cNvSpPr>
            <p:nvPr/>
          </p:nvSpPr>
          <p:spPr bwMode="auto">
            <a:xfrm flipH="1">
              <a:off x="8109" y="3289"/>
              <a:ext cx="536"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90" name="Freeform 14"/>
            <p:cNvSpPr>
              <a:spLocks/>
            </p:cNvSpPr>
            <p:nvPr/>
          </p:nvSpPr>
          <p:spPr bwMode="auto">
            <a:xfrm>
              <a:off x="8113" y="3844"/>
              <a:ext cx="3" cy="444"/>
            </a:xfrm>
            <a:custGeom>
              <a:avLst/>
              <a:gdLst>
                <a:gd name="T0" fmla="*/ 0 w 20000"/>
                <a:gd name="T1" fmla="*/ 0 h 20000"/>
                <a:gd name="T2" fmla="*/ 0 w 20000"/>
                <a:gd name="T3" fmla="*/ 19835 h 20000"/>
              </a:gdLst>
              <a:ahLst/>
              <a:cxnLst>
                <a:cxn ang="0">
                  <a:pos x="T0" y="T1"/>
                </a:cxn>
                <a:cxn ang="0">
                  <a:pos x="T2" y="T3"/>
                </a:cxn>
              </a:cxnLst>
              <a:rect l="0" t="0" r="r" b="b"/>
              <a:pathLst>
                <a:path w="20000" h="20000">
                  <a:moveTo>
                    <a:pt x="0" y="0"/>
                  </a:moveTo>
                  <a:lnTo>
                    <a:pt x="0" y="19835"/>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91" name="Freeform 15"/>
            <p:cNvSpPr>
              <a:spLocks/>
            </p:cNvSpPr>
            <p:nvPr/>
          </p:nvSpPr>
          <p:spPr bwMode="auto">
            <a:xfrm>
              <a:off x="10264" y="3883"/>
              <a:ext cx="141" cy="400"/>
            </a:xfrm>
            <a:custGeom>
              <a:avLst/>
              <a:gdLst>
                <a:gd name="T0" fmla="*/ 0 w 20000"/>
                <a:gd name="T1" fmla="*/ 19798 h 20000"/>
                <a:gd name="T2" fmla="*/ 0 w 20000"/>
                <a:gd name="T3" fmla="*/ 0 h 20000"/>
              </a:gdLst>
              <a:ahLst/>
              <a:cxnLst>
                <a:cxn ang="0">
                  <a:pos x="T0" y="T1"/>
                </a:cxn>
                <a:cxn ang="0">
                  <a:pos x="T2" y="T3"/>
                </a:cxn>
              </a:cxnLst>
              <a:rect l="0" t="0" r="r" b="b"/>
              <a:pathLst>
                <a:path w="20000" h="20000">
                  <a:moveTo>
                    <a:pt x="0" y="19798"/>
                  </a:moveTo>
                  <a:lnTo>
                    <a:pt x="0" y="0"/>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4592" name="Line 16"/>
          <p:cNvSpPr>
            <a:spLocks noChangeShapeType="1"/>
          </p:cNvSpPr>
          <p:nvPr/>
        </p:nvSpPr>
        <p:spPr bwMode="auto">
          <a:xfrm flipH="1">
            <a:off x="2486025" y="3360738"/>
            <a:ext cx="530225" cy="1587"/>
          </a:xfrm>
          <a:prstGeom prst="line">
            <a:avLst/>
          </a:prstGeom>
          <a:noFill/>
          <a:ln w="28575">
            <a:solidFill>
              <a:srgbClr val="1E1E78"/>
            </a:solidFill>
            <a:prstDash val="dash"/>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93" name="Line 17"/>
          <p:cNvSpPr>
            <a:spLocks noChangeShapeType="1"/>
          </p:cNvSpPr>
          <p:nvPr/>
        </p:nvSpPr>
        <p:spPr bwMode="auto">
          <a:xfrm>
            <a:off x="1585913" y="2941638"/>
            <a:ext cx="3146425" cy="1587"/>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94" name="Line 18"/>
          <p:cNvSpPr>
            <a:spLocks noChangeShapeType="1"/>
          </p:cNvSpPr>
          <p:nvPr/>
        </p:nvSpPr>
        <p:spPr bwMode="auto">
          <a:xfrm>
            <a:off x="1585913" y="4148138"/>
            <a:ext cx="3146425" cy="1587"/>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95" name="Line 19"/>
          <p:cNvSpPr>
            <a:spLocks noChangeShapeType="1"/>
          </p:cNvSpPr>
          <p:nvPr/>
        </p:nvSpPr>
        <p:spPr bwMode="auto">
          <a:xfrm>
            <a:off x="1585913" y="5032375"/>
            <a:ext cx="3146425" cy="1588"/>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96" name="Line 20"/>
          <p:cNvSpPr>
            <a:spLocks noChangeShapeType="1"/>
          </p:cNvSpPr>
          <p:nvPr/>
        </p:nvSpPr>
        <p:spPr bwMode="auto">
          <a:xfrm rot="5400000">
            <a:off x="823913" y="2498725"/>
            <a:ext cx="1528762" cy="1588"/>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97" name="Line 21"/>
          <p:cNvSpPr>
            <a:spLocks noChangeShapeType="1"/>
          </p:cNvSpPr>
          <p:nvPr/>
        </p:nvSpPr>
        <p:spPr bwMode="auto">
          <a:xfrm rot="5400000">
            <a:off x="3967957" y="2499519"/>
            <a:ext cx="1528762" cy="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98" name="Line 22"/>
          <p:cNvSpPr>
            <a:spLocks noChangeShapeType="1"/>
          </p:cNvSpPr>
          <p:nvPr/>
        </p:nvSpPr>
        <p:spPr bwMode="auto">
          <a:xfrm rot="5400000">
            <a:off x="824706" y="4590257"/>
            <a:ext cx="1527175" cy="1588"/>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599" name="Line 23"/>
          <p:cNvSpPr>
            <a:spLocks noChangeShapeType="1"/>
          </p:cNvSpPr>
          <p:nvPr/>
        </p:nvSpPr>
        <p:spPr bwMode="auto">
          <a:xfrm rot="5400000">
            <a:off x="3968750" y="4591051"/>
            <a:ext cx="1527175" cy="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00" name="Line 24"/>
          <p:cNvSpPr>
            <a:spLocks noChangeShapeType="1"/>
          </p:cNvSpPr>
          <p:nvPr/>
        </p:nvSpPr>
        <p:spPr bwMode="auto">
          <a:xfrm>
            <a:off x="1009650" y="2493963"/>
            <a:ext cx="571500" cy="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01" name="Line 25"/>
          <p:cNvSpPr>
            <a:spLocks noChangeShapeType="1"/>
          </p:cNvSpPr>
          <p:nvPr/>
        </p:nvSpPr>
        <p:spPr bwMode="auto">
          <a:xfrm>
            <a:off x="1152525" y="2493963"/>
            <a:ext cx="214313" cy="0"/>
          </a:xfrm>
          <a:prstGeom prst="line">
            <a:avLst/>
          </a:prstGeom>
          <a:noFill/>
          <a:ln w="28575">
            <a:solidFill>
              <a:srgbClr val="1E1E78"/>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02" name="Line 26"/>
          <p:cNvSpPr>
            <a:spLocks noChangeShapeType="1"/>
          </p:cNvSpPr>
          <p:nvPr/>
        </p:nvSpPr>
        <p:spPr bwMode="auto">
          <a:xfrm>
            <a:off x="1014413" y="4630738"/>
            <a:ext cx="571500" cy="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03" name="Line 27"/>
          <p:cNvSpPr>
            <a:spLocks noChangeShapeType="1"/>
          </p:cNvSpPr>
          <p:nvPr/>
        </p:nvSpPr>
        <p:spPr bwMode="auto">
          <a:xfrm>
            <a:off x="1158875" y="4630738"/>
            <a:ext cx="212725" cy="0"/>
          </a:xfrm>
          <a:prstGeom prst="line">
            <a:avLst/>
          </a:prstGeom>
          <a:noFill/>
          <a:ln w="28575">
            <a:solidFill>
              <a:srgbClr val="1E1E78"/>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04" name="Line 28"/>
          <p:cNvSpPr>
            <a:spLocks noChangeShapeType="1"/>
          </p:cNvSpPr>
          <p:nvPr/>
        </p:nvSpPr>
        <p:spPr bwMode="auto">
          <a:xfrm rot="5400000">
            <a:off x="4611688" y="4589463"/>
            <a:ext cx="241300" cy="0"/>
          </a:xfrm>
          <a:prstGeom prst="line">
            <a:avLst/>
          </a:prstGeom>
          <a:noFill/>
          <a:ln w="28575">
            <a:solidFill>
              <a:srgbClr val="1E1E78"/>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24605" name="Group 29"/>
          <p:cNvGrpSpPr>
            <a:grpSpLocks/>
          </p:cNvGrpSpPr>
          <p:nvPr/>
        </p:nvGrpSpPr>
        <p:grpSpPr bwMode="auto">
          <a:xfrm>
            <a:off x="1801813" y="2860675"/>
            <a:ext cx="142875" cy="157163"/>
            <a:chOff x="0" y="0"/>
            <a:chExt cx="19999" cy="20000"/>
          </a:xfrm>
        </p:grpSpPr>
        <p:sp>
          <p:nvSpPr>
            <p:cNvPr id="24606" name="Line 30"/>
            <p:cNvSpPr>
              <a:spLocks noChangeShapeType="1"/>
            </p:cNvSpPr>
            <p:nvPr/>
          </p:nvSpPr>
          <p:spPr bwMode="auto">
            <a:xfrm flipH="1">
              <a:off x="0"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07" name="Line 31"/>
            <p:cNvSpPr>
              <a:spLocks noChangeShapeType="1"/>
            </p:cNvSpPr>
            <p:nvPr/>
          </p:nvSpPr>
          <p:spPr bwMode="auto">
            <a:xfrm>
              <a:off x="601"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24608" name="Group 32"/>
          <p:cNvGrpSpPr>
            <a:grpSpLocks/>
          </p:cNvGrpSpPr>
          <p:nvPr/>
        </p:nvGrpSpPr>
        <p:grpSpPr bwMode="auto">
          <a:xfrm>
            <a:off x="4375150" y="1978025"/>
            <a:ext cx="141288" cy="155575"/>
            <a:chOff x="0" y="0"/>
            <a:chExt cx="19999" cy="20000"/>
          </a:xfrm>
        </p:grpSpPr>
        <p:sp>
          <p:nvSpPr>
            <p:cNvPr id="24609" name="Line 33"/>
            <p:cNvSpPr>
              <a:spLocks noChangeShapeType="1"/>
            </p:cNvSpPr>
            <p:nvPr/>
          </p:nvSpPr>
          <p:spPr bwMode="auto">
            <a:xfrm flipH="1">
              <a:off x="0"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10" name="Line 34"/>
            <p:cNvSpPr>
              <a:spLocks noChangeShapeType="1"/>
            </p:cNvSpPr>
            <p:nvPr/>
          </p:nvSpPr>
          <p:spPr bwMode="auto">
            <a:xfrm>
              <a:off x="601"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24611" name="Group 35"/>
          <p:cNvGrpSpPr>
            <a:grpSpLocks/>
          </p:cNvGrpSpPr>
          <p:nvPr/>
        </p:nvGrpSpPr>
        <p:grpSpPr bwMode="auto">
          <a:xfrm>
            <a:off x="4375150" y="2860675"/>
            <a:ext cx="141288" cy="157163"/>
            <a:chOff x="0" y="0"/>
            <a:chExt cx="19999" cy="20000"/>
          </a:xfrm>
        </p:grpSpPr>
        <p:sp>
          <p:nvSpPr>
            <p:cNvPr id="24612" name="Line 36"/>
            <p:cNvSpPr>
              <a:spLocks noChangeShapeType="1"/>
            </p:cNvSpPr>
            <p:nvPr/>
          </p:nvSpPr>
          <p:spPr bwMode="auto">
            <a:xfrm flipH="1">
              <a:off x="0"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13" name="Line 37"/>
            <p:cNvSpPr>
              <a:spLocks noChangeShapeType="1"/>
            </p:cNvSpPr>
            <p:nvPr/>
          </p:nvSpPr>
          <p:spPr bwMode="auto">
            <a:xfrm>
              <a:off x="601"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24614" name="Group 38"/>
          <p:cNvGrpSpPr>
            <a:grpSpLocks/>
          </p:cNvGrpSpPr>
          <p:nvPr/>
        </p:nvGrpSpPr>
        <p:grpSpPr bwMode="auto">
          <a:xfrm>
            <a:off x="1801813" y="4067175"/>
            <a:ext cx="142875" cy="155575"/>
            <a:chOff x="0" y="0"/>
            <a:chExt cx="19999" cy="20000"/>
          </a:xfrm>
        </p:grpSpPr>
        <p:sp>
          <p:nvSpPr>
            <p:cNvPr id="24615" name="Line 39"/>
            <p:cNvSpPr>
              <a:spLocks noChangeShapeType="1"/>
            </p:cNvSpPr>
            <p:nvPr/>
          </p:nvSpPr>
          <p:spPr bwMode="auto">
            <a:xfrm flipH="1">
              <a:off x="0"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16" name="Line 40"/>
            <p:cNvSpPr>
              <a:spLocks noChangeShapeType="1"/>
            </p:cNvSpPr>
            <p:nvPr/>
          </p:nvSpPr>
          <p:spPr bwMode="auto">
            <a:xfrm>
              <a:off x="601"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24617" name="Group 41"/>
          <p:cNvGrpSpPr>
            <a:grpSpLocks/>
          </p:cNvGrpSpPr>
          <p:nvPr/>
        </p:nvGrpSpPr>
        <p:grpSpPr bwMode="auto">
          <a:xfrm>
            <a:off x="1801813" y="4951413"/>
            <a:ext cx="142875" cy="155575"/>
            <a:chOff x="0" y="0"/>
            <a:chExt cx="19999" cy="20000"/>
          </a:xfrm>
        </p:grpSpPr>
        <p:sp>
          <p:nvSpPr>
            <p:cNvPr id="24618" name="Line 42"/>
            <p:cNvSpPr>
              <a:spLocks noChangeShapeType="1"/>
            </p:cNvSpPr>
            <p:nvPr/>
          </p:nvSpPr>
          <p:spPr bwMode="auto">
            <a:xfrm flipH="1">
              <a:off x="0"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19" name="Line 43"/>
            <p:cNvSpPr>
              <a:spLocks noChangeShapeType="1"/>
            </p:cNvSpPr>
            <p:nvPr/>
          </p:nvSpPr>
          <p:spPr bwMode="auto">
            <a:xfrm>
              <a:off x="601"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24620" name="Group 44"/>
          <p:cNvGrpSpPr>
            <a:grpSpLocks/>
          </p:cNvGrpSpPr>
          <p:nvPr/>
        </p:nvGrpSpPr>
        <p:grpSpPr bwMode="auto">
          <a:xfrm>
            <a:off x="4375150" y="4067175"/>
            <a:ext cx="141288" cy="155575"/>
            <a:chOff x="0" y="0"/>
            <a:chExt cx="19999" cy="20000"/>
          </a:xfrm>
        </p:grpSpPr>
        <p:sp>
          <p:nvSpPr>
            <p:cNvPr id="24621" name="Line 45"/>
            <p:cNvSpPr>
              <a:spLocks noChangeShapeType="1"/>
            </p:cNvSpPr>
            <p:nvPr/>
          </p:nvSpPr>
          <p:spPr bwMode="auto">
            <a:xfrm flipH="1">
              <a:off x="0"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22" name="Line 46"/>
            <p:cNvSpPr>
              <a:spLocks noChangeShapeType="1"/>
            </p:cNvSpPr>
            <p:nvPr/>
          </p:nvSpPr>
          <p:spPr bwMode="auto">
            <a:xfrm>
              <a:off x="601"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24623" name="Group 47"/>
          <p:cNvGrpSpPr>
            <a:grpSpLocks/>
          </p:cNvGrpSpPr>
          <p:nvPr/>
        </p:nvGrpSpPr>
        <p:grpSpPr bwMode="auto">
          <a:xfrm>
            <a:off x="4375150" y="4951413"/>
            <a:ext cx="141288" cy="155575"/>
            <a:chOff x="0" y="0"/>
            <a:chExt cx="19999" cy="20000"/>
          </a:xfrm>
        </p:grpSpPr>
        <p:sp>
          <p:nvSpPr>
            <p:cNvPr id="24624" name="Line 48"/>
            <p:cNvSpPr>
              <a:spLocks noChangeShapeType="1"/>
            </p:cNvSpPr>
            <p:nvPr/>
          </p:nvSpPr>
          <p:spPr bwMode="auto">
            <a:xfrm flipH="1">
              <a:off x="0"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25" name="Line 49"/>
            <p:cNvSpPr>
              <a:spLocks noChangeShapeType="1"/>
            </p:cNvSpPr>
            <p:nvPr/>
          </p:nvSpPr>
          <p:spPr bwMode="auto">
            <a:xfrm>
              <a:off x="601" y="0"/>
              <a:ext cx="19398" cy="2000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4626" name="Line 50"/>
          <p:cNvSpPr>
            <a:spLocks noChangeShapeType="1"/>
          </p:cNvSpPr>
          <p:nvPr/>
        </p:nvSpPr>
        <p:spPr bwMode="auto">
          <a:xfrm rot="5400000">
            <a:off x="2228850" y="3086101"/>
            <a:ext cx="288925" cy="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24627" name="Group 51"/>
          <p:cNvGrpSpPr>
            <a:grpSpLocks/>
          </p:cNvGrpSpPr>
          <p:nvPr/>
        </p:nvGrpSpPr>
        <p:grpSpPr bwMode="auto">
          <a:xfrm>
            <a:off x="3803650" y="2860675"/>
            <a:ext cx="304800" cy="150813"/>
            <a:chOff x="8109" y="3289"/>
            <a:chExt cx="2296" cy="999"/>
          </a:xfrm>
        </p:grpSpPr>
        <p:sp>
          <p:nvSpPr>
            <p:cNvPr id="24628" name="Arc 52"/>
            <p:cNvSpPr>
              <a:spLocks/>
            </p:cNvSpPr>
            <p:nvPr/>
          </p:nvSpPr>
          <p:spPr bwMode="auto">
            <a:xfrm>
              <a:off x="9713" y="3289"/>
              <a:ext cx="554" cy="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29" name="Arc 53"/>
            <p:cNvSpPr>
              <a:spLocks/>
            </p:cNvSpPr>
            <p:nvPr/>
          </p:nvSpPr>
          <p:spPr bwMode="auto">
            <a:xfrm flipH="1">
              <a:off x="9184" y="3293"/>
              <a:ext cx="538" cy="60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30" name="Freeform 54"/>
            <p:cNvSpPr>
              <a:spLocks/>
            </p:cNvSpPr>
            <p:nvPr/>
          </p:nvSpPr>
          <p:spPr bwMode="auto">
            <a:xfrm>
              <a:off x="9200" y="3891"/>
              <a:ext cx="3" cy="39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31" name="Arc 55"/>
            <p:cNvSpPr>
              <a:spLocks/>
            </p:cNvSpPr>
            <p:nvPr/>
          </p:nvSpPr>
          <p:spPr bwMode="auto">
            <a:xfrm>
              <a:off x="8646" y="3289"/>
              <a:ext cx="546"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32" name="Arc 56"/>
            <p:cNvSpPr>
              <a:spLocks/>
            </p:cNvSpPr>
            <p:nvPr/>
          </p:nvSpPr>
          <p:spPr bwMode="auto">
            <a:xfrm flipH="1">
              <a:off x="8109" y="3289"/>
              <a:ext cx="536"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33" name="Freeform 57"/>
            <p:cNvSpPr>
              <a:spLocks/>
            </p:cNvSpPr>
            <p:nvPr/>
          </p:nvSpPr>
          <p:spPr bwMode="auto">
            <a:xfrm>
              <a:off x="8113" y="3844"/>
              <a:ext cx="3" cy="444"/>
            </a:xfrm>
            <a:custGeom>
              <a:avLst/>
              <a:gdLst>
                <a:gd name="T0" fmla="*/ 0 w 20000"/>
                <a:gd name="T1" fmla="*/ 0 h 20000"/>
                <a:gd name="T2" fmla="*/ 0 w 20000"/>
                <a:gd name="T3" fmla="*/ 19835 h 20000"/>
              </a:gdLst>
              <a:ahLst/>
              <a:cxnLst>
                <a:cxn ang="0">
                  <a:pos x="T0" y="T1"/>
                </a:cxn>
                <a:cxn ang="0">
                  <a:pos x="T2" y="T3"/>
                </a:cxn>
              </a:cxnLst>
              <a:rect l="0" t="0" r="r" b="b"/>
              <a:pathLst>
                <a:path w="20000" h="20000">
                  <a:moveTo>
                    <a:pt x="0" y="0"/>
                  </a:moveTo>
                  <a:lnTo>
                    <a:pt x="0" y="19835"/>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34" name="Freeform 58"/>
            <p:cNvSpPr>
              <a:spLocks/>
            </p:cNvSpPr>
            <p:nvPr/>
          </p:nvSpPr>
          <p:spPr bwMode="auto">
            <a:xfrm>
              <a:off x="10264" y="3883"/>
              <a:ext cx="141" cy="400"/>
            </a:xfrm>
            <a:custGeom>
              <a:avLst/>
              <a:gdLst>
                <a:gd name="T0" fmla="*/ 0 w 20000"/>
                <a:gd name="T1" fmla="*/ 19798 h 20000"/>
                <a:gd name="T2" fmla="*/ 0 w 20000"/>
                <a:gd name="T3" fmla="*/ 0 h 20000"/>
              </a:gdLst>
              <a:ahLst/>
              <a:cxnLst>
                <a:cxn ang="0">
                  <a:pos x="T0" y="T1"/>
                </a:cxn>
                <a:cxn ang="0">
                  <a:pos x="T2" y="T3"/>
                </a:cxn>
              </a:cxnLst>
              <a:rect l="0" t="0" r="r" b="b"/>
              <a:pathLst>
                <a:path w="20000" h="20000">
                  <a:moveTo>
                    <a:pt x="0" y="19798"/>
                  </a:moveTo>
                  <a:lnTo>
                    <a:pt x="0" y="0"/>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4635" name="Rectangle 59"/>
          <p:cNvSpPr>
            <a:spLocks noChangeArrowheads="1"/>
          </p:cNvSpPr>
          <p:nvPr/>
        </p:nvSpPr>
        <p:spPr bwMode="auto">
          <a:xfrm>
            <a:off x="3841750" y="5318125"/>
            <a:ext cx="230188" cy="247650"/>
          </a:xfrm>
          <a:prstGeom prst="rect">
            <a:avLst/>
          </a:prstGeom>
          <a:solidFill>
            <a:srgbClr val="FFFFC3"/>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200" i="0">
                <a:solidFill>
                  <a:schemeClr val="bg2"/>
                </a:solidFill>
              </a:rPr>
              <a:t>21</a:t>
            </a:r>
            <a:endParaRPr lang="en-GB" altLang="en-US" sz="1200" b="0" i="0">
              <a:solidFill>
                <a:schemeClr val="bg2"/>
              </a:solidFill>
            </a:endParaRPr>
          </a:p>
        </p:txBody>
      </p:sp>
      <p:sp>
        <p:nvSpPr>
          <p:cNvPr id="24636" name="Line 60"/>
          <p:cNvSpPr>
            <a:spLocks noChangeShapeType="1"/>
          </p:cNvSpPr>
          <p:nvPr/>
        </p:nvSpPr>
        <p:spPr bwMode="auto">
          <a:xfrm rot="5400000">
            <a:off x="3807619" y="3085307"/>
            <a:ext cx="287337" cy="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24638" name="Group 62"/>
          <p:cNvGrpSpPr>
            <a:grpSpLocks/>
          </p:cNvGrpSpPr>
          <p:nvPr/>
        </p:nvGrpSpPr>
        <p:grpSpPr bwMode="auto">
          <a:xfrm>
            <a:off x="2228850" y="4951413"/>
            <a:ext cx="307975" cy="150812"/>
            <a:chOff x="8109" y="3289"/>
            <a:chExt cx="2296" cy="999"/>
          </a:xfrm>
        </p:grpSpPr>
        <p:sp>
          <p:nvSpPr>
            <p:cNvPr id="24639" name="Arc 63"/>
            <p:cNvSpPr>
              <a:spLocks/>
            </p:cNvSpPr>
            <p:nvPr/>
          </p:nvSpPr>
          <p:spPr bwMode="auto">
            <a:xfrm>
              <a:off x="9713" y="3289"/>
              <a:ext cx="554" cy="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40" name="Arc 64"/>
            <p:cNvSpPr>
              <a:spLocks/>
            </p:cNvSpPr>
            <p:nvPr/>
          </p:nvSpPr>
          <p:spPr bwMode="auto">
            <a:xfrm flipH="1">
              <a:off x="9184" y="3293"/>
              <a:ext cx="538" cy="60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41" name="Freeform 65"/>
            <p:cNvSpPr>
              <a:spLocks/>
            </p:cNvSpPr>
            <p:nvPr/>
          </p:nvSpPr>
          <p:spPr bwMode="auto">
            <a:xfrm>
              <a:off x="9200" y="3891"/>
              <a:ext cx="3" cy="39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42" name="Arc 66"/>
            <p:cNvSpPr>
              <a:spLocks/>
            </p:cNvSpPr>
            <p:nvPr/>
          </p:nvSpPr>
          <p:spPr bwMode="auto">
            <a:xfrm>
              <a:off x="8646" y="3289"/>
              <a:ext cx="546"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43" name="Arc 67"/>
            <p:cNvSpPr>
              <a:spLocks/>
            </p:cNvSpPr>
            <p:nvPr/>
          </p:nvSpPr>
          <p:spPr bwMode="auto">
            <a:xfrm flipH="1">
              <a:off x="8109" y="3289"/>
              <a:ext cx="536"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44" name="Freeform 68"/>
            <p:cNvSpPr>
              <a:spLocks/>
            </p:cNvSpPr>
            <p:nvPr/>
          </p:nvSpPr>
          <p:spPr bwMode="auto">
            <a:xfrm>
              <a:off x="8113" y="3844"/>
              <a:ext cx="3" cy="444"/>
            </a:xfrm>
            <a:custGeom>
              <a:avLst/>
              <a:gdLst>
                <a:gd name="T0" fmla="*/ 0 w 20000"/>
                <a:gd name="T1" fmla="*/ 0 h 20000"/>
                <a:gd name="T2" fmla="*/ 0 w 20000"/>
                <a:gd name="T3" fmla="*/ 19835 h 20000"/>
              </a:gdLst>
              <a:ahLst/>
              <a:cxnLst>
                <a:cxn ang="0">
                  <a:pos x="T0" y="T1"/>
                </a:cxn>
                <a:cxn ang="0">
                  <a:pos x="T2" y="T3"/>
                </a:cxn>
              </a:cxnLst>
              <a:rect l="0" t="0" r="r" b="b"/>
              <a:pathLst>
                <a:path w="20000" h="20000">
                  <a:moveTo>
                    <a:pt x="0" y="0"/>
                  </a:moveTo>
                  <a:lnTo>
                    <a:pt x="0" y="19835"/>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45" name="Freeform 69"/>
            <p:cNvSpPr>
              <a:spLocks/>
            </p:cNvSpPr>
            <p:nvPr/>
          </p:nvSpPr>
          <p:spPr bwMode="auto">
            <a:xfrm>
              <a:off x="10264" y="3883"/>
              <a:ext cx="141" cy="400"/>
            </a:xfrm>
            <a:custGeom>
              <a:avLst/>
              <a:gdLst>
                <a:gd name="T0" fmla="*/ 0 w 20000"/>
                <a:gd name="T1" fmla="*/ 19798 h 20000"/>
                <a:gd name="T2" fmla="*/ 0 w 20000"/>
                <a:gd name="T3" fmla="*/ 0 h 20000"/>
              </a:gdLst>
              <a:ahLst/>
              <a:cxnLst>
                <a:cxn ang="0">
                  <a:pos x="T0" y="T1"/>
                </a:cxn>
                <a:cxn ang="0">
                  <a:pos x="T2" y="T3"/>
                </a:cxn>
              </a:cxnLst>
              <a:rect l="0" t="0" r="r" b="b"/>
              <a:pathLst>
                <a:path w="20000" h="20000">
                  <a:moveTo>
                    <a:pt x="0" y="19798"/>
                  </a:moveTo>
                  <a:lnTo>
                    <a:pt x="0" y="0"/>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4646" name="Line 70"/>
          <p:cNvSpPr>
            <a:spLocks noChangeShapeType="1"/>
          </p:cNvSpPr>
          <p:nvPr/>
        </p:nvSpPr>
        <p:spPr bwMode="auto">
          <a:xfrm rot="5400000">
            <a:off x="2229644" y="5176044"/>
            <a:ext cx="287338" cy="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24647" name="Group 71"/>
          <p:cNvGrpSpPr>
            <a:grpSpLocks/>
          </p:cNvGrpSpPr>
          <p:nvPr/>
        </p:nvGrpSpPr>
        <p:grpSpPr bwMode="auto">
          <a:xfrm>
            <a:off x="3803650" y="4951413"/>
            <a:ext cx="304800" cy="150812"/>
            <a:chOff x="8109" y="3289"/>
            <a:chExt cx="2296" cy="999"/>
          </a:xfrm>
        </p:grpSpPr>
        <p:sp>
          <p:nvSpPr>
            <p:cNvPr id="24648" name="Arc 72"/>
            <p:cNvSpPr>
              <a:spLocks/>
            </p:cNvSpPr>
            <p:nvPr/>
          </p:nvSpPr>
          <p:spPr bwMode="auto">
            <a:xfrm>
              <a:off x="9713" y="3289"/>
              <a:ext cx="554" cy="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49" name="Arc 73"/>
            <p:cNvSpPr>
              <a:spLocks/>
            </p:cNvSpPr>
            <p:nvPr/>
          </p:nvSpPr>
          <p:spPr bwMode="auto">
            <a:xfrm flipH="1">
              <a:off x="9184" y="3293"/>
              <a:ext cx="538" cy="60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50" name="Freeform 74"/>
            <p:cNvSpPr>
              <a:spLocks/>
            </p:cNvSpPr>
            <p:nvPr/>
          </p:nvSpPr>
          <p:spPr bwMode="auto">
            <a:xfrm>
              <a:off x="9200" y="3891"/>
              <a:ext cx="3" cy="397"/>
            </a:xfrm>
            <a:custGeom>
              <a:avLst/>
              <a:gdLst>
                <a:gd name="T0" fmla="*/ 0 w 20000"/>
                <a:gd name="T1" fmla="*/ 19815 h 20000"/>
                <a:gd name="T2" fmla="*/ 0 w 20000"/>
                <a:gd name="T3" fmla="*/ 0 h 20000"/>
              </a:gdLst>
              <a:ahLst/>
              <a:cxnLst>
                <a:cxn ang="0">
                  <a:pos x="T0" y="T1"/>
                </a:cxn>
                <a:cxn ang="0">
                  <a:pos x="T2" y="T3"/>
                </a:cxn>
              </a:cxnLst>
              <a:rect l="0" t="0" r="r" b="b"/>
              <a:pathLst>
                <a:path w="20000" h="20000">
                  <a:moveTo>
                    <a:pt x="0" y="19815"/>
                  </a:moveTo>
                  <a:lnTo>
                    <a:pt x="0" y="0"/>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51" name="Arc 75"/>
            <p:cNvSpPr>
              <a:spLocks/>
            </p:cNvSpPr>
            <p:nvPr/>
          </p:nvSpPr>
          <p:spPr bwMode="auto">
            <a:xfrm>
              <a:off x="8646" y="3289"/>
              <a:ext cx="546"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52" name="Arc 76"/>
            <p:cNvSpPr>
              <a:spLocks/>
            </p:cNvSpPr>
            <p:nvPr/>
          </p:nvSpPr>
          <p:spPr bwMode="auto">
            <a:xfrm flipH="1">
              <a:off x="8109" y="3289"/>
              <a:ext cx="536"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53" name="Freeform 77"/>
            <p:cNvSpPr>
              <a:spLocks/>
            </p:cNvSpPr>
            <p:nvPr/>
          </p:nvSpPr>
          <p:spPr bwMode="auto">
            <a:xfrm>
              <a:off x="8113" y="3844"/>
              <a:ext cx="3" cy="444"/>
            </a:xfrm>
            <a:custGeom>
              <a:avLst/>
              <a:gdLst>
                <a:gd name="T0" fmla="*/ 0 w 20000"/>
                <a:gd name="T1" fmla="*/ 0 h 20000"/>
                <a:gd name="T2" fmla="*/ 0 w 20000"/>
                <a:gd name="T3" fmla="*/ 19835 h 20000"/>
              </a:gdLst>
              <a:ahLst/>
              <a:cxnLst>
                <a:cxn ang="0">
                  <a:pos x="T0" y="T1"/>
                </a:cxn>
                <a:cxn ang="0">
                  <a:pos x="T2" y="T3"/>
                </a:cxn>
              </a:cxnLst>
              <a:rect l="0" t="0" r="r" b="b"/>
              <a:pathLst>
                <a:path w="20000" h="20000">
                  <a:moveTo>
                    <a:pt x="0" y="0"/>
                  </a:moveTo>
                  <a:lnTo>
                    <a:pt x="0" y="19835"/>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54" name="Freeform 78"/>
            <p:cNvSpPr>
              <a:spLocks/>
            </p:cNvSpPr>
            <p:nvPr/>
          </p:nvSpPr>
          <p:spPr bwMode="auto">
            <a:xfrm>
              <a:off x="10264" y="3883"/>
              <a:ext cx="141" cy="400"/>
            </a:xfrm>
            <a:custGeom>
              <a:avLst/>
              <a:gdLst>
                <a:gd name="T0" fmla="*/ 0 w 20000"/>
                <a:gd name="T1" fmla="*/ 19798 h 20000"/>
                <a:gd name="T2" fmla="*/ 0 w 20000"/>
                <a:gd name="T3" fmla="*/ 0 h 20000"/>
              </a:gdLst>
              <a:ahLst/>
              <a:cxnLst>
                <a:cxn ang="0">
                  <a:pos x="T0" y="T1"/>
                </a:cxn>
                <a:cxn ang="0">
                  <a:pos x="T2" y="T3"/>
                </a:cxn>
              </a:cxnLst>
              <a:rect l="0" t="0" r="r" b="b"/>
              <a:pathLst>
                <a:path w="20000" h="20000">
                  <a:moveTo>
                    <a:pt x="0" y="19798"/>
                  </a:moveTo>
                  <a:lnTo>
                    <a:pt x="0" y="0"/>
                  </a:lnTo>
                </a:path>
              </a:pathLst>
            </a:custGeom>
            <a:noFill/>
            <a:ln w="28575" cap="flat" cmpd="sng">
              <a:solidFill>
                <a:srgbClr val="1E1E7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4655" name="Line 79"/>
          <p:cNvSpPr>
            <a:spLocks noChangeShapeType="1"/>
          </p:cNvSpPr>
          <p:nvPr/>
        </p:nvSpPr>
        <p:spPr bwMode="auto">
          <a:xfrm rot="5400000">
            <a:off x="3810000" y="5178426"/>
            <a:ext cx="282575" cy="0"/>
          </a:xfrm>
          <a:prstGeom prst="line">
            <a:avLst/>
          </a:prstGeom>
          <a:noFill/>
          <a:ln w="28575">
            <a:solidFill>
              <a:srgbClr val="1E1E78"/>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57" name="Line 81"/>
          <p:cNvSpPr>
            <a:spLocks noChangeShapeType="1"/>
          </p:cNvSpPr>
          <p:nvPr/>
        </p:nvSpPr>
        <p:spPr bwMode="auto">
          <a:xfrm>
            <a:off x="3016250" y="4148138"/>
            <a:ext cx="215900" cy="0"/>
          </a:xfrm>
          <a:prstGeom prst="line">
            <a:avLst/>
          </a:prstGeom>
          <a:noFill/>
          <a:ln w="28575">
            <a:solidFill>
              <a:srgbClr val="1E1E78"/>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58" name="Line 82"/>
          <p:cNvSpPr>
            <a:spLocks noChangeShapeType="1"/>
          </p:cNvSpPr>
          <p:nvPr/>
        </p:nvSpPr>
        <p:spPr bwMode="auto">
          <a:xfrm flipH="1">
            <a:off x="3016250" y="5032375"/>
            <a:ext cx="215900" cy="0"/>
          </a:xfrm>
          <a:prstGeom prst="line">
            <a:avLst/>
          </a:prstGeom>
          <a:noFill/>
          <a:ln w="28575">
            <a:solidFill>
              <a:srgbClr val="1E1E78"/>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62" name="Rectangle 86"/>
          <p:cNvSpPr>
            <a:spLocks noChangeArrowheads="1"/>
          </p:cNvSpPr>
          <p:nvPr/>
        </p:nvSpPr>
        <p:spPr bwMode="auto">
          <a:xfrm>
            <a:off x="1793875" y="2608263"/>
            <a:ext cx="166688" cy="252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600" i="0">
                <a:solidFill>
                  <a:schemeClr val="bg2"/>
                </a:solidFill>
              </a:rPr>
              <a:t>C</a:t>
            </a:r>
            <a:endParaRPr lang="en-GB" altLang="en-US" sz="1600" b="0" i="0">
              <a:solidFill>
                <a:schemeClr val="bg2"/>
              </a:solidFill>
            </a:endParaRPr>
          </a:p>
        </p:txBody>
      </p:sp>
      <p:sp>
        <p:nvSpPr>
          <p:cNvPr id="24663" name="Rectangle 87"/>
          <p:cNvSpPr>
            <a:spLocks noChangeArrowheads="1"/>
          </p:cNvSpPr>
          <p:nvPr/>
        </p:nvSpPr>
        <p:spPr bwMode="auto">
          <a:xfrm>
            <a:off x="4368800" y="1746250"/>
            <a:ext cx="166688" cy="252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600" i="0">
                <a:solidFill>
                  <a:schemeClr val="bg2"/>
                </a:solidFill>
              </a:rPr>
              <a:t>B</a:t>
            </a:r>
            <a:endParaRPr lang="en-GB" altLang="en-US" sz="1600" b="0" i="0">
              <a:solidFill>
                <a:schemeClr val="bg2"/>
              </a:solidFill>
            </a:endParaRPr>
          </a:p>
        </p:txBody>
      </p:sp>
      <p:sp>
        <p:nvSpPr>
          <p:cNvPr id="24664" name="Rectangle 88"/>
          <p:cNvSpPr>
            <a:spLocks noChangeArrowheads="1"/>
          </p:cNvSpPr>
          <p:nvPr/>
        </p:nvSpPr>
        <p:spPr bwMode="auto">
          <a:xfrm>
            <a:off x="4368800" y="2613025"/>
            <a:ext cx="166688" cy="252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600" i="0">
                <a:solidFill>
                  <a:schemeClr val="bg2"/>
                </a:solidFill>
              </a:rPr>
              <a:t>D</a:t>
            </a:r>
            <a:endParaRPr lang="en-GB" altLang="en-US" sz="1600" b="0" i="0">
              <a:solidFill>
                <a:schemeClr val="bg2"/>
              </a:solidFill>
            </a:endParaRPr>
          </a:p>
        </p:txBody>
      </p:sp>
      <p:sp>
        <p:nvSpPr>
          <p:cNvPr id="24666" name="Rectangle 90"/>
          <p:cNvSpPr>
            <a:spLocks noChangeArrowheads="1"/>
          </p:cNvSpPr>
          <p:nvPr/>
        </p:nvSpPr>
        <p:spPr bwMode="auto">
          <a:xfrm>
            <a:off x="1793875" y="3816350"/>
            <a:ext cx="166688"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600" i="0">
                <a:solidFill>
                  <a:schemeClr val="bg2"/>
                </a:solidFill>
              </a:rPr>
              <a:t>A</a:t>
            </a:r>
            <a:endParaRPr lang="en-GB" altLang="en-US" sz="1600" b="0" i="0">
              <a:solidFill>
                <a:schemeClr val="bg2"/>
              </a:solidFill>
            </a:endParaRPr>
          </a:p>
        </p:txBody>
      </p:sp>
      <p:sp>
        <p:nvSpPr>
          <p:cNvPr id="24667" name="Rectangle 91"/>
          <p:cNvSpPr>
            <a:spLocks noChangeArrowheads="1"/>
          </p:cNvSpPr>
          <p:nvPr/>
        </p:nvSpPr>
        <p:spPr bwMode="auto">
          <a:xfrm>
            <a:off x="1797050" y="4638675"/>
            <a:ext cx="166688"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600" i="0">
                <a:solidFill>
                  <a:schemeClr val="bg2"/>
                </a:solidFill>
              </a:rPr>
              <a:t>C</a:t>
            </a:r>
            <a:endParaRPr lang="en-GB" altLang="en-US" sz="1600" b="0" i="0">
              <a:solidFill>
                <a:schemeClr val="bg2"/>
              </a:solidFill>
            </a:endParaRPr>
          </a:p>
        </p:txBody>
      </p:sp>
      <p:sp>
        <p:nvSpPr>
          <p:cNvPr id="24668" name="Rectangle 92"/>
          <p:cNvSpPr>
            <a:spLocks noChangeArrowheads="1"/>
          </p:cNvSpPr>
          <p:nvPr/>
        </p:nvSpPr>
        <p:spPr bwMode="auto">
          <a:xfrm>
            <a:off x="4378325" y="3833813"/>
            <a:ext cx="166688" cy="252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600" i="0">
                <a:solidFill>
                  <a:schemeClr val="bg2"/>
                </a:solidFill>
              </a:rPr>
              <a:t>B</a:t>
            </a:r>
            <a:endParaRPr lang="en-GB" altLang="en-US" sz="1600" b="0" i="0">
              <a:solidFill>
                <a:schemeClr val="bg2"/>
              </a:solidFill>
            </a:endParaRPr>
          </a:p>
        </p:txBody>
      </p:sp>
      <p:sp>
        <p:nvSpPr>
          <p:cNvPr id="24669" name="Rectangle 93"/>
          <p:cNvSpPr>
            <a:spLocks noChangeArrowheads="1"/>
          </p:cNvSpPr>
          <p:nvPr/>
        </p:nvSpPr>
        <p:spPr bwMode="auto">
          <a:xfrm>
            <a:off x="4360863" y="4676775"/>
            <a:ext cx="166687" cy="252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600" i="0">
                <a:solidFill>
                  <a:schemeClr val="bg2"/>
                </a:solidFill>
              </a:rPr>
              <a:t>D</a:t>
            </a:r>
            <a:endParaRPr lang="en-GB" altLang="en-US" sz="1600" b="0" i="0">
              <a:solidFill>
                <a:schemeClr val="bg2"/>
              </a:solidFill>
            </a:endParaRPr>
          </a:p>
        </p:txBody>
      </p:sp>
      <p:sp>
        <p:nvSpPr>
          <p:cNvPr id="24671" name="Rectangle 95"/>
          <p:cNvSpPr>
            <a:spLocks noChangeArrowheads="1"/>
          </p:cNvSpPr>
          <p:nvPr/>
        </p:nvSpPr>
        <p:spPr bwMode="auto">
          <a:xfrm>
            <a:off x="2535238" y="3502533"/>
            <a:ext cx="546100" cy="23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600" i="0" dirty="0">
                <a:solidFill>
                  <a:schemeClr val="bg2"/>
                </a:solidFill>
                <a:latin typeface="Arial" panose="020B0604020202020204" pitchFamily="34" charset="0"/>
                <a:cs typeface="Arial" panose="020B0604020202020204" pitchFamily="34" charset="0"/>
              </a:rPr>
              <a:t>Send</a:t>
            </a:r>
            <a:endParaRPr lang="en-GB" altLang="en-US" sz="1600" b="0" i="0" dirty="0">
              <a:solidFill>
                <a:schemeClr val="bg2"/>
              </a:solidFill>
              <a:latin typeface="Arial" panose="020B0604020202020204" pitchFamily="34" charset="0"/>
              <a:cs typeface="Arial" panose="020B0604020202020204" pitchFamily="34" charset="0"/>
            </a:endParaRPr>
          </a:p>
        </p:txBody>
      </p:sp>
      <p:grpSp>
        <p:nvGrpSpPr>
          <p:cNvPr id="24672" name="Group 96"/>
          <p:cNvGrpSpPr>
            <a:grpSpLocks/>
          </p:cNvGrpSpPr>
          <p:nvPr/>
        </p:nvGrpSpPr>
        <p:grpSpPr bwMode="auto">
          <a:xfrm>
            <a:off x="2655888" y="2935288"/>
            <a:ext cx="80962" cy="303212"/>
            <a:chOff x="5516" y="4124"/>
            <a:chExt cx="164" cy="544"/>
          </a:xfrm>
        </p:grpSpPr>
        <p:sp>
          <p:nvSpPr>
            <p:cNvPr id="24673" name="Line 97"/>
            <p:cNvSpPr>
              <a:spLocks noChangeShapeType="1"/>
            </p:cNvSpPr>
            <p:nvPr/>
          </p:nvSpPr>
          <p:spPr bwMode="auto">
            <a:xfrm flipH="1">
              <a:off x="5516" y="4360"/>
              <a:ext cx="157" cy="308"/>
            </a:xfrm>
            <a:prstGeom prst="line">
              <a:avLst/>
            </a:prstGeom>
            <a:noFill/>
            <a:ln w="19050">
              <a:solidFill>
                <a:srgbClr val="FF0000"/>
              </a:solidFill>
              <a:round/>
              <a:headEnd type="none" w="med"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74" name="Line 98"/>
            <p:cNvSpPr>
              <a:spLocks noChangeShapeType="1"/>
            </p:cNvSpPr>
            <p:nvPr/>
          </p:nvSpPr>
          <p:spPr bwMode="auto">
            <a:xfrm flipH="1">
              <a:off x="5516" y="4124"/>
              <a:ext cx="129" cy="259"/>
            </a:xfrm>
            <a:prstGeom prst="line">
              <a:avLst/>
            </a:prstGeom>
            <a:noFill/>
            <a:ln w="19050">
              <a:solidFill>
                <a:srgbClr val="FF00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75" name="Line 99"/>
            <p:cNvSpPr>
              <a:spLocks noChangeShapeType="1"/>
            </p:cNvSpPr>
            <p:nvPr/>
          </p:nvSpPr>
          <p:spPr bwMode="auto">
            <a:xfrm>
              <a:off x="5524" y="4375"/>
              <a:ext cx="156" cy="0"/>
            </a:xfrm>
            <a:prstGeom prst="line">
              <a:avLst/>
            </a:prstGeom>
            <a:noFill/>
            <a:ln w="19050">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4676" name="Rectangle 100"/>
          <p:cNvSpPr>
            <a:spLocks noChangeArrowheads="1"/>
          </p:cNvSpPr>
          <p:nvPr/>
        </p:nvSpPr>
        <p:spPr bwMode="auto">
          <a:xfrm>
            <a:off x="2746376" y="3119152"/>
            <a:ext cx="342900" cy="171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000" dirty="0">
                <a:solidFill>
                  <a:schemeClr val="bg2"/>
                </a:solidFill>
                <a:latin typeface="Arial" panose="020B0604020202020204" pitchFamily="34" charset="0"/>
                <a:cs typeface="Arial" panose="020B0604020202020204" pitchFamily="34" charset="0"/>
              </a:rPr>
              <a:t>Fault</a:t>
            </a:r>
          </a:p>
        </p:txBody>
      </p:sp>
      <p:grpSp>
        <p:nvGrpSpPr>
          <p:cNvPr id="24677" name="Group 101"/>
          <p:cNvGrpSpPr>
            <a:grpSpLocks/>
          </p:cNvGrpSpPr>
          <p:nvPr/>
        </p:nvGrpSpPr>
        <p:grpSpPr bwMode="auto">
          <a:xfrm>
            <a:off x="2638425" y="5022850"/>
            <a:ext cx="80963" cy="301625"/>
            <a:chOff x="5516" y="4124"/>
            <a:chExt cx="164" cy="544"/>
          </a:xfrm>
        </p:grpSpPr>
        <p:sp>
          <p:nvSpPr>
            <p:cNvPr id="24678" name="Line 102"/>
            <p:cNvSpPr>
              <a:spLocks noChangeShapeType="1"/>
            </p:cNvSpPr>
            <p:nvPr/>
          </p:nvSpPr>
          <p:spPr bwMode="auto">
            <a:xfrm flipH="1">
              <a:off x="5516" y="4360"/>
              <a:ext cx="157" cy="308"/>
            </a:xfrm>
            <a:prstGeom prst="line">
              <a:avLst/>
            </a:prstGeom>
            <a:noFill/>
            <a:ln w="19050">
              <a:solidFill>
                <a:srgbClr val="FF0000"/>
              </a:solidFill>
              <a:round/>
              <a:headEnd type="none" w="med"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79" name="Line 103"/>
            <p:cNvSpPr>
              <a:spLocks noChangeShapeType="1"/>
            </p:cNvSpPr>
            <p:nvPr/>
          </p:nvSpPr>
          <p:spPr bwMode="auto">
            <a:xfrm flipH="1">
              <a:off x="5516" y="4124"/>
              <a:ext cx="129" cy="259"/>
            </a:xfrm>
            <a:prstGeom prst="line">
              <a:avLst/>
            </a:prstGeom>
            <a:noFill/>
            <a:ln w="19050">
              <a:solidFill>
                <a:srgbClr val="FF00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80" name="Line 104"/>
            <p:cNvSpPr>
              <a:spLocks noChangeShapeType="1"/>
            </p:cNvSpPr>
            <p:nvPr/>
          </p:nvSpPr>
          <p:spPr bwMode="auto">
            <a:xfrm>
              <a:off x="5524" y="4375"/>
              <a:ext cx="156" cy="0"/>
            </a:xfrm>
            <a:prstGeom prst="line">
              <a:avLst/>
            </a:prstGeom>
            <a:noFill/>
            <a:ln w="19050">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4681" name="Rectangle 105"/>
          <p:cNvSpPr>
            <a:spLocks noChangeArrowheads="1"/>
          </p:cNvSpPr>
          <p:nvPr/>
        </p:nvSpPr>
        <p:spPr bwMode="auto">
          <a:xfrm>
            <a:off x="2724150" y="5151438"/>
            <a:ext cx="333375" cy="171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000" i="0" dirty="0">
                <a:solidFill>
                  <a:schemeClr val="bg2"/>
                </a:solidFill>
                <a:latin typeface="Arial" panose="020B0604020202020204" pitchFamily="34" charset="0"/>
                <a:cs typeface="Arial" panose="020B0604020202020204" pitchFamily="34" charset="0"/>
              </a:rPr>
              <a:t>Fault</a:t>
            </a:r>
            <a:endParaRPr lang="en-GB" altLang="en-US" sz="1000" b="0" i="0" dirty="0">
              <a:solidFill>
                <a:schemeClr val="bg2"/>
              </a:solidFill>
              <a:latin typeface="Arial" panose="020B0604020202020204" pitchFamily="34" charset="0"/>
              <a:cs typeface="Arial" panose="020B0604020202020204" pitchFamily="34" charset="0"/>
            </a:endParaRPr>
          </a:p>
        </p:txBody>
      </p:sp>
      <p:sp>
        <p:nvSpPr>
          <p:cNvPr id="24682" name="Text Box 106"/>
          <p:cNvSpPr txBox="1">
            <a:spLocks noChangeArrowheads="1"/>
          </p:cNvSpPr>
          <p:nvPr/>
        </p:nvSpPr>
        <p:spPr bwMode="auto">
          <a:xfrm>
            <a:off x="5122863" y="1849438"/>
            <a:ext cx="163512"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lang="en-US" altLang="en-US" sz="1200" i="0">
              <a:solidFill>
                <a:schemeClr val="bg2"/>
              </a:solidFill>
            </a:endParaRPr>
          </a:p>
        </p:txBody>
      </p:sp>
      <p:sp>
        <p:nvSpPr>
          <p:cNvPr id="24684" name="Rectangle 108"/>
          <p:cNvSpPr>
            <a:spLocks noChangeArrowheads="1"/>
          </p:cNvSpPr>
          <p:nvPr/>
        </p:nvSpPr>
        <p:spPr bwMode="auto">
          <a:xfrm>
            <a:off x="2266950" y="5318125"/>
            <a:ext cx="225425" cy="247650"/>
          </a:xfrm>
          <a:prstGeom prst="rect">
            <a:avLst/>
          </a:prstGeom>
          <a:solidFill>
            <a:srgbClr val="FFFFC3"/>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200" i="0">
                <a:solidFill>
                  <a:schemeClr val="bg2"/>
                </a:solidFill>
              </a:rPr>
              <a:t>21</a:t>
            </a:r>
            <a:endParaRPr lang="en-GB" altLang="en-US" sz="1200" b="0" i="0">
              <a:solidFill>
                <a:schemeClr val="bg2"/>
              </a:solidFill>
            </a:endParaRPr>
          </a:p>
        </p:txBody>
      </p:sp>
      <p:sp>
        <p:nvSpPr>
          <p:cNvPr id="24685" name="Rectangle 109"/>
          <p:cNvSpPr>
            <a:spLocks noChangeArrowheads="1"/>
          </p:cNvSpPr>
          <p:nvPr/>
        </p:nvSpPr>
        <p:spPr bwMode="auto">
          <a:xfrm>
            <a:off x="2273300" y="3222625"/>
            <a:ext cx="234950" cy="247650"/>
          </a:xfrm>
          <a:prstGeom prst="rect">
            <a:avLst/>
          </a:prstGeom>
          <a:solidFill>
            <a:srgbClr val="FFFFC3"/>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200" i="0">
                <a:solidFill>
                  <a:schemeClr val="bg2"/>
                </a:solidFill>
              </a:rPr>
              <a:t>21</a:t>
            </a:r>
            <a:endParaRPr lang="en-GB" altLang="en-US" sz="1200" b="0" i="0">
              <a:solidFill>
                <a:schemeClr val="bg2"/>
              </a:solidFill>
            </a:endParaRPr>
          </a:p>
        </p:txBody>
      </p:sp>
      <p:sp>
        <p:nvSpPr>
          <p:cNvPr id="24686" name="Rectangle 110"/>
          <p:cNvSpPr>
            <a:spLocks noChangeArrowheads="1"/>
          </p:cNvSpPr>
          <p:nvPr/>
        </p:nvSpPr>
        <p:spPr bwMode="auto">
          <a:xfrm>
            <a:off x="3836988" y="3216275"/>
            <a:ext cx="239712" cy="247650"/>
          </a:xfrm>
          <a:prstGeom prst="rect">
            <a:avLst/>
          </a:prstGeom>
          <a:solidFill>
            <a:srgbClr val="FFFFC3"/>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200" i="0">
                <a:solidFill>
                  <a:schemeClr val="bg2"/>
                </a:solidFill>
              </a:rPr>
              <a:t>21</a:t>
            </a:r>
            <a:endParaRPr lang="en-GB" altLang="en-US" sz="1200" b="0" i="0">
              <a:solidFill>
                <a:schemeClr val="bg2"/>
              </a:solidFill>
            </a:endParaRPr>
          </a:p>
        </p:txBody>
      </p:sp>
      <p:sp>
        <p:nvSpPr>
          <p:cNvPr id="24743" name="Rectangle 167"/>
          <p:cNvSpPr>
            <a:spLocks noGrp="1" noChangeArrowheads="1"/>
          </p:cNvSpPr>
          <p:nvPr>
            <p:ph type="title"/>
          </p:nvPr>
        </p:nvSpPr>
        <p:spPr>
          <a:xfrm>
            <a:off x="252919" y="85725"/>
            <a:ext cx="8891081" cy="847121"/>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a:t>Permissive </a:t>
            </a:r>
            <a:r>
              <a:rPr lang="en-GB" altLang="en-US" sz="3600" dirty="0" err="1"/>
              <a:t>Underreach</a:t>
            </a:r>
            <a:r>
              <a:rPr lang="en-GB" altLang="en-US" sz="3600" dirty="0"/>
              <a:t> Scheme Time race</a:t>
            </a:r>
          </a:p>
        </p:txBody>
      </p:sp>
      <p:sp>
        <p:nvSpPr>
          <p:cNvPr id="24745" name="Rectangle 169"/>
          <p:cNvSpPr>
            <a:spLocks noGrp="1" noChangeArrowheads="1"/>
          </p:cNvSpPr>
          <p:nvPr>
            <p:ph type="body" sz="half" idx="2"/>
          </p:nvPr>
        </p:nvSpPr>
        <p:spPr>
          <a:xfrm>
            <a:off x="5070475" y="1905000"/>
            <a:ext cx="3616325" cy="4714875"/>
          </a:xfrm>
        </p:spPr>
        <p:txBody>
          <a:bodyPr/>
          <a:lstStyle/>
          <a:p>
            <a:r>
              <a:rPr lang="en-GB" altLang="en-US" sz="1800"/>
              <a:t>Race between relay at D picking up and signal send from relay at C resetting, following opening of breaker at C</a:t>
            </a:r>
          </a:p>
          <a:p>
            <a:endParaRPr lang="en-GB" altLang="en-US" sz="1800"/>
          </a:p>
          <a:p>
            <a:r>
              <a:rPr lang="en-GB" altLang="en-US" sz="1800"/>
              <a:t>If signal send from C resets before relay D operates then aided tripping will not occur</a:t>
            </a:r>
          </a:p>
          <a:p>
            <a:endParaRPr lang="en-GB" altLang="en-US" sz="1800"/>
          </a:p>
          <a:p>
            <a:r>
              <a:rPr lang="en-GB" altLang="en-US" sz="1800"/>
              <a:t>To prevent this a 100ms delay on drop off of the signal send is used in the scheme logic</a:t>
            </a:r>
          </a:p>
        </p:txBody>
      </p:sp>
      <p:grpSp>
        <p:nvGrpSpPr>
          <p:cNvPr id="24689" name="Group 113"/>
          <p:cNvGrpSpPr>
            <a:grpSpLocks/>
          </p:cNvGrpSpPr>
          <p:nvPr/>
        </p:nvGrpSpPr>
        <p:grpSpPr bwMode="auto">
          <a:xfrm>
            <a:off x="692150" y="2443163"/>
            <a:ext cx="241300" cy="115887"/>
            <a:chOff x="6248" y="2314"/>
            <a:chExt cx="817" cy="399"/>
          </a:xfrm>
        </p:grpSpPr>
        <p:sp>
          <p:nvSpPr>
            <p:cNvPr id="24690" name="Arc 114"/>
            <p:cNvSpPr>
              <a:spLocks/>
            </p:cNvSpPr>
            <p:nvPr/>
          </p:nvSpPr>
          <p:spPr bwMode="auto">
            <a:xfrm flipV="1">
              <a:off x="6854" y="2479"/>
              <a:ext cx="211" cy="23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91" name="Arc 115"/>
            <p:cNvSpPr>
              <a:spLocks/>
            </p:cNvSpPr>
            <p:nvPr/>
          </p:nvSpPr>
          <p:spPr bwMode="auto">
            <a:xfrm flipH="1" flipV="1">
              <a:off x="6652" y="2480"/>
              <a:ext cx="204" cy="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92" name="Arc 116"/>
            <p:cNvSpPr>
              <a:spLocks/>
            </p:cNvSpPr>
            <p:nvPr/>
          </p:nvSpPr>
          <p:spPr bwMode="auto">
            <a:xfrm>
              <a:off x="6452" y="2314"/>
              <a:ext cx="209" cy="23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93" name="Arc 117"/>
            <p:cNvSpPr>
              <a:spLocks/>
            </p:cNvSpPr>
            <p:nvPr/>
          </p:nvSpPr>
          <p:spPr bwMode="auto">
            <a:xfrm flipH="1">
              <a:off x="6248" y="2314"/>
              <a:ext cx="204" cy="23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4694" name="Oval 118"/>
          <p:cNvSpPr>
            <a:spLocks noChangeArrowheads="1"/>
          </p:cNvSpPr>
          <p:nvPr/>
        </p:nvSpPr>
        <p:spPr bwMode="auto">
          <a:xfrm>
            <a:off x="609600" y="2300288"/>
            <a:ext cx="400050" cy="400050"/>
          </a:xfrm>
          <a:prstGeom prst="ellipse">
            <a:avLst/>
          </a:prstGeom>
          <a:noFill/>
          <a:ln w="28575">
            <a:solidFill>
              <a:srgbClr val="1E1E78"/>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4695" name="Group 119"/>
          <p:cNvGrpSpPr>
            <a:grpSpLocks/>
          </p:cNvGrpSpPr>
          <p:nvPr/>
        </p:nvGrpSpPr>
        <p:grpSpPr bwMode="auto">
          <a:xfrm>
            <a:off x="706438" y="4567238"/>
            <a:ext cx="241300" cy="115887"/>
            <a:chOff x="6248" y="2314"/>
            <a:chExt cx="817" cy="399"/>
          </a:xfrm>
        </p:grpSpPr>
        <p:sp>
          <p:nvSpPr>
            <p:cNvPr id="24696" name="Arc 120"/>
            <p:cNvSpPr>
              <a:spLocks/>
            </p:cNvSpPr>
            <p:nvPr/>
          </p:nvSpPr>
          <p:spPr bwMode="auto">
            <a:xfrm flipV="1">
              <a:off x="6854" y="2479"/>
              <a:ext cx="211" cy="23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97" name="Arc 121"/>
            <p:cNvSpPr>
              <a:spLocks/>
            </p:cNvSpPr>
            <p:nvPr/>
          </p:nvSpPr>
          <p:spPr bwMode="auto">
            <a:xfrm flipH="1" flipV="1">
              <a:off x="6652" y="2480"/>
              <a:ext cx="204" cy="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98" name="Arc 122"/>
            <p:cNvSpPr>
              <a:spLocks/>
            </p:cNvSpPr>
            <p:nvPr/>
          </p:nvSpPr>
          <p:spPr bwMode="auto">
            <a:xfrm>
              <a:off x="6452" y="2314"/>
              <a:ext cx="209" cy="23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4699" name="Arc 123"/>
            <p:cNvSpPr>
              <a:spLocks/>
            </p:cNvSpPr>
            <p:nvPr/>
          </p:nvSpPr>
          <p:spPr bwMode="auto">
            <a:xfrm flipH="1">
              <a:off x="6248" y="2314"/>
              <a:ext cx="204" cy="23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1E1E7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4700" name="Oval 124"/>
          <p:cNvSpPr>
            <a:spLocks noChangeArrowheads="1"/>
          </p:cNvSpPr>
          <p:nvPr/>
        </p:nvSpPr>
        <p:spPr bwMode="auto">
          <a:xfrm>
            <a:off x="623888" y="4424363"/>
            <a:ext cx="400050" cy="400050"/>
          </a:xfrm>
          <a:prstGeom prst="ellipse">
            <a:avLst/>
          </a:prstGeom>
          <a:noFill/>
          <a:ln w="28575">
            <a:solidFill>
              <a:srgbClr val="1E1E78"/>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01" name="Oval 125"/>
          <p:cNvSpPr>
            <a:spLocks noChangeArrowheads="1"/>
          </p:cNvSpPr>
          <p:nvPr/>
        </p:nvSpPr>
        <p:spPr bwMode="auto">
          <a:xfrm>
            <a:off x="1771650" y="4929188"/>
            <a:ext cx="190500" cy="190500"/>
          </a:xfrm>
          <a:prstGeom prst="ellipse">
            <a:avLst/>
          </a:prstGeom>
          <a:noFill/>
          <a:ln w="28575">
            <a:solidFill>
              <a:srgbClr val="1E1E78"/>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32" name="Rectangle 156"/>
          <p:cNvSpPr>
            <a:spLocks noChangeArrowheads="1"/>
          </p:cNvSpPr>
          <p:nvPr/>
        </p:nvSpPr>
        <p:spPr bwMode="auto">
          <a:xfrm>
            <a:off x="3716338" y="3552825"/>
            <a:ext cx="508000" cy="171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000" i="0" dirty="0">
                <a:solidFill>
                  <a:srgbClr val="FF0000"/>
                </a:solidFill>
                <a:latin typeface="Arial" panose="020B0604020202020204" pitchFamily="34" charset="0"/>
                <a:cs typeface="Arial" panose="020B0604020202020204" pitchFamily="34" charset="0"/>
              </a:rPr>
              <a:t>Rx + Z2</a:t>
            </a:r>
            <a:endParaRPr lang="en-GB" altLang="en-US" sz="1000" b="0" i="0" dirty="0">
              <a:solidFill>
                <a:schemeClr val="bg2"/>
              </a:solidFill>
              <a:latin typeface="Arial" panose="020B0604020202020204" pitchFamily="34" charset="0"/>
              <a:cs typeface="Arial" panose="020B0604020202020204" pitchFamily="34" charset="0"/>
            </a:endParaRPr>
          </a:p>
        </p:txBody>
      </p:sp>
      <p:sp>
        <p:nvSpPr>
          <p:cNvPr id="24733" name="Line 157"/>
          <p:cNvSpPr>
            <a:spLocks noChangeShapeType="1"/>
          </p:cNvSpPr>
          <p:nvPr/>
        </p:nvSpPr>
        <p:spPr bwMode="auto">
          <a:xfrm>
            <a:off x="4038600" y="3562350"/>
            <a:ext cx="1143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36" name="Rectangle 160"/>
          <p:cNvSpPr>
            <a:spLocks noChangeArrowheads="1"/>
          </p:cNvSpPr>
          <p:nvPr/>
        </p:nvSpPr>
        <p:spPr bwMode="auto">
          <a:xfrm>
            <a:off x="3709988" y="5667375"/>
            <a:ext cx="508000" cy="171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r>
              <a:rPr lang="en-GB" altLang="en-US" sz="1000" dirty="0">
                <a:solidFill>
                  <a:srgbClr val="FF0000"/>
                </a:solidFill>
                <a:latin typeface="Arial" panose="020B0604020202020204" pitchFamily="34" charset="0"/>
                <a:cs typeface="Arial" panose="020B0604020202020204" pitchFamily="34" charset="0"/>
              </a:rPr>
              <a:t>Rx + Z2</a:t>
            </a:r>
          </a:p>
        </p:txBody>
      </p:sp>
      <p:sp>
        <p:nvSpPr>
          <p:cNvPr id="24737" name="Line 161"/>
          <p:cNvSpPr>
            <a:spLocks noChangeShapeType="1"/>
          </p:cNvSpPr>
          <p:nvPr/>
        </p:nvSpPr>
        <p:spPr bwMode="auto">
          <a:xfrm>
            <a:off x="3733800" y="5676900"/>
            <a:ext cx="120650" cy="0"/>
          </a:xfrm>
          <a:prstGeom prst="lin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l"/>
            <a:endParaRPr lang="en-US" sz="100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7909105"/>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7" name="Rectangle 7"/>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dirty="0"/>
              <a:t>Permissive </a:t>
            </a:r>
            <a:r>
              <a:rPr lang="en-GB" altLang="en-US" dirty="0" err="1"/>
              <a:t>Underreach</a:t>
            </a:r>
            <a:r>
              <a:rPr lang="en-GB" altLang="en-US" dirty="0"/>
              <a:t> Transfer Trip</a:t>
            </a:r>
            <a:br>
              <a:rPr lang="en-GB" altLang="en-US" dirty="0"/>
            </a:br>
            <a:r>
              <a:rPr lang="en-GB" altLang="en-US" dirty="0"/>
              <a:t>Advantages</a:t>
            </a:r>
          </a:p>
        </p:txBody>
      </p:sp>
      <p:sp>
        <p:nvSpPr>
          <p:cNvPr id="25608" name="Rectangle 8"/>
          <p:cNvSpPr>
            <a:spLocks noGrp="1" noChangeArrowheads="1"/>
          </p:cNvSpPr>
          <p:nvPr>
            <p:ph type="body" idx="1"/>
          </p:nvPr>
        </p:nvSpPr>
        <p:spPr/>
        <p:txBody>
          <a:bodyPr/>
          <a:lstStyle/>
          <a:p>
            <a:pPr marL="0" indent="0">
              <a:buNone/>
            </a:pPr>
            <a:endParaRPr lang="en-GB" altLang="en-US" dirty="0"/>
          </a:p>
          <a:p>
            <a:r>
              <a:rPr lang="en-GB" altLang="en-US" dirty="0"/>
              <a:t>Scheme is very secure as signalling channel only keyed for internal fault (Zone 1 initiation)</a:t>
            </a:r>
          </a:p>
        </p:txBody>
      </p:sp>
    </p:spTree>
    <p:extLst>
      <p:ext uri="{BB962C8B-B14F-4D97-AF65-F5344CB8AC3E}">
        <p14:creationId xmlns:p14="http://schemas.microsoft.com/office/powerpoint/2010/main" val="28005032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1" name="Rectangle 7"/>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a:t>Permissive Underreach Transfer Trip Disadvantages</a:t>
            </a:r>
          </a:p>
        </p:txBody>
      </p:sp>
      <p:sp>
        <p:nvSpPr>
          <p:cNvPr id="26632" name="Rectangle 8"/>
          <p:cNvSpPr>
            <a:spLocks noGrp="1" noChangeArrowheads="1"/>
          </p:cNvSpPr>
          <p:nvPr>
            <p:ph type="body" idx="1"/>
          </p:nvPr>
        </p:nvSpPr>
        <p:spPr/>
        <p:txBody>
          <a:bodyPr/>
          <a:lstStyle/>
          <a:p>
            <a:r>
              <a:rPr lang="en-GB" altLang="en-US" dirty="0"/>
              <a:t>If one terminal of the line is open then only Basic scheme logic will apply</a:t>
            </a:r>
          </a:p>
          <a:p>
            <a:r>
              <a:rPr lang="en-GB" altLang="en-US" dirty="0"/>
              <a:t>If there is a weak infeed at one terminal then only Basic scheme logic will apply</a:t>
            </a:r>
          </a:p>
          <a:p>
            <a:r>
              <a:rPr lang="en-GB" altLang="en-US" dirty="0"/>
              <a:t>If signalling channel fails then only Basic scheme logic will apply</a:t>
            </a:r>
          </a:p>
          <a:p>
            <a:endParaRPr lang="en-GB" altLang="en-US" dirty="0"/>
          </a:p>
          <a:p>
            <a:endParaRPr lang="en-GB" altLang="en-US" dirty="0"/>
          </a:p>
        </p:txBody>
      </p:sp>
    </p:spTree>
    <p:extLst>
      <p:ext uri="{BB962C8B-B14F-4D97-AF65-F5344CB8AC3E}">
        <p14:creationId xmlns:p14="http://schemas.microsoft.com/office/powerpoint/2010/main" val="2667204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p:cNvSpPr txBox="1">
            <a:spLocks noChangeArrowheads="1"/>
          </p:cNvSpPr>
          <p:nvPr/>
        </p:nvSpPr>
        <p:spPr bwMode="auto">
          <a:xfrm>
            <a:off x="2239963" y="621982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27652" name="Text Box 4"/>
          <p:cNvSpPr txBox="1">
            <a:spLocks noChangeArrowheads="1"/>
          </p:cNvSpPr>
          <p:nvPr/>
        </p:nvSpPr>
        <p:spPr bwMode="auto">
          <a:xfrm>
            <a:off x="2239963" y="564197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27653" name="Text Box 5"/>
          <p:cNvSpPr txBox="1">
            <a:spLocks noChangeArrowheads="1"/>
          </p:cNvSpPr>
          <p:nvPr/>
        </p:nvSpPr>
        <p:spPr bwMode="auto">
          <a:xfrm>
            <a:off x="2239963" y="528002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27654" name="Text Box 6"/>
          <p:cNvSpPr txBox="1">
            <a:spLocks noChangeArrowheads="1"/>
          </p:cNvSpPr>
          <p:nvPr/>
        </p:nvSpPr>
        <p:spPr bwMode="auto">
          <a:xfrm>
            <a:off x="3852863" y="5092700"/>
            <a:ext cx="258762"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rgbClr val="E9F494"/>
                </a:solidFill>
              </a:rPr>
              <a:t>.</a:t>
            </a:r>
            <a:r>
              <a:rPr lang="en-GB" altLang="en-US" sz="1200" i="0">
                <a:solidFill>
                  <a:schemeClr val="bg2"/>
                </a:solidFill>
              </a:rPr>
              <a:t>                   </a:t>
            </a:r>
            <a:endParaRPr lang="en-GB" altLang="en-US" sz="1200" i="0">
              <a:solidFill>
                <a:schemeClr val="tx1"/>
              </a:solidFill>
            </a:endParaRPr>
          </a:p>
        </p:txBody>
      </p:sp>
      <p:sp>
        <p:nvSpPr>
          <p:cNvPr id="27655" name="Line 7"/>
          <p:cNvSpPr>
            <a:spLocks noChangeShapeType="1"/>
          </p:cNvSpPr>
          <p:nvPr/>
        </p:nvSpPr>
        <p:spPr bwMode="auto">
          <a:xfrm>
            <a:off x="2546350" y="5422900"/>
            <a:ext cx="13001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6" name="Text Box 8"/>
          <p:cNvSpPr txBox="1">
            <a:spLocks noChangeArrowheads="1"/>
          </p:cNvSpPr>
          <p:nvPr/>
        </p:nvSpPr>
        <p:spPr bwMode="auto">
          <a:xfrm>
            <a:off x="2909888" y="5648325"/>
            <a:ext cx="390525" cy="30321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7657" name="Text Box 9"/>
          <p:cNvSpPr txBox="1">
            <a:spLocks noChangeArrowheads="1"/>
          </p:cNvSpPr>
          <p:nvPr/>
        </p:nvSpPr>
        <p:spPr bwMode="auto">
          <a:xfrm>
            <a:off x="2916238" y="621982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27658" name="Line 10"/>
          <p:cNvSpPr>
            <a:spLocks noChangeShapeType="1"/>
          </p:cNvSpPr>
          <p:nvPr/>
        </p:nvSpPr>
        <p:spPr bwMode="auto">
          <a:xfrm>
            <a:off x="2551113" y="6370638"/>
            <a:ext cx="36830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9" name="Line 11"/>
          <p:cNvSpPr>
            <a:spLocks noChangeShapeType="1"/>
          </p:cNvSpPr>
          <p:nvPr/>
        </p:nvSpPr>
        <p:spPr bwMode="auto">
          <a:xfrm>
            <a:off x="3290888" y="5786438"/>
            <a:ext cx="66675"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0" name="Line 12"/>
          <p:cNvSpPr>
            <a:spLocks noChangeShapeType="1"/>
          </p:cNvSpPr>
          <p:nvPr/>
        </p:nvSpPr>
        <p:spPr bwMode="auto">
          <a:xfrm flipV="1">
            <a:off x="3346450" y="5535613"/>
            <a:ext cx="0" cy="252412"/>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1" name="Line 13"/>
          <p:cNvSpPr>
            <a:spLocks noChangeShapeType="1"/>
          </p:cNvSpPr>
          <p:nvPr/>
        </p:nvSpPr>
        <p:spPr bwMode="auto">
          <a:xfrm>
            <a:off x="3336925" y="5535613"/>
            <a:ext cx="517525"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2" name="Line 14"/>
          <p:cNvSpPr>
            <a:spLocks noChangeShapeType="1"/>
          </p:cNvSpPr>
          <p:nvPr/>
        </p:nvSpPr>
        <p:spPr bwMode="auto">
          <a:xfrm>
            <a:off x="3300413" y="6369050"/>
            <a:ext cx="287337"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3" name="Line 15"/>
          <p:cNvSpPr>
            <a:spLocks noChangeShapeType="1"/>
          </p:cNvSpPr>
          <p:nvPr/>
        </p:nvSpPr>
        <p:spPr bwMode="auto">
          <a:xfrm flipV="1">
            <a:off x="3587750" y="5638800"/>
            <a:ext cx="0" cy="744538"/>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4" name="Line 16"/>
          <p:cNvSpPr>
            <a:spLocks noChangeShapeType="1"/>
          </p:cNvSpPr>
          <p:nvPr/>
        </p:nvSpPr>
        <p:spPr bwMode="auto">
          <a:xfrm>
            <a:off x="3587750" y="5640388"/>
            <a:ext cx="261938"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5" name="Text Box 17"/>
          <p:cNvSpPr txBox="1">
            <a:spLocks noChangeArrowheads="1"/>
          </p:cNvSpPr>
          <p:nvPr/>
        </p:nvSpPr>
        <p:spPr bwMode="auto">
          <a:xfrm>
            <a:off x="4208463" y="5299075"/>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Trip</a:t>
            </a:r>
          </a:p>
        </p:txBody>
      </p:sp>
      <p:sp>
        <p:nvSpPr>
          <p:cNvPr id="27666" name="Text Box 18"/>
          <p:cNvSpPr txBox="1">
            <a:spLocks noChangeArrowheads="1"/>
          </p:cNvSpPr>
          <p:nvPr/>
        </p:nvSpPr>
        <p:spPr bwMode="auto">
          <a:xfrm>
            <a:off x="2909888" y="4967288"/>
            <a:ext cx="322262"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27667" name="Text Box 19"/>
          <p:cNvSpPr txBox="1">
            <a:spLocks noChangeArrowheads="1"/>
          </p:cNvSpPr>
          <p:nvPr/>
        </p:nvSpPr>
        <p:spPr bwMode="auto">
          <a:xfrm>
            <a:off x="2909888" y="564832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7669" name="Oval 21"/>
          <p:cNvSpPr>
            <a:spLocks noChangeArrowheads="1"/>
          </p:cNvSpPr>
          <p:nvPr/>
        </p:nvSpPr>
        <p:spPr bwMode="auto">
          <a:xfrm>
            <a:off x="2776538" y="514191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70" name="Oval 22"/>
          <p:cNvSpPr>
            <a:spLocks noChangeArrowheads="1"/>
          </p:cNvSpPr>
          <p:nvPr/>
        </p:nvSpPr>
        <p:spPr bwMode="auto">
          <a:xfrm>
            <a:off x="2774950" y="574992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71" name="Text Box 23"/>
          <p:cNvSpPr txBox="1">
            <a:spLocks noChangeArrowheads="1"/>
          </p:cNvSpPr>
          <p:nvPr/>
        </p:nvSpPr>
        <p:spPr bwMode="auto">
          <a:xfrm flipH="1">
            <a:off x="7191375" y="621982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27672" name="Text Box 24"/>
          <p:cNvSpPr txBox="1">
            <a:spLocks noChangeArrowheads="1"/>
          </p:cNvSpPr>
          <p:nvPr/>
        </p:nvSpPr>
        <p:spPr bwMode="auto">
          <a:xfrm flipH="1">
            <a:off x="7191375" y="564197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27673" name="Text Box 25"/>
          <p:cNvSpPr txBox="1">
            <a:spLocks noChangeArrowheads="1"/>
          </p:cNvSpPr>
          <p:nvPr/>
        </p:nvSpPr>
        <p:spPr bwMode="auto">
          <a:xfrm flipH="1">
            <a:off x="7191375" y="528002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27674" name="Text Box 26"/>
          <p:cNvSpPr txBox="1">
            <a:spLocks noChangeArrowheads="1"/>
          </p:cNvSpPr>
          <p:nvPr/>
        </p:nvSpPr>
        <p:spPr bwMode="auto">
          <a:xfrm flipH="1">
            <a:off x="5643563" y="5092700"/>
            <a:ext cx="258762"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rgbClr val="E9F494"/>
                </a:solidFill>
              </a:rPr>
              <a:t>.</a:t>
            </a:r>
            <a:r>
              <a:rPr lang="en-GB" altLang="en-US" sz="1200" i="0">
                <a:solidFill>
                  <a:schemeClr val="bg2"/>
                </a:solidFill>
              </a:rPr>
              <a:t>                   </a:t>
            </a:r>
            <a:endParaRPr lang="en-GB" altLang="en-US" sz="1200" i="0">
              <a:solidFill>
                <a:schemeClr val="tx1"/>
              </a:solidFill>
            </a:endParaRPr>
          </a:p>
        </p:txBody>
      </p:sp>
      <p:sp>
        <p:nvSpPr>
          <p:cNvPr id="27675" name="Text Box 27"/>
          <p:cNvSpPr txBox="1">
            <a:spLocks noChangeArrowheads="1"/>
          </p:cNvSpPr>
          <p:nvPr/>
        </p:nvSpPr>
        <p:spPr bwMode="auto">
          <a:xfrm flipH="1">
            <a:off x="6496050" y="5648325"/>
            <a:ext cx="390525" cy="30321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7676" name="Text Box 28"/>
          <p:cNvSpPr txBox="1">
            <a:spLocks noChangeArrowheads="1"/>
          </p:cNvSpPr>
          <p:nvPr/>
        </p:nvSpPr>
        <p:spPr bwMode="auto">
          <a:xfrm flipH="1">
            <a:off x="6489700" y="621982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27677" name="Line 29"/>
          <p:cNvSpPr>
            <a:spLocks noChangeShapeType="1"/>
          </p:cNvSpPr>
          <p:nvPr/>
        </p:nvSpPr>
        <p:spPr bwMode="auto">
          <a:xfrm flipH="1">
            <a:off x="6865938" y="6370638"/>
            <a:ext cx="334962"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78" name="Line 30"/>
          <p:cNvSpPr>
            <a:spLocks noChangeShapeType="1"/>
          </p:cNvSpPr>
          <p:nvPr/>
        </p:nvSpPr>
        <p:spPr bwMode="auto">
          <a:xfrm flipH="1">
            <a:off x="6384925" y="5786438"/>
            <a:ext cx="103188"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79" name="Line 31"/>
          <p:cNvSpPr>
            <a:spLocks noChangeShapeType="1"/>
          </p:cNvSpPr>
          <p:nvPr/>
        </p:nvSpPr>
        <p:spPr bwMode="auto">
          <a:xfrm flipH="1" flipV="1">
            <a:off x="6400800" y="5521325"/>
            <a:ext cx="0" cy="271463"/>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80" name="Line 32"/>
          <p:cNvSpPr>
            <a:spLocks noChangeShapeType="1"/>
          </p:cNvSpPr>
          <p:nvPr/>
        </p:nvSpPr>
        <p:spPr bwMode="auto">
          <a:xfrm flipH="1">
            <a:off x="5897563" y="5535613"/>
            <a:ext cx="503237"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81" name="Line 33"/>
          <p:cNvSpPr>
            <a:spLocks noChangeShapeType="1"/>
          </p:cNvSpPr>
          <p:nvPr/>
        </p:nvSpPr>
        <p:spPr bwMode="auto">
          <a:xfrm flipH="1">
            <a:off x="6164263" y="6369050"/>
            <a:ext cx="325437"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82" name="Line 34"/>
          <p:cNvSpPr>
            <a:spLocks noChangeShapeType="1"/>
          </p:cNvSpPr>
          <p:nvPr/>
        </p:nvSpPr>
        <p:spPr bwMode="auto">
          <a:xfrm flipH="1" flipV="1">
            <a:off x="6164263" y="5629275"/>
            <a:ext cx="0" cy="754063"/>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83" name="Line 35"/>
          <p:cNvSpPr>
            <a:spLocks noChangeShapeType="1"/>
          </p:cNvSpPr>
          <p:nvPr/>
        </p:nvSpPr>
        <p:spPr bwMode="auto">
          <a:xfrm flipH="1">
            <a:off x="5902325" y="5640388"/>
            <a:ext cx="261938"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84" name="Text Box 36"/>
          <p:cNvSpPr txBox="1">
            <a:spLocks noChangeArrowheads="1"/>
          </p:cNvSpPr>
          <p:nvPr/>
        </p:nvSpPr>
        <p:spPr bwMode="auto">
          <a:xfrm flipH="1">
            <a:off x="5081588" y="5299075"/>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Trip</a:t>
            </a:r>
          </a:p>
        </p:txBody>
      </p:sp>
      <p:sp>
        <p:nvSpPr>
          <p:cNvPr id="27685" name="Text Box 37"/>
          <p:cNvSpPr txBox="1">
            <a:spLocks noChangeArrowheads="1"/>
          </p:cNvSpPr>
          <p:nvPr/>
        </p:nvSpPr>
        <p:spPr bwMode="auto">
          <a:xfrm flipH="1">
            <a:off x="6556375" y="4967288"/>
            <a:ext cx="322263"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27687" name="Text Box 39"/>
          <p:cNvSpPr txBox="1">
            <a:spLocks noChangeArrowheads="1"/>
          </p:cNvSpPr>
          <p:nvPr/>
        </p:nvSpPr>
        <p:spPr bwMode="auto">
          <a:xfrm flipH="1">
            <a:off x="6496050" y="564832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7689" name="Oval 41"/>
          <p:cNvSpPr>
            <a:spLocks noChangeArrowheads="1"/>
          </p:cNvSpPr>
          <p:nvPr/>
        </p:nvSpPr>
        <p:spPr bwMode="auto">
          <a:xfrm flipH="1">
            <a:off x="6908800" y="514191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90" name="Oval 42"/>
          <p:cNvSpPr>
            <a:spLocks noChangeArrowheads="1"/>
          </p:cNvSpPr>
          <p:nvPr/>
        </p:nvSpPr>
        <p:spPr bwMode="auto">
          <a:xfrm flipH="1">
            <a:off x="6910388" y="574992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91" name="Text Box 43"/>
          <p:cNvSpPr txBox="1">
            <a:spLocks noChangeArrowheads="1"/>
          </p:cNvSpPr>
          <p:nvPr/>
        </p:nvSpPr>
        <p:spPr bwMode="auto">
          <a:xfrm>
            <a:off x="4179888" y="3954463"/>
            <a:ext cx="419100"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27692" name="Line 44"/>
          <p:cNvSpPr>
            <a:spLocks noChangeShapeType="1"/>
          </p:cNvSpPr>
          <p:nvPr/>
        </p:nvSpPr>
        <p:spPr bwMode="auto">
          <a:xfrm>
            <a:off x="4176713" y="4203700"/>
            <a:ext cx="4111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94" name="Text Box 46"/>
          <p:cNvSpPr txBox="1">
            <a:spLocks noChangeArrowheads="1"/>
          </p:cNvSpPr>
          <p:nvPr/>
        </p:nvSpPr>
        <p:spPr bwMode="auto">
          <a:xfrm flipH="1">
            <a:off x="5210175" y="3954463"/>
            <a:ext cx="419100"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27696" name="Line 48"/>
          <p:cNvSpPr>
            <a:spLocks noChangeShapeType="1"/>
          </p:cNvSpPr>
          <p:nvPr/>
        </p:nvSpPr>
        <p:spPr bwMode="auto">
          <a:xfrm flipH="1">
            <a:off x="5216525" y="4203700"/>
            <a:ext cx="406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11" name="Line 63"/>
          <p:cNvSpPr>
            <a:spLocks noChangeShapeType="1"/>
          </p:cNvSpPr>
          <p:nvPr/>
        </p:nvSpPr>
        <p:spPr bwMode="auto">
          <a:xfrm flipV="1">
            <a:off x="2808288" y="5189538"/>
            <a:ext cx="0" cy="6000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50" name="Text Box 102"/>
          <p:cNvSpPr txBox="1">
            <a:spLocks noChangeArrowheads="1"/>
          </p:cNvSpPr>
          <p:nvPr/>
        </p:nvSpPr>
        <p:spPr bwMode="auto">
          <a:xfrm>
            <a:off x="393904" y="2726136"/>
            <a:ext cx="174413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lang="en-GB" altLang="en-US" sz="1400" i="0" dirty="0">
                <a:latin typeface="Arial" panose="020B0604020202020204" pitchFamily="34" charset="0"/>
                <a:cs typeface="Arial" panose="020B0604020202020204" pitchFamily="34" charset="0"/>
              </a:rPr>
              <a:t>Send Logic : Z2</a:t>
            </a:r>
          </a:p>
          <a:p>
            <a:pPr algn="l"/>
            <a:r>
              <a:rPr lang="en-GB" altLang="en-US" sz="1400" i="0" dirty="0">
                <a:latin typeface="Arial" panose="020B0604020202020204" pitchFamily="34" charset="0"/>
                <a:cs typeface="Arial" panose="020B0604020202020204" pitchFamily="34" charset="0"/>
              </a:rPr>
              <a:t>Trip Logic : Rx + Z2</a:t>
            </a:r>
          </a:p>
        </p:txBody>
      </p:sp>
      <p:grpSp>
        <p:nvGrpSpPr>
          <p:cNvPr id="27779" name="Group 131"/>
          <p:cNvGrpSpPr>
            <a:grpSpLocks/>
          </p:cNvGrpSpPr>
          <p:nvPr/>
        </p:nvGrpSpPr>
        <p:grpSpPr bwMode="auto">
          <a:xfrm>
            <a:off x="2546350" y="3497263"/>
            <a:ext cx="4667250" cy="2295525"/>
            <a:chOff x="2025" y="2075"/>
            <a:chExt cx="2940" cy="1446"/>
          </a:xfrm>
        </p:grpSpPr>
        <p:sp>
          <p:nvSpPr>
            <p:cNvPr id="27668" name="Line 20"/>
            <p:cNvSpPr>
              <a:spLocks noChangeShapeType="1"/>
            </p:cNvSpPr>
            <p:nvPr/>
          </p:nvSpPr>
          <p:spPr bwMode="auto">
            <a:xfrm>
              <a:off x="2181" y="3521"/>
              <a:ext cx="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86" name="Line 38"/>
            <p:cNvSpPr>
              <a:spLocks noChangeShapeType="1"/>
            </p:cNvSpPr>
            <p:nvPr/>
          </p:nvSpPr>
          <p:spPr bwMode="auto">
            <a:xfrm flipH="1">
              <a:off x="4749" y="3050"/>
              <a:ext cx="1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88" name="Line 40"/>
            <p:cNvSpPr>
              <a:spLocks noChangeShapeType="1"/>
            </p:cNvSpPr>
            <p:nvPr/>
          </p:nvSpPr>
          <p:spPr bwMode="auto">
            <a:xfrm flipH="1">
              <a:off x="4749" y="3521"/>
              <a:ext cx="4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93" name="Line 45"/>
            <p:cNvSpPr>
              <a:spLocks noChangeShapeType="1"/>
            </p:cNvSpPr>
            <p:nvPr/>
          </p:nvSpPr>
          <p:spPr bwMode="auto">
            <a:xfrm>
              <a:off x="2190" y="2599"/>
              <a:ext cx="86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95" name="Line 47"/>
            <p:cNvSpPr>
              <a:spLocks noChangeShapeType="1"/>
            </p:cNvSpPr>
            <p:nvPr/>
          </p:nvSpPr>
          <p:spPr bwMode="auto">
            <a:xfrm flipH="1">
              <a:off x="3967" y="2454"/>
              <a:ext cx="8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97" name="Line 49"/>
            <p:cNvSpPr>
              <a:spLocks noChangeShapeType="1"/>
            </p:cNvSpPr>
            <p:nvPr/>
          </p:nvSpPr>
          <p:spPr bwMode="auto">
            <a:xfrm flipH="1" flipV="1">
              <a:off x="4882" y="2078"/>
              <a:ext cx="0" cy="9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98" name="Line 50"/>
            <p:cNvSpPr>
              <a:spLocks noChangeShapeType="1"/>
            </p:cNvSpPr>
            <p:nvPr/>
          </p:nvSpPr>
          <p:spPr bwMode="auto">
            <a:xfrm flipH="1">
              <a:off x="4045" y="2075"/>
              <a:ext cx="8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99" name="Line 51"/>
            <p:cNvSpPr>
              <a:spLocks noChangeShapeType="1"/>
            </p:cNvSpPr>
            <p:nvPr/>
          </p:nvSpPr>
          <p:spPr bwMode="auto">
            <a:xfrm flipH="1">
              <a:off x="4053" y="2075"/>
              <a:ext cx="0" cy="3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00" name="Line 52"/>
            <p:cNvSpPr>
              <a:spLocks noChangeShapeType="1"/>
            </p:cNvSpPr>
            <p:nvPr/>
          </p:nvSpPr>
          <p:spPr bwMode="auto">
            <a:xfrm flipH="1">
              <a:off x="3312" y="2450"/>
              <a:ext cx="387" cy="147"/>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02" name="Line 54"/>
            <p:cNvSpPr>
              <a:spLocks noChangeShapeType="1"/>
            </p:cNvSpPr>
            <p:nvPr/>
          </p:nvSpPr>
          <p:spPr bwMode="auto">
            <a:xfrm>
              <a:off x="2025" y="3521"/>
              <a:ext cx="16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03" name="Line 55"/>
            <p:cNvSpPr>
              <a:spLocks noChangeShapeType="1"/>
            </p:cNvSpPr>
            <p:nvPr/>
          </p:nvSpPr>
          <p:spPr bwMode="auto">
            <a:xfrm>
              <a:off x="3012" y="3297"/>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04" name="Line 56"/>
            <p:cNvSpPr>
              <a:spLocks noChangeShapeType="1"/>
            </p:cNvSpPr>
            <p:nvPr/>
          </p:nvSpPr>
          <p:spPr bwMode="auto">
            <a:xfrm>
              <a:off x="2101" y="3050"/>
              <a:ext cx="15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05" name="Line 57"/>
            <p:cNvSpPr>
              <a:spLocks noChangeShapeType="1"/>
            </p:cNvSpPr>
            <p:nvPr/>
          </p:nvSpPr>
          <p:spPr bwMode="auto">
            <a:xfrm>
              <a:off x="2188" y="3143"/>
              <a:ext cx="6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06" name="Line 58"/>
            <p:cNvSpPr>
              <a:spLocks noChangeShapeType="1"/>
            </p:cNvSpPr>
            <p:nvPr/>
          </p:nvSpPr>
          <p:spPr bwMode="auto">
            <a:xfrm flipH="1">
              <a:off x="4141" y="3288"/>
              <a:ext cx="81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07" name="Line 59"/>
            <p:cNvSpPr>
              <a:spLocks noChangeShapeType="1"/>
            </p:cNvSpPr>
            <p:nvPr/>
          </p:nvSpPr>
          <p:spPr bwMode="auto">
            <a:xfrm flipH="1">
              <a:off x="4794" y="3521"/>
              <a:ext cx="17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08" name="Line 60"/>
            <p:cNvSpPr>
              <a:spLocks noChangeShapeType="1"/>
            </p:cNvSpPr>
            <p:nvPr/>
          </p:nvSpPr>
          <p:spPr bwMode="auto">
            <a:xfrm flipH="1">
              <a:off x="3877" y="3297"/>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09" name="Line 61"/>
            <p:cNvSpPr>
              <a:spLocks noChangeShapeType="1"/>
            </p:cNvSpPr>
            <p:nvPr/>
          </p:nvSpPr>
          <p:spPr bwMode="auto">
            <a:xfrm flipH="1">
              <a:off x="4748" y="3143"/>
              <a:ext cx="4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10" name="Line 62"/>
            <p:cNvSpPr>
              <a:spLocks noChangeShapeType="1"/>
            </p:cNvSpPr>
            <p:nvPr/>
          </p:nvSpPr>
          <p:spPr bwMode="auto">
            <a:xfrm>
              <a:off x="2932" y="2454"/>
              <a:ext cx="1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12" name="Line 64"/>
            <p:cNvSpPr>
              <a:spLocks noChangeShapeType="1"/>
            </p:cNvSpPr>
            <p:nvPr/>
          </p:nvSpPr>
          <p:spPr bwMode="auto">
            <a:xfrm flipV="1">
              <a:off x="2103" y="2078"/>
              <a:ext cx="0" cy="98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13" name="Line 65"/>
            <p:cNvSpPr>
              <a:spLocks noChangeShapeType="1"/>
            </p:cNvSpPr>
            <p:nvPr/>
          </p:nvSpPr>
          <p:spPr bwMode="auto">
            <a:xfrm>
              <a:off x="2096" y="2075"/>
              <a:ext cx="8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14" name="Line 66"/>
            <p:cNvSpPr>
              <a:spLocks noChangeShapeType="1"/>
            </p:cNvSpPr>
            <p:nvPr/>
          </p:nvSpPr>
          <p:spPr bwMode="auto">
            <a:xfrm>
              <a:off x="2932" y="2075"/>
              <a:ext cx="0" cy="3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15" name="Line 67"/>
            <p:cNvSpPr>
              <a:spLocks noChangeShapeType="1"/>
            </p:cNvSpPr>
            <p:nvPr/>
          </p:nvSpPr>
          <p:spPr bwMode="auto">
            <a:xfrm flipH="1" flipV="1">
              <a:off x="4794" y="2595"/>
              <a:ext cx="0" cy="9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16" name="Line 68"/>
            <p:cNvSpPr>
              <a:spLocks noChangeShapeType="1"/>
            </p:cNvSpPr>
            <p:nvPr/>
          </p:nvSpPr>
          <p:spPr bwMode="auto">
            <a:xfrm flipH="1">
              <a:off x="3962" y="2599"/>
              <a:ext cx="8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17" name="Line 69"/>
            <p:cNvSpPr>
              <a:spLocks noChangeShapeType="1"/>
            </p:cNvSpPr>
            <p:nvPr/>
          </p:nvSpPr>
          <p:spPr bwMode="auto">
            <a:xfrm>
              <a:off x="3319" y="2452"/>
              <a:ext cx="384" cy="144"/>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19" name="Line 71"/>
            <p:cNvSpPr>
              <a:spLocks noChangeShapeType="1"/>
            </p:cNvSpPr>
            <p:nvPr/>
          </p:nvSpPr>
          <p:spPr bwMode="auto">
            <a:xfrm>
              <a:off x="2455" y="3094"/>
              <a:ext cx="10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20" name="Line 72"/>
            <p:cNvSpPr>
              <a:spLocks noChangeShapeType="1"/>
            </p:cNvSpPr>
            <p:nvPr/>
          </p:nvSpPr>
          <p:spPr bwMode="auto">
            <a:xfrm flipH="1">
              <a:off x="2555" y="3218"/>
              <a:ext cx="29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21" name="Line 73"/>
            <p:cNvSpPr>
              <a:spLocks noChangeShapeType="1"/>
            </p:cNvSpPr>
            <p:nvPr/>
          </p:nvSpPr>
          <p:spPr bwMode="auto">
            <a:xfrm flipV="1">
              <a:off x="2555" y="3087"/>
              <a:ext cx="0" cy="1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23" name="Line 75"/>
            <p:cNvSpPr>
              <a:spLocks noChangeShapeType="1"/>
            </p:cNvSpPr>
            <p:nvPr/>
          </p:nvSpPr>
          <p:spPr bwMode="auto">
            <a:xfrm flipH="1">
              <a:off x="4432" y="3082"/>
              <a:ext cx="12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24" name="Line 76"/>
            <p:cNvSpPr>
              <a:spLocks noChangeShapeType="1"/>
            </p:cNvSpPr>
            <p:nvPr/>
          </p:nvSpPr>
          <p:spPr bwMode="auto">
            <a:xfrm>
              <a:off x="4137" y="3206"/>
              <a:ext cx="30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25" name="Line 77"/>
            <p:cNvSpPr>
              <a:spLocks noChangeShapeType="1"/>
            </p:cNvSpPr>
            <p:nvPr/>
          </p:nvSpPr>
          <p:spPr bwMode="auto">
            <a:xfrm flipH="1" flipV="1">
              <a:off x="4430" y="3076"/>
              <a:ext cx="0" cy="1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55" name="Line 107"/>
            <p:cNvSpPr>
              <a:spLocks noChangeShapeType="1"/>
            </p:cNvSpPr>
            <p:nvPr/>
          </p:nvSpPr>
          <p:spPr bwMode="auto">
            <a:xfrm flipV="1">
              <a:off x="2190" y="2595"/>
              <a:ext cx="0" cy="53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7815" name="Rectangle 167"/>
          <p:cNvSpPr>
            <a:spLocks noGrp="1" noChangeArrowheads="1"/>
          </p:cNvSpPr>
          <p:nvPr>
            <p:ph type="title"/>
          </p:nvPr>
        </p:nvSpPr>
        <p:spPr>
          <a:xfrm>
            <a:off x="393904" y="206773"/>
            <a:ext cx="8280400" cy="879912"/>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a:t>Permissive Overreach Scheme (POR)</a:t>
            </a:r>
            <a:br>
              <a:rPr lang="en-GB" altLang="en-US" sz="3600" dirty="0"/>
            </a:br>
            <a:r>
              <a:rPr lang="en-GB" altLang="en-US" sz="3600" dirty="0"/>
              <a:t>Internal Fault</a:t>
            </a:r>
          </a:p>
        </p:txBody>
      </p:sp>
      <p:grpSp>
        <p:nvGrpSpPr>
          <p:cNvPr id="27813" name="Group 165"/>
          <p:cNvGrpSpPr>
            <a:grpSpLocks/>
          </p:cNvGrpSpPr>
          <p:nvPr/>
        </p:nvGrpSpPr>
        <p:grpSpPr bwMode="auto">
          <a:xfrm>
            <a:off x="2546350" y="3497263"/>
            <a:ext cx="4667250" cy="2295525"/>
            <a:chOff x="2025" y="2075"/>
            <a:chExt cx="2940" cy="1446"/>
          </a:xfrm>
        </p:grpSpPr>
        <p:grpSp>
          <p:nvGrpSpPr>
            <p:cNvPr id="27780" name="Group 132"/>
            <p:cNvGrpSpPr>
              <a:grpSpLocks/>
            </p:cNvGrpSpPr>
            <p:nvPr/>
          </p:nvGrpSpPr>
          <p:grpSpPr bwMode="auto">
            <a:xfrm>
              <a:off x="2025" y="2075"/>
              <a:ext cx="2940" cy="1446"/>
              <a:chOff x="2025" y="2075"/>
              <a:chExt cx="2940" cy="1446"/>
            </a:xfrm>
          </p:grpSpPr>
          <p:sp>
            <p:nvSpPr>
              <p:cNvPr id="27781" name="Line 133"/>
              <p:cNvSpPr>
                <a:spLocks noChangeShapeType="1"/>
              </p:cNvSpPr>
              <p:nvPr/>
            </p:nvSpPr>
            <p:spPr bwMode="auto">
              <a:xfrm>
                <a:off x="2181" y="3521"/>
                <a:ext cx="7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82" name="Line 134"/>
              <p:cNvSpPr>
                <a:spLocks noChangeShapeType="1"/>
              </p:cNvSpPr>
              <p:nvPr/>
            </p:nvSpPr>
            <p:spPr bwMode="auto">
              <a:xfrm flipH="1">
                <a:off x="4749" y="3050"/>
                <a:ext cx="13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83" name="Line 135"/>
              <p:cNvSpPr>
                <a:spLocks noChangeShapeType="1"/>
              </p:cNvSpPr>
              <p:nvPr/>
            </p:nvSpPr>
            <p:spPr bwMode="auto">
              <a:xfrm flipH="1">
                <a:off x="4749" y="3521"/>
                <a:ext cx="47"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84" name="Line 136"/>
              <p:cNvSpPr>
                <a:spLocks noChangeShapeType="1"/>
              </p:cNvSpPr>
              <p:nvPr/>
            </p:nvSpPr>
            <p:spPr bwMode="auto">
              <a:xfrm>
                <a:off x="2190" y="2599"/>
                <a:ext cx="86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85" name="Line 137"/>
              <p:cNvSpPr>
                <a:spLocks noChangeShapeType="1"/>
              </p:cNvSpPr>
              <p:nvPr/>
            </p:nvSpPr>
            <p:spPr bwMode="auto">
              <a:xfrm flipH="1">
                <a:off x="3967" y="2454"/>
                <a:ext cx="8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86" name="Line 138"/>
              <p:cNvSpPr>
                <a:spLocks noChangeShapeType="1"/>
              </p:cNvSpPr>
              <p:nvPr/>
            </p:nvSpPr>
            <p:spPr bwMode="auto">
              <a:xfrm flipH="1" flipV="1">
                <a:off x="4882" y="2078"/>
                <a:ext cx="0" cy="97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87" name="Line 139"/>
              <p:cNvSpPr>
                <a:spLocks noChangeShapeType="1"/>
              </p:cNvSpPr>
              <p:nvPr/>
            </p:nvSpPr>
            <p:spPr bwMode="auto">
              <a:xfrm flipH="1">
                <a:off x="4045" y="2075"/>
                <a:ext cx="84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88" name="Line 140"/>
              <p:cNvSpPr>
                <a:spLocks noChangeShapeType="1"/>
              </p:cNvSpPr>
              <p:nvPr/>
            </p:nvSpPr>
            <p:spPr bwMode="auto">
              <a:xfrm flipH="1">
                <a:off x="4053" y="2075"/>
                <a:ext cx="0" cy="38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89" name="Line 141"/>
              <p:cNvSpPr>
                <a:spLocks noChangeShapeType="1"/>
              </p:cNvSpPr>
              <p:nvPr/>
            </p:nvSpPr>
            <p:spPr bwMode="auto">
              <a:xfrm flipH="1">
                <a:off x="3312" y="2450"/>
                <a:ext cx="387" cy="147"/>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90" name="Line 142"/>
              <p:cNvSpPr>
                <a:spLocks noChangeShapeType="1"/>
              </p:cNvSpPr>
              <p:nvPr/>
            </p:nvSpPr>
            <p:spPr bwMode="auto">
              <a:xfrm>
                <a:off x="2025" y="3521"/>
                <a:ext cx="16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91" name="Line 143"/>
              <p:cNvSpPr>
                <a:spLocks noChangeShapeType="1"/>
              </p:cNvSpPr>
              <p:nvPr/>
            </p:nvSpPr>
            <p:spPr bwMode="auto">
              <a:xfrm>
                <a:off x="3012" y="3297"/>
                <a:ext cx="96"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92" name="Line 144"/>
              <p:cNvSpPr>
                <a:spLocks noChangeShapeType="1"/>
              </p:cNvSpPr>
              <p:nvPr/>
            </p:nvSpPr>
            <p:spPr bwMode="auto">
              <a:xfrm>
                <a:off x="2101" y="3050"/>
                <a:ext cx="15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93" name="Line 145"/>
              <p:cNvSpPr>
                <a:spLocks noChangeShapeType="1"/>
              </p:cNvSpPr>
              <p:nvPr/>
            </p:nvSpPr>
            <p:spPr bwMode="auto">
              <a:xfrm>
                <a:off x="2188" y="3143"/>
                <a:ext cx="6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94" name="Line 146"/>
              <p:cNvSpPr>
                <a:spLocks noChangeShapeType="1"/>
              </p:cNvSpPr>
              <p:nvPr/>
            </p:nvSpPr>
            <p:spPr bwMode="auto">
              <a:xfrm flipH="1">
                <a:off x="4141" y="3288"/>
                <a:ext cx="81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95" name="Line 147"/>
              <p:cNvSpPr>
                <a:spLocks noChangeShapeType="1"/>
              </p:cNvSpPr>
              <p:nvPr/>
            </p:nvSpPr>
            <p:spPr bwMode="auto">
              <a:xfrm flipH="1">
                <a:off x="4794" y="3521"/>
                <a:ext cx="171"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96" name="Line 148"/>
              <p:cNvSpPr>
                <a:spLocks noChangeShapeType="1"/>
              </p:cNvSpPr>
              <p:nvPr/>
            </p:nvSpPr>
            <p:spPr bwMode="auto">
              <a:xfrm flipH="1">
                <a:off x="3877" y="3297"/>
                <a:ext cx="96"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97" name="Line 149"/>
              <p:cNvSpPr>
                <a:spLocks noChangeShapeType="1"/>
              </p:cNvSpPr>
              <p:nvPr/>
            </p:nvSpPr>
            <p:spPr bwMode="auto">
              <a:xfrm flipH="1">
                <a:off x="4748" y="3143"/>
                <a:ext cx="4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98" name="Line 150"/>
              <p:cNvSpPr>
                <a:spLocks noChangeShapeType="1"/>
              </p:cNvSpPr>
              <p:nvPr/>
            </p:nvSpPr>
            <p:spPr bwMode="auto">
              <a:xfrm>
                <a:off x="2932" y="2454"/>
                <a:ext cx="12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799" name="Line 151"/>
              <p:cNvSpPr>
                <a:spLocks noChangeShapeType="1"/>
              </p:cNvSpPr>
              <p:nvPr/>
            </p:nvSpPr>
            <p:spPr bwMode="auto">
              <a:xfrm flipV="1">
                <a:off x="2103" y="2078"/>
                <a:ext cx="0" cy="98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00" name="Line 152"/>
              <p:cNvSpPr>
                <a:spLocks noChangeShapeType="1"/>
              </p:cNvSpPr>
              <p:nvPr/>
            </p:nvSpPr>
            <p:spPr bwMode="auto">
              <a:xfrm>
                <a:off x="2096" y="2075"/>
                <a:ext cx="84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01" name="Line 153"/>
              <p:cNvSpPr>
                <a:spLocks noChangeShapeType="1"/>
              </p:cNvSpPr>
              <p:nvPr/>
            </p:nvSpPr>
            <p:spPr bwMode="auto">
              <a:xfrm>
                <a:off x="2932" y="2075"/>
                <a:ext cx="0" cy="38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02" name="Line 154"/>
              <p:cNvSpPr>
                <a:spLocks noChangeShapeType="1"/>
              </p:cNvSpPr>
              <p:nvPr/>
            </p:nvSpPr>
            <p:spPr bwMode="auto">
              <a:xfrm flipH="1" flipV="1">
                <a:off x="4794" y="2595"/>
                <a:ext cx="0" cy="92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03" name="Line 155"/>
              <p:cNvSpPr>
                <a:spLocks noChangeShapeType="1"/>
              </p:cNvSpPr>
              <p:nvPr/>
            </p:nvSpPr>
            <p:spPr bwMode="auto">
              <a:xfrm flipH="1">
                <a:off x="3962" y="2599"/>
                <a:ext cx="83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04" name="Line 156"/>
              <p:cNvSpPr>
                <a:spLocks noChangeShapeType="1"/>
              </p:cNvSpPr>
              <p:nvPr/>
            </p:nvSpPr>
            <p:spPr bwMode="auto">
              <a:xfrm>
                <a:off x="3319" y="2452"/>
                <a:ext cx="384" cy="144"/>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05" name="Line 157"/>
              <p:cNvSpPr>
                <a:spLocks noChangeShapeType="1"/>
              </p:cNvSpPr>
              <p:nvPr/>
            </p:nvSpPr>
            <p:spPr bwMode="auto">
              <a:xfrm>
                <a:off x="2455" y="3094"/>
                <a:ext cx="10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06" name="Line 158"/>
              <p:cNvSpPr>
                <a:spLocks noChangeShapeType="1"/>
              </p:cNvSpPr>
              <p:nvPr/>
            </p:nvSpPr>
            <p:spPr bwMode="auto">
              <a:xfrm flipH="1">
                <a:off x="2555" y="3218"/>
                <a:ext cx="29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07" name="Line 159"/>
              <p:cNvSpPr>
                <a:spLocks noChangeShapeType="1"/>
              </p:cNvSpPr>
              <p:nvPr/>
            </p:nvSpPr>
            <p:spPr bwMode="auto">
              <a:xfrm flipV="1">
                <a:off x="2555" y="3087"/>
                <a:ext cx="0" cy="13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08" name="Line 160"/>
              <p:cNvSpPr>
                <a:spLocks noChangeShapeType="1"/>
              </p:cNvSpPr>
              <p:nvPr/>
            </p:nvSpPr>
            <p:spPr bwMode="auto">
              <a:xfrm flipH="1">
                <a:off x="4432" y="3082"/>
                <a:ext cx="121"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09" name="Line 161"/>
              <p:cNvSpPr>
                <a:spLocks noChangeShapeType="1"/>
              </p:cNvSpPr>
              <p:nvPr/>
            </p:nvSpPr>
            <p:spPr bwMode="auto">
              <a:xfrm>
                <a:off x="4137" y="3206"/>
                <a:ext cx="301"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10" name="Line 162"/>
              <p:cNvSpPr>
                <a:spLocks noChangeShapeType="1"/>
              </p:cNvSpPr>
              <p:nvPr/>
            </p:nvSpPr>
            <p:spPr bwMode="auto">
              <a:xfrm flipH="1" flipV="1">
                <a:off x="4430" y="3076"/>
                <a:ext cx="0" cy="13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11" name="Line 163"/>
              <p:cNvSpPr>
                <a:spLocks noChangeShapeType="1"/>
              </p:cNvSpPr>
              <p:nvPr/>
            </p:nvSpPr>
            <p:spPr bwMode="auto">
              <a:xfrm flipV="1">
                <a:off x="2190" y="2595"/>
                <a:ext cx="0" cy="53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7812" name="Line 164"/>
            <p:cNvSpPr>
              <a:spLocks noChangeShapeType="1"/>
            </p:cNvSpPr>
            <p:nvPr/>
          </p:nvSpPr>
          <p:spPr bwMode="auto">
            <a:xfrm flipV="1">
              <a:off x="2190" y="3129"/>
              <a:ext cx="0" cy="38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7816" name="Group 168"/>
          <p:cNvGrpSpPr>
            <a:grpSpLocks/>
          </p:cNvGrpSpPr>
          <p:nvPr/>
        </p:nvGrpSpPr>
        <p:grpSpPr bwMode="auto">
          <a:xfrm>
            <a:off x="3522663" y="2059425"/>
            <a:ext cx="2351087" cy="392113"/>
            <a:chOff x="666" y="981"/>
            <a:chExt cx="2100" cy="312"/>
          </a:xfrm>
        </p:grpSpPr>
        <p:sp>
          <p:nvSpPr>
            <p:cNvPr id="27817" name="Line 169"/>
            <p:cNvSpPr>
              <a:spLocks noChangeShapeType="1"/>
            </p:cNvSpPr>
            <p:nvPr/>
          </p:nvSpPr>
          <p:spPr bwMode="auto">
            <a:xfrm flipV="1">
              <a:off x="666" y="1137"/>
              <a:ext cx="21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18" name="Line 170"/>
            <p:cNvSpPr>
              <a:spLocks noChangeShapeType="1"/>
            </p:cNvSpPr>
            <p:nvPr/>
          </p:nvSpPr>
          <p:spPr bwMode="auto">
            <a:xfrm>
              <a:off x="250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19" name="Line 171"/>
            <p:cNvSpPr>
              <a:spLocks noChangeShapeType="1"/>
            </p:cNvSpPr>
            <p:nvPr/>
          </p:nvSpPr>
          <p:spPr bwMode="auto">
            <a:xfrm>
              <a:off x="2130"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20" name="Line 172"/>
            <p:cNvSpPr>
              <a:spLocks noChangeShapeType="1"/>
            </p:cNvSpPr>
            <p:nvPr/>
          </p:nvSpPr>
          <p:spPr bwMode="auto">
            <a:xfrm>
              <a:off x="121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21" name="Line 173"/>
            <p:cNvSpPr>
              <a:spLocks noChangeShapeType="1"/>
            </p:cNvSpPr>
            <p:nvPr/>
          </p:nvSpPr>
          <p:spPr bwMode="auto">
            <a:xfrm>
              <a:off x="846"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7822" name="Group 174"/>
            <p:cNvGrpSpPr>
              <a:grpSpLocks/>
            </p:cNvGrpSpPr>
            <p:nvPr/>
          </p:nvGrpSpPr>
          <p:grpSpPr bwMode="auto">
            <a:xfrm>
              <a:off x="1271" y="1094"/>
              <a:ext cx="84" cy="87"/>
              <a:chOff x="2636" y="2286"/>
              <a:chExt cx="33" cy="34"/>
            </a:xfrm>
          </p:grpSpPr>
          <p:sp>
            <p:nvSpPr>
              <p:cNvPr id="27823" name="Line 175"/>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24" name="Line 176"/>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825" name="Group 177"/>
            <p:cNvGrpSpPr>
              <a:grpSpLocks/>
            </p:cNvGrpSpPr>
            <p:nvPr/>
          </p:nvGrpSpPr>
          <p:grpSpPr bwMode="auto">
            <a:xfrm>
              <a:off x="1997" y="1093"/>
              <a:ext cx="84" cy="87"/>
              <a:chOff x="2636" y="2286"/>
              <a:chExt cx="33" cy="34"/>
            </a:xfrm>
          </p:grpSpPr>
          <p:sp>
            <p:nvSpPr>
              <p:cNvPr id="27826" name="Line 178"/>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27" name="Line 179"/>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7828" name="Line 180"/>
          <p:cNvSpPr>
            <a:spLocks noChangeShapeType="1"/>
          </p:cNvSpPr>
          <p:nvPr/>
        </p:nvSpPr>
        <p:spPr bwMode="auto">
          <a:xfrm>
            <a:off x="4240213" y="1987988"/>
            <a:ext cx="646112"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29" name="Line 181"/>
          <p:cNvSpPr>
            <a:spLocks noChangeShapeType="1"/>
          </p:cNvSpPr>
          <p:nvPr/>
        </p:nvSpPr>
        <p:spPr bwMode="auto">
          <a:xfrm>
            <a:off x="4449763" y="2530913"/>
            <a:ext cx="644525"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30" name="Line 182"/>
          <p:cNvSpPr>
            <a:spLocks noChangeShapeType="1"/>
          </p:cNvSpPr>
          <p:nvPr/>
        </p:nvSpPr>
        <p:spPr bwMode="auto">
          <a:xfrm>
            <a:off x="4251325" y="1743513"/>
            <a:ext cx="1019175"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31" name="Line 183"/>
          <p:cNvSpPr>
            <a:spLocks noChangeShapeType="1"/>
          </p:cNvSpPr>
          <p:nvPr/>
        </p:nvSpPr>
        <p:spPr bwMode="auto">
          <a:xfrm>
            <a:off x="4097338" y="1499038"/>
            <a:ext cx="1647825"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32" name="Line 184"/>
          <p:cNvSpPr>
            <a:spLocks noChangeShapeType="1"/>
          </p:cNvSpPr>
          <p:nvPr/>
        </p:nvSpPr>
        <p:spPr bwMode="auto">
          <a:xfrm>
            <a:off x="4068763" y="2770625"/>
            <a:ext cx="1020762"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33" name="Line 185"/>
          <p:cNvSpPr>
            <a:spLocks noChangeShapeType="1"/>
          </p:cNvSpPr>
          <p:nvPr/>
        </p:nvSpPr>
        <p:spPr bwMode="auto">
          <a:xfrm>
            <a:off x="3603625" y="3024625"/>
            <a:ext cx="1649413"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34" name="Text Box 186"/>
          <p:cNvSpPr txBox="1">
            <a:spLocks noChangeArrowheads="1"/>
          </p:cNvSpPr>
          <p:nvPr/>
        </p:nvSpPr>
        <p:spPr bwMode="auto">
          <a:xfrm>
            <a:off x="5762625" y="1384738"/>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Z3</a:t>
            </a:r>
            <a:endParaRPr lang="en-GB" altLang="en-US" b="0" i="0">
              <a:solidFill>
                <a:schemeClr val="tx1"/>
              </a:solidFill>
            </a:endParaRPr>
          </a:p>
        </p:txBody>
      </p:sp>
      <p:sp>
        <p:nvSpPr>
          <p:cNvPr id="27835" name="Text Box 187"/>
          <p:cNvSpPr txBox="1">
            <a:spLocks noChangeArrowheads="1"/>
          </p:cNvSpPr>
          <p:nvPr/>
        </p:nvSpPr>
        <p:spPr bwMode="auto">
          <a:xfrm>
            <a:off x="3335338" y="291032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Z3</a:t>
            </a:r>
            <a:endParaRPr lang="en-GB" altLang="en-US" b="0" i="0">
              <a:solidFill>
                <a:schemeClr val="tx1"/>
              </a:solidFill>
            </a:endParaRPr>
          </a:p>
        </p:txBody>
      </p:sp>
      <p:sp>
        <p:nvSpPr>
          <p:cNvPr id="27836" name="Text Box 188"/>
          <p:cNvSpPr txBox="1">
            <a:spLocks noChangeArrowheads="1"/>
          </p:cNvSpPr>
          <p:nvPr/>
        </p:nvSpPr>
        <p:spPr bwMode="auto">
          <a:xfrm>
            <a:off x="4887913" y="1873688"/>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27837" name="Text Box 189"/>
          <p:cNvSpPr txBox="1">
            <a:spLocks noChangeArrowheads="1"/>
          </p:cNvSpPr>
          <p:nvPr/>
        </p:nvSpPr>
        <p:spPr bwMode="auto">
          <a:xfrm>
            <a:off x="4186238" y="2416613"/>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27838" name="Text Box 190"/>
          <p:cNvSpPr txBox="1">
            <a:spLocks noChangeArrowheads="1"/>
          </p:cNvSpPr>
          <p:nvPr/>
        </p:nvSpPr>
        <p:spPr bwMode="auto">
          <a:xfrm>
            <a:off x="5276850" y="1630800"/>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sp>
        <p:nvSpPr>
          <p:cNvPr id="27839" name="Text Box 191"/>
          <p:cNvSpPr txBox="1">
            <a:spLocks noChangeArrowheads="1"/>
          </p:cNvSpPr>
          <p:nvPr/>
        </p:nvSpPr>
        <p:spPr bwMode="auto">
          <a:xfrm>
            <a:off x="3805238" y="2653150"/>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grpSp>
        <p:nvGrpSpPr>
          <p:cNvPr id="27840" name="Group 192"/>
          <p:cNvGrpSpPr>
            <a:grpSpLocks/>
          </p:cNvGrpSpPr>
          <p:nvPr/>
        </p:nvGrpSpPr>
        <p:grpSpPr bwMode="auto">
          <a:xfrm>
            <a:off x="4876800" y="2102288"/>
            <a:ext cx="106363" cy="396875"/>
            <a:chOff x="5516" y="4124"/>
            <a:chExt cx="164" cy="544"/>
          </a:xfrm>
        </p:grpSpPr>
        <p:sp>
          <p:nvSpPr>
            <p:cNvPr id="27841" name="Line 193"/>
            <p:cNvSpPr>
              <a:spLocks noChangeShapeType="1"/>
            </p:cNvSpPr>
            <p:nvPr/>
          </p:nvSpPr>
          <p:spPr bwMode="auto">
            <a:xfrm flipH="1">
              <a:off x="5516" y="4360"/>
              <a:ext cx="157" cy="308"/>
            </a:xfrm>
            <a:prstGeom prst="line">
              <a:avLst/>
            </a:prstGeom>
            <a:noFill/>
            <a:ln w="19050">
              <a:solidFill>
                <a:srgbClr val="000000"/>
              </a:solidFill>
              <a:round/>
              <a:headEnd type="none" w="med"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2" name="Line 194"/>
            <p:cNvSpPr>
              <a:spLocks noChangeShapeType="1"/>
            </p:cNvSpPr>
            <p:nvPr/>
          </p:nvSpPr>
          <p:spPr bwMode="auto">
            <a:xfrm flipH="1">
              <a:off x="5516" y="4124"/>
              <a:ext cx="129" cy="259"/>
            </a:xfrm>
            <a:prstGeom prst="line">
              <a:avLst/>
            </a:prstGeom>
            <a:noFill/>
            <a:ln w="19050">
              <a:solidFill>
                <a:srgbClr val="0000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3" name="Line 195"/>
            <p:cNvSpPr>
              <a:spLocks noChangeShapeType="1"/>
            </p:cNvSpPr>
            <p:nvPr/>
          </p:nvSpPr>
          <p:spPr bwMode="auto">
            <a:xfrm>
              <a:off x="5524" y="4375"/>
              <a:ext cx="156" cy="0"/>
            </a:xfrm>
            <a:prstGeom prst="line">
              <a:avLst/>
            </a:prstGeom>
            <a:noFill/>
            <a:ln w="1905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Tree>
    <p:extLst>
      <p:ext uri="{BB962C8B-B14F-4D97-AF65-F5344CB8AC3E}">
        <p14:creationId xmlns:p14="http://schemas.microsoft.com/office/powerpoint/2010/main" val="33175651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2211388" y="6010376"/>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53251" name="Text Box 3"/>
          <p:cNvSpPr txBox="1">
            <a:spLocks noChangeArrowheads="1"/>
          </p:cNvSpPr>
          <p:nvPr/>
        </p:nvSpPr>
        <p:spPr bwMode="auto">
          <a:xfrm>
            <a:off x="2211388" y="5432526"/>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53252" name="Text Box 4"/>
          <p:cNvSpPr txBox="1">
            <a:spLocks noChangeArrowheads="1"/>
          </p:cNvSpPr>
          <p:nvPr/>
        </p:nvSpPr>
        <p:spPr bwMode="auto">
          <a:xfrm>
            <a:off x="2211388" y="5070576"/>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53253" name="Text Box 5"/>
          <p:cNvSpPr txBox="1">
            <a:spLocks noChangeArrowheads="1"/>
          </p:cNvSpPr>
          <p:nvPr/>
        </p:nvSpPr>
        <p:spPr bwMode="auto">
          <a:xfrm>
            <a:off x="3824288" y="4883251"/>
            <a:ext cx="258762"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rgbClr val="E9F494"/>
                </a:solidFill>
              </a:rPr>
              <a:t>.</a:t>
            </a:r>
            <a:r>
              <a:rPr lang="en-GB" altLang="en-US" sz="1200" i="0">
                <a:solidFill>
                  <a:schemeClr val="bg2"/>
                </a:solidFill>
              </a:rPr>
              <a:t>                   </a:t>
            </a:r>
            <a:endParaRPr lang="en-GB" altLang="en-US" sz="1200" i="0">
              <a:solidFill>
                <a:schemeClr val="tx1"/>
              </a:solidFill>
            </a:endParaRPr>
          </a:p>
        </p:txBody>
      </p:sp>
      <p:sp>
        <p:nvSpPr>
          <p:cNvPr id="53254" name="Line 6"/>
          <p:cNvSpPr>
            <a:spLocks noChangeShapeType="1"/>
          </p:cNvSpPr>
          <p:nvPr/>
        </p:nvSpPr>
        <p:spPr bwMode="auto">
          <a:xfrm>
            <a:off x="2517775" y="5213451"/>
            <a:ext cx="13001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55" name="Text Box 7"/>
          <p:cNvSpPr txBox="1">
            <a:spLocks noChangeArrowheads="1"/>
          </p:cNvSpPr>
          <p:nvPr/>
        </p:nvSpPr>
        <p:spPr bwMode="auto">
          <a:xfrm>
            <a:off x="2881313" y="5438876"/>
            <a:ext cx="390525" cy="30321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53256" name="Text Box 8"/>
          <p:cNvSpPr txBox="1">
            <a:spLocks noChangeArrowheads="1"/>
          </p:cNvSpPr>
          <p:nvPr/>
        </p:nvSpPr>
        <p:spPr bwMode="auto">
          <a:xfrm>
            <a:off x="2887663" y="6010376"/>
            <a:ext cx="390525" cy="303212"/>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53257" name="Line 9"/>
          <p:cNvSpPr>
            <a:spLocks noChangeShapeType="1"/>
          </p:cNvSpPr>
          <p:nvPr/>
        </p:nvSpPr>
        <p:spPr bwMode="auto">
          <a:xfrm>
            <a:off x="2522538" y="6161188"/>
            <a:ext cx="36830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58" name="Line 10"/>
          <p:cNvSpPr>
            <a:spLocks noChangeShapeType="1"/>
          </p:cNvSpPr>
          <p:nvPr/>
        </p:nvSpPr>
        <p:spPr bwMode="auto">
          <a:xfrm>
            <a:off x="3262313" y="5576988"/>
            <a:ext cx="66675"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59" name="Line 11"/>
          <p:cNvSpPr>
            <a:spLocks noChangeShapeType="1"/>
          </p:cNvSpPr>
          <p:nvPr/>
        </p:nvSpPr>
        <p:spPr bwMode="auto">
          <a:xfrm flipV="1">
            <a:off x="3317875" y="5326163"/>
            <a:ext cx="0" cy="252413"/>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0" name="Line 12"/>
          <p:cNvSpPr>
            <a:spLocks noChangeShapeType="1"/>
          </p:cNvSpPr>
          <p:nvPr/>
        </p:nvSpPr>
        <p:spPr bwMode="auto">
          <a:xfrm>
            <a:off x="3308350" y="5326163"/>
            <a:ext cx="517525"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1" name="Line 13"/>
          <p:cNvSpPr>
            <a:spLocks noChangeShapeType="1"/>
          </p:cNvSpPr>
          <p:nvPr/>
        </p:nvSpPr>
        <p:spPr bwMode="auto">
          <a:xfrm>
            <a:off x="3271838" y="6159601"/>
            <a:ext cx="287337"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2" name="Line 14"/>
          <p:cNvSpPr>
            <a:spLocks noChangeShapeType="1"/>
          </p:cNvSpPr>
          <p:nvPr/>
        </p:nvSpPr>
        <p:spPr bwMode="auto">
          <a:xfrm flipV="1">
            <a:off x="3559175" y="5429351"/>
            <a:ext cx="0" cy="744537"/>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3" name="Line 15"/>
          <p:cNvSpPr>
            <a:spLocks noChangeShapeType="1"/>
          </p:cNvSpPr>
          <p:nvPr/>
        </p:nvSpPr>
        <p:spPr bwMode="auto">
          <a:xfrm>
            <a:off x="3559175" y="5430938"/>
            <a:ext cx="261938"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4" name="Text Box 16"/>
          <p:cNvSpPr txBox="1">
            <a:spLocks noChangeArrowheads="1"/>
          </p:cNvSpPr>
          <p:nvPr/>
        </p:nvSpPr>
        <p:spPr bwMode="auto">
          <a:xfrm>
            <a:off x="4179888" y="5089626"/>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Trip</a:t>
            </a:r>
          </a:p>
        </p:txBody>
      </p:sp>
      <p:sp>
        <p:nvSpPr>
          <p:cNvPr id="53265" name="Text Box 17"/>
          <p:cNvSpPr txBox="1">
            <a:spLocks noChangeArrowheads="1"/>
          </p:cNvSpPr>
          <p:nvPr/>
        </p:nvSpPr>
        <p:spPr bwMode="auto">
          <a:xfrm>
            <a:off x="2881313" y="4757838"/>
            <a:ext cx="322262"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53266" name="Text Box 18"/>
          <p:cNvSpPr txBox="1">
            <a:spLocks noChangeArrowheads="1"/>
          </p:cNvSpPr>
          <p:nvPr/>
        </p:nvSpPr>
        <p:spPr bwMode="auto">
          <a:xfrm>
            <a:off x="2881313" y="5438876"/>
            <a:ext cx="390525" cy="303212"/>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53267" name="Oval 19"/>
          <p:cNvSpPr>
            <a:spLocks noChangeArrowheads="1"/>
          </p:cNvSpPr>
          <p:nvPr/>
        </p:nvSpPr>
        <p:spPr bwMode="auto">
          <a:xfrm>
            <a:off x="2747963" y="4932463"/>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8" name="Oval 20"/>
          <p:cNvSpPr>
            <a:spLocks noChangeArrowheads="1"/>
          </p:cNvSpPr>
          <p:nvPr/>
        </p:nvSpPr>
        <p:spPr bwMode="auto">
          <a:xfrm>
            <a:off x="2746375" y="5540476"/>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9" name="Text Box 21"/>
          <p:cNvSpPr txBox="1">
            <a:spLocks noChangeArrowheads="1"/>
          </p:cNvSpPr>
          <p:nvPr/>
        </p:nvSpPr>
        <p:spPr bwMode="auto">
          <a:xfrm flipH="1">
            <a:off x="7162800" y="6010376"/>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53270" name="Text Box 22"/>
          <p:cNvSpPr txBox="1">
            <a:spLocks noChangeArrowheads="1"/>
          </p:cNvSpPr>
          <p:nvPr/>
        </p:nvSpPr>
        <p:spPr bwMode="auto">
          <a:xfrm flipH="1">
            <a:off x="7162800" y="5432526"/>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53271" name="Text Box 23"/>
          <p:cNvSpPr txBox="1">
            <a:spLocks noChangeArrowheads="1"/>
          </p:cNvSpPr>
          <p:nvPr/>
        </p:nvSpPr>
        <p:spPr bwMode="auto">
          <a:xfrm flipH="1">
            <a:off x="7162800" y="5070576"/>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53272" name="Text Box 24"/>
          <p:cNvSpPr txBox="1">
            <a:spLocks noChangeArrowheads="1"/>
          </p:cNvSpPr>
          <p:nvPr/>
        </p:nvSpPr>
        <p:spPr bwMode="auto">
          <a:xfrm flipH="1">
            <a:off x="5614988" y="4883251"/>
            <a:ext cx="258762"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rgbClr val="E9F494"/>
                </a:solidFill>
              </a:rPr>
              <a:t>.</a:t>
            </a:r>
            <a:r>
              <a:rPr lang="en-GB" altLang="en-US" sz="1200" i="0">
                <a:solidFill>
                  <a:schemeClr val="bg2"/>
                </a:solidFill>
              </a:rPr>
              <a:t>                   </a:t>
            </a:r>
            <a:endParaRPr lang="en-GB" altLang="en-US" sz="1200" i="0">
              <a:solidFill>
                <a:schemeClr val="tx1"/>
              </a:solidFill>
            </a:endParaRPr>
          </a:p>
        </p:txBody>
      </p:sp>
      <p:sp>
        <p:nvSpPr>
          <p:cNvPr id="53273" name="Text Box 25"/>
          <p:cNvSpPr txBox="1">
            <a:spLocks noChangeArrowheads="1"/>
          </p:cNvSpPr>
          <p:nvPr/>
        </p:nvSpPr>
        <p:spPr bwMode="auto">
          <a:xfrm flipH="1">
            <a:off x="6467475" y="5438876"/>
            <a:ext cx="390525" cy="30321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53274" name="Text Box 26"/>
          <p:cNvSpPr txBox="1">
            <a:spLocks noChangeArrowheads="1"/>
          </p:cNvSpPr>
          <p:nvPr/>
        </p:nvSpPr>
        <p:spPr bwMode="auto">
          <a:xfrm flipH="1">
            <a:off x="6461125" y="6010376"/>
            <a:ext cx="390525" cy="303212"/>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53275" name="Line 27"/>
          <p:cNvSpPr>
            <a:spLocks noChangeShapeType="1"/>
          </p:cNvSpPr>
          <p:nvPr/>
        </p:nvSpPr>
        <p:spPr bwMode="auto">
          <a:xfrm flipH="1">
            <a:off x="6837363" y="6161188"/>
            <a:ext cx="334962"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76" name="Line 28"/>
          <p:cNvSpPr>
            <a:spLocks noChangeShapeType="1"/>
          </p:cNvSpPr>
          <p:nvPr/>
        </p:nvSpPr>
        <p:spPr bwMode="auto">
          <a:xfrm flipH="1">
            <a:off x="6356350" y="5576988"/>
            <a:ext cx="103188"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77" name="Line 29"/>
          <p:cNvSpPr>
            <a:spLocks noChangeShapeType="1"/>
          </p:cNvSpPr>
          <p:nvPr/>
        </p:nvSpPr>
        <p:spPr bwMode="auto">
          <a:xfrm flipH="1" flipV="1">
            <a:off x="6372225" y="5311876"/>
            <a:ext cx="0" cy="271462"/>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78" name="Line 30"/>
          <p:cNvSpPr>
            <a:spLocks noChangeShapeType="1"/>
          </p:cNvSpPr>
          <p:nvPr/>
        </p:nvSpPr>
        <p:spPr bwMode="auto">
          <a:xfrm flipH="1">
            <a:off x="5868988" y="5326163"/>
            <a:ext cx="503237"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79" name="Line 31"/>
          <p:cNvSpPr>
            <a:spLocks noChangeShapeType="1"/>
          </p:cNvSpPr>
          <p:nvPr/>
        </p:nvSpPr>
        <p:spPr bwMode="auto">
          <a:xfrm flipH="1">
            <a:off x="6135688" y="6159601"/>
            <a:ext cx="325437"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80" name="Line 32"/>
          <p:cNvSpPr>
            <a:spLocks noChangeShapeType="1"/>
          </p:cNvSpPr>
          <p:nvPr/>
        </p:nvSpPr>
        <p:spPr bwMode="auto">
          <a:xfrm flipH="1" flipV="1">
            <a:off x="6135688" y="5419826"/>
            <a:ext cx="0" cy="754062"/>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81" name="Line 33"/>
          <p:cNvSpPr>
            <a:spLocks noChangeShapeType="1"/>
          </p:cNvSpPr>
          <p:nvPr/>
        </p:nvSpPr>
        <p:spPr bwMode="auto">
          <a:xfrm flipH="1">
            <a:off x="5873750" y="5430938"/>
            <a:ext cx="261938"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82" name="Text Box 34"/>
          <p:cNvSpPr txBox="1">
            <a:spLocks noChangeArrowheads="1"/>
          </p:cNvSpPr>
          <p:nvPr/>
        </p:nvSpPr>
        <p:spPr bwMode="auto">
          <a:xfrm flipH="1">
            <a:off x="5053013" y="5089626"/>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Trip</a:t>
            </a:r>
          </a:p>
        </p:txBody>
      </p:sp>
      <p:sp>
        <p:nvSpPr>
          <p:cNvPr id="53283" name="Text Box 35"/>
          <p:cNvSpPr txBox="1">
            <a:spLocks noChangeArrowheads="1"/>
          </p:cNvSpPr>
          <p:nvPr/>
        </p:nvSpPr>
        <p:spPr bwMode="auto">
          <a:xfrm flipH="1">
            <a:off x="6527800" y="4757838"/>
            <a:ext cx="322263"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53284" name="Text Box 36"/>
          <p:cNvSpPr txBox="1">
            <a:spLocks noChangeArrowheads="1"/>
          </p:cNvSpPr>
          <p:nvPr/>
        </p:nvSpPr>
        <p:spPr bwMode="auto">
          <a:xfrm flipH="1">
            <a:off x="6467475" y="5438876"/>
            <a:ext cx="390525" cy="303212"/>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53285" name="Oval 37"/>
          <p:cNvSpPr>
            <a:spLocks noChangeArrowheads="1"/>
          </p:cNvSpPr>
          <p:nvPr/>
        </p:nvSpPr>
        <p:spPr bwMode="auto">
          <a:xfrm flipH="1">
            <a:off x="6880225" y="4932463"/>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86" name="Oval 38"/>
          <p:cNvSpPr>
            <a:spLocks noChangeArrowheads="1"/>
          </p:cNvSpPr>
          <p:nvPr/>
        </p:nvSpPr>
        <p:spPr bwMode="auto">
          <a:xfrm flipH="1">
            <a:off x="6881813" y="5540476"/>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87" name="Text Box 39"/>
          <p:cNvSpPr txBox="1">
            <a:spLocks noChangeArrowheads="1"/>
          </p:cNvSpPr>
          <p:nvPr/>
        </p:nvSpPr>
        <p:spPr bwMode="auto">
          <a:xfrm>
            <a:off x="4151313" y="3745013"/>
            <a:ext cx="419100"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53288" name="Line 40"/>
          <p:cNvSpPr>
            <a:spLocks noChangeShapeType="1"/>
          </p:cNvSpPr>
          <p:nvPr/>
        </p:nvSpPr>
        <p:spPr bwMode="auto">
          <a:xfrm>
            <a:off x="4148138" y="3994251"/>
            <a:ext cx="4111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89" name="Text Box 41"/>
          <p:cNvSpPr txBox="1">
            <a:spLocks noChangeArrowheads="1"/>
          </p:cNvSpPr>
          <p:nvPr/>
        </p:nvSpPr>
        <p:spPr bwMode="auto">
          <a:xfrm flipH="1">
            <a:off x="5181600" y="3745013"/>
            <a:ext cx="419100"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53290" name="Line 42"/>
          <p:cNvSpPr>
            <a:spLocks noChangeShapeType="1"/>
          </p:cNvSpPr>
          <p:nvPr/>
        </p:nvSpPr>
        <p:spPr bwMode="auto">
          <a:xfrm flipH="1">
            <a:off x="5187950" y="3994251"/>
            <a:ext cx="406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16" name="Text Box 68"/>
          <p:cNvSpPr txBox="1">
            <a:spLocks noChangeArrowheads="1"/>
          </p:cNvSpPr>
          <p:nvPr/>
        </p:nvSpPr>
        <p:spPr bwMode="auto">
          <a:xfrm>
            <a:off x="677255" y="2766202"/>
            <a:ext cx="174413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Send Logic : Z2</a:t>
            </a:r>
          </a:p>
          <a:p>
            <a:r>
              <a:rPr lang="en-GB" altLang="en-US" dirty="0"/>
              <a:t>Trip Logic : Rx + Z2</a:t>
            </a:r>
          </a:p>
        </p:txBody>
      </p:sp>
      <p:sp>
        <p:nvSpPr>
          <p:cNvPr id="53324" name="Line 76"/>
          <p:cNvSpPr>
            <a:spLocks noChangeShapeType="1"/>
          </p:cNvSpPr>
          <p:nvPr/>
        </p:nvSpPr>
        <p:spPr bwMode="auto">
          <a:xfrm flipH="1">
            <a:off x="6842125" y="5583338"/>
            <a:ext cx="746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32" name="Line 84"/>
          <p:cNvSpPr>
            <a:spLocks noChangeShapeType="1"/>
          </p:cNvSpPr>
          <p:nvPr/>
        </p:nvSpPr>
        <p:spPr bwMode="auto">
          <a:xfrm>
            <a:off x="4084638" y="5227738"/>
            <a:ext cx="152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33" name="Line 85"/>
          <p:cNvSpPr>
            <a:spLocks noChangeShapeType="1"/>
          </p:cNvSpPr>
          <p:nvPr/>
        </p:nvSpPr>
        <p:spPr bwMode="auto">
          <a:xfrm>
            <a:off x="2638425" y="4835626"/>
            <a:ext cx="2428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35" name="Line 87"/>
          <p:cNvSpPr>
            <a:spLocks noChangeShapeType="1"/>
          </p:cNvSpPr>
          <p:nvPr/>
        </p:nvSpPr>
        <p:spPr bwMode="auto">
          <a:xfrm flipH="1">
            <a:off x="5876925" y="5213451"/>
            <a:ext cx="13001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36" name="Line 88"/>
          <p:cNvSpPr>
            <a:spLocks noChangeShapeType="1"/>
          </p:cNvSpPr>
          <p:nvPr/>
        </p:nvSpPr>
        <p:spPr bwMode="auto">
          <a:xfrm flipH="1">
            <a:off x="6913563" y="5583338"/>
            <a:ext cx="2714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37" name="Line 89"/>
          <p:cNvSpPr>
            <a:spLocks noChangeShapeType="1"/>
          </p:cNvSpPr>
          <p:nvPr/>
        </p:nvSpPr>
        <p:spPr bwMode="auto">
          <a:xfrm flipH="1">
            <a:off x="5457825" y="5227738"/>
            <a:ext cx="152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38" name="Line 90"/>
          <p:cNvSpPr>
            <a:spLocks noChangeShapeType="1"/>
          </p:cNvSpPr>
          <p:nvPr/>
        </p:nvSpPr>
        <p:spPr bwMode="auto">
          <a:xfrm flipH="1">
            <a:off x="6840538" y="4983263"/>
            <a:ext cx="777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39" name="Line 91"/>
          <p:cNvSpPr>
            <a:spLocks noChangeShapeType="1"/>
          </p:cNvSpPr>
          <p:nvPr/>
        </p:nvSpPr>
        <p:spPr bwMode="auto">
          <a:xfrm>
            <a:off x="3957638" y="3889476"/>
            <a:ext cx="203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40" name="Line 92"/>
          <p:cNvSpPr>
            <a:spLocks noChangeShapeType="1"/>
          </p:cNvSpPr>
          <p:nvPr/>
        </p:nvSpPr>
        <p:spPr bwMode="auto">
          <a:xfrm flipV="1">
            <a:off x="2641600" y="3292576"/>
            <a:ext cx="0" cy="1558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41" name="Line 93"/>
          <p:cNvSpPr>
            <a:spLocks noChangeShapeType="1"/>
          </p:cNvSpPr>
          <p:nvPr/>
        </p:nvSpPr>
        <p:spPr bwMode="auto">
          <a:xfrm>
            <a:off x="2630488" y="3287813"/>
            <a:ext cx="13398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42" name="Line 94"/>
          <p:cNvSpPr>
            <a:spLocks noChangeShapeType="1"/>
          </p:cNvSpPr>
          <p:nvPr/>
        </p:nvSpPr>
        <p:spPr bwMode="auto">
          <a:xfrm>
            <a:off x="3957638" y="3287813"/>
            <a:ext cx="0" cy="6143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43" name="Line 95"/>
          <p:cNvSpPr>
            <a:spLocks noChangeShapeType="1"/>
          </p:cNvSpPr>
          <p:nvPr/>
        </p:nvSpPr>
        <p:spPr bwMode="auto">
          <a:xfrm flipH="1" flipV="1">
            <a:off x="6913563" y="4113313"/>
            <a:ext cx="0" cy="14668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44" name="Line 96"/>
          <p:cNvSpPr>
            <a:spLocks noChangeShapeType="1"/>
          </p:cNvSpPr>
          <p:nvPr/>
        </p:nvSpPr>
        <p:spPr bwMode="auto">
          <a:xfrm flipH="1">
            <a:off x="5592763" y="4119663"/>
            <a:ext cx="13271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45" name="Line 97"/>
          <p:cNvSpPr>
            <a:spLocks noChangeShapeType="1"/>
          </p:cNvSpPr>
          <p:nvPr/>
        </p:nvSpPr>
        <p:spPr bwMode="auto">
          <a:xfrm>
            <a:off x="4572000" y="3886301"/>
            <a:ext cx="609600" cy="2286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46" name="Line 98"/>
          <p:cNvSpPr>
            <a:spLocks noChangeShapeType="1"/>
          </p:cNvSpPr>
          <p:nvPr/>
        </p:nvSpPr>
        <p:spPr bwMode="auto">
          <a:xfrm>
            <a:off x="3200400" y="4905476"/>
            <a:ext cx="1635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47" name="Line 99"/>
          <p:cNvSpPr>
            <a:spLocks noChangeShapeType="1"/>
          </p:cNvSpPr>
          <p:nvPr/>
        </p:nvSpPr>
        <p:spPr bwMode="auto">
          <a:xfrm flipH="1">
            <a:off x="3359150" y="5102326"/>
            <a:ext cx="4683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48" name="Line 100"/>
          <p:cNvSpPr>
            <a:spLocks noChangeShapeType="1"/>
          </p:cNvSpPr>
          <p:nvPr/>
        </p:nvSpPr>
        <p:spPr bwMode="auto">
          <a:xfrm flipV="1">
            <a:off x="3359150" y="4894363"/>
            <a:ext cx="0" cy="2190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49" name="Line 101"/>
          <p:cNvSpPr>
            <a:spLocks noChangeShapeType="1"/>
          </p:cNvSpPr>
          <p:nvPr/>
        </p:nvSpPr>
        <p:spPr bwMode="auto">
          <a:xfrm flipH="1">
            <a:off x="6338888" y="4886426"/>
            <a:ext cx="1920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50" name="Line 102"/>
          <p:cNvSpPr>
            <a:spLocks noChangeShapeType="1"/>
          </p:cNvSpPr>
          <p:nvPr/>
        </p:nvSpPr>
        <p:spPr bwMode="auto">
          <a:xfrm>
            <a:off x="5870575" y="5083276"/>
            <a:ext cx="4778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51" name="Line 103"/>
          <p:cNvSpPr>
            <a:spLocks noChangeShapeType="1"/>
          </p:cNvSpPr>
          <p:nvPr/>
        </p:nvSpPr>
        <p:spPr bwMode="auto">
          <a:xfrm flipH="1" flipV="1">
            <a:off x="6335713" y="4876901"/>
            <a:ext cx="0" cy="2190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3388" name="Group 140"/>
          <p:cNvGrpSpPr>
            <a:grpSpLocks/>
          </p:cNvGrpSpPr>
          <p:nvPr/>
        </p:nvGrpSpPr>
        <p:grpSpPr bwMode="auto">
          <a:xfrm>
            <a:off x="2517775" y="3287813"/>
            <a:ext cx="4546600" cy="2295525"/>
            <a:chOff x="2025" y="2075"/>
            <a:chExt cx="2864" cy="1446"/>
          </a:xfrm>
        </p:grpSpPr>
        <p:sp>
          <p:nvSpPr>
            <p:cNvPr id="53291" name="Line 43"/>
            <p:cNvSpPr>
              <a:spLocks noChangeShapeType="1"/>
            </p:cNvSpPr>
            <p:nvPr/>
          </p:nvSpPr>
          <p:spPr bwMode="auto">
            <a:xfrm flipV="1">
              <a:off x="2190" y="3141"/>
              <a:ext cx="0" cy="37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22" name="Line 74"/>
            <p:cNvSpPr>
              <a:spLocks noChangeShapeType="1"/>
            </p:cNvSpPr>
            <p:nvPr/>
          </p:nvSpPr>
          <p:spPr bwMode="auto">
            <a:xfrm>
              <a:off x="2181" y="3521"/>
              <a:ext cx="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23" name="Line 75"/>
            <p:cNvSpPr>
              <a:spLocks noChangeShapeType="1"/>
            </p:cNvSpPr>
            <p:nvPr/>
          </p:nvSpPr>
          <p:spPr bwMode="auto">
            <a:xfrm flipH="1">
              <a:off x="4749" y="3050"/>
              <a:ext cx="1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25" name="Line 77"/>
            <p:cNvSpPr>
              <a:spLocks noChangeShapeType="1"/>
            </p:cNvSpPr>
            <p:nvPr/>
          </p:nvSpPr>
          <p:spPr bwMode="auto">
            <a:xfrm>
              <a:off x="2190" y="2599"/>
              <a:ext cx="86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26" name="Line 78"/>
            <p:cNvSpPr>
              <a:spLocks noChangeShapeType="1"/>
            </p:cNvSpPr>
            <p:nvPr/>
          </p:nvSpPr>
          <p:spPr bwMode="auto">
            <a:xfrm flipH="1">
              <a:off x="3967" y="2454"/>
              <a:ext cx="8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27" name="Line 79"/>
            <p:cNvSpPr>
              <a:spLocks noChangeShapeType="1"/>
            </p:cNvSpPr>
            <p:nvPr/>
          </p:nvSpPr>
          <p:spPr bwMode="auto">
            <a:xfrm flipH="1" flipV="1">
              <a:off x="4882" y="2078"/>
              <a:ext cx="0" cy="9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28" name="Line 80"/>
            <p:cNvSpPr>
              <a:spLocks noChangeShapeType="1"/>
            </p:cNvSpPr>
            <p:nvPr/>
          </p:nvSpPr>
          <p:spPr bwMode="auto">
            <a:xfrm flipH="1">
              <a:off x="4045" y="2075"/>
              <a:ext cx="8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29" name="Line 81"/>
            <p:cNvSpPr>
              <a:spLocks noChangeShapeType="1"/>
            </p:cNvSpPr>
            <p:nvPr/>
          </p:nvSpPr>
          <p:spPr bwMode="auto">
            <a:xfrm flipH="1">
              <a:off x="4053" y="2075"/>
              <a:ext cx="0" cy="3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30" name="Line 82"/>
            <p:cNvSpPr>
              <a:spLocks noChangeShapeType="1"/>
            </p:cNvSpPr>
            <p:nvPr/>
          </p:nvSpPr>
          <p:spPr bwMode="auto">
            <a:xfrm flipH="1">
              <a:off x="3312" y="2450"/>
              <a:ext cx="387" cy="147"/>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31" name="Line 83"/>
            <p:cNvSpPr>
              <a:spLocks noChangeShapeType="1"/>
            </p:cNvSpPr>
            <p:nvPr/>
          </p:nvSpPr>
          <p:spPr bwMode="auto">
            <a:xfrm>
              <a:off x="2025" y="3521"/>
              <a:ext cx="16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34" name="Line 86"/>
            <p:cNvSpPr>
              <a:spLocks noChangeShapeType="1"/>
            </p:cNvSpPr>
            <p:nvPr/>
          </p:nvSpPr>
          <p:spPr bwMode="auto">
            <a:xfrm>
              <a:off x="2188" y="3143"/>
              <a:ext cx="6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52" name="Line 104"/>
            <p:cNvSpPr>
              <a:spLocks noChangeShapeType="1"/>
            </p:cNvSpPr>
            <p:nvPr/>
          </p:nvSpPr>
          <p:spPr bwMode="auto">
            <a:xfrm flipV="1">
              <a:off x="2190" y="2595"/>
              <a:ext cx="0" cy="53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3403" name="Rectangle 155"/>
          <p:cNvSpPr>
            <a:spLocks noGrp="1" noChangeArrowheads="1"/>
          </p:cNvSpPr>
          <p:nvPr>
            <p:ph type="title"/>
          </p:nvPr>
        </p:nvSpPr>
        <p:spPr>
          <a:xfrm>
            <a:off x="452438" y="223875"/>
            <a:ext cx="8280400" cy="8386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a:t>Permissive Overreach Scheme (POR) </a:t>
            </a:r>
            <a:br>
              <a:rPr lang="en-GB" altLang="en-US" sz="3600" dirty="0"/>
            </a:br>
            <a:r>
              <a:rPr lang="en-GB" altLang="en-US" sz="3600" dirty="0"/>
              <a:t>External Fault</a:t>
            </a:r>
          </a:p>
        </p:txBody>
      </p:sp>
      <p:grpSp>
        <p:nvGrpSpPr>
          <p:cNvPr id="53389" name="Group 141"/>
          <p:cNvGrpSpPr>
            <a:grpSpLocks/>
          </p:cNvGrpSpPr>
          <p:nvPr/>
        </p:nvGrpSpPr>
        <p:grpSpPr bwMode="auto">
          <a:xfrm>
            <a:off x="2517775" y="3287813"/>
            <a:ext cx="4546600" cy="2295525"/>
            <a:chOff x="2025" y="2075"/>
            <a:chExt cx="2864" cy="1446"/>
          </a:xfrm>
        </p:grpSpPr>
        <p:sp>
          <p:nvSpPr>
            <p:cNvPr id="53390" name="Line 142"/>
            <p:cNvSpPr>
              <a:spLocks noChangeShapeType="1"/>
            </p:cNvSpPr>
            <p:nvPr/>
          </p:nvSpPr>
          <p:spPr bwMode="auto">
            <a:xfrm flipV="1">
              <a:off x="2190" y="3141"/>
              <a:ext cx="0" cy="37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91" name="Line 143"/>
            <p:cNvSpPr>
              <a:spLocks noChangeShapeType="1"/>
            </p:cNvSpPr>
            <p:nvPr/>
          </p:nvSpPr>
          <p:spPr bwMode="auto">
            <a:xfrm>
              <a:off x="2181" y="3521"/>
              <a:ext cx="7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92" name="Line 144"/>
            <p:cNvSpPr>
              <a:spLocks noChangeShapeType="1"/>
            </p:cNvSpPr>
            <p:nvPr/>
          </p:nvSpPr>
          <p:spPr bwMode="auto">
            <a:xfrm flipH="1">
              <a:off x="4749" y="3050"/>
              <a:ext cx="13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93" name="Line 145"/>
            <p:cNvSpPr>
              <a:spLocks noChangeShapeType="1"/>
            </p:cNvSpPr>
            <p:nvPr/>
          </p:nvSpPr>
          <p:spPr bwMode="auto">
            <a:xfrm>
              <a:off x="2190" y="2599"/>
              <a:ext cx="86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94" name="Line 146"/>
            <p:cNvSpPr>
              <a:spLocks noChangeShapeType="1"/>
            </p:cNvSpPr>
            <p:nvPr/>
          </p:nvSpPr>
          <p:spPr bwMode="auto">
            <a:xfrm flipH="1">
              <a:off x="3967" y="2454"/>
              <a:ext cx="8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95" name="Line 147"/>
            <p:cNvSpPr>
              <a:spLocks noChangeShapeType="1"/>
            </p:cNvSpPr>
            <p:nvPr/>
          </p:nvSpPr>
          <p:spPr bwMode="auto">
            <a:xfrm flipH="1" flipV="1">
              <a:off x="4882" y="2078"/>
              <a:ext cx="0" cy="97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96" name="Line 148"/>
            <p:cNvSpPr>
              <a:spLocks noChangeShapeType="1"/>
            </p:cNvSpPr>
            <p:nvPr/>
          </p:nvSpPr>
          <p:spPr bwMode="auto">
            <a:xfrm flipH="1">
              <a:off x="4045" y="2075"/>
              <a:ext cx="84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97" name="Line 149"/>
            <p:cNvSpPr>
              <a:spLocks noChangeShapeType="1"/>
            </p:cNvSpPr>
            <p:nvPr/>
          </p:nvSpPr>
          <p:spPr bwMode="auto">
            <a:xfrm flipH="1">
              <a:off x="4053" y="2075"/>
              <a:ext cx="0" cy="38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98" name="Line 150"/>
            <p:cNvSpPr>
              <a:spLocks noChangeShapeType="1"/>
            </p:cNvSpPr>
            <p:nvPr/>
          </p:nvSpPr>
          <p:spPr bwMode="auto">
            <a:xfrm flipH="1">
              <a:off x="3312" y="2450"/>
              <a:ext cx="387" cy="147"/>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99" name="Line 151"/>
            <p:cNvSpPr>
              <a:spLocks noChangeShapeType="1"/>
            </p:cNvSpPr>
            <p:nvPr/>
          </p:nvSpPr>
          <p:spPr bwMode="auto">
            <a:xfrm>
              <a:off x="2025" y="3521"/>
              <a:ext cx="16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00" name="Line 152"/>
            <p:cNvSpPr>
              <a:spLocks noChangeShapeType="1"/>
            </p:cNvSpPr>
            <p:nvPr/>
          </p:nvSpPr>
          <p:spPr bwMode="auto">
            <a:xfrm>
              <a:off x="2188" y="3143"/>
              <a:ext cx="6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01" name="Line 153"/>
            <p:cNvSpPr>
              <a:spLocks noChangeShapeType="1"/>
            </p:cNvSpPr>
            <p:nvPr/>
          </p:nvSpPr>
          <p:spPr bwMode="auto">
            <a:xfrm flipV="1">
              <a:off x="2190" y="2595"/>
              <a:ext cx="0" cy="53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3404" name="Group 156"/>
          <p:cNvGrpSpPr>
            <a:grpSpLocks/>
          </p:cNvGrpSpPr>
          <p:nvPr/>
        </p:nvGrpSpPr>
        <p:grpSpPr bwMode="auto">
          <a:xfrm>
            <a:off x="3665538" y="1770573"/>
            <a:ext cx="2351087" cy="392113"/>
            <a:chOff x="666" y="981"/>
            <a:chExt cx="2100" cy="312"/>
          </a:xfrm>
        </p:grpSpPr>
        <p:sp>
          <p:nvSpPr>
            <p:cNvPr id="53405" name="Line 157"/>
            <p:cNvSpPr>
              <a:spLocks noChangeShapeType="1"/>
            </p:cNvSpPr>
            <p:nvPr/>
          </p:nvSpPr>
          <p:spPr bwMode="auto">
            <a:xfrm flipV="1">
              <a:off x="666" y="1137"/>
              <a:ext cx="21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06" name="Line 158"/>
            <p:cNvSpPr>
              <a:spLocks noChangeShapeType="1"/>
            </p:cNvSpPr>
            <p:nvPr/>
          </p:nvSpPr>
          <p:spPr bwMode="auto">
            <a:xfrm>
              <a:off x="250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07" name="Line 159"/>
            <p:cNvSpPr>
              <a:spLocks noChangeShapeType="1"/>
            </p:cNvSpPr>
            <p:nvPr/>
          </p:nvSpPr>
          <p:spPr bwMode="auto">
            <a:xfrm>
              <a:off x="2130"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08" name="Line 160"/>
            <p:cNvSpPr>
              <a:spLocks noChangeShapeType="1"/>
            </p:cNvSpPr>
            <p:nvPr/>
          </p:nvSpPr>
          <p:spPr bwMode="auto">
            <a:xfrm>
              <a:off x="121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09" name="Line 161"/>
            <p:cNvSpPr>
              <a:spLocks noChangeShapeType="1"/>
            </p:cNvSpPr>
            <p:nvPr/>
          </p:nvSpPr>
          <p:spPr bwMode="auto">
            <a:xfrm>
              <a:off x="846"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3410" name="Group 162"/>
            <p:cNvGrpSpPr>
              <a:grpSpLocks/>
            </p:cNvGrpSpPr>
            <p:nvPr/>
          </p:nvGrpSpPr>
          <p:grpSpPr bwMode="auto">
            <a:xfrm>
              <a:off x="1271" y="1094"/>
              <a:ext cx="84" cy="87"/>
              <a:chOff x="2636" y="2286"/>
              <a:chExt cx="33" cy="34"/>
            </a:xfrm>
          </p:grpSpPr>
          <p:sp>
            <p:nvSpPr>
              <p:cNvPr id="53411" name="Line 163"/>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412" name="Line 164"/>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3413" name="Group 165"/>
            <p:cNvGrpSpPr>
              <a:grpSpLocks/>
            </p:cNvGrpSpPr>
            <p:nvPr/>
          </p:nvGrpSpPr>
          <p:grpSpPr bwMode="auto">
            <a:xfrm>
              <a:off x="1997" y="1093"/>
              <a:ext cx="84" cy="87"/>
              <a:chOff x="2636" y="2286"/>
              <a:chExt cx="33" cy="34"/>
            </a:xfrm>
          </p:grpSpPr>
          <p:sp>
            <p:nvSpPr>
              <p:cNvPr id="53414" name="Line 166"/>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415" name="Line 167"/>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53416" name="Line 168"/>
          <p:cNvSpPr>
            <a:spLocks noChangeShapeType="1"/>
          </p:cNvSpPr>
          <p:nvPr/>
        </p:nvSpPr>
        <p:spPr bwMode="auto">
          <a:xfrm>
            <a:off x="4383088" y="1699136"/>
            <a:ext cx="646112"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17" name="Line 169"/>
          <p:cNvSpPr>
            <a:spLocks noChangeShapeType="1"/>
          </p:cNvSpPr>
          <p:nvPr/>
        </p:nvSpPr>
        <p:spPr bwMode="auto">
          <a:xfrm>
            <a:off x="4592638" y="2242061"/>
            <a:ext cx="644525"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18" name="Line 170"/>
          <p:cNvSpPr>
            <a:spLocks noChangeShapeType="1"/>
          </p:cNvSpPr>
          <p:nvPr/>
        </p:nvSpPr>
        <p:spPr bwMode="auto">
          <a:xfrm>
            <a:off x="4394200" y="1454661"/>
            <a:ext cx="1019175"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19" name="Line 171"/>
          <p:cNvSpPr>
            <a:spLocks noChangeShapeType="1"/>
          </p:cNvSpPr>
          <p:nvPr/>
        </p:nvSpPr>
        <p:spPr bwMode="auto">
          <a:xfrm>
            <a:off x="4240213" y="1210186"/>
            <a:ext cx="1647825"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20" name="Line 172"/>
          <p:cNvSpPr>
            <a:spLocks noChangeShapeType="1"/>
          </p:cNvSpPr>
          <p:nvPr/>
        </p:nvSpPr>
        <p:spPr bwMode="auto">
          <a:xfrm>
            <a:off x="4211638" y="2481773"/>
            <a:ext cx="1020762"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21" name="Line 173"/>
          <p:cNvSpPr>
            <a:spLocks noChangeShapeType="1"/>
          </p:cNvSpPr>
          <p:nvPr/>
        </p:nvSpPr>
        <p:spPr bwMode="auto">
          <a:xfrm>
            <a:off x="3746500" y="2735773"/>
            <a:ext cx="1649413"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422" name="Text Box 174"/>
          <p:cNvSpPr txBox="1">
            <a:spLocks noChangeArrowheads="1"/>
          </p:cNvSpPr>
          <p:nvPr/>
        </p:nvSpPr>
        <p:spPr bwMode="auto">
          <a:xfrm>
            <a:off x="5905500" y="1095886"/>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Z3</a:t>
            </a:r>
            <a:endParaRPr lang="en-GB" altLang="en-US" b="0" i="0">
              <a:solidFill>
                <a:schemeClr val="tx1"/>
              </a:solidFill>
            </a:endParaRPr>
          </a:p>
        </p:txBody>
      </p:sp>
      <p:sp>
        <p:nvSpPr>
          <p:cNvPr id="53423" name="Text Box 175"/>
          <p:cNvSpPr txBox="1">
            <a:spLocks noChangeArrowheads="1"/>
          </p:cNvSpPr>
          <p:nvPr/>
        </p:nvSpPr>
        <p:spPr bwMode="auto">
          <a:xfrm>
            <a:off x="3478213" y="2621473"/>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Z3</a:t>
            </a:r>
            <a:endParaRPr lang="en-GB" altLang="en-US" b="0" i="0">
              <a:solidFill>
                <a:schemeClr val="tx1"/>
              </a:solidFill>
            </a:endParaRPr>
          </a:p>
        </p:txBody>
      </p:sp>
      <p:sp>
        <p:nvSpPr>
          <p:cNvPr id="53424" name="Text Box 176"/>
          <p:cNvSpPr txBox="1">
            <a:spLocks noChangeArrowheads="1"/>
          </p:cNvSpPr>
          <p:nvPr/>
        </p:nvSpPr>
        <p:spPr bwMode="auto">
          <a:xfrm>
            <a:off x="5030788" y="1584836"/>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53425" name="Text Box 177"/>
          <p:cNvSpPr txBox="1">
            <a:spLocks noChangeArrowheads="1"/>
          </p:cNvSpPr>
          <p:nvPr/>
        </p:nvSpPr>
        <p:spPr bwMode="auto">
          <a:xfrm>
            <a:off x="4329113" y="2127761"/>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53426" name="Text Box 178"/>
          <p:cNvSpPr txBox="1">
            <a:spLocks noChangeArrowheads="1"/>
          </p:cNvSpPr>
          <p:nvPr/>
        </p:nvSpPr>
        <p:spPr bwMode="auto">
          <a:xfrm>
            <a:off x="5419725" y="1341948"/>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sp>
        <p:nvSpPr>
          <p:cNvPr id="53427" name="Text Box 179"/>
          <p:cNvSpPr txBox="1">
            <a:spLocks noChangeArrowheads="1"/>
          </p:cNvSpPr>
          <p:nvPr/>
        </p:nvSpPr>
        <p:spPr bwMode="auto">
          <a:xfrm>
            <a:off x="3948113" y="2364298"/>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grpSp>
        <p:nvGrpSpPr>
          <p:cNvPr id="53428" name="Group 180"/>
          <p:cNvGrpSpPr>
            <a:grpSpLocks/>
          </p:cNvGrpSpPr>
          <p:nvPr/>
        </p:nvGrpSpPr>
        <p:grpSpPr bwMode="auto">
          <a:xfrm>
            <a:off x="5382437" y="1722506"/>
            <a:ext cx="106363" cy="396875"/>
            <a:chOff x="5516" y="4124"/>
            <a:chExt cx="164" cy="544"/>
          </a:xfrm>
        </p:grpSpPr>
        <p:sp>
          <p:nvSpPr>
            <p:cNvPr id="53429" name="Line 181"/>
            <p:cNvSpPr>
              <a:spLocks noChangeShapeType="1"/>
            </p:cNvSpPr>
            <p:nvPr/>
          </p:nvSpPr>
          <p:spPr bwMode="auto">
            <a:xfrm flipH="1">
              <a:off x="5516" y="4360"/>
              <a:ext cx="157" cy="308"/>
            </a:xfrm>
            <a:prstGeom prst="line">
              <a:avLst/>
            </a:prstGeom>
            <a:noFill/>
            <a:ln w="19050">
              <a:solidFill>
                <a:srgbClr val="FF0000"/>
              </a:solidFill>
              <a:round/>
              <a:headEnd type="none" w="med"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3430" name="Line 182"/>
            <p:cNvSpPr>
              <a:spLocks noChangeShapeType="1"/>
            </p:cNvSpPr>
            <p:nvPr/>
          </p:nvSpPr>
          <p:spPr bwMode="auto">
            <a:xfrm flipH="1">
              <a:off x="5516" y="4124"/>
              <a:ext cx="129" cy="259"/>
            </a:xfrm>
            <a:prstGeom prst="line">
              <a:avLst/>
            </a:prstGeom>
            <a:noFill/>
            <a:ln w="19050">
              <a:solidFill>
                <a:srgbClr val="FF00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3431" name="Line 183"/>
            <p:cNvSpPr>
              <a:spLocks noChangeShapeType="1"/>
            </p:cNvSpPr>
            <p:nvPr/>
          </p:nvSpPr>
          <p:spPr bwMode="auto">
            <a:xfrm>
              <a:off x="5524" y="4375"/>
              <a:ext cx="156" cy="0"/>
            </a:xfrm>
            <a:prstGeom prst="line">
              <a:avLst/>
            </a:prstGeom>
            <a:noFill/>
            <a:ln w="19050">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Tree>
    <p:extLst>
      <p:ext uri="{BB962C8B-B14F-4D97-AF65-F5344CB8AC3E}">
        <p14:creationId xmlns:p14="http://schemas.microsoft.com/office/powerpoint/2010/main" val="13028766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338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3" presetClass="entr" presetSubtype="32" fill="hold" nodeType="clickEffect">
                                  <p:stCondLst>
                                    <p:cond delay="0"/>
                                  </p:stCondLst>
                                  <p:childTnLst>
                                    <p:set>
                                      <p:cBhvr>
                                        <p:cTn id="10" dur="1" fill="hold">
                                          <p:stCondLst>
                                            <p:cond delay="0"/>
                                          </p:stCondLst>
                                        </p:cTn>
                                        <p:tgtEl>
                                          <p:spTgt spid="53428"/>
                                        </p:tgtEl>
                                        <p:attrNameLst>
                                          <p:attrName>style.visibility</p:attrName>
                                        </p:attrNameLst>
                                      </p:cBhvr>
                                      <p:to>
                                        <p:strVal val="visible"/>
                                      </p:to>
                                    </p:set>
                                    <p:anim calcmode="lin" valueType="num">
                                      <p:cBhvr>
                                        <p:cTn id="11" dur="500" fill="hold"/>
                                        <p:tgtEl>
                                          <p:spTgt spid="53428"/>
                                        </p:tgtEl>
                                        <p:attrNameLst>
                                          <p:attrName>ppt_w</p:attrName>
                                        </p:attrNameLst>
                                      </p:cBhvr>
                                      <p:tavLst>
                                        <p:tav tm="0">
                                          <p:val>
                                            <p:strVal val="4*#ppt_w"/>
                                          </p:val>
                                        </p:tav>
                                        <p:tav tm="100000">
                                          <p:val>
                                            <p:strVal val="#ppt_w"/>
                                          </p:val>
                                        </p:tav>
                                      </p:tavLst>
                                    </p:anim>
                                    <p:anim calcmode="lin" valueType="num">
                                      <p:cBhvr>
                                        <p:cTn id="12" dur="500" fill="hold"/>
                                        <p:tgtEl>
                                          <p:spTgt spid="5342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Text Box 3"/>
          <p:cNvSpPr txBox="1">
            <a:spLocks noChangeArrowheads="1"/>
          </p:cNvSpPr>
          <p:nvPr/>
        </p:nvSpPr>
        <p:spPr bwMode="auto">
          <a:xfrm>
            <a:off x="2182813" y="626268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29700" name="Text Box 4"/>
          <p:cNvSpPr txBox="1">
            <a:spLocks noChangeArrowheads="1"/>
          </p:cNvSpPr>
          <p:nvPr/>
        </p:nvSpPr>
        <p:spPr bwMode="auto">
          <a:xfrm>
            <a:off x="2182813" y="568483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29701" name="Text Box 5"/>
          <p:cNvSpPr txBox="1">
            <a:spLocks noChangeArrowheads="1"/>
          </p:cNvSpPr>
          <p:nvPr/>
        </p:nvSpPr>
        <p:spPr bwMode="auto">
          <a:xfrm>
            <a:off x="2182813" y="532288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29702" name="Line 6"/>
          <p:cNvSpPr>
            <a:spLocks noChangeShapeType="1"/>
          </p:cNvSpPr>
          <p:nvPr/>
        </p:nvSpPr>
        <p:spPr bwMode="auto">
          <a:xfrm>
            <a:off x="2489200" y="5465763"/>
            <a:ext cx="13001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3" name="Text Box 7"/>
          <p:cNvSpPr txBox="1">
            <a:spLocks noChangeArrowheads="1"/>
          </p:cNvSpPr>
          <p:nvPr/>
        </p:nvSpPr>
        <p:spPr bwMode="auto">
          <a:xfrm>
            <a:off x="2852738" y="5691188"/>
            <a:ext cx="390525" cy="303212"/>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9704" name="Text Box 8"/>
          <p:cNvSpPr txBox="1">
            <a:spLocks noChangeArrowheads="1"/>
          </p:cNvSpPr>
          <p:nvPr/>
        </p:nvSpPr>
        <p:spPr bwMode="auto">
          <a:xfrm>
            <a:off x="2859088" y="6262688"/>
            <a:ext cx="390525"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29705" name="Line 9"/>
          <p:cNvSpPr>
            <a:spLocks noChangeShapeType="1"/>
          </p:cNvSpPr>
          <p:nvPr/>
        </p:nvSpPr>
        <p:spPr bwMode="auto">
          <a:xfrm>
            <a:off x="2493963" y="6413500"/>
            <a:ext cx="3683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6" name="Line 10"/>
          <p:cNvSpPr>
            <a:spLocks noChangeShapeType="1"/>
          </p:cNvSpPr>
          <p:nvPr/>
        </p:nvSpPr>
        <p:spPr bwMode="auto">
          <a:xfrm>
            <a:off x="3205163" y="5829300"/>
            <a:ext cx="857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7" name="Line 11"/>
          <p:cNvSpPr>
            <a:spLocks noChangeShapeType="1"/>
          </p:cNvSpPr>
          <p:nvPr/>
        </p:nvSpPr>
        <p:spPr bwMode="auto">
          <a:xfrm flipV="1">
            <a:off x="3289300" y="5573713"/>
            <a:ext cx="0" cy="252412"/>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8" name="Line 12"/>
          <p:cNvSpPr>
            <a:spLocks noChangeShapeType="1"/>
          </p:cNvSpPr>
          <p:nvPr/>
        </p:nvSpPr>
        <p:spPr bwMode="auto">
          <a:xfrm>
            <a:off x="3294063" y="5578475"/>
            <a:ext cx="5032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9" name="Line 13"/>
          <p:cNvSpPr>
            <a:spLocks noChangeShapeType="1"/>
          </p:cNvSpPr>
          <p:nvPr/>
        </p:nvSpPr>
        <p:spPr bwMode="auto">
          <a:xfrm>
            <a:off x="3205163" y="6411913"/>
            <a:ext cx="3254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0" name="Line 14"/>
          <p:cNvSpPr>
            <a:spLocks noChangeShapeType="1"/>
          </p:cNvSpPr>
          <p:nvPr/>
        </p:nvSpPr>
        <p:spPr bwMode="auto">
          <a:xfrm flipV="1">
            <a:off x="3530600" y="5681663"/>
            <a:ext cx="0" cy="744537"/>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1" name="Line 15"/>
          <p:cNvSpPr>
            <a:spLocks noChangeShapeType="1"/>
          </p:cNvSpPr>
          <p:nvPr/>
        </p:nvSpPr>
        <p:spPr bwMode="auto">
          <a:xfrm>
            <a:off x="3530600" y="5683250"/>
            <a:ext cx="2619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2" name="Text Box 16"/>
          <p:cNvSpPr txBox="1">
            <a:spLocks noChangeArrowheads="1"/>
          </p:cNvSpPr>
          <p:nvPr/>
        </p:nvSpPr>
        <p:spPr bwMode="auto">
          <a:xfrm>
            <a:off x="4151313" y="5341938"/>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Trip</a:t>
            </a:r>
          </a:p>
        </p:txBody>
      </p:sp>
      <p:sp>
        <p:nvSpPr>
          <p:cNvPr id="29713" name="Text Box 17"/>
          <p:cNvSpPr txBox="1">
            <a:spLocks noChangeArrowheads="1"/>
          </p:cNvSpPr>
          <p:nvPr/>
        </p:nvSpPr>
        <p:spPr bwMode="auto">
          <a:xfrm>
            <a:off x="2852738" y="5010150"/>
            <a:ext cx="322262"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29714" name="Text Box 18"/>
          <p:cNvSpPr txBox="1">
            <a:spLocks noChangeArrowheads="1"/>
          </p:cNvSpPr>
          <p:nvPr/>
        </p:nvSpPr>
        <p:spPr bwMode="auto">
          <a:xfrm>
            <a:off x="2852738" y="5691188"/>
            <a:ext cx="390525"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9716" name="Oval 20"/>
          <p:cNvSpPr>
            <a:spLocks noChangeArrowheads="1"/>
          </p:cNvSpPr>
          <p:nvPr/>
        </p:nvSpPr>
        <p:spPr bwMode="auto">
          <a:xfrm>
            <a:off x="2719388" y="518477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7" name="Oval 21"/>
          <p:cNvSpPr>
            <a:spLocks noChangeArrowheads="1"/>
          </p:cNvSpPr>
          <p:nvPr/>
        </p:nvSpPr>
        <p:spPr bwMode="auto">
          <a:xfrm>
            <a:off x="2717800" y="579278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8" name="Text Box 22"/>
          <p:cNvSpPr txBox="1">
            <a:spLocks noChangeArrowheads="1"/>
          </p:cNvSpPr>
          <p:nvPr/>
        </p:nvSpPr>
        <p:spPr bwMode="auto">
          <a:xfrm flipH="1">
            <a:off x="7134225" y="626268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29719" name="Text Box 23"/>
          <p:cNvSpPr txBox="1">
            <a:spLocks noChangeArrowheads="1"/>
          </p:cNvSpPr>
          <p:nvPr/>
        </p:nvSpPr>
        <p:spPr bwMode="auto">
          <a:xfrm flipH="1">
            <a:off x="7134225" y="568483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29720" name="Text Box 24"/>
          <p:cNvSpPr txBox="1">
            <a:spLocks noChangeArrowheads="1"/>
          </p:cNvSpPr>
          <p:nvPr/>
        </p:nvSpPr>
        <p:spPr bwMode="auto">
          <a:xfrm flipH="1">
            <a:off x="7134225" y="532288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29721" name="Line 25"/>
          <p:cNvSpPr>
            <a:spLocks noChangeShapeType="1"/>
          </p:cNvSpPr>
          <p:nvPr/>
        </p:nvSpPr>
        <p:spPr bwMode="auto">
          <a:xfrm flipH="1">
            <a:off x="5848350" y="5465763"/>
            <a:ext cx="13001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2" name="Text Box 26"/>
          <p:cNvSpPr txBox="1">
            <a:spLocks noChangeArrowheads="1"/>
          </p:cNvSpPr>
          <p:nvPr/>
        </p:nvSpPr>
        <p:spPr bwMode="auto">
          <a:xfrm flipH="1">
            <a:off x="6438900" y="5691188"/>
            <a:ext cx="390525" cy="303212"/>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9723" name="Line 27"/>
          <p:cNvSpPr>
            <a:spLocks noChangeShapeType="1"/>
          </p:cNvSpPr>
          <p:nvPr/>
        </p:nvSpPr>
        <p:spPr bwMode="auto">
          <a:xfrm flipH="1">
            <a:off x="6775450" y="5835650"/>
            <a:ext cx="3730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4" name="Text Box 28"/>
          <p:cNvSpPr txBox="1">
            <a:spLocks noChangeArrowheads="1"/>
          </p:cNvSpPr>
          <p:nvPr/>
        </p:nvSpPr>
        <p:spPr bwMode="auto">
          <a:xfrm flipH="1">
            <a:off x="6432550" y="6262688"/>
            <a:ext cx="390525"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29725" name="Line 29"/>
          <p:cNvSpPr>
            <a:spLocks noChangeShapeType="1"/>
          </p:cNvSpPr>
          <p:nvPr/>
        </p:nvSpPr>
        <p:spPr bwMode="auto">
          <a:xfrm flipH="1">
            <a:off x="6775450" y="6413500"/>
            <a:ext cx="3683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6" name="Line 30"/>
          <p:cNvSpPr>
            <a:spLocks noChangeShapeType="1"/>
          </p:cNvSpPr>
          <p:nvPr/>
        </p:nvSpPr>
        <p:spPr bwMode="auto">
          <a:xfrm flipH="1">
            <a:off x="6346825" y="5829300"/>
            <a:ext cx="841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7" name="Line 31"/>
          <p:cNvSpPr>
            <a:spLocks noChangeShapeType="1"/>
          </p:cNvSpPr>
          <p:nvPr/>
        </p:nvSpPr>
        <p:spPr bwMode="auto">
          <a:xfrm flipH="1" flipV="1">
            <a:off x="6348413" y="5573713"/>
            <a:ext cx="0" cy="257175"/>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8" name="Line 32"/>
          <p:cNvSpPr>
            <a:spLocks noChangeShapeType="1"/>
          </p:cNvSpPr>
          <p:nvPr/>
        </p:nvSpPr>
        <p:spPr bwMode="auto">
          <a:xfrm flipH="1">
            <a:off x="5840413" y="5578475"/>
            <a:ext cx="5032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9" name="Line 33"/>
          <p:cNvSpPr>
            <a:spLocks noChangeShapeType="1"/>
          </p:cNvSpPr>
          <p:nvPr/>
        </p:nvSpPr>
        <p:spPr bwMode="auto">
          <a:xfrm flipH="1">
            <a:off x="6107113" y="6411913"/>
            <a:ext cx="3254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0" name="Line 34"/>
          <p:cNvSpPr>
            <a:spLocks noChangeShapeType="1"/>
          </p:cNvSpPr>
          <p:nvPr/>
        </p:nvSpPr>
        <p:spPr bwMode="auto">
          <a:xfrm flipH="1" flipV="1">
            <a:off x="6107113" y="5681663"/>
            <a:ext cx="0" cy="744537"/>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1" name="Line 35"/>
          <p:cNvSpPr>
            <a:spLocks noChangeShapeType="1"/>
          </p:cNvSpPr>
          <p:nvPr/>
        </p:nvSpPr>
        <p:spPr bwMode="auto">
          <a:xfrm flipH="1">
            <a:off x="5845175" y="5683250"/>
            <a:ext cx="2619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2" name="Line 36"/>
          <p:cNvSpPr>
            <a:spLocks noChangeShapeType="1"/>
          </p:cNvSpPr>
          <p:nvPr/>
        </p:nvSpPr>
        <p:spPr bwMode="auto">
          <a:xfrm flipH="1">
            <a:off x="5429250" y="5480050"/>
            <a:ext cx="152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3" name="Text Box 37"/>
          <p:cNvSpPr txBox="1">
            <a:spLocks noChangeArrowheads="1"/>
          </p:cNvSpPr>
          <p:nvPr/>
        </p:nvSpPr>
        <p:spPr bwMode="auto">
          <a:xfrm flipH="1">
            <a:off x="4978400" y="5329238"/>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Trip</a:t>
            </a:r>
          </a:p>
        </p:txBody>
      </p:sp>
      <p:sp>
        <p:nvSpPr>
          <p:cNvPr id="29734" name="Text Box 38"/>
          <p:cNvSpPr txBox="1">
            <a:spLocks noChangeArrowheads="1"/>
          </p:cNvSpPr>
          <p:nvPr/>
        </p:nvSpPr>
        <p:spPr bwMode="auto">
          <a:xfrm flipH="1">
            <a:off x="6499225" y="5010150"/>
            <a:ext cx="322263"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29735" name="Text Box 39"/>
          <p:cNvSpPr txBox="1">
            <a:spLocks noChangeArrowheads="1"/>
          </p:cNvSpPr>
          <p:nvPr/>
        </p:nvSpPr>
        <p:spPr bwMode="auto">
          <a:xfrm flipH="1">
            <a:off x="6438900" y="5691188"/>
            <a:ext cx="390525"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29736" name="Line 40"/>
          <p:cNvSpPr>
            <a:spLocks noChangeShapeType="1"/>
          </p:cNvSpPr>
          <p:nvPr/>
        </p:nvSpPr>
        <p:spPr bwMode="auto">
          <a:xfrm flipH="1">
            <a:off x="6775450" y="5835650"/>
            <a:ext cx="1190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7" name="Line 41"/>
          <p:cNvSpPr>
            <a:spLocks noChangeShapeType="1"/>
          </p:cNvSpPr>
          <p:nvPr/>
        </p:nvSpPr>
        <p:spPr bwMode="auto">
          <a:xfrm flipH="1">
            <a:off x="6810375" y="5235575"/>
            <a:ext cx="793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8" name="Oval 42"/>
          <p:cNvSpPr>
            <a:spLocks noChangeArrowheads="1"/>
          </p:cNvSpPr>
          <p:nvPr/>
        </p:nvSpPr>
        <p:spPr bwMode="auto">
          <a:xfrm flipH="1">
            <a:off x="6851650" y="518477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9" name="Oval 43"/>
          <p:cNvSpPr>
            <a:spLocks noChangeArrowheads="1"/>
          </p:cNvSpPr>
          <p:nvPr/>
        </p:nvSpPr>
        <p:spPr bwMode="auto">
          <a:xfrm flipH="1">
            <a:off x="6853238" y="579278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40" name="Text Box 44"/>
          <p:cNvSpPr txBox="1">
            <a:spLocks noChangeArrowheads="1"/>
          </p:cNvSpPr>
          <p:nvPr/>
        </p:nvSpPr>
        <p:spPr bwMode="auto">
          <a:xfrm>
            <a:off x="2852738" y="3738563"/>
            <a:ext cx="322262"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29741" name="Text Box 45"/>
          <p:cNvSpPr txBox="1">
            <a:spLocks noChangeArrowheads="1"/>
          </p:cNvSpPr>
          <p:nvPr/>
        </p:nvSpPr>
        <p:spPr bwMode="auto">
          <a:xfrm>
            <a:off x="3619500" y="4257675"/>
            <a:ext cx="296863"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dirty="0">
                <a:solidFill>
                  <a:schemeClr val="bg2"/>
                </a:solidFill>
              </a:rPr>
              <a:t>1</a:t>
            </a:r>
            <a:endParaRPr lang="en-GB" altLang="en-US" sz="1200" i="0" dirty="0">
              <a:solidFill>
                <a:schemeClr val="tx1"/>
              </a:solidFill>
            </a:endParaRPr>
          </a:p>
        </p:txBody>
      </p:sp>
      <p:sp>
        <p:nvSpPr>
          <p:cNvPr id="29742" name="Line 46"/>
          <p:cNvSpPr>
            <a:spLocks noChangeShapeType="1"/>
          </p:cNvSpPr>
          <p:nvPr/>
        </p:nvSpPr>
        <p:spPr bwMode="auto">
          <a:xfrm>
            <a:off x="3424238" y="4297363"/>
            <a:ext cx="203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43" name="Text Box 47"/>
          <p:cNvSpPr txBox="1">
            <a:spLocks noChangeArrowheads="1"/>
          </p:cNvSpPr>
          <p:nvPr/>
        </p:nvSpPr>
        <p:spPr bwMode="auto">
          <a:xfrm>
            <a:off x="4122738" y="3997325"/>
            <a:ext cx="447675" cy="46166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1200" i="0" dirty="0">
                <a:solidFill>
                  <a:schemeClr val="bg2"/>
                </a:solidFill>
              </a:rPr>
              <a:t>Rx</a:t>
            </a:r>
            <a:br>
              <a:rPr lang="en-GB" altLang="en-US" sz="1200" i="0" dirty="0">
                <a:solidFill>
                  <a:schemeClr val="bg2"/>
                </a:solidFill>
              </a:rPr>
            </a:br>
            <a:r>
              <a:rPr lang="en-GB" altLang="en-US" sz="1200" i="0" dirty="0">
                <a:solidFill>
                  <a:schemeClr val="bg2"/>
                </a:solidFill>
              </a:rPr>
              <a:t> </a:t>
            </a:r>
            <a:r>
              <a:rPr lang="en-GB" altLang="en-US" sz="1200" i="0" dirty="0" err="1">
                <a:solidFill>
                  <a:schemeClr val="bg2"/>
                </a:solidFill>
              </a:rPr>
              <a:t>Tx</a:t>
            </a:r>
            <a:endParaRPr lang="en-GB" altLang="en-US" sz="1200" i="0" dirty="0">
              <a:solidFill>
                <a:schemeClr val="tx1"/>
              </a:solidFill>
            </a:endParaRPr>
          </a:p>
        </p:txBody>
      </p:sp>
      <p:sp>
        <p:nvSpPr>
          <p:cNvPr id="29744" name="Line 48"/>
          <p:cNvSpPr>
            <a:spLocks noChangeShapeType="1"/>
          </p:cNvSpPr>
          <p:nvPr/>
        </p:nvSpPr>
        <p:spPr bwMode="auto">
          <a:xfrm>
            <a:off x="4125912" y="4225300"/>
            <a:ext cx="4413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45" name="Line 49"/>
          <p:cNvSpPr>
            <a:spLocks noChangeShapeType="1"/>
          </p:cNvSpPr>
          <p:nvPr/>
        </p:nvSpPr>
        <p:spPr bwMode="auto">
          <a:xfrm flipV="1">
            <a:off x="3424238" y="3883025"/>
            <a:ext cx="0" cy="428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46" name="Line 50"/>
          <p:cNvSpPr>
            <a:spLocks noChangeShapeType="1"/>
          </p:cNvSpPr>
          <p:nvPr/>
        </p:nvSpPr>
        <p:spPr bwMode="auto">
          <a:xfrm flipH="1">
            <a:off x="3181350" y="3883025"/>
            <a:ext cx="2555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47" name="Text Box 51"/>
          <p:cNvSpPr txBox="1">
            <a:spLocks noChangeArrowheads="1"/>
          </p:cNvSpPr>
          <p:nvPr/>
        </p:nvSpPr>
        <p:spPr bwMode="auto">
          <a:xfrm>
            <a:off x="1647992" y="3778250"/>
            <a:ext cx="881973"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CB open</a:t>
            </a:r>
          </a:p>
        </p:txBody>
      </p:sp>
      <p:sp>
        <p:nvSpPr>
          <p:cNvPr id="29748" name="Text Box 52"/>
          <p:cNvSpPr txBox="1">
            <a:spLocks noChangeArrowheads="1"/>
          </p:cNvSpPr>
          <p:nvPr/>
        </p:nvSpPr>
        <p:spPr bwMode="auto">
          <a:xfrm flipH="1">
            <a:off x="6499225" y="3738563"/>
            <a:ext cx="322263"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29749" name="Text Box 53"/>
          <p:cNvSpPr txBox="1">
            <a:spLocks noChangeArrowheads="1"/>
          </p:cNvSpPr>
          <p:nvPr/>
        </p:nvSpPr>
        <p:spPr bwMode="auto">
          <a:xfrm flipH="1">
            <a:off x="5754688" y="4257675"/>
            <a:ext cx="296862"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1</a:t>
            </a:r>
            <a:endParaRPr lang="en-GB" altLang="en-US" sz="1200" i="0">
              <a:solidFill>
                <a:schemeClr val="tx1"/>
              </a:solidFill>
            </a:endParaRPr>
          </a:p>
        </p:txBody>
      </p:sp>
      <p:sp>
        <p:nvSpPr>
          <p:cNvPr id="29750" name="Text Box 54"/>
          <p:cNvSpPr txBox="1">
            <a:spLocks noChangeArrowheads="1"/>
          </p:cNvSpPr>
          <p:nvPr/>
        </p:nvSpPr>
        <p:spPr bwMode="auto">
          <a:xfrm flipH="1">
            <a:off x="5153025" y="3997325"/>
            <a:ext cx="420688" cy="46166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GB" altLang="en-US" sz="1200" i="0">
                <a:solidFill>
                  <a:schemeClr val="bg2"/>
                </a:solidFill>
              </a:rPr>
              <a:t>Rx Tx</a:t>
            </a:r>
            <a:endParaRPr lang="en-GB" altLang="en-US" sz="1200" i="0">
              <a:solidFill>
                <a:schemeClr val="tx1"/>
              </a:solidFill>
            </a:endParaRPr>
          </a:p>
        </p:txBody>
      </p:sp>
      <p:sp>
        <p:nvSpPr>
          <p:cNvPr id="29751" name="Line 55"/>
          <p:cNvSpPr>
            <a:spLocks noChangeShapeType="1"/>
          </p:cNvSpPr>
          <p:nvPr/>
        </p:nvSpPr>
        <p:spPr bwMode="auto">
          <a:xfrm flipH="1">
            <a:off x="5141913" y="4197360"/>
            <a:ext cx="4095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2" name="Line 56"/>
          <p:cNvSpPr>
            <a:spLocks noChangeShapeType="1"/>
          </p:cNvSpPr>
          <p:nvPr/>
        </p:nvSpPr>
        <p:spPr bwMode="auto">
          <a:xfrm flipH="1" flipV="1">
            <a:off x="6886575" y="5229225"/>
            <a:ext cx="0" cy="6032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3" name="Line 57"/>
          <p:cNvSpPr>
            <a:spLocks noChangeShapeType="1"/>
          </p:cNvSpPr>
          <p:nvPr/>
        </p:nvSpPr>
        <p:spPr bwMode="auto">
          <a:xfrm flipH="1">
            <a:off x="6048375" y="4506913"/>
            <a:ext cx="8509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4" name="Text Box 58"/>
          <p:cNvSpPr txBox="1">
            <a:spLocks noChangeArrowheads="1"/>
          </p:cNvSpPr>
          <p:nvPr/>
        </p:nvSpPr>
        <p:spPr bwMode="auto">
          <a:xfrm flipH="1">
            <a:off x="7129869" y="3783013"/>
            <a:ext cx="881973"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CB open</a:t>
            </a:r>
          </a:p>
        </p:txBody>
      </p:sp>
      <p:grpSp>
        <p:nvGrpSpPr>
          <p:cNvPr id="29755" name="Group 59"/>
          <p:cNvGrpSpPr>
            <a:grpSpLocks/>
          </p:cNvGrpSpPr>
          <p:nvPr/>
        </p:nvGrpSpPr>
        <p:grpSpPr bwMode="auto">
          <a:xfrm flipH="1">
            <a:off x="5842000" y="5132388"/>
            <a:ext cx="660400" cy="209550"/>
            <a:chOff x="2760" y="2824"/>
            <a:chExt cx="468" cy="132"/>
          </a:xfrm>
        </p:grpSpPr>
        <p:sp>
          <p:nvSpPr>
            <p:cNvPr id="29756" name="Line 60"/>
            <p:cNvSpPr>
              <a:spLocks noChangeShapeType="1"/>
            </p:cNvSpPr>
            <p:nvPr/>
          </p:nvSpPr>
          <p:spPr bwMode="auto">
            <a:xfrm>
              <a:off x="2760" y="2828"/>
              <a:ext cx="1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7" name="Line 61"/>
            <p:cNvSpPr>
              <a:spLocks noChangeShapeType="1"/>
            </p:cNvSpPr>
            <p:nvPr/>
          </p:nvSpPr>
          <p:spPr bwMode="auto">
            <a:xfrm flipH="1">
              <a:off x="2896" y="2952"/>
              <a:ext cx="3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8" name="Line 62"/>
            <p:cNvSpPr>
              <a:spLocks noChangeShapeType="1"/>
            </p:cNvSpPr>
            <p:nvPr/>
          </p:nvSpPr>
          <p:spPr bwMode="auto">
            <a:xfrm flipV="1">
              <a:off x="2896" y="2824"/>
              <a:ext cx="0" cy="1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9783" name="Line 87"/>
          <p:cNvSpPr>
            <a:spLocks noChangeShapeType="1"/>
          </p:cNvSpPr>
          <p:nvPr/>
        </p:nvSpPr>
        <p:spPr bwMode="auto">
          <a:xfrm>
            <a:off x="2490788" y="3930650"/>
            <a:ext cx="368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84" name="Text Box 88"/>
          <p:cNvSpPr txBox="1">
            <a:spLocks noChangeArrowheads="1"/>
          </p:cNvSpPr>
          <p:nvPr/>
        </p:nvSpPr>
        <p:spPr bwMode="auto">
          <a:xfrm flipH="1">
            <a:off x="5586413" y="5135563"/>
            <a:ext cx="258762"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sp>
        <p:nvSpPr>
          <p:cNvPr id="29785" name="Text Box 89"/>
          <p:cNvSpPr txBox="1">
            <a:spLocks noChangeArrowheads="1"/>
          </p:cNvSpPr>
          <p:nvPr/>
        </p:nvSpPr>
        <p:spPr bwMode="auto">
          <a:xfrm>
            <a:off x="3795713" y="5135563"/>
            <a:ext cx="258762"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sp>
        <p:nvSpPr>
          <p:cNvPr id="29793" name="Line 97"/>
          <p:cNvSpPr>
            <a:spLocks noChangeShapeType="1"/>
          </p:cNvSpPr>
          <p:nvPr/>
        </p:nvSpPr>
        <p:spPr bwMode="auto">
          <a:xfrm>
            <a:off x="2738438" y="4506913"/>
            <a:ext cx="876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99" name="Oval 103"/>
          <p:cNvSpPr>
            <a:spLocks noChangeArrowheads="1"/>
          </p:cNvSpPr>
          <p:nvPr/>
        </p:nvSpPr>
        <p:spPr bwMode="auto">
          <a:xfrm>
            <a:off x="2579688" y="378777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0" name="Line 104"/>
          <p:cNvSpPr>
            <a:spLocks noChangeShapeType="1"/>
          </p:cNvSpPr>
          <p:nvPr/>
        </p:nvSpPr>
        <p:spPr bwMode="auto">
          <a:xfrm>
            <a:off x="3903663" y="4371975"/>
            <a:ext cx="2222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10" name="Oval 114"/>
          <p:cNvSpPr>
            <a:spLocks noChangeArrowheads="1"/>
          </p:cNvSpPr>
          <p:nvPr/>
        </p:nvSpPr>
        <p:spPr bwMode="auto">
          <a:xfrm flipH="1">
            <a:off x="6991350" y="378777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15" name="Line 119"/>
          <p:cNvSpPr>
            <a:spLocks noChangeShapeType="1"/>
          </p:cNvSpPr>
          <p:nvPr/>
        </p:nvSpPr>
        <p:spPr bwMode="auto">
          <a:xfrm flipH="1">
            <a:off x="7024688" y="3552825"/>
            <a:ext cx="0" cy="2651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17" name="Line 121"/>
          <p:cNvSpPr>
            <a:spLocks noChangeShapeType="1"/>
          </p:cNvSpPr>
          <p:nvPr/>
        </p:nvSpPr>
        <p:spPr bwMode="auto">
          <a:xfrm flipH="1" flipV="1">
            <a:off x="2752725" y="4505325"/>
            <a:ext cx="0" cy="7207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18" name="Line 122"/>
          <p:cNvSpPr>
            <a:spLocks noChangeShapeType="1"/>
          </p:cNvSpPr>
          <p:nvPr/>
        </p:nvSpPr>
        <p:spPr bwMode="auto">
          <a:xfrm flipH="1" flipV="1">
            <a:off x="6889750" y="4498975"/>
            <a:ext cx="0" cy="7143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19" name="Text Box 123"/>
          <p:cNvSpPr txBox="1">
            <a:spLocks noChangeArrowheads="1"/>
          </p:cNvSpPr>
          <p:nvPr/>
        </p:nvSpPr>
        <p:spPr bwMode="auto">
          <a:xfrm>
            <a:off x="253499" y="2473087"/>
            <a:ext cx="3055645" cy="7386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Send Logic : Z2</a:t>
            </a:r>
          </a:p>
          <a:p>
            <a:r>
              <a:rPr lang="en-GB" altLang="en-US" dirty="0"/>
              <a:t>Trip Logic : Rx + Z2</a:t>
            </a:r>
          </a:p>
          <a:p>
            <a:r>
              <a:rPr lang="en-GB" altLang="en-US" dirty="0"/>
              <a:t>Open terminal echo : CB Open + Rx</a:t>
            </a:r>
          </a:p>
        </p:txBody>
      </p:sp>
      <p:sp>
        <p:nvSpPr>
          <p:cNvPr id="29971" name="Rectangle 275"/>
          <p:cNvSpPr>
            <a:spLocks noGrp="1" noChangeArrowheads="1"/>
          </p:cNvSpPr>
          <p:nvPr>
            <p:ph type="title"/>
          </p:nvPr>
        </p:nvSpPr>
        <p:spPr>
          <a:xfrm>
            <a:off x="219583" y="280988"/>
            <a:ext cx="8861897" cy="709296"/>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a:t>Permissive Overreach Scheme</a:t>
            </a:r>
            <a:br>
              <a:rPr lang="en-GB" altLang="en-US" sz="3600" dirty="0"/>
            </a:br>
            <a:r>
              <a:rPr lang="en-GB" altLang="en-US" sz="3600" dirty="0"/>
              <a:t> (CB Echo Logic)</a:t>
            </a:r>
          </a:p>
        </p:txBody>
      </p:sp>
      <p:grpSp>
        <p:nvGrpSpPr>
          <p:cNvPr id="29870" name="Group 174"/>
          <p:cNvGrpSpPr>
            <a:grpSpLocks/>
          </p:cNvGrpSpPr>
          <p:nvPr/>
        </p:nvGrpSpPr>
        <p:grpSpPr bwMode="auto">
          <a:xfrm>
            <a:off x="2489200" y="3540125"/>
            <a:ext cx="4657725" cy="2295525"/>
            <a:chOff x="2025" y="2075"/>
            <a:chExt cx="2934" cy="1446"/>
          </a:xfrm>
        </p:grpSpPr>
        <p:sp>
          <p:nvSpPr>
            <p:cNvPr id="29715" name="Line 19"/>
            <p:cNvSpPr>
              <a:spLocks noChangeShapeType="1"/>
            </p:cNvSpPr>
            <p:nvPr/>
          </p:nvSpPr>
          <p:spPr bwMode="auto">
            <a:xfrm>
              <a:off x="2196" y="3521"/>
              <a:ext cx="5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87" name="Line 91"/>
            <p:cNvSpPr>
              <a:spLocks noChangeShapeType="1"/>
            </p:cNvSpPr>
            <p:nvPr/>
          </p:nvSpPr>
          <p:spPr bwMode="auto">
            <a:xfrm>
              <a:off x="2025" y="3521"/>
              <a:ext cx="1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88" name="Line 92"/>
            <p:cNvSpPr>
              <a:spLocks noChangeShapeType="1"/>
            </p:cNvSpPr>
            <p:nvPr/>
          </p:nvSpPr>
          <p:spPr bwMode="auto">
            <a:xfrm>
              <a:off x="2101" y="3050"/>
              <a:ext cx="15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89" name="Line 93"/>
            <p:cNvSpPr>
              <a:spLocks noChangeShapeType="1"/>
            </p:cNvSpPr>
            <p:nvPr/>
          </p:nvSpPr>
          <p:spPr bwMode="auto">
            <a:xfrm>
              <a:off x="2188" y="3143"/>
              <a:ext cx="6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90" name="Line 94"/>
            <p:cNvSpPr>
              <a:spLocks noChangeShapeType="1"/>
            </p:cNvSpPr>
            <p:nvPr/>
          </p:nvSpPr>
          <p:spPr bwMode="auto">
            <a:xfrm flipH="1">
              <a:off x="4747" y="3050"/>
              <a:ext cx="1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91" name="Line 95"/>
            <p:cNvSpPr>
              <a:spLocks noChangeShapeType="1"/>
            </p:cNvSpPr>
            <p:nvPr/>
          </p:nvSpPr>
          <p:spPr bwMode="auto">
            <a:xfrm>
              <a:off x="2932" y="2454"/>
              <a:ext cx="1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92" name="Line 96"/>
            <p:cNvSpPr>
              <a:spLocks noChangeShapeType="1"/>
            </p:cNvSpPr>
            <p:nvPr/>
          </p:nvSpPr>
          <p:spPr bwMode="auto">
            <a:xfrm flipV="1">
              <a:off x="2190" y="3135"/>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94" name="Line 98"/>
            <p:cNvSpPr>
              <a:spLocks noChangeShapeType="1"/>
            </p:cNvSpPr>
            <p:nvPr/>
          </p:nvSpPr>
          <p:spPr bwMode="auto">
            <a:xfrm flipV="1">
              <a:off x="2103" y="2258"/>
              <a:ext cx="0" cy="7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95" name="Line 99"/>
            <p:cNvSpPr>
              <a:spLocks noChangeShapeType="1"/>
            </p:cNvSpPr>
            <p:nvPr/>
          </p:nvSpPr>
          <p:spPr bwMode="auto">
            <a:xfrm>
              <a:off x="2096" y="2075"/>
              <a:ext cx="8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96" name="Line 100"/>
            <p:cNvSpPr>
              <a:spLocks noChangeShapeType="1"/>
            </p:cNvSpPr>
            <p:nvPr/>
          </p:nvSpPr>
          <p:spPr bwMode="auto">
            <a:xfrm>
              <a:off x="2932" y="2075"/>
              <a:ext cx="0" cy="3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98" name="Line 102"/>
            <p:cNvSpPr>
              <a:spLocks noChangeShapeType="1"/>
            </p:cNvSpPr>
            <p:nvPr/>
          </p:nvSpPr>
          <p:spPr bwMode="auto">
            <a:xfrm>
              <a:off x="2104" y="2255"/>
              <a:ext cx="1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1" name="Line 105"/>
            <p:cNvSpPr>
              <a:spLocks noChangeShapeType="1"/>
            </p:cNvSpPr>
            <p:nvPr/>
          </p:nvSpPr>
          <p:spPr bwMode="auto">
            <a:xfrm flipH="1">
              <a:off x="4259" y="2552"/>
              <a:ext cx="1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2" name="Line 106"/>
            <p:cNvSpPr>
              <a:spLocks noChangeShapeType="1"/>
            </p:cNvSpPr>
            <p:nvPr/>
          </p:nvSpPr>
          <p:spPr bwMode="auto">
            <a:xfrm flipH="1">
              <a:off x="3965" y="2454"/>
              <a:ext cx="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3" name="Line 107"/>
            <p:cNvSpPr>
              <a:spLocks noChangeShapeType="1"/>
            </p:cNvSpPr>
            <p:nvPr/>
          </p:nvSpPr>
          <p:spPr bwMode="auto">
            <a:xfrm flipH="1" flipV="1">
              <a:off x="4371" y="2291"/>
              <a:ext cx="0" cy="27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4" name="Line 108"/>
            <p:cNvSpPr>
              <a:spLocks noChangeShapeType="1"/>
            </p:cNvSpPr>
            <p:nvPr/>
          </p:nvSpPr>
          <p:spPr bwMode="auto">
            <a:xfrm>
              <a:off x="4363" y="2291"/>
              <a:ext cx="18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5" name="Line 109"/>
            <p:cNvSpPr>
              <a:spLocks noChangeShapeType="1"/>
            </p:cNvSpPr>
            <p:nvPr/>
          </p:nvSpPr>
          <p:spPr bwMode="auto">
            <a:xfrm flipH="1" flipV="1">
              <a:off x="4882" y="2254"/>
              <a:ext cx="0" cy="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6" name="Line 110"/>
            <p:cNvSpPr>
              <a:spLocks noChangeShapeType="1"/>
            </p:cNvSpPr>
            <p:nvPr/>
          </p:nvSpPr>
          <p:spPr bwMode="auto">
            <a:xfrm flipH="1">
              <a:off x="4045" y="2075"/>
              <a:ext cx="8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7" name="Line 111"/>
            <p:cNvSpPr>
              <a:spLocks noChangeShapeType="1"/>
            </p:cNvSpPr>
            <p:nvPr/>
          </p:nvSpPr>
          <p:spPr bwMode="auto">
            <a:xfrm flipH="1">
              <a:off x="4053" y="2075"/>
              <a:ext cx="0" cy="3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9" name="Line 113"/>
            <p:cNvSpPr>
              <a:spLocks noChangeShapeType="1"/>
            </p:cNvSpPr>
            <p:nvPr/>
          </p:nvSpPr>
          <p:spPr bwMode="auto">
            <a:xfrm flipH="1">
              <a:off x="4749" y="2255"/>
              <a:ext cx="1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11" name="Line 115"/>
            <p:cNvSpPr>
              <a:spLocks noChangeShapeType="1"/>
            </p:cNvSpPr>
            <p:nvPr/>
          </p:nvSpPr>
          <p:spPr bwMode="auto">
            <a:xfrm flipH="1">
              <a:off x="3961" y="2599"/>
              <a:ext cx="12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12" name="Line 116"/>
            <p:cNvSpPr>
              <a:spLocks noChangeShapeType="1"/>
            </p:cNvSpPr>
            <p:nvPr/>
          </p:nvSpPr>
          <p:spPr bwMode="auto">
            <a:xfrm>
              <a:off x="3328" y="2448"/>
              <a:ext cx="375" cy="148"/>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13" name="Line 117"/>
            <p:cNvSpPr>
              <a:spLocks noChangeShapeType="1"/>
            </p:cNvSpPr>
            <p:nvPr/>
          </p:nvSpPr>
          <p:spPr bwMode="auto">
            <a:xfrm flipH="1">
              <a:off x="3333" y="2444"/>
              <a:ext cx="363" cy="148"/>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14" name="Line 118"/>
            <p:cNvSpPr>
              <a:spLocks noChangeShapeType="1"/>
            </p:cNvSpPr>
            <p:nvPr/>
          </p:nvSpPr>
          <p:spPr bwMode="auto">
            <a:xfrm flipH="1">
              <a:off x="2105" y="2083"/>
              <a:ext cx="0" cy="16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16" name="Line 120"/>
            <p:cNvSpPr>
              <a:spLocks noChangeShapeType="1"/>
            </p:cNvSpPr>
            <p:nvPr/>
          </p:nvSpPr>
          <p:spPr bwMode="auto">
            <a:xfrm flipH="1">
              <a:off x="4751" y="2321"/>
              <a:ext cx="2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65" name="Line 169"/>
            <p:cNvSpPr>
              <a:spLocks noChangeShapeType="1"/>
            </p:cNvSpPr>
            <p:nvPr/>
          </p:nvSpPr>
          <p:spPr bwMode="auto">
            <a:xfrm>
              <a:off x="3013" y="3289"/>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9866" name="Group 170"/>
            <p:cNvGrpSpPr>
              <a:grpSpLocks/>
            </p:cNvGrpSpPr>
            <p:nvPr/>
          </p:nvGrpSpPr>
          <p:grpSpPr bwMode="auto">
            <a:xfrm>
              <a:off x="2453" y="3090"/>
              <a:ext cx="404" cy="132"/>
              <a:chOff x="2760" y="2824"/>
              <a:chExt cx="468" cy="132"/>
            </a:xfrm>
          </p:grpSpPr>
          <p:sp>
            <p:nvSpPr>
              <p:cNvPr id="29867" name="Line 171"/>
              <p:cNvSpPr>
                <a:spLocks noChangeShapeType="1"/>
              </p:cNvSpPr>
              <p:nvPr/>
            </p:nvSpPr>
            <p:spPr bwMode="auto">
              <a:xfrm>
                <a:off x="2760" y="2828"/>
                <a:ext cx="1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68" name="Line 172"/>
              <p:cNvSpPr>
                <a:spLocks noChangeShapeType="1"/>
              </p:cNvSpPr>
              <p:nvPr/>
            </p:nvSpPr>
            <p:spPr bwMode="auto">
              <a:xfrm flipH="1">
                <a:off x="2896" y="2952"/>
                <a:ext cx="3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69" name="Line 173"/>
              <p:cNvSpPr>
                <a:spLocks noChangeShapeType="1"/>
              </p:cNvSpPr>
              <p:nvPr/>
            </p:nvSpPr>
            <p:spPr bwMode="auto">
              <a:xfrm flipV="1">
                <a:off x="2896" y="2824"/>
                <a:ext cx="0" cy="1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9939" name="Group 243"/>
          <p:cNvGrpSpPr>
            <a:grpSpLocks/>
          </p:cNvGrpSpPr>
          <p:nvPr/>
        </p:nvGrpSpPr>
        <p:grpSpPr bwMode="auto">
          <a:xfrm>
            <a:off x="2489200" y="3540125"/>
            <a:ext cx="4657725" cy="2295525"/>
            <a:chOff x="2025" y="2075"/>
            <a:chExt cx="2934" cy="1446"/>
          </a:xfrm>
        </p:grpSpPr>
        <p:grpSp>
          <p:nvGrpSpPr>
            <p:cNvPr id="29937" name="Group 241"/>
            <p:cNvGrpSpPr>
              <a:grpSpLocks/>
            </p:cNvGrpSpPr>
            <p:nvPr/>
          </p:nvGrpSpPr>
          <p:grpSpPr bwMode="auto">
            <a:xfrm>
              <a:off x="2025" y="2075"/>
              <a:ext cx="2934" cy="1446"/>
              <a:chOff x="2025" y="2075"/>
              <a:chExt cx="2934" cy="1446"/>
            </a:xfrm>
          </p:grpSpPr>
          <p:grpSp>
            <p:nvGrpSpPr>
              <p:cNvPr id="29871" name="Group 175"/>
              <p:cNvGrpSpPr>
                <a:grpSpLocks/>
              </p:cNvGrpSpPr>
              <p:nvPr/>
            </p:nvGrpSpPr>
            <p:grpSpPr bwMode="auto">
              <a:xfrm>
                <a:off x="2025" y="2075"/>
                <a:ext cx="2934" cy="1446"/>
                <a:chOff x="2025" y="2075"/>
                <a:chExt cx="2934" cy="1446"/>
              </a:xfrm>
            </p:grpSpPr>
            <p:sp>
              <p:nvSpPr>
                <p:cNvPr id="29872" name="Line 176"/>
                <p:cNvSpPr>
                  <a:spLocks noChangeShapeType="1"/>
                </p:cNvSpPr>
                <p:nvPr/>
              </p:nvSpPr>
              <p:spPr bwMode="auto">
                <a:xfrm>
                  <a:off x="2196" y="3521"/>
                  <a:ext cx="5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73" name="Line 177"/>
                <p:cNvSpPr>
                  <a:spLocks noChangeShapeType="1"/>
                </p:cNvSpPr>
                <p:nvPr/>
              </p:nvSpPr>
              <p:spPr bwMode="auto">
                <a:xfrm>
                  <a:off x="2025" y="3521"/>
                  <a:ext cx="15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74" name="Line 178"/>
                <p:cNvSpPr>
                  <a:spLocks noChangeShapeType="1"/>
                </p:cNvSpPr>
                <p:nvPr/>
              </p:nvSpPr>
              <p:spPr bwMode="auto">
                <a:xfrm>
                  <a:off x="2101" y="3050"/>
                  <a:ext cx="15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75" name="Line 179"/>
                <p:cNvSpPr>
                  <a:spLocks noChangeShapeType="1"/>
                </p:cNvSpPr>
                <p:nvPr/>
              </p:nvSpPr>
              <p:spPr bwMode="auto">
                <a:xfrm>
                  <a:off x="2188" y="3143"/>
                  <a:ext cx="6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76" name="Line 180"/>
                <p:cNvSpPr>
                  <a:spLocks noChangeShapeType="1"/>
                </p:cNvSpPr>
                <p:nvPr/>
              </p:nvSpPr>
              <p:spPr bwMode="auto">
                <a:xfrm flipH="1">
                  <a:off x="4747" y="3050"/>
                  <a:ext cx="13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77" name="Line 181"/>
                <p:cNvSpPr>
                  <a:spLocks noChangeShapeType="1"/>
                </p:cNvSpPr>
                <p:nvPr/>
              </p:nvSpPr>
              <p:spPr bwMode="auto">
                <a:xfrm>
                  <a:off x="2932" y="2454"/>
                  <a:ext cx="12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78" name="Line 182"/>
                <p:cNvSpPr>
                  <a:spLocks noChangeShapeType="1"/>
                </p:cNvSpPr>
                <p:nvPr/>
              </p:nvSpPr>
              <p:spPr bwMode="auto">
                <a:xfrm flipV="1">
                  <a:off x="2190" y="3135"/>
                  <a:ext cx="0" cy="38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79" name="Line 183"/>
                <p:cNvSpPr>
                  <a:spLocks noChangeShapeType="1"/>
                </p:cNvSpPr>
                <p:nvPr/>
              </p:nvSpPr>
              <p:spPr bwMode="auto">
                <a:xfrm flipV="1">
                  <a:off x="2103" y="2258"/>
                  <a:ext cx="0" cy="79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80" name="Line 184"/>
                <p:cNvSpPr>
                  <a:spLocks noChangeShapeType="1"/>
                </p:cNvSpPr>
                <p:nvPr/>
              </p:nvSpPr>
              <p:spPr bwMode="auto">
                <a:xfrm>
                  <a:off x="2096" y="2075"/>
                  <a:ext cx="84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81" name="Line 185"/>
                <p:cNvSpPr>
                  <a:spLocks noChangeShapeType="1"/>
                </p:cNvSpPr>
                <p:nvPr/>
              </p:nvSpPr>
              <p:spPr bwMode="auto">
                <a:xfrm>
                  <a:off x="2932" y="2075"/>
                  <a:ext cx="0" cy="38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82" name="Line 186"/>
                <p:cNvSpPr>
                  <a:spLocks noChangeShapeType="1"/>
                </p:cNvSpPr>
                <p:nvPr/>
              </p:nvSpPr>
              <p:spPr bwMode="auto">
                <a:xfrm>
                  <a:off x="2104" y="2255"/>
                  <a:ext cx="14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83" name="Line 187"/>
                <p:cNvSpPr>
                  <a:spLocks noChangeShapeType="1"/>
                </p:cNvSpPr>
                <p:nvPr/>
              </p:nvSpPr>
              <p:spPr bwMode="auto">
                <a:xfrm flipH="1">
                  <a:off x="4259" y="2552"/>
                  <a:ext cx="11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84" name="Line 188"/>
                <p:cNvSpPr>
                  <a:spLocks noChangeShapeType="1"/>
                </p:cNvSpPr>
                <p:nvPr/>
              </p:nvSpPr>
              <p:spPr bwMode="auto">
                <a:xfrm flipH="1">
                  <a:off x="3965" y="2454"/>
                  <a:ext cx="8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85" name="Line 189"/>
                <p:cNvSpPr>
                  <a:spLocks noChangeShapeType="1"/>
                </p:cNvSpPr>
                <p:nvPr/>
              </p:nvSpPr>
              <p:spPr bwMode="auto">
                <a:xfrm flipH="1" flipV="1">
                  <a:off x="4371" y="2291"/>
                  <a:ext cx="0" cy="27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86" name="Line 190"/>
                <p:cNvSpPr>
                  <a:spLocks noChangeShapeType="1"/>
                </p:cNvSpPr>
                <p:nvPr/>
              </p:nvSpPr>
              <p:spPr bwMode="auto">
                <a:xfrm>
                  <a:off x="4363" y="2291"/>
                  <a:ext cx="18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87" name="Line 191"/>
                <p:cNvSpPr>
                  <a:spLocks noChangeShapeType="1"/>
                </p:cNvSpPr>
                <p:nvPr/>
              </p:nvSpPr>
              <p:spPr bwMode="auto">
                <a:xfrm flipH="1" flipV="1">
                  <a:off x="4882" y="2254"/>
                  <a:ext cx="0" cy="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88" name="Line 192"/>
                <p:cNvSpPr>
                  <a:spLocks noChangeShapeType="1"/>
                </p:cNvSpPr>
                <p:nvPr/>
              </p:nvSpPr>
              <p:spPr bwMode="auto">
                <a:xfrm flipH="1">
                  <a:off x="4045" y="2075"/>
                  <a:ext cx="84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89" name="Line 193"/>
                <p:cNvSpPr>
                  <a:spLocks noChangeShapeType="1"/>
                </p:cNvSpPr>
                <p:nvPr/>
              </p:nvSpPr>
              <p:spPr bwMode="auto">
                <a:xfrm flipH="1">
                  <a:off x="4053" y="2075"/>
                  <a:ext cx="0" cy="38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90" name="Line 194"/>
                <p:cNvSpPr>
                  <a:spLocks noChangeShapeType="1"/>
                </p:cNvSpPr>
                <p:nvPr/>
              </p:nvSpPr>
              <p:spPr bwMode="auto">
                <a:xfrm flipH="1">
                  <a:off x="4749" y="2255"/>
                  <a:ext cx="13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91" name="Line 195"/>
                <p:cNvSpPr>
                  <a:spLocks noChangeShapeType="1"/>
                </p:cNvSpPr>
                <p:nvPr/>
              </p:nvSpPr>
              <p:spPr bwMode="auto">
                <a:xfrm flipH="1">
                  <a:off x="3961" y="2599"/>
                  <a:ext cx="12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92" name="Line 196"/>
                <p:cNvSpPr>
                  <a:spLocks noChangeShapeType="1"/>
                </p:cNvSpPr>
                <p:nvPr/>
              </p:nvSpPr>
              <p:spPr bwMode="auto">
                <a:xfrm>
                  <a:off x="3328" y="2448"/>
                  <a:ext cx="375" cy="148"/>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93" name="Line 197"/>
                <p:cNvSpPr>
                  <a:spLocks noChangeShapeType="1"/>
                </p:cNvSpPr>
                <p:nvPr/>
              </p:nvSpPr>
              <p:spPr bwMode="auto">
                <a:xfrm flipH="1">
                  <a:off x="3333" y="2444"/>
                  <a:ext cx="363" cy="148"/>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94" name="Line 198"/>
                <p:cNvSpPr>
                  <a:spLocks noChangeShapeType="1"/>
                </p:cNvSpPr>
                <p:nvPr/>
              </p:nvSpPr>
              <p:spPr bwMode="auto">
                <a:xfrm flipH="1">
                  <a:off x="2105" y="2083"/>
                  <a:ext cx="0" cy="16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95" name="Line 199"/>
                <p:cNvSpPr>
                  <a:spLocks noChangeShapeType="1"/>
                </p:cNvSpPr>
                <p:nvPr/>
              </p:nvSpPr>
              <p:spPr bwMode="auto">
                <a:xfrm flipH="1">
                  <a:off x="4751" y="2321"/>
                  <a:ext cx="20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96" name="Line 200"/>
                <p:cNvSpPr>
                  <a:spLocks noChangeShapeType="1"/>
                </p:cNvSpPr>
                <p:nvPr/>
              </p:nvSpPr>
              <p:spPr bwMode="auto">
                <a:xfrm>
                  <a:off x="3013" y="3289"/>
                  <a:ext cx="96"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9897" name="Group 201"/>
                <p:cNvGrpSpPr>
                  <a:grpSpLocks/>
                </p:cNvGrpSpPr>
                <p:nvPr/>
              </p:nvGrpSpPr>
              <p:grpSpPr bwMode="auto">
                <a:xfrm>
                  <a:off x="2453" y="3090"/>
                  <a:ext cx="404" cy="132"/>
                  <a:chOff x="2760" y="2824"/>
                  <a:chExt cx="468" cy="132"/>
                </a:xfrm>
              </p:grpSpPr>
              <p:sp>
                <p:nvSpPr>
                  <p:cNvPr id="29898" name="Line 202"/>
                  <p:cNvSpPr>
                    <a:spLocks noChangeShapeType="1"/>
                  </p:cNvSpPr>
                  <p:nvPr/>
                </p:nvSpPr>
                <p:spPr bwMode="auto">
                  <a:xfrm>
                    <a:off x="2760" y="2828"/>
                    <a:ext cx="13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99" name="Line 203"/>
                  <p:cNvSpPr>
                    <a:spLocks noChangeShapeType="1"/>
                  </p:cNvSpPr>
                  <p:nvPr/>
                </p:nvSpPr>
                <p:spPr bwMode="auto">
                  <a:xfrm flipH="1">
                    <a:off x="2896" y="2952"/>
                    <a:ext cx="33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00" name="Line 204"/>
                  <p:cNvSpPr>
                    <a:spLocks noChangeShapeType="1"/>
                  </p:cNvSpPr>
                  <p:nvPr/>
                </p:nvSpPr>
                <p:spPr bwMode="auto">
                  <a:xfrm flipV="1">
                    <a:off x="2896" y="2824"/>
                    <a:ext cx="0" cy="13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29934" name="Line 238"/>
              <p:cNvSpPr>
                <a:spLocks noChangeShapeType="1"/>
              </p:cNvSpPr>
              <p:nvPr/>
            </p:nvSpPr>
            <p:spPr bwMode="auto">
              <a:xfrm>
                <a:off x="2182" y="2684"/>
                <a:ext cx="55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35" name="Line 239"/>
              <p:cNvSpPr>
                <a:spLocks noChangeShapeType="1"/>
              </p:cNvSpPr>
              <p:nvPr/>
            </p:nvSpPr>
            <p:spPr bwMode="auto">
              <a:xfrm>
                <a:off x="2916" y="2599"/>
                <a:ext cx="14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36" name="Line 240"/>
              <p:cNvSpPr>
                <a:spLocks noChangeShapeType="1"/>
              </p:cNvSpPr>
              <p:nvPr/>
            </p:nvSpPr>
            <p:spPr bwMode="auto">
              <a:xfrm flipH="1" flipV="1">
                <a:off x="2191" y="2683"/>
                <a:ext cx="0" cy="45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9938" name="Line 242"/>
            <p:cNvSpPr>
              <a:spLocks noChangeShapeType="1"/>
            </p:cNvSpPr>
            <p:nvPr/>
          </p:nvSpPr>
          <p:spPr bwMode="auto">
            <a:xfrm flipH="1">
              <a:off x="4882" y="2083"/>
              <a:ext cx="0" cy="16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9942" name="Group 246"/>
          <p:cNvGrpSpPr>
            <a:grpSpLocks/>
          </p:cNvGrpSpPr>
          <p:nvPr/>
        </p:nvGrpSpPr>
        <p:grpSpPr bwMode="auto">
          <a:xfrm>
            <a:off x="3973195" y="2044383"/>
            <a:ext cx="2351088" cy="392112"/>
            <a:chOff x="666" y="981"/>
            <a:chExt cx="2100" cy="312"/>
          </a:xfrm>
        </p:grpSpPr>
        <p:sp>
          <p:nvSpPr>
            <p:cNvPr id="29943" name="Line 247"/>
            <p:cNvSpPr>
              <a:spLocks noChangeShapeType="1"/>
            </p:cNvSpPr>
            <p:nvPr/>
          </p:nvSpPr>
          <p:spPr bwMode="auto">
            <a:xfrm flipV="1">
              <a:off x="666" y="1137"/>
              <a:ext cx="21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44" name="Line 248"/>
            <p:cNvSpPr>
              <a:spLocks noChangeShapeType="1"/>
            </p:cNvSpPr>
            <p:nvPr/>
          </p:nvSpPr>
          <p:spPr bwMode="auto">
            <a:xfrm>
              <a:off x="250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45" name="Line 249"/>
            <p:cNvSpPr>
              <a:spLocks noChangeShapeType="1"/>
            </p:cNvSpPr>
            <p:nvPr/>
          </p:nvSpPr>
          <p:spPr bwMode="auto">
            <a:xfrm>
              <a:off x="2130"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46" name="Line 250"/>
            <p:cNvSpPr>
              <a:spLocks noChangeShapeType="1"/>
            </p:cNvSpPr>
            <p:nvPr/>
          </p:nvSpPr>
          <p:spPr bwMode="auto">
            <a:xfrm>
              <a:off x="121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47" name="Line 251"/>
            <p:cNvSpPr>
              <a:spLocks noChangeShapeType="1"/>
            </p:cNvSpPr>
            <p:nvPr/>
          </p:nvSpPr>
          <p:spPr bwMode="auto">
            <a:xfrm>
              <a:off x="846"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9948" name="Group 252"/>
            <p:cNvGrpSpPr>
              <a:grpSpLocks/>
            </p:cNvGrpSpPr>
            <p:nvPr/>
          </p:nvGrpSpPr>
          <p:grpSpPr bwMode="auto">
            <a:xfrm>
              <a:off x="1271" y="1094"/>
              <a:ext cx="84" cy="87"/>
              <a:chOff x="2636" y="2286"/>
              <a:chExt cx="33" cy="34"/>
            </a:xfrm>
          </p:grpSpPr>
          <p:sp>
            <p:nvSpPr>
              <p:cNvPr id="29949" name="Line 253"/>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50" name="Line 254"/>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9951" name="Group 255"/>
            <p:cNvGrpSpPr>
              <a:grpSpLocks/>
            </p:cNvGrpSpPr>
            <p:nvPr/>
          </p:nvGrpSpPr>
          <p:grpSpPr bwMode="auto">
            <a:xfrm>
              <a:off x="1997" y="1093"/>
              <a:ext cx="84" cy="87"/>
              <a:chOff x="2636" y="2286"/>
              <a:chExt cx="33" cy="34"/>
            </a:xfrm>
          </p:grpSpPr>
          <p:sp>
            <p:nvSpPr>
              <p:cNvPr id="29952" name="Line 256"/>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53" name="Line 257"/>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9954" name="Line 258"/>
          <p:cNvSpPr>
            <a:spLocks noChangeShapeType="1"/>
          </p:cNvSpPr>
          <p:nvPr/>
        </p:nvSpPr>
        <p:spPr bwMode="auto">
          <a:xfrm>
            <a:off x="4690745" y="1972945"/>
            <a:ext cx="646113"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55" name="Line 259"/>
          <p:cNvSpPr>
            <a:spLocks noChangeShapeType="1"/>
          </p:cNvSpPr>
          <p:nvPr/>
        </p:nvSpPr>
        <p:spPr bwMode="auto">
          <a:xfrm>
            <a:off x="4900295" y="2515870"/>
            <a:ext cx="644525"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56" name="Line 260"/>
          <p:cNvSpPr>
            <a:spLocks noChangeShapeType="1"/>
          </p:cNvSpPr>
          <p:nvPr/>
        </p:nvSpPr>
        <p:spPr bwMode="auto">
          <a:xfrm>
            <a:off x="4701858" y="1728470"/>
            <a:ext cx="1019175"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57" name="Line 261"/>
          <p:cNvSpPr>
            <a:spLocks noChangeShapeType="1"/>
          </p:cNvSpPr>
          <p:nvPr/>
        </p:nvSpPr>
        <p:spPr bwMode="auto">
          <a:xfrm>
            <a:off x="4547870" y="1483995"/>
            <a:ext cx="1647825"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58" name="Line 262"/>
          <p:cNvSpPr>
            <a:spLocks noChangeShapeType="1"/>
          </p:cNvSpPr>
          <p:nvPr/>
        </p:nvSpPr>
        <p:spPr bwMode="auto">
          <a:xfrm>
            <a:off x="4519295" y="2755583"/>
            <a:ext cx="1020763"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59" name="Line 263"/>
          <p:cNvSpPr>
            <a:spLocks noChangeShapeType="1"/>
          </p:cNvSpPr>
          <p:nvPr/>
        </p:nvSpPr>
        <p:spPr bwMode="auto">
          <a:xfrm>
            <a:off x="4054158" y="3009583"/>
            <a:ext cx="1649412"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60" name="Text Box 264"/>
          <p:cNvSpPr txBox="1">
            <a:spLocks noChangeArrowheads="1"/>
          </p:cNvSpPr>
          <p:nvPr/>
        </p:nvSpPr>
        <p:spPr bwMode="auto">
          <a:xfrm>
            <a:off x="6213158" y="136969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Z3</a:t>
            </a:r>
            <a:endParaRPr lang="en-GB" altLang="en-US" b="0" i="0">
              <a:solidFill>
                <a:schemeClr val="tx1"/>
              </a:solidFill>
            </a:endParaRPr>
          </a:p>
        </p:txBody>
      </p:sp>
      <p:sp>
        <p:nvSpPr>
          <p:cNvPr id="29961" name="Text Box 265"/>
          <p:cNvSpPr txBox="1">
            <a:spLocks noChangeArrowheads="1"/>
          </p:cNvSpPr>
          <p:nvPr/>
        </p:nvSpPr>
        <p:spPr bwMode="auto">
          <a:xfrm>
            <a:off x="3785870" y="2895283"/>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Z3</a:t>
            </a:r>
            <a:endParaRPr lang="en-GB" altLang="en-US" b="0" i="0">
              <a:solidFill>
                <a:schemeClr val="tx1"/>
              </a:solidFill>
            </a:endParaRPr>
          </a:p>
        </p:txBody>
      </p:sp>
      <p:sp>
        <p:nvSpPr>
          <p:cNvPr id="29962" name="Text Box 266"/>
          <p:cNvSpPr txBox="1">
            <a:spLocks noChangeArrowheads="1"/>
          </p:cNvSpPr>
          <p:nvPr/>
        </p:nvSpPr>
        <p:spPr bwMode="auto">
          <a:xfrm>
            <a:off x="5338445" y="185864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29963" name="Text Box 267"/>
          <p:cNvSpPr txBox="1">
            <a:spLocks noChangeArrowheads="1"/>
          </p:cNvSpPr>
          <p:nvPr/>
        </p:nvSpPr>
        <p:spPr bwMode="auto">
          <a:xfrm>
            <a:off x="4636770" y="2401570"/>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29964" name="Text Box 268"/>
          <p:cNvSpPr txBox="1">
            <a:spLocks noChangeArrowheads="1"/>
          </p:cNvSpPr>
          <p:nvPr/>
        </p:nvSpPr>
        <p:spPr bwMode="auto">
          <a:xfrm>
            <a:off x="5727383" y="1615758"/>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sp>
        <p:nvSpPr>
          <p:cNvPr id="29965" name="Text Box 269"/>
          <p:cNvSpPr txBox="1">
            <a:spLocks noChangeArrowheads="1"/>
          </p:cNvSpPr>
          <p:nvPr/>
        </p:nvSpPr>
        <p:spPr bwMode="auto">
          <a:xfrm>
            <a:off x="4255770" y="2638108"/>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grpSp>
        <p:nvGrpSpPr>
          <p:cNvPr id="29966" name="Group 270"/>
          <p:cNvGrpSpPr>
            <a:grpSpLocks/>
          </p:cNvGrpSpPr>
          <p:nvPr/>
        </p:nvGrpSpPr>
        <p:grpSpPr bwMode="auto">
          <a:xfrm>
            <a:off x="5261610" y="2090420"/>
            <a:ext cx="104775" cy="396875"/>
            <a:chOff x="5516" y="4124"/>
            <a:chExt cx="164" cy="544"/>
          </a:xfrm>
        </p:grpSpPr>
        <p:sp>
          <p:nvSpPr>
            <p:cNvPr id="29967" name="Line 271"/>
            <p:cNvSpPr>
              <a:spLocks noChangeShapeType="1"/>
            </p:cNvSpPr>
            <p:nvPr/>
          </p:nvSpPr>
          <p:spPr bwMode="auto">
            <a:xfrm flipH="1">
              <a:off x="5516" y="4360"/>
              <a:ext cx="157" cy="308"/>
            </a:xfrm>
            <a:prstGeom prst="line">
              <a:avLst/>
            </a:prstGeom>
            <a:noFill/>
            <a:ln w="19050">
              <a:solidFill>
                <a:srgbClr val="FF0000"/>
              </a:solidFill>
              <a:round/>
              <a:headEnd type="none" w="med"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968" name="Line 272"/>
            <p:cNvSpPr>
              <a:spLocks noChangeShapeType="1"/>
            </p:cNvSpPr>
            <p:nvPr/>
          </p:nvSpPr>
          <p:spPr bwMode="auto">
            <a:xfrm flipH="1">
              <a:off x="5516" y="4124"/>
              <a:ext cx="129" cy="259"/>
            </a:xfrm>
            <a:prstGeom prst="line">
              <a:avLst/>
            </a:prstGeom>
            <a:noFill/>
            <a:ln w="19050">
              <a:solidFill>
                <a:srgbClr val="FF00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969" name="Line 273"/>
            <p:cNvSpPr>
              <a:spLocks noChangeShapeType="1"/>
            </p:cNvSpPr>
            <p:nvPr/>
          </p:nvSpPr>
          <p:spPr bwMode="auto">
            <a:xfrm>
              <a:off x="5524" y="4375"/>
              <a:ext cx="156" cy="0"/>
            </a:xfrm>
            <a:prstGeom prst="line">
              <a:avLst/>
            </a:prstGeom>
            <a:noFill/>
            <a:ln w="19050">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9970" name="Oval 274"/>
          <p:cNvSpPr>
            <a:spLocks noChangeArrowheads="1"/>
          </p:cNvSpPr>
          <p:nvPr/>
        </p:nvSpPr>
        <p:spPr bwMode="auto">
          <a:xfrm>
            <a:off x="5444808" y="2163445"/>
            <a:ext cx="128587" cy="144463"/>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2300455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71" name="Text Box 27"/>
          <p:cNvSpPr txBox="1">
            <a:spLocks noChangeArrowheads="1"/>
          </p:cNvSpPr>
          <p:nvPr/>
        </p:nvSpPr>
        <p:spPr bwMode="auto">
          <a:xfrm>
            <a:off x="2168525" y="6307138"/>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Z3</a:t>
            </a:r>
            <a:endParaRPr lang="en-GB" altLang="en-US" b="0" i="0">
              <a:solidFill>
                <a:schemeClr val="bg2"/>
              </a:solidFill>
            </a:endParaRPr>
          </a:p>
        </p:txBody>
      </p:sp>
      <p:sp>
        <p:nvSpPr>
          <p:cNvPr id="31772" name="Text Box 28"/>
          <p:cNvSpPr txBox="1">
            <a:spLocks noChangeArrowheads="1"/>
          </p:cNvSpPr>
          <p:nvPr/>
        </p:nvSpPr>
        <p:spPr bwMode="auto">
          <a:xfrm>
            <a:off x="2168525" y="572928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31773" name="Text Box 29"/>
          <p:cNvSpPr txBox="1">
            <a:spLocks noChangeArrowheads="1"/>
          </p:cNvSpPr>
          <p:nvPr/>
        </p:nvSpPr>
        <p:spPr bwMode="auto">
          <a:xfrm>
            <a:off x="2168525" y="536733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a:t>Z1</a:t>
            </a:r>
          </a:p>
        </p:txBody>
      </p:sp>
      <p:sp>
        <p:nvSpPr>
          <p:cNvPr id="31774" name="Line 30"/>
          <p:cNvSpPr>
            <a:spLocks noChangeShapeType="1"/>
          </p:cNvSpPr>
          <p:nvPr/>
        </p:nvSpPr>
        <p:spPr bwMode="auto">
          <a:xfrm>
            <a:off x="2474913" y="5510213"/>
            <a:ext cx="13001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75" name="Text Box 31"/>
          <p:cNvSpPr txBox="1">
            <a:spLocks noChangeArrowheads="1"/>
          </p:cNvSpPr>
          <p:nvPr/>
        </p:nvSpPr>
        <p:spPr bwMode="auto">
          <a:xfrm>
            <a:off x="2838450" y="5735638"/>
            <a:ext cx="390525" cy="303212"/>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31777" name="Text Box 33"/>
          <p:cNvSpPr txBox="1">
            <a:spLocks noChangeArrowheads="1"/>
          </p:cNvSpPr>
          <p:nvPr/>
        </p:nvSpPr>
        <p:spPr bwMode="auto">
          <a:xfrm>
            <a:off x="2844800" y="6307138"/>
            <a:ext cx="390525"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31778" name="Line 34"/>
          <p:cNvSpPr>
            <a:spLocks noChangeShapeType="1"/>
          </p:cNvSpPr>
          <p:nvPr/>
        </p:nvSpPr>
        <p:spPr bwMode="auto">
          <a:xfrm>
            <a:off x="2479675" y="6457950"/>
            <a:ext cx="3683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79" name="Line 35"/>
          <p:cNvSpPr>
            <a:spLocks noChangeShapeType="1"/>
          </p:cNvSpPr>
          <p:nvPr/>
        </p:nvSpPr>
        <p:spPr bwMode="auto">
          <a:xfrm>
            <a:off x="3190875" y="5873750"/>
            <a:ext cx="857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80" name="Line 36"/>
          <p:cNvSpPr>
            <a:spLocks noChangeShapeType="1"/>
          </p:cNvSpPr>
          <p:nvPr/>
        </p:nvSpPr>
        <p:spPr bwMode="auto">
          <a:xfrm flipV="1">
            <a:off x="3275013" y="5613400"/>
            <a:ext cx="0" cy="257175"/>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81" name="Line 37"/>
          <p:cNvSpPr>
            <a:spLocks noChangeShapeType="1"/>
          </p:cNvSpPr>
          <p:nvPr/>
        </p:nvSpPr>
        <p:spPr bwMode="auto">
          <a:xfrm>
            <a:off x="3279775" y="5622925"/>
            <a:ext cx="5032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82" name="Line 38"/>
          <p:cNvSpPr>
            <a:spLocks noChangeShapeType="1"/>
          </p:cNvSpPr>
          <p:nvPr/>
        </p:nvSpPr>
        <p:spPr bwMode="auto">
          <a:xfrm>
            <a:off x="3190875" y="6456363"/>
            <a:ext cx="3254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83" name="Line 39"/>
          <p:cNvSpPr>
            <a:spLocks noChangeShapeType="1"/>
          </p:cNvSpPr>
          <p:nvPr/>
        </p:nvSpPr>
        <p:spPr bwMode="auto">
          <a:xfrm flipV="1">
            <a:off x="3516313" y="5726113"/>
            <a:ext cx="0" cy="744537"/>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84" name="Line 40"/>
          <p:cNvSpPr>
            <a:spLocks noChangeShapeType="1"/>
          </p:cNvSpPr>
          <p:nvPr/>
        </p:nvSpPr>
        <p:spPr bwMode="auto">
          <a:xfrm>
            <a:off x="3516313" y="5727700"/>
            <a:ext cx="2619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85" name="Text Box 41"/>
          <p:cNvSpPr txBox="1">
            <a:spLocks noChangeArrowheads="1"/>
          </p:cNvSpPr>
          <p:nvPr/>
        </p:nvSpPr>
        <p:spPr bwMode="auto">
          <a:xfrm>
            <a:off x="4137025" y="5386388"/>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Trip</a:t>
            </a:r>
          </a:p>
        </p:txBody>
      </p:sp>
      <p:sp>
        <p:nvSpPr>
          <p:cNvPr id="31788" name="Text Box 44"/>
          <p:cNvSpPr txBox="1">
            <a:spLocks noChangeArrowheads="1"/>
          </p:cNvSpPr>
          <p:nvPr/>
        </p:nvSpPr>
        <p:spPr bwMode="auto">
          <a:xfrm>
            <a:off x="2838450" y="5735638"/>
            <a:ext cx="390525"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31791" name="Oval 47"/>
          <p:cNvSpPr>
            <a:spLocks noChangeArrowheads="1"/>
          </p:cNvSpPr>
          <p:nvPr/>
        </p:nvSpPr>
        <p:spPr bwMode="auto">
          <a:xfrm>
            <a:off x="2705100" y="522922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92" name="Oval 48"/>
          <p:cNvSpPr>
            <a:spLocks noChangeArrowheads="1"/>
          </p:cNvSpPr>
          <p:nvPr/>
        </p:nvSpPr>
        <p:spPr bwMode="auto">
          <a:xfrm>
            <a:off x="2703513" y="583723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93" name="Text Box 49"/>
          <p:cNvSpPr txBox="1">
            <a:spLocks noChangeArrowheads="1"/>
          </p:cNvSpPr>
          <p:nvPr/>
        </p:nvSpPr>
        <p:spPr bwMode="auto">
          <a:xfrm flipH="1">
            <a:off x="7119938" y="6307138"/>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Z3</a:t>
            </a:r>
            <a:endParaRPr lang="en-GB" altLang="en-US" b="0" i="0">
              <a:solidFill>
                <a:schemeClr val="bg2"/>
              </a:solidFill>
            </a:endParaRPr>
          </a:p>
        </p:txBody>
      </p:sp>
      <p:sp>
        <p:nvSpPr>
          <p:cNvPr id="31794" name="Text Box 50"/>
          <p:cNvSpPr txBox="1">
            <a:spLocks noChangeArrowheads="1"/>
          </p:cNvSpPr>
          <p:nvPr/>
        </p:nvSpPr>
        <p:spPr bwMode="auto">
          <a:xfrm flipH="1">
            <a:off x="7119938" y="572928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31795" name="Text Box 51"/>
          <p:cNvSpPr txBox="1">
            <a:spLocks noChangeArrowheads="1"/>
          </p:cNvSpPr>
          <p:nvPr/>
        </p:nvSpPr>
        <p:spPr bwMode="auto">
          <a:xfrm flipH="1">
            <a:off x="7119938" y="536733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31796" name="Line 52"/>
          <p:cNvSpPr>
            <a:spLocks noChangeShapeType="1"/>
          </p:cNvSpPr>
          <p:nvPr/>
        </p:nvSpPr>
        <p:spPr bwMode="auto">
          <a:xfrm flipH="1">
            <a:off x="5834063" y="5510213"/>
            <a:ext cx="13001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97" name="Text Box 53"/>
          <p:cNvSpPr txBox="1">
            <a:spLocks noChangeArrowheads="1"/>
          </p:cNvSpPr>
          <p:nvPr/>
        </p:nvSpPr>
        <p:spPr bwMode="auto">
          <a:xfrm flipH="1">
            <a:off x="6424613" y="5735638"/>
            <a:ext cx="390525" cy="303212"/>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31798" name="Line 54"/>
          <p:cNvSpPr>
            <a:spLocks noChangeShapeType="1"/>
          </p:cNvSpPr>
          <p:nvPr/>
        </p:nvSpPr>
        <p:spPr bwMode="auto">
          <a:xfrm flipH="1">
            <a:off x="6761163" y="5880100"/>
            <a:ext cx="1127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99" name="Text Box 55"/>
          <p:cNvSpPr txBox="1">
            <a:spLocks noChangeArrowheads="1"/>
          </p:cNvSpPr>
          <p:nvPr/>
        </p:nvSpPr>
        <p:spPr bwMode="auto">
          <a:xfrm flipH="1">
            <a:off x="6418263" y="6307138"/>
            <a:ext cx="390525"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31800" name="Line 56"/>
          <p:cNvSpPr>
            <a:spLocks noChangeShapeType="1"/>
          </p:cNvSpPr>
          <p:nvPr/>
        </p:nvSpPr>
        <p:spPr bwMode="auto">
          <a:xfrm flipH="1">
            <a:off x="6761163" y="6457950"/>
            <a:ext cx="3683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01" name="Line 57"/>
          <p:cNvSpPr>
            <a:spLocks noChangeShapeType="1"/>
          </p:cNvSpPr>
          <p:nvPr/>
        </p:nvSpPr>
        <p:spPr bwMode="auto">
          <a:xfrm flipH="1">
            <a:off x="6332538" y="5873750"/>
            <a:ext cx="841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02" name="Line 58"/>
          <p:cNvSpPr>
            <a:spLocks noChangeShapeType="1"/>
          </p:cNvSpPr>
          <p:nvPr/>
        </p:nvSpPr>
        <p:spPr bwMode="auto">
          <a:xfrm flipH="1" flipV="1">
            <a:off x="6334125" y="5618163"/>
            <a:ext cx="0" cy="24765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03" name="Line 59"/>
          <p:cNvSpPr>
            <a:spLocks noChangeShapeType="1"/>
          </p:cNvSpPr>
          <p:nvPr/>
        </p:nvSpPr>
        <p:spPr bwMode="auto">
          <a:xfrm flipH="1">
            <a:off x="5826125" y="5622925"/>
            <a:ext cx="5032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04" name="Line 60"/>
          <p:cNvSpPr>
            <a:spLocks noChangeShapeType="1"/>
          </p:cNvSpPr>
          <p:nvPr/>
        </p:nvSpPr>
        <p:spPr bwMode="auto">
          <a:xfrm flipH="1">
            <a:off x="6092825" y="6456363"/>
            <a:ext cx="3254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05" name="Line 61"/>
          <p:cNvSpPr>
            <a:spLocks noChangeShapeType="1"/>
          </p:cNvSpPr>
          <p:nvPr/>
        </p:nvSpPr>
        <p:spPr bwMode="auto">
          <a:xfrm flipH="1" flipV="1">
            <a:off x="6092825" y="5726113"/>
            <a:ext cx="0" cy="744537"/>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06" name="Line 62"/>
          <p:cNvSpPr>
            <a:spLocks noChangeShapeType="1"/>
          </p:cNvSpPr>
          <p:nvPr/>
        </p:nvSpPr>
        <p:spPr bwMode="auto">
          <a:xfrm flipH="1">
            <a:off x="5830888" y="5727700"/>
            <a:ext cx="2619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07" name="Line 63"/>
          <p:cNvSpPr>
            <a:spLocks noChangeShapeType="1"/>
          </p:cNvSpPr>
          <p:nvPr/>
        </p:nvSpPr>
        <p:spPr bwMode="auto">
          <a:xfrm flipH="1">
            <a:off x="5414963" y="5524500"/>
            <a:ext cx="152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08" name="Text Box 64"/>
          <p:cNvSpPr txBox="1">
            <a:spLocks noChangeArrowheads="1"/>
          </p:cNvSpPr>
          <p:nvPr/>
        </p:nvSpPr>
        <p:spPr bwMode="auto">
          <a:xfrm flipH="1">
            <a:off x="5002213" y="5386388"/>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Trip</a:t>
            </a:r>
          </a:p>
        </p:txBody>
      </p:sp>
      <p:sp>
        <p:nvSpPr>
          <p:cNvPr id="31811" name="Text Box 67"/>
          <p:cNvSpPr txBox="1">
            <a:spLocks noChangeArrowheads="1"/>
          </p:cNvSpPr>
          <p:nvPr/>
        </p:nvSpPr>
        <p:spPr bwMode="auto">
          <a:xfrm flipH="1">
            <a:off x="6424613" y="5735638"/>
            <a:ext cx="390525"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31812" name="Line 68"/>
          <p:cNvSpPr>
            <a:spLocks noChangeShapeType="1"/>
          </p:cNvSpPr>
          <p:nvPr/>
        </p:nvSpPr>
        <p:spPr bwMode="auto">
          <a:xfrm flipH="1">
            <a:off x="6902450" y="5880100"/>
            <a:ext cx="203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13" name="Line 69"/>
          <p:cNvSpPr>
            <a:spLocks noChangeShapeType="1"/>
          </p:cNvSpPr>
          <p:nvPr/>
        </p:nvSpPr>
        <p:spPr bwMode="auto">
          <a:xfrm flipH="1">
            <a:off x="6799263" y="5280025"/>
            <a:ext cx="76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14" name="Oval 70"/>
          <p:cNvSpPr>
            <a:spLocks noChangeArrowheads="1"/>
          </p:cNvSpPr>
          <p:nvPr/>
        </p:nvSpPr>
        <p:spPr bwMode="auto">
          <a:xfrm flipH="1">
            <a:off x="6837363" y="522922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15" name="Oval 71"/>
          <p:cNvSpPr>
            <a:spLocks noChangeArrowheads="1"/>
          </p:cNvSpPr>
          <p:nvPr/>
        </p:nvSpPr>
        <p:spPr bwMode="auto">
          <a:xfrm flipH="1">
            <a:off x="6838950" y="583723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16" name="Text Box 72"/>
          <p:cNvSpPr txBox="1">
            <a:spLocks noChangeArrowheads="1"/>
          </p:cNvSpPr>
          <p:nvPr/>
        </p:nvSpPr>
        <p:spPr bwMode="auto">
          <a:xfrm>
            <a:off x="2838450" y="3783013"/>
            <a:ext cx="322263"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1818" name="Line 74"/>
          <p:cNvSpPr>
            <a:spLocks noChangeShapeType="1"/>
          </p:cNvSpPr>
          <p:nvPr/>
        </p:nvSpPr>
        <p:spPr bwMode="auto">
          <a:xfrm>
            <a:off x="2476500" y="3975100"/>
            <a:ext cx="3683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19" name="Line 75"/>
          <p:cNvSpPr>
            <a:spLocks noChangeShapeType="1"/>
          </p:cNvSpPr>
          <p:nvPr/>
        </p:nvSpPr>
        <p:spPr bwMode="auto">
          <a:xfrm>
            <a:off x="3409950" y="4341813"/>
            <a:ext cx="2032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22" name="Line 78"/>
          <p:cNvSpPr>
            <a:spLocks noChangeShapeType="1"/>
          </p:cNvSpPr>
          <p:nvPr/>
        </p:nvSpPr>
        <p:spPr bwMode="auto">
          <a:xfrm>
            <a:off x="4105275" y="4291013"/>
            <a:ext cx="4540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23" name="Line 79"/>
          <p:cNvSpPr>
            <a:spLocks noChangeShapeType="1"/>
          </p:cNvSpPr>
          <p:nvPr/>
        </p:nvSpPr>
        <p:spPr bwMode="auto">
          <a:xfrm flipV="1">
            <a:off x="3409950" y="3927475"/>
            <a:ext cx="0" cy="428625"/>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24" name="Line 80"/>
          <p:cNvSpPr>
            <a:spLocks noChangeShapeType="1"/>
          </p:cNvSpPr>
          <p:nvPr/>
        </p:nvSpPr>
        <p:spPr bwMode="auto">
          <a:xfrm flipH="1">
            <a:off x="3122613" y="3927475"/>
            <a:ext cx="3000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25" name="Line 81"/>
          <p:cNvSpPr>
            <a:spLocks noChangeShapeType="1"/>
          </p:cNvSpPr>
          <p:nvPr/>
        </p:nvSpPr>
        <p:spPr bwMode="auto">
          <a:xfrm>
            <a:off x="3151188" y="4313238"/>
            <a:ext cx="1063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26" name="Line 82"/>
          <p:cNvSpPr>
            <a:spLocks noChangeShapeType="1"/>
          </p:cNvSpPr>
          <p:nvPr/>
        </p:nvSpPr>
        <p:spPr bwMode="auto">
          <a:xfrm>
            <a:off x="3262313" y="4305300"/>
            <a:ext cx="0" cy="1571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27" name="Line 83"/>
          <p:cNvSpPr>
            <a:spLocks noChangeShapeType="1"/>
          </p:cNvSpPr>
          <p:nvPr/>
        </p:nvSpPr>
        <p:spPr bwMode="auto">
          <a:xfrm>
            <a:off x="3257550" y="4456113"/>
            <a:ext cx="3397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34" name="Oval 90"/>
          <p:cNvSpPr>
            <a:spLocks noChangeArrowheads="1"/>
          </p:cNvSpPr>
          <p:nvPr/>
        </p:nvSpPr>
        <p:spPr bwMode="auto">
          <a:xfrm>
            <a:off x="2566988" y="4210050"/>
            <a:ext cx="65087"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36" name="Line 92"/>
          <p:cNvSpPr>
            <a:spLocks noChangeShapeType="1"/>
          </p:cNvSpPr>
          <p:nvPr/>
        </p:nvSpPr>
        <p:spPr bwMode="auto">
          <a:xfrm>
            <a:off x="2600325" y="3870325"/>
            <a:ext cx="23495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37" name="Oval 93"/>
          <p:cNvSpPr>
            <a:spLocks noChangeArrowheads="1"/>
          </p:cNvSpPr>
          <p:nvPr/>
        </p:nvSpPr>
        <p:spPr bwMode="auto">
          <a:xfrm>
            <a:off x="2565400" y="383222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39" name="Line 95"/>
          <p:cNvSpPr>
            <a:spLocks noChangeShapeType="1"/>
          </p:cNvSpPr>
          <p:nvPr/>
        </p:nvSpPr>
        <p:spPr bwMode="auto">
          <a:xfrm>
            <a:off x="2474913" y="4352925"/>
            <a:ext cx="3397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0" name="Oval 96"/>
          <p:cNvSpPr>
            <a:spLocks noChangeArrowheads="1"/>
          </p:cNvSpPr>
          <p:nvPr/>
        </p:nvSpPr>
        <p:spPr bwMode="auto">
          <a:xfrm>
            <a:off x="2759075" y="4310063"/>
            <a:ext cx="66675" cy="7461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1" name="Text Box 97"/>
          <p:cNvSpPr txBox="1">
            <a:spLocks noChangeArrowheads="1"/>
          </p:cNvSpPr>
          <p:nvPr/>
        </p:nvSpPr>
        <p:spPr bwMode="auto">
          <a:xfrm>
            <a:off x="2168525" y="4214813"/>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Z4</a:t>
            </a:r>
          </a:p>
        </p:txBody>
      </p:sp>
      <p:sp>
        <p:nvSpPr>
          <p:cNvPr id="31842" name="Text Box 98"/>
          <p:cNvSpPr txBox="1">
            <a:spLocks noChangeArrowheads="1"/>
          </p:cNvSpPr>
          <p:nvPr/>
        </p:nvSpPr>
        <p:spPr bwMode="auto">
          <a:xfrm>
            <a:off x="1716088" y="3813175"/>
            <a:ext cx="881973"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CB open</a:t>
            </a:r>
          </a:p>
        </p:txBody>
      </p:sp>
      <p:sp>
        <p:nvSpPr>
          <p:cNvPr id="31844" name="Text Box 100"/>
          <p:cNvSpPr txBox="1">
            <a:spLocks noChangeArrowheads="1"/>
          </p:cNvSpPr>
          <p:nvPr/>
        </p:nvSpPr>
        <p:spPr bwMode="auto">
          <a:xfrm flipH="1">
            <a:off x="6484938" y="3783013"/>
            <a:ext cx="322262"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1846" name="Line 102"/>
          <p:cNvSpPr>
            <a:spLocks noChangeShapeType="1"/>
          </p:cNvSpPr>
          <p:nvPr/>
        </p:nvSpPr>
        <p:spPr bwMode="auto">
          <a:xfrm flipH="1">
            <a:off x="6764338" y="3975100"/>
            <a:ext cx="3683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7" name="Line 103"/>
          <p:cNvSpPr>
            <a:spLocks noChangeShapeType="1"/>
          </p:cNvSpPr>
          <p:nvPr/>
        </p:nvSpPr>
        <p:spPr bwMode="auto">
          <a:xfrm flipH="1">
            <a:off x="5995988" y="4341813"/>
            <a:ext cx="2032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50" name="Line 106"/>
          <p:cNvSpPr>
            <a:spLocks noChangeShapeType="1"/>
          </p:cNvSpPr>
          <p:nvPr/>
        </p:nvSpPr>
        <p:spPr bwMode="auto">
          <a:xfrm flipH="1">
            <a:off x="5145088" y="4291013"/>
            <a:ext cx="406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51" name="Line 107"/>
          <p:cNvSpPr>
            <a:spLocks noChangeShapeType="1"/>
          </p:cNvSpPr>
          <p:nvPr/>
        </p:nvSpPr>
        <p:spPr bwMode="auto">
          <a:xfrm flipH="1" flipV="1">
            <a:off x="6199188" y="3927475"/>
            <a:ext cx="0" cy="428625"/>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52" name="Line 108"/>
          <p:cNvSpPr>
            <a:spLocks noChangeShapeType="1"/>
          </p:cNvSpPr>
          <p:nvPr/>
        </p:nvSpPr>
        <p:spPr bwMode="auto">
          <a:xfrm>
            <a:off x="6186488" y="3927475"/>
            <a:ext cx="3000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56" name="Line 112"/>
          <p:cNvSpPr>
            <a:spLocks noChangeShapeType="1"/>
          </p:cNvSpPr>
          <p:nvPr/>
        </p:nvSpPr>
        <p:spPr bwMode="auto">
          <a:xfrm flipH="1" flipV="1">
            <a:off x="6872288" y="4543425"/>
            <a:ext cx="0" cy="13335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57" name="Line 113"/>
          <p:cNvSpPr>
            <a:spLocks noChangeShapeType="1"/>
          </p:cNvSpPr>
          <p:nvPr/>
        </p:nvSpPr>
        <p:spPr bwMode="auto">
          <a:xfrm flipH="1">
            <a:off x="6008688" y="4551363"/>
            <a:ext cx="876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62" name="Oval 118"/>
          <p:cNvSpPr>
            <a:spLocks noChangeArrowheads="1"/>
          </p:cNvSpPr>
          <p:nvPr/>
        </p:nvSpPr>
        <p:spPr bwMode="auto">
          <a:xfrm flipH="1">
            <a:off x="6975475" y="4210050"/>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64" name="Line 120"/>
          <p:cNvSpPr>
            <a:spLocks noChangeShapeType="1"/>
          </p:cNvSpPr>
          <p:nvPr/>
        </p:nvSpPr>
        <p:spPr bwMode="auto">
          <a:xfrm flipH="1">
            <a:off x="6773863" y="3870325"/>
            <a:ext cx="23495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65" name="Oval 121"/>
          <p:cNvSpPr>
            <a:spLocks noChangeArrowheads="1"/>
          </p:cNvSpPr>
          <p:nvPr/>
        </p:nvSpPr>
        <p:spPr bwMode="auto">
          <a:xfrm flipH="1">
            <a:off x="6977063" y="383222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67" name="Line 123"/>
          <p:cNvSpPr>
            <a:spLocks noChangeShapeType="1"/>
          </p:cNvSpPr>
          <p:nvPr/>
        </p:nvSpPr>
        <p:spPr bwMode="auto">
          <a:xfrm flipH="1">
            <a:off x="6799263" y="4352925"/>
            <a:ext cx="3349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69" name="Text Box 125"/>
          <p:cNvSpPr txBox="1">
            <a:spLocks noChangeArrowheads="1"/>
          </p:cNvSpPr>
          <p:nvPr/>
        </p:nvSpPr>
        <p:spPr bwMode="auto">
          <a:xfrm flipH="1">
            <a:off x="7119938" y="4214813"/>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Z4</a:t>
            </a:r>
          </a:p>
        </p:txBody>
      </p:sp>
      <p:sp>
        <p:nvSpPr>
          <p:cNvPr id="31870" name="Text Box 126"/>
          <p:cNvSpPr txBox="1">
            <a:spLocks noChangeArrowheads="1"/>
          </p:cNvSpPr>
          <p:nvPr/>
        </p:nvSpPr>
        <p:spPr bwMode="auto">
          <a:xfrm flipH="1">
            <a:off x="7096125" y="3827463"/>
            <a:ext cx="881973"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CB open</a:t>
            </a:r>
          </a:p>
        </p:txBody>
      </p:sp>
      <p:grpSp>
        <p:nvGrpSpPr>
          <p:cNvPr id="31878" name="Group 134"/>
          <p:cNvGrpSpPr>
            <a:grpSpLocks/>
          </p:cNvGrpSpPr>
          <p:nvPr/>
        </p:nvGrpSpPr>
        <p:grpSpPr bwMode="auto">
          <a:xfrm flipH="1">
            <a:off x="5827713" y="5176838"/>
            <a:ext cx="660400" cy="209550"/>
            <a:chOff x="2760" y="2824"/>
            <a:chExt cx="468" cy="132"/>
          </a:xfrm>
        </p:grpSpPr>
        <p:sp>
          <p:nvSpPr>
            <p:cNvPr id="31879" name="Line 135"/>
            <p:cNvSpPr>
              <a:spLocks noChangeShapeType="1"/>
            </p:cNvSpPr>
            <p:nvPr/>
          </p:nvSpPr>
          <p:spPr bwMode="auto">
            <a:xfrm>
              <a:off x="2760" y="2828"/>
              <a:ext cx="1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80" name="Line 136"/>
            <p:cNvSpPr>
              <a:spLocks noChangeShapeType="1"/>
            </p:cNvSpPr>
            <p:nvPr/>
          </p:nvSpPr>
          <p:spPr bwMode="auto">
            <a:xfrm flipH="1">
              <a:off x="2896" y="2952"/>
              <a:ext cx="3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81" name="Line 137"/>
            <p:cNvSpPr>
              <a:spLocks noChangeShapeType="1"/>
            </p:cNvSpPr>
            <p:nvPr/>
          </p:nvSpPr>
          <p:spPr bwMode="auto">
            <a:xfrm flipV="1">
              <a:off x="2896" y="2824"/>
              <a:ext cx="0" cy="1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1887" name="Text Box 143"/>
          <p:cNvSpPr txBox="1">
            <a:spLocks noChangeArrowheads="1"/>
          </p:cNvSpPr>
          <p:nvPr/>
        </p:nvSpPr>
        <p:spPr bwMode="auto">
          <a:xfrm>
            <a:off x="362289" y="2216348"/>
            <a:ext cx="3055645" cy="954107"/>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Send Logic : Z2</a:t>
            </a:r>
          </a:p>
          <a:p>
            <a:r>
              <a:rPr lang="en-GB" altLang="en-US" dirty="0"/>
              <a:t>Trip Logic : Rx + Z2</a:t>
            </a:r>
          </a:p>
          <a:p>
            <a:r>
              <a:rPr lang="en-GB" altLang="en-US" dirty="0"/>
              <a:t>Open terminal echo : CB Open + Rx</a:t>
            </a:r>
          </a:p>
          <a:p>
            <a:r>
              <a:rPr lang="en-GB" altLang="en-US" dirty="0"/>
              <a:t>Weak Infeed echo : </a:t>
            </a:r>
            <a:r>
              <a:rPr lang="en-GB" altLang="en-US" u="sng" dirty="0"/>
              <a:t>Z4</a:t>
            </a:r>
            <a:r>
              <a:rPr lang="en-GB" altLang="en-US" dirty="0"/>
              <a:t> + Rx</a:t>
            </a:r>
          </a:p>
        </p:txBody>
      </p:sp>
      <p:sp>
        <p:nvSpPr>
          <p:cNvPr id="33004" name="Rectangle 1260"/>
          <p:cNvSpPr>
            <a:spLocks noGrp="1" noChangeArrowheads="1"/>
          </p:cNvSpPr>
          <p:nvPr>
            <p:ph type="title"/>
          </p:nvPr>
        </p:nvSpPr>
        <p:spPr>
          <a:xfrm>
            <a:off x="167701" y="293689"/>
            <a:ext cx="9046723" cy="620712"/>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a:t>Permissive Overreach Scheme </a:t>
            </a:r>
            <a:br>
              <a:rPr lang="en-GB" altLang="en-US" sz="3600" dirty="0"/>
            </a:br>
            <a:r>
              <a:rPr lang="en-GB" altLang="en-US" sz="3600" dirty="0"/>
              <a:t>(WI Echo Logic)</a:t>
            </a:r>
          </a:p>
        </p:txBody>
      </p:sp>
      <p:grpSp>
        <p:nvGrpSpPr>
          <p:cNvPr id="31926" name="Group 182"/>
          <p:cNvGrpSpPr>
            <a:grpSpLocks/>
          </p:cNvGrpSpPr>
          <p:nvPr/>
        </p:nvGrpSpPr>
        <p:grpSpPr bwMode="auto">
          <a:xfrm>
            <a:off x="2468563" y="3584575"/>
            <a:ext cx="4552950" cy="2295525"/>
            <a:chOff x="2021" y="2075"/>
            <a:chExt cx="2868" cy="1446"/>
          </a:xfrm>
        </p:grpSpPr>
        <p:sp>
          <p:nvSpPr>
            <p:cNvPr id="31776" name="Line 32"/>
            <p:cNvSpPr>
              <a:spLocks noChangeShapeType="1"/>
            </p:cNvSpPr>
            <p:nvPr/>
          </p:nvSpPr>
          <p:spPr bwMode="auto">
            <a:xfrm>
              <a:off x="2181" y="3521"/>
              <a:ext cx="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87" name="Line 43"/>
            <p:cNvSpPr>
              <a:spLocks noChangeShapeType="1"/>
            </p:cNvSpPr>
            <p:nvPr/>
          </p:nvSpPr>
          <p:spPr bwMode="auto">
            <a:xfrm>
              <a:off x="2101" y="3050"/>
              <a:ext cx="15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89" name="Line 45"/>
            <p:cNvSpPr>
              <a:spLocks noChangeShapeType="1"/>
            </p:cNvSpPr>
            <p:nvPr/>
          </p:nvSpPr>
          <p:spPr bwMode="auto">
            <a:xfrm>
              <a:off x="2021" y="3521"/>
              <a:ext cx="16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90" name="Line 46"/>
            <p:cNvSpPr>
              <a:spLocks noChangeShapeType="1"/>
            </p:cNvSpPr>
            <p:nvPr/>
          </p:nvSpPr>
          <p:spPr bwMode="auto">
            <a:xfrm>
              <a:off x="2188" y="3143"/>
              <a:ext cx="6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10" name="Line 66"/>
            <p:cNvSpPr>
              <a:spLocks noChangeShapeType="1"/>
            </p:cNvSpPr>
            <p:nvPr/>
          </p:nvSpPr>
          <p:spPr bwMode="auto">
            <a:xfrm flipH="1">
              <a:off x="4749" y="3050"/>
              <a:ext cx="13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21" name="Line 77"/>
            <p:cNvSpPr>
              <a:spLocks noChangeShapeType="1"/>
            </p:cNvSpPr>
            <p:nvPr/>
          </p:nvSpPr>
          <p:spPr bwMode="auto">
            <a:xfrm>
              <a:off x="2932" y="2454"/>
              <a:ext cx="1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28" name="Line 84"/>
            <p:cNvSpPr>
              <a:spLocks noChangeShapeType="1"/>
            </p:cNvSpPr>
            <p:nvPr/>
          </p:nvSpPr>
          <p:spPr bwMode="auto">
            <a:xfrm flipV="1">
              <a:off x="2190" y="2679"/>
              <a:ext cx="0" cy="8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29" name="Line 85"/>
            <p:cNvSpPr>
              <a:spLocks noChangeShapeType="1"/>
            </p:cNvSpPr>
            <p:nvPr/>
          </p:nvSpPr>
          <p:spPr bwMode="auto">
            <a:xfrm>
              <a:off x="2182" y="2684"/>
              <a:ext cx="5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30" name="Line 86"/>
            <p:cNvSpPr>
              <a:spLocks noChangeShapeType="1"/>
            </p:cNvSpPr>
            <p:nvPr/>
          </p:nvSpPr>
          <p:spPr bwMode="auto">
            <a:xfrm flipV="1">
              <a:off x="2103" y="2078"/>
              <a:ext cx="0" cy="9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31" name="Line 87"/>
            <p:cNvSpPr>
              <a:spLocks noChangeShapeType="1"/>
            </p:cNvSpPr>
            <p:nvPr/>
          </p:nvSpPr>
          <p:spPr bwMode="auto">
            <a:xfrm>
              <a:off x="2096" y="2075"/>
              <a:ext cx="8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32" name="Line 88"/>
            <p:cNvSpPr>
              <a:spLocks noChangeShapeType="1"/>
            </p:cNvSpPr>
            <p:nvPr/>
          </p:nvSpPr>
          <p:spPr bwMode="auto">
            <a:xfrm>
              <a:off x="2932" y="2075"/>
              <a:ext cx="0" cy="3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33" name="Line 89"/>
            <p:cNvSpPr>
              <a:spLocks noChangeShapeType="1"/>
            </p:cNvSpPr>
            <p:nvPr/>
          </p:nvSpPr>
          <p:spPr bwMode="auto">
            <a:xfrm>
              <a:off x="2100" y="2492"/>
              <a:ext cx="1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3" name="Line 99"/>
            <p:cNvSpPr>
              <a:spLocks noChangeShapeType="1"/>
            </p:cNvSpPr>
            <p:nvPr/>
          </p:nvSpPr>
          <p:spPr bwMode="auto">
            <a:xfrm>
              <a:off x="2900" y="2599"/>
              <a:ext cx="15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9" name="Line 105"/>
            <p:cNvSpPr>
              <a:spLocks noChangeShapeType="1"/>
            </p:cNvSpPr>
            <p:nvPr/>
          </p:nvSpPr>
          <p:spPr bwMode="auto">
            <a:xfrm flipH="1">
              <a:off x="3967" y="2454"/>
              <a:ext cx="8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53" name="Line 109"/>
            <p:cNvSpPr>
              <a:spLocks noChangeShapeType="1"/>
            </p:cNvSpPr>
            <p:nvPr/>
          </p:nvSpPr>
          <p:spPr bwMode="auto">
            <a:xfrm flipH="1">
              <a:off x="4467" y="2534"/>
              <a:ext cx="8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54" name="Line 110"/>
            <p:cNvSpPr>
              <a:spLocks noChangeShapeType="1"/>
            </p:cNvSpPr>
            <p:nvPr/>
          </p:nvSpPr>
          <p:spPr bwMode="auto">
            <a:xfrm flipH="1">
              <a:off x="4464" y="2525"/>
              <a:ext cx="0" cy="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55" name="Line 111"/>
            <p:cNvSpPr>
              <a:spLocks noChangeShapeType="1"/>
            </p:cNvSpPr>
            <p:nvPr/>
          </p:nvSpPr>
          <p:spPr bwMode="auto">
            <a:xfrm flipH="1">
              <a:off x="4253" y="2624"/>
              <a:ext cx="21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58" name="Line 114"/>
            <p:cNvSpPr>
              <a:spLocks noChangeShapeType="1"/>
            </p:cNvSpPr>
            <p:nvPr/>
          </p:nvSpPr>
          <p:spPr bwMode="auto">
            <a:xfrm flipH="1" flipV="1">
              <a:off x="4882" y="2078"/>
              <a:ext cx="0" cy="9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59" name="Line 115"/>
            <p:cNvSpPr>
              <a:spLocks noChangeShapeType="1"/>
            </p:cNvSpPr>
            <p:nvPr/>
          </p:nvSpPr>
          <p:spPr bwMode="auto">
            <a:xfrm flipH="1">
              <a:off x="4045" y="2075"/>
              <a:ext cx="8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60" name="Line 116"/>
            <p:cNvSpPr>
              <a:spLocks noChangeShapeType="1"/>
            </p:cNvSpPr>
            <p:nvPr/>
          </p:nvSpPr>
          <p:spPr bwMode="auto">
            <a:xfrm flipH="1">
              <a:off x="4053" y="2075"/>
              <a:ext cx="0" cy="3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61" name="Line 117"/>
            <p:cNvSpPr>
              <a:spLocks noChangeShapeType="1"/>
            </p:cNvSpPr>
            <p:nvPr/>
          </p:nvSpPr>
          <p:spPr bwMode="auto">
            <a:xfrm flipH="1">
              <a:off x="4751" y="2492"/>
              <a:ext cx="1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71" name="Line 127"/>
            <p:cNvSpPr>
              <a:spLocks noChangeShapeType="1"/>
            </p:cNvSpPr>
            <p:nvPr/>
          </p:nvSpPr>
          <p:spPr bwMode="auto">
            <a:xfrm flipH="1">
              <a:off x="3959" y="2599"/>
              <a:ext cx="1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72" name="Line 128"/>
            <p:cNvSpPr>
              <a:spLocks noChangeShapeType="1"/>
            </p:cNvSpPr>
            <p:nvPr/>
          </p:nvSpPr>
          <p:spPr bwMode="auto">
            <a:xfrm>
              <a:off x="3334" y="2446"/>
              <a:ext cx="369" cy="15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73" name="Line 129"/>
            <p:cNvSpPr>
              <a:spLocks noChangeShapeType="1"/>
            </p:cNvSpPr>
            <p:nvPr/>
          </p:nvSpPr>
          <p:spPr bwMode="auto">
            <a:xfrm flipH="1">
              <a:off x="3330" y="2444"/>
              <a:ext cx="366" cy="153"/>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75" name="Line 131"/>
            <p:cNvSpPr>
              <a:spLocks noChangeShapeType="1"/>
            </p:cNvSpPr>
            <p:nvPr/>
          </p:nvSpPr>
          <p:spPr bwMode="auto">
            <a:xfrm>
              <a:off x="2458" y="3094"/>
              <a:ext cx="10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76" name="Line 132"/>
            <p:cNvSpPr>
              <a:spLocks noChangeShapeType="1"/>
            </p:cNvSpPr>
            <p:nvPr/>
          </p:nvSpPr>
          <p:spPr bwMode="auto">
            <a:xfrm flipH="1">
              <a:off x="2555" y="3218"/>
              <a:ext cx="29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77" name="Line 133"/>
            <p:cNvSpPr>
              <a:spLocks noChangeShapeType="1"/>
            </p:cNvSpPr>
            <p:nvPr/>
          </p:nvSpPr>
          <p:spPr bwMode="auto">
            <a:xfrm flipV="1">
              <a:off x="2555" y="3090"/>
              <a:ext cx="0" cy="1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25" name="Line 181"/>
            <p:cNvSpPr>
              <a:spLocks noChangeShapeType="1"/>
            </p:cNvSpPr>
            <p:nvPr/>
          </p:nvSpPr>
          <p:spPr bwMode="auto">
            <a:xfrm>
              <a:off x="3017" y="3293"/>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1927" name="Group 183"/>
          <p:cNvGrpSpPr>
            <a:grpSpLocks/>
          </p:cNvGrpSpPr>
          <p:nvPr/>
        </p:nvGrpSpPr>
        <p:grpSpPr bwMode="auto">
          <a:xfrm>
            <a:off x="2468563" y="3584575"/>
            <a:ext cx="4552950" cy="2295525"/>
            <a:chOff x="2021" y="2075"/>
            <a:chExt cx="2868" cy="1446"/>
          </a:xfrm>
        </p:grpSpPr>
        <p:sp>
          <p:nvSpPr>
            <p:cNvPr id="31928" name="Line 184"/>
            <p:cNvSpPr>
              <a:spLocks noChangeShapeType="1"/>
            </p:cNvSpPr>
            <p:nvPr/>
          </p:nvSpPr>
          <p:spPr bwMode="auto">
            <a:xfrm>
              <a:off x="2181" y="3521"/>
              <a:ext cx="7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29" name="Line 185"/>
            <p:cNvSpPr>
              <a:spLocks noChangeShapeType="1"/>
            </p:cNvSpPr>
            <p:nvPr/>
          </p:nvSpPr>
          <p:spPr bwMode="auto">
            <a:xfrm>
              <a:off x="2101" y="3050"/>
              <a:ext cx="15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30" name="Line 186"/>
            <p:cNvSpPr>
              <a:spLocks noChangeShapeType="1"/>
            </p:cNvSpPr>
            <p:nvPr/>
          </p:nvSpPr>
          <p:spPr bwMode="auto">
            <a:xfrm>
              <a:off x="2021" y="3521"/>
              <a:ext cx="16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31" name="Line 187"/>
            <p:cNvSpPr>
              <a:spLocks noChangeShapeType="1"/>
            </p:cNvSpPr>
            <p:nvPr/>
          </p:nvSpPr>
          <p:spPr bwMode="auto">
            <a:xfrm>
              <a:off x="2188" y="3143"/>
              <a:ext cx="6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32" name="Line 188"/>
            <p:cNvSpPr>
              <a:spLocks noChangeShapeType="1"/>
            </p:cNvSpPr>
            <p:nvPr/>
          </p:nvSpPr>
          <p:spPr bwMode="auto">
            <a:xfrm flipH="1">
              <a:off x="4749" y="3050"/>
              <a:ext cx="13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33" name="Line 189"/>
            <p:cNvSpPr>
              <a:spLocks noChangeShapeType="1"/>
            </p:cNvSpPr>
            <p:nvPr/>
          </p:nvSpPr>
          <p:spPr bwMode="auto">
            <a:xfrm>
              <a:off x="2932" y="2454"/>
              <a:ext cx="12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34" name="Line 190"/>
            <p:cNvSpPr>
              <a:spLocks noChangeShapeType="1"/>
            </p:cNvSpPr>
            <p:nvPr/>
          </p:nvSpPr>
          <p:spPr bwMode="auto">
            <a:xfrm flipV="1">
              <a:off x="2190" y="2679"/>
              <a:ext cx="0" cy="84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35" name="Line 191"/>
            <p:cNvSpPr>
              <a:spLocks noChangeShapeType="1"/>
            </p:cNvSpPr>
            <p:nvPr/>
          </p:nvSpPr>
          <p:spPr bwMode="auto">
            <a:xfrm>
              <a:off x="2182" y="2684"/>
              <a:ext cx="55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36" name="Line 192"/>
            <p:cNvSpPr>
              <a:spLocks noChangeShapeType="1"/>
            </p:cNvSpPr>
            <p:nvPr/>
          </p:nvSpPr>
          <p:spPr bwMode="auto">
            <a:xfrm flipV="1">
              <a:off x="2103" y="2078"/>
              <a:ext cx="0" cy="97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37" name="Line 193"/>
            <p:cNvSpPr>
              <a:spLocks noChangeShapeType="1"/>
            </p:cNvSpPr>
            <p:nvPr/>
          </p:nvSpPr>
          <p:spPr bwMode="auto">
            <a:xfrm>
              <a:off x="2096" y="2075"/>
              <a:ext cx="84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38" name="Line 194"/>
            <p:cNvSpPr>
              <a:spLocks noChangeShapeType="1"/>
            </p:cNvSpPr>
            <p:nvPr/>
          </p:nvSpPr>
          <p:spPr bwMode="auto">
            <a:xfrm>
              <a:off x="2932" y="2075"/>
              <a:ext cx="0" cy="38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39" name="Line 195"/>
            <p:cNvSpPr>
              <a:spLocks noChangeShapeType="1"/>
            </p:cNvSpPr>
            <p:nvPr/>
          </p:nvSpPr>
          <p:spPr bwMode="auto">
            <a:xfrm>
              <a:off x="2100" y="2492"/>
              <a:ext cx="15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40" name="Line 196"/>
            <p:cNvSpPr>
              <a:spLocks noChangeShapeType="1"/>
            </p:cNvSpPr>
            <p:nvPr/>
          </p:nvSpPr>
          <p:spPr bwMode="auto">
            <a:xfrm>
              <a:off x="2900" y="2599"/>
              <a:ext cx="15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41" name="Line 197"/>
            <p:cNvSpPr>
              <a:spLocks noChangeShapeType="1"/>
            </p:cNvSpPr>
            <p:nvPr/>
          </p:nvSpPr>
          <p:spPr bwMode="auto">
            <a:xfrm flipH="1">
              <a:off x="3967" y="2454"/>
              <a:ext cx="8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42" name="Line 198"/>
            <p:cNvSpPr>
              <a:spLocks noChangeShapeType="1"/>
            </p:cNvSpPr>
            <p:nvPr/>
          </p:nvSpPr>
          <p:spPr bwMode="auto">
            <a:xfrm flipH="1">
              <a:off x="4467" y="2534"/>
              <a:ext cx="8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43" name="Line 199"/>
            <p:cNvSpPr>
              <a:spLocks noChangeShapeType="1"/>
            </p:cNvSpPr>
            <p:nvPr/>
          </p:nvSpPr>
          <p:spPr bwMode="auto">
            <a:xfrm flipH="1">
              <a:off x="4464" y="2525"/>
              <a:ext cx="0" cy="99"/>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44" name="Line 200"/>
            <p:cNvSpPr>
              <a:spLocks noChangeShapeType="1"/>
            </p:cNvSpPr>
            <p:nvPr/>
          </p:nvSpPr>
          <p:spPr bwMode="auto">
            <a:xfrm flipH="1">
              <a:off x="4253" y="2624"/>
              <a:ext cx="21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45" name="Line 201"/>
            <p:cNvSpPr>
              <a:spLocks noChangeShapeType="1"/>
            </p:cNvSpPr>
            <p:nvPr/>
          </p:nvSpPr>
          <p:spPr bwMode="auto">
            <a:xfrm flipH="1" flipV="1">
              <a:off x="4882" y="2078"/>
              <a:ext cx="0" cy="97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46" name="Line 202"/>
            <p:cNvSpPr>
              <a:spLocks noChangeShapeType="1"/>
            </p:cNvSpPr>
            <p:nvPr/>
          </p:nvSpPr>
          <p:spPr bwMode="auto">
            <a:xfrm flipH="1">
              <a:off x="4045" y="2075"/>
              <a:ext cx="84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47" name="Line 203"/>
            <p:cNvSpPr>
              <a:spLocks noChangeShapeType="1"/>
            </p:cNvSpPr>
            <p:nvPr/>
          </p:nvSpPr>
          <p:spPr bwMode="auto">
            <a:xfrm flipH="1">
              <a:off x="4053" y="2075"/>
              <a:ext cx="0" cy="38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48" name="Line 204"/>
            <p:cNvSpPr>
              <a:spLocks noChangeShapeType="1"/>
            </p:cNvSpPr>
            <p:nvPr/>
          </p:nvSpPr>
          <p:spPr bwMode="auto">
            <a:xfrm flipH="1">
              <a:off x="4751" y="2492"/>
              <a:ext cx="13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49" name="Line 205"/>
            <p:cNvSpPr>
              <a:spLocks noChangeShapeType="1"/>
            </p:cNvSpPr>
            <p:nvPr/>
          </p:nvSpPr>
          <p:spPr bwMode="auto">
            <a:xfrm flipH="1">
              <a:off x="3959" y="2599"/>
              <a:ext cx="12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0" name="Line 206"/>
            <p:cNvSpPr>
              <a:spLocks noChangeShapeType="1"/>
            </p:cNvSpPr>
            <p:nvPr/>
          </p:nvSpPr>
          <p:spPr bwMode="auto">
            <a:xfrm>
              <a:off x="3334" y="2446"/>
              <a:ext cx="369" cy="150"/>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1" name="Line 207"/>
            <p:cNvSpPr>
              <a:spLocks noChangeShapeType="1"/>
            </p:cNvSpPr>
            <p:nvPr/>
          </p:nvSpPr>
          <p:spPr bwMode="auto">
            <a:xfrm flipH="1">
              <a:off x="3330" y="2444"/>
              <a:ext cx="366" cy="153"/>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2" name="Line 208"/>
            <p:cNvSpPr>
              <a:spLocks noChangeShapeType="1"/>
            </p:cNvSpPr>
            <p:nvPr/>
          </p:nvSpPr>
          <p:spPr bwMode="auto">
            <a:xfrm>
              <a:off x="2458" y="3094"/>
              <a:ext cx="10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3" name="Line 209"/>
            <p:cNvSpPr>
              <a:spLocks noChangeShapeType="1"/>
            </p:cNvSpPr>
            <p:nvPr/>
          </p:nvSpPr>
          <p:spPr bwMode="auto">
            <a:xfrm flipH="1">
              <a:off x="2555" y="3218"/>
              <a:ext cx="29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4" name="Line 210"/>
            <p:cNvSpPr>
              <a:spLocks noChangeShapeType="1"/>
            </p:cNvSpPr>
            <p:nvPr/>
          </p:nvSpPr>
          <p:spPr bwMode="auto">
            <a:xfrm flipV="1">
              <a:off x="2555" y="3090"/>
              <a:ext cx="0" cy="13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5" name="Line 211"/>
            <p:cNvSpPr>
              <a:spLocks noChangeShapeType="1"/>
            </p:cNvSpPr>
            <p:nvPr/>
          </p:nvSpPr>
          <p:spPr bwMode="auto">
            <a:xfrm>
              <a:off x="3017" y="3293"/>
              <a:ext cx="96"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1889" name="Text Box 145"/>
          <p:cNvSpPr txBox="1">
            <a:spLocks noChangeArrowheads="1"/>
          </p:cNvSpPr>
          <p:nvPr/>
        </p:nvSpPr>
        <p:spPr bwMode="auto">
          <a:xfrm>
            <a:off x="3605213" y="4302125"/>
            <a:ext cx="296862"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1</a:t>
            </a:r>
            <a:endParaRPr lang="en-GB" altLang="en-US" sz="1200" i="0">
              <a:solidFill>
                <a:schemeClr val="tx1"/>
              </a:solidFill>
            </a:endParaRPr>
          </a:p>
        </p:txBody>
      </p:sp>
      <p:sp>
        <p:nvSpPr>
          <p:cNvPr id="31786" name="Text Box 42"/>
          <p:cNvSpPr txBox="1">
            <a:spLocks noChangeArrowheads="1"/>
          </p:cNvSpPr>
          <p:nvPr/>
        </p:nvSpPr>
        <p:spPr bwMode="auto">
          <a:xfrm>
            <a:off x="2838450" y="5054600"/>
            <a:ext cx="322263"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1809" name="Text Box 65"/>
          <p:cNvSpPr txBox="1">
            <a:spLocks noChangeArrowheads="1"/>
          </p:cNvSpPr>
          <p:nvPr/>
        </p:nvSpPr>
        <p:spPr bwMode="auto">
          <a:xfrm flipH="1">
            <a:off x="6484938" y="5054600"/>
            <a:ext cx="322262"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1817" name="Text Box 73"/>
          <p:cNvSpPr txBox="1">
            <a:spLocks noChangeArrowheads="1"/>
          </p:cNvSpPr>
          <p:nvPr/>
        </p:nvSpPr>
        <p:spPr bwMode="auto">
          <a:xfrm>
            <a:off x="2838450" y="4164013"/>
            <a:ext cx="322263"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1820" name="Text Box 76"/>
          <p:cNvSpPr txBox="1">
            <a:spLocks noChangeArrowheads="1"/>
          </p:cNvSpPr>
          <p:nvPr/>
        </p:nvSpPr>
        <p:spPr bwMode="auto">
          <a:xfrm>
            <a:off x="4108450" y="4041775"/>
            <a:ext cx="447675"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31845" name="Text Box 101"/>
          <p:cNvSpPr txBox="1">
            <a:spLocks noChangeArrowheads="1"/>
          </p:cNvSpPr>
          <p:nvPr/>
        </p:nvSpPr>
        <p:spPr bwMode="auto">
          <a:xfrm flipH="1">
            <a:off x="6484938" y="4164013"/>
            <a:ext cx="322262"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1848" name="Text Box 104"/>
          <p:cNvSpPr txBox="1">
            <a:spLocks noChangeArrowheads="1"/>
          </p:cNvSpPr>
          <p:nvPr/>
        </p:nvSpPr>
        <p:spPr bwMode="auto">
          <a:xfrm flipH="1">
            <a:off x="5138738" y="4041775"/>
            <a:ext cx="419100"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31883" name="Text Box 139"/>
          <p:cNvSpPr txBox="1">
            <a:spLocks noChangeArrowheads="1"/>
          </p:cNvSpPr>
          <p:nvPr/>
        </p:nvSpPr>
        <p:spPr bwMode="auto">
          <a:xfrm>
            <a:off x="3781425" y="5180013"/>
            <a:ext cx="258763"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sp>
        <p:nvSpPr>
          <p:cNvPr id="31884" name="Text Box 140"/>
          <p:cNvSpPr txBox="1">
            <a:spLocks noChangeArrowheads="1"/>
          </p:cNvSpPr>
          <p:nvPr/>
        </p:nvSpPr>
        <p:spPr bwMode="auto">
          <a:xfrm flipH="1">
            <a:off x="5572125" y="5180013"/>
            <a:ext cx="258763"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sp>
        <p:nvSpPr>
          <p:cNvPr id="31885" name="Text Box 141"/>
          <p:cNvSpPr txBox="1">
            <a:spLocks noChangeArrowheads="1"/>
          </p:cNvSpPr>
          <p:nvPr/>
        </p:nvSpPr>
        <p:spPr bwMode="auto">
          <a:xfrm flipH="1">
            <a:off x="5740400" y="4302125"/>
            <a:ext cx="296863"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1</a:t>
            </a:r>
            <a:endParaRPr lang="en-GB" altLang="en-US" sz="1200" i="0">
              <a:solidFill>
                <a:schemeClr val="tx1"/>
              </a:solidFill>
            </a:endParaRPr>
          </a:p>
        </p:txBody>
      </p:sp>
      <p:sp>
        <p:nvSpPr>
          <p:cNvPr id="31868" name="Oval 124"/>
          <p:cNvSpPr>
            <a:spLocks noChangeArrowheads="1"/>
          </p:cNvSpPr>
          <p:nvPr/>
        </p:nvSpPr>
        <p:spPr bwMode="auto">
          <a:xfrm flipH="1">
            <a:off x="6783388" y="4310063"/>
            <a:ext cx="66675" cy="7461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2975" name="Group 1231"/>
          <p:cNvGrpSpPr>
            <a:grpSpLocks/>
          </p:cNvGrpSpPr>
          <p:nvPr/>
        </p:nvGrpSpPr>
        <p:grpSpPr bwMode="auto">
          <a:xfrm>
            <a:off x="3763963" y="1874838"/>
            <a:ext cx="2352675" cy="392112"/>
            <a:chOff x="666" y="981"/>
            <a:chExt cx="2100" cy="312"/>
          </a:xfrm>
        </p:grpSpPr>
        <p:sp>
          <p:nvSpPr>
            <p:cNvPr id="32976" name="Line 1232"/>
            <p:cNvSpPr>
              <a:spLocks noChangeShapeType="1"/>
            </p:cNvSpPr>
            <p:nvPr/>
          </p:nvSpPr>
          <p:spPr bwMode="auto">
            <a:xfrm flipV="1">
              <a:off x="666" y="1137"/>
              <a:ext cx="21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77" name="Line 1233"/>
            <p:cNvSpPr>
              <a:spLocks noChangeShapeType="1"/>
            </p:cNvSpPr>
            <p:nvPr/>
          </p:nvSpPr>
          <p:spPr bwMode="auto">
            <a:xfrm>
              <a:off x="250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78" name="Line 1234"/>
            <p:cNvSpPr>
              <a:spLocks noChangeShapeType="1"/>
            </p:cNvSpPr>
            <p:nvPr/>
          </p:nvSpPr>
          <p:spPr bwMode="auto">
            <a:xfrm>
              <a:off x="2130"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79" name="Line 1235"/>
            <p:cNvSpPr>
              <a:spLocks noChangeShapeType="1"/>
            </p:cNvSpPr>
            <p:nvPr/>
          </p:nvSpPr>
          <p:spPr bwMode="auto">
            <a:xfrm>
              <a:off x="121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80" name="Line 1236"/>
            <p:cNvSpPr>
              <a:spLocks noChangeShapeType="1"/>
            </p:cNvSpPr>
            <p:nvPr/>
          </p:nvSpPr>
          <p:spPr bwMode="auto">
            <a:xfrm>
              <a:off x="846"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2981" name="Group 1237"/>
            <p:cNvGrpSpPr>
              <a:grpSpLocks/>
            </p:cNvGrpSpPr>
            <p:nvPr/>
          </p:nvGrpSpPr>
          <p:grpSpPr bwMode="auto">
            <a:xfrm>
              <a:off x="1271" y="1094"/>
              <a:ext cx="84" cy="87"/>
              <a:chOff x="2636" y="2286"/>
              <a:chExt cx="33" cy="34"/>
            </a:xfrm>
          </p:grpSpPr>
          <p:sp>
            <p:nvSpPr>
              <p:cNvPr id="32982" name="Line 1238"/>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83" name="Line 1239"/>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984" name="Group 1240"/>
            <p:cNvGrpSpPr>
              <a:grpSpLocks/>
            </p:cNvGrpSpPr>
            <p:nvPr/>
          </p:nvGrpSpPr>
          <p:grpSpPr bwMode="auto">
            <a:xfrm>
              <a:off x="1997" y="1093"/>
              <a:ext cx="84" cy="87"/>
              <a:chOff x="2636" y="2286"/>
              <a:chExt cx="33" cy="34"/>
            </a:xfrm>
          </p:grpSpPr>
          <p:sp>
            <p:nvSpPr>
              <p:cNvPr id="32985" name="Line 1241"/>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86" name="Line 1242"/>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32987" name="Line 1243"/>
          <p:cNvSpPr>
            <a:spLocks noChangeShapeType="1"/>
          </p:cNvSpPr>
          <p:nvPr/>
        </p:nvSpPr>
        <p:spPr bwMode="auto">
          <a:xfrm>
            <a:off x="4483100" y="1803400"/>
            <a:ext cx="644525"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88" name="Line 1244"/>
          <p:cNvSpPr>
            <a:spLocks noChangeShapeType="1"/>
          </p:cNvSpPr>
          <p:nvPr/>
        </p:nvSpPr>
        <p:spPr bwMode="auto">
          <a:xfrm>
            <a:off x="4691063" y="2346325"/>
            <a:ext cx="646112"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89" name="Line 1245"/>
          <p:cNvSpPr>
            <a:spLocks noChangeShapeType="1"/>
          </p:cNvSpPr>
          <p:nvPr/>
        </p:nvSpPr>
        <p:spPr bwMode="auto">
          <a:xfrm>
            <a:off x="4492625" y="1558925"/>
            <a:ext cx="1100138"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90" name="Line 1246"/>
          <p:cNvSpPr>
            <a:spLocks noChangeShapeType="1"/>
          </p:cNvSpPr>
          <p:nvPr/>
        </p:nvSpPr>
        <p:spPr bwMode="auto">
          <a:xfrm>
            <a:off x="5332413" y="2825750"/>
            <a:ext cx="881062"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91" name="Line 1247"/>
          <p:cNvSpPr>
            <a:spLocks noChangeShapeType="1"/>
          </p:cNvSpPr>
          <p:nvPr/>
        </p:nvSpPr>
        <p:spPr bwMode="auto">
          <a:xfrm>
            <a:off x="4186238" y="2586038"/>
            <a:ext cx="1146175"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92" name="Line 1248"/>
          <p:cNvSpPr>
            <a:spLocks noChangeShapeType="1"/>
          </p:cNvSpPr>
          <p:nvPr/>
        </p:nvSpPr>
        <p:spPr bwMode="auto">
          <a:xfrm>
            <a:off x="3579813" y="1354138"/>
            <a:ext cx="915987"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93" name="Text Box 1249"/>
          <p:cNvSpPr txBox="1">
            <a:spLocks noChangeArrowheads="1"/>
          </p:cNvSpPr>
          <p:nvPr/>
        </p:nvSpPr>
        <p:spPr bwMode="auto">
          <a:xfrm>
            <a:off x="6153104" y="2731834"/>
            <a:ext cx="304892"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GB"/>
            </a:defPPr>
            <a:lvl1pPr algn="l">
              <a:defRPr sz="1200" i="0"/>
            </a:lvl1pPr>
          </a:lstStyle>
          <a:p>
            <a:r>
              <a:rPr lang="en-GB" altLang="en-US" dirty="0"/>
              <a:t>Z4</a:t>
            </a:r>
          </a:p>
        </p:txBody>
      </p:sp>
      <p:sp>
        <p:nvSpPr>
          <p:cNvPr id="32994" name="Text Box 1250"/>
          <p:cNvSpPr txBox="1">
            <a:spLocks noChangeArrowheads="1"/>
          </p:cNvSpPr>
          <p:nvPr/>
        </p:nvSpPr>
        <p:spPr bwMode="auto">
          <a:xfrm>
            <a:off x="3271838" y="1227138"/>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Z4</a:t>
            </a:r>
            <a:endParaRPr lang="en-GB" altLang="en-US" b="0" i="0">
              <a:solidFill>
                <a:schemeClr val="tx1"/>
              </a:solidFill>
            </a:endParaRPr>
          </a:p>
        </p:txBody>
      </p:sp>
      <p:sp>
        <p:nvSpPr>
          <p:cNvPr id="32995" name="Text Box 1251"/>
          <p:cNvSpPr txBox="1">
            <a:spLocks noChangeArrowheads="1"/>
          </p:cNvSpPr>
          <p:nvPr/>
        </p:nvSpPr>
        <p:spPr bwMode="auto">
          <a:xfrm>
            <a:off x="5130800" y="1689100"/>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32996" name="Text Box 1252"/>
          <p:cNvSpPr txBox="1">
            <a:spLocks noChangeArrowheads="1"/>
          </p:cNvSpPr>
          <p:nvPr/>
        </p:nvSpPr>
        <p:spPr bwMode="auto">
          <a:xfrm>
            <a:off x="4427538" y="223202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32997" name="Text Box 1253"/>
          <p:cNvSpPr txBox="1">
            <a:spLocks noChangeArrowheads="1"/>
          </p:cNvSpPr>
          <p:nvPr/>
        </p:nvSpPr>
        <p:spPr bwMode="auto">
          <a:xfrm>
            <a:off x="5699125" y="1420813"/>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dirty="0">
                <a:solidFill>
                  <a:schemeClr val="tx1"/>
                </a:solidFill>
              </a:rPr>
              <a:t>Z2</a:t>
            </a:r>
            <a:endParaRPr lang="en-GB" altLang="en-US" b="0" i="0" dirty="0">
              <a:solidFill>
                <a:schemeClr val="tx1"/>
              </a:solidFill>
            </a:endParaRPr>
          </a:p>
        </p:txBody>
      </p:sp>
      <p:sp>
        <p:nvSpPr>
          <p:cNvPr id="32998" name="Text Box 1254"/>
          <p:cNvSpPr txBox="1">
            <a:spLocks noChangeArrowheads="1"/>
          </p:cNvSpPr>
          <p:nvPr/>
        </p:nvSpPr>
        <p:spPr bwMode="auto">
          <a:xfrm>
            <a:off x="3876675" y="2455863"/>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grpSp>
        <p:nvGrpSpPr>
          <p:cNvPr id="32999" name="Group 1255"/>
          <p:cNvGrpSpPr>
            <a:grpSpLocks/>
          </p:cNvGrpSpPr>
          <p:nvPr/>
        </p:nvGrpSpPr>
        <p:grpSpPr bwMode="auto">
          <a:xfrm>
            <a:off x="5118100" y="1922463"/>
            <a:ext cx="104775" cy="396875"/>
            <a:chOff x="5516" y="4124"/>
            <a:chExt cx="164" cy="544"/>
          </a:xfrm>
        </p:grpSpPr>
        <p:sp>
          <p:nvSpPr>
            <p:cNvPr id="33000" name="Line 1256"/>
            <p:cNvSpPr>
              <a:spLocks noChangeShapeType="1"/>
            </p:cNvSpPr>
            <p:nvPr/>
          </p:nvSpPr>
          <p:spPr bwMode="auto">
            <a:xfrm flipH="1">
              <a:off x="5516" y="4360"/>
              <a:ext cx="157" cy="308"/>
            </a:xfrm>
            <a:prstGeom prst="line">
              <a:avLst/>
            </a:prstGeom>
            <a:noFill/>
            <a:ln w="19050">
              <a:solidFill>
                <a:srgbClr val="FF0000"/>
              </a:solidFill>
              <a:round/>
              <a:headEnd type="none" w="med"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001" name="Line 1257"/>
            <p:cNvSpPr>
              <a:spLocks noChangeShapeType="1"/>
            </p:cNvSpPr>
            <p:nvPr/>
          </p:nvSpPr>
          <p:spPr bwMode="auto">
            <a:xfrm flipH="1">
              <a:off x="5516" y="4124"/>
              <a:ext cx="129" cy="259"/>
            </a:xfrm>
            <a:prstGeom prst="line">
              <a:avLst/>
            </a:prstGeom>
            <a:noFill/>
            <a:ln w="19050">
              <a:solidFill>
                <a:srgbClr val="FF00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002" name="Line 1258"/>
            <p:cNvSpPr>
              <a:spLocks noChangeShapeType="1"/>
            </p:cNvSpPr>
            <p:nvPr/>
          </p:nvSpPr>
          <p:spPr bwMode="auto">
            <a:xfrm>
              <a:off x="5524" y="4375"/>
              <a:ext cx="156" cy="0"/>
            </a:xfrm>
            <a:prstGeom prst="line">
              <a:avLst/>
            </a:prstGeom>
            <a:noFill/>
            <a:ln w="19050">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Tree>
    <p:extLst>
      <p:ext uri="{BB962C8B-B14F-4D97-AF65-F5344CB8AC3E}">
        <p14:creationId xmlns:p14="http://schemas.microsoft.com/office/powerpoint/2010/main" val="15028587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Line 2"/>
          <p:cNvSpPr>
            <a:spLocks noChangeShapeType="1"/>
          </p:cNvSpPr>
          <p:nvPr/>
        </p:nvSpPr>
        <p:spPr bwMode="auto">
          <a:xfrm flipH="1" flipV="1">
            <a:off x="3333750" y="4618038"/>
            <a:ext cx="0" cy="2349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1" name="Line 3"/>
          <p:cNvSpPr>
            <a:spLocks noChangeShapeType="1"/>
          </p:cNvSpPr>
          <p:nvPr/>
        </p:nvSpPr>
        <p:spPr bwMode="auto">
          <a:xfrm flipH="1" flipV="1">
            <a:off x="7747000" y="4618038"/>
            <a:ext cx="0" cy="2349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2774" name="Group 6"/>
          <p:cNvGrpSpPr>
            <a:grpSpLocks/>
          </p:cNvGrpSpPr>
          <p:nvPr/>
        </p:nvGrpSpPr>
        <p:grpSpPr bwMode="auto">
          <a:xfrm>
            <a:off x="4333875" y="1657045"/>
            <a:ext cx="2352675" cy="392112"/>
            <a:chOff x="666" y="981"/>
            <a:chExt cx="2100" cy="312"/>
          </a:xfrm>
        </p:grpSpPr>
        <p:sp>
          <p:nvSpPr>
            <p:cNvPr id="32775" name="Line 7"/>
            <p:cNvSpPr>
              <a:spLocks noChangeShapeType="1"/>
            </p:cNvSpPr>
            <p:nvPr/>
          </p:nvSpPr>
          <p:spPr bwMode="auto">
            <a:xfrm flipV="1">
              <a:off x="666" y="1137"/>
              <a:ext cx="21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6" name="Line 8"/>
            <p:cNvSpPr>
              <a:spLocks noChangeShapeType="1"/>
            </p:cNvSpPr>
            <p:nvPr/>
          </p:nvSpPr>
          <p:spPr bwMode="auto">
            <a:xfrm>
              <a:off x="250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7" name="Line 9"/>
            <p:cNvSpPr>
              <a:spLocks noChangeShapeType="1"/>
            </p:cNvSpPr>
            <p:nvPr/>
          </p:nvSpPr>
          <p:spPr bwMode="auto">
            <a:xfrm>
              <a:off x="2130"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8" name="Line 10"/>
            <p:cNvSpPr>
              <a:spLocks noChangeShapeType="1"/>
            </p:cNvSpPr>
            <p:nvPr/>
          </p:nvSpPr>
          <p:spPr bwMode="auto">
            <a:xfrm>
              <a:off x="121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9" name="Line 11"/>
            <p:cNvSpPr>
              <a:spLocks noChangeShapeType="1"/>
            </p:cNvSpPr>
            <p:nvPr/>
          </p:nvSpPr>
          <p:spPr bwMode="auto">
            <a:xfrm>
              <a:off x="846"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2780" name="Group 12"/>
            <p:cNvGrpSpPr>
              <a:grpSpLocks/>
            </p:cNvGrpSpPr>
            <p:nvPr/>
          </p:nvGrpSpPr>
          <p:grpSpPr bwMode="auto">
            <a:xfrm>
              <a:off x="1271" y="1094"/>
              <a:ext cx="84" cy="87"/>
              <a:chOff x="2636" y="2286"/>
              <a:chExt cx="33" cy="34"/>
            </a:xfrm>
          </p:grpSpPr>
          <p:sp>
            <p:nvSpPr>
              <p:cNvPr id="32781" name="Line 13"/>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2" name="Line 14"/>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783" name="Group 15"/>
            <p:cNvGrpSpPr>
              <a:grpSpLocks/>
            </p:cNvGrpSpPr>
            <p:nvPr/>
          </p:nvGrpSpPr>
          <p:grpSpPr bwMode="auto">
            <a:xfrm>
              <a:off x="1997" y="1093"/>
              <a:ext cx="84" cy="87"/>
              <a:chOff x="2636" y="2286"/>
              <a:chExt cx="33" cy="34"/>
            </a:xfrm>
          </p:grpSpPr>
          <p:sp>
            <p:nvSpPr>
              <p:cNvPr id="32784" name="Line 16"/>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5" name="Line 17"/>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32786" name="Line 18"/>
          <p:cNvSpPr>
            <a:spLocks noChangeShapeType="1"/>
          </p:cNvSpPr>
          <p:nvPr/>
        </p:nvSpPr>
        <p:spPr bwMode="auto">
          <a:xfrm>
            <a:off x="5053013" y="1585607"/>
            <a:ext cx="644525"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7" name="Line 19"/>
          <p:cNvSpPr>
            <a:spLocks noChangeShapeType="1"/>
          </p:cNvSpPr>
          <p:nvPr/>
        </p:nvSpPr>
        <p:spPr bwMode="auto">
          <a:xfrm>
            <a:off x="5260975" y="2128532"/>
            <a:ext cx="646113"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8" name="Line 20"/>
          <p:cNvSpPr>
            <a:spLocks noChangeShapeType="1"/>
          </p:cNvSpPr>
          <p:nvPr/>
        </p:nvSpPr>
        <p:spPr bwMode="auto">
          <a:xfrm>
            <a:off x="5062538" y="1341132"/>
            <a:ext cx="1100137"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9" name="Line 21"/>
          <p:cNvSpPr>
            <a:spLocks noChangeShapeType="1"/>
          </p:cNvSpPr>
          <p:nvPr/>
        </p:nvSpPr>
        <p:spPr bwMode="auto">
          <a:xfrm>
            <a:off x="5902325" y="2607957"/>
            <a:ext cx="881063"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0" name="Line 22"/>
          <p:cNvSpPr>
            <a:spLocks noChangeShapeType="1"/>
          </p:cNvSpPr>
          <p:nvPr/>
        </p:nvSpPr>
        <p:spPr bwMode="auto">
          <a:xfrm>
            <a:off x="4756150" y="2368245"/>
            <a:ext cx="1146175"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1" name="Line 23"/>
          <p:cNvSpPr>
            <a:spLocks noChangeShapeType="1"/>
          </p:cNvSpPr>
          <p:nvPr/>
        </p:nvSpPr>
        <p:spPr bwMode="auto">
          <a:xfrm>
            <a:off x="4149725" y="1136345"/>
            <a:ext cx="915988"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2" name="Text Box 24"/>
          <p:cNvSpPr txBox="1">
            <a:spLocks noChangeArrowheads="1"/>
          </p:cNvSpPr>
          <p:nvPr/>
        </p:nvSpPr>
        <p:spPr bwMode="auto">
          <a:xfrm>
            <a:off x="6777038" y="2480957"/>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Z4</a:t>
            </a:r>
            <a:endParaRPr lang="en-GB" altLang="en-US" b="0" i="0">
              <a:solidFill>
                <a:schemeClr val="tx1"/>
              </a:solidFill>
            </a:endParaRPr>
          </a:p>
        </p:txBody>
      </p:sp>
      <p:sp>
        <p:nvSpPr>
          <p:cNvPr id="32793" name="Text Box 25"/>
          <p:cNvSpPr txBox="1">
            <a:spLocks noChangeArrowheads="1"/>
          </p:cNvSpPr>
          <p:nvPr/>
        </p:nvSpPr>
        <p:spPr bwMode="auto">
          <a:xfrm>
            <a:off x="3841750" y="1009345"/>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Z4</a:t>
            </a:r>
            <a:endParaRPr lang="en-GB" altLang="en-US" b="0" i="0">
              <a:solidFill>
                <a:schemeClr val="tx1"/>
              </a:solidFill>
            </a:endParaRPr>
          </a:p>
        </p:txBody>
      </p:sp>
      <p:sp>
        <p:nvSpPr>
          <p:cNvPr id="32794" name="Text Box 26"/>
          <p:cNvSpPr txBox="1">
            <a:spLocks noChangeArrowheads="1"/>
          </p:cNvSpPr>
          <p:nvPr/>
        </p:nvSpPr>
        <p:spPr bwMode="auto">
          <a:xfrm>
            <a:off x="5700713" y="1471307"/>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32795" name="Text Box 27"/>
          <p:cNvSpPr txBox="1">
            <a:spLocks noChangeArrowheads="1"/>
          </p:cNvSpPr>
          <p:nvPr/>
        </p:nvSpPr>
        <p:spPr bwMode="auto">
          <a:xfrm>
            <a:off x="4997450" y="2014232"/>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32796" name="Text Box 28"/>
          <p:cNvSpPr txBox="1">
            <a:spLocks noChangeArrowheads="1"/>
          </p:cNvSpPr>
          <p:nvPr/>
        </p:nvSpPr>
        <p:spPr bwMode="auto">
          <a:xfrm>
            <a:off x="6269038" y="1203020"/>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sp>
        <p:nvSpPr>
          <p:cNvPr id="32797" name="Text Box 29"/>
          <p:cNvSpPr txBox="1">
            <a:spLocks noChangeArrowheads="1"/>
          </p:cNvSpPr>
          <p:nvPr/>
        </p:nvSpPr>
        <p:spPr bwMode="auto">
          <a:xfrm>
            <a:off x="4446588" y="2238070"/>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sp>
        <p:nvSpPr>
          <p:cNvPr id="32798" name="Text Box 30"/>
          <p:cNvSpPr txBox="1">
            <a:spLocks noChangeArrowheads="1"/>
          </p:cNvSpPr>
          <p:nvPr/>
        </p:nvSpPr>
        <p:spPr bwMode="auto">
          <a:xfrm>
            <a:off x="2908300" y="6016625"/>
            <a:ext cx="322263"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Z3</a:t>
            </a:r>
            <a:endParaRPr lang="en-GB" altLang="en-US" b="0" i="0">
              <a:solidFill>
                <a:schemeClr val="bg2"/>
              </a:solidFill>
            </a:endParaRPr>
          </a:p>
        </p:txBody>
      </p:sp>
      <p:sp>
        <p:nvSpPr>
          <p:cNvPr id="32799" name="Text Box 31"/>
          <p:cNvSpPr txBox="1">
            <a:spLocks noChangeArrowheads="1"/>
          </p:cNvSpPr>
          <p:nvPr/>
        </p:nvSpPr>
        <p:spPr bwMode="auto">
          <a:xfrm>
            <a:off x="2908300" y="543877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sp>
        <p:nvSpPr>
          <p:cNvPr id="32800" name="Text Box 32"/>
          <p:cNvSpPr txBox="1">
            <a:spLocks noChangeArrowheads="1"/>
          </p:cNvSpPr>
          <p:nvPr/>
        </p:nvSpPr>
        <p:spPr bwMode="auto">
          <a:xfrm>
            <a:off x="2908300" y="507682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32801" name="Line 33"/>
          <p:cNvSpPr>
            <a:spLocks noChangeShapeType="1"/>
          </p:cNvSpPr>
          <p:nvPr/>
        </p:nvSpPr>
        <p:spPr bwMode="auto">
          <a:xfrm>
            <a:off x="3214688" y="5219700"/>
            <a:ext cx="13001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04" name="Text Box 36"/>
          <p:cNvSpPr txBox="1">
            <a:spLocks noChangeArrowheads="1"/>
          </p:cNvSpPr>
          <p:nvPr/>
        </p:nvSpPr>
        <p:spPr bwMode="auto">
          <a:xfrm>
            <a:off x="3533775" y="6016625"/>
            <a:ext cx="396875"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T3</a:t>
            </a:r>
            <a:endParaRPr lang="en-GB" altLang="en-US" sz="1200" i="0">
              <a:solidFill>
                <a:schemeClr val="tx1"/>
              </a:solidFill>
            </a:endParaRPr>
          </a:p>
        </p:txBody>
      </p:sp>
      <p:sp>
        <p:nvSpPr>
          <p:cNvPr id="32805" name="Line 37"/>
          <p:cNvSpPr>
            <a:spLocks noChangeShapeType="1"/>
          </p:cNvSpPr>
          <p:nvPr/>
        </p:nvSpPr>
        <p:spPr bwMode="auto">
          <a:xfrm>
            <a:off x="3219450" y="6167438"/>
            <a:ext cx="31115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06" name="Line 38"/>
          <p:cNvSpPr>
            <a:spLocks noChangeShapeType="1"/>
          </p:cNvSpPr>
          <p:nvPr/>
        </p:nvSpPr>
        <p:spPr bwMode="auto">
          <a:xfrm>
            <a:off x="3930650" y="5583238"/>
            <a:ext cx="857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07" name="Line 39"/>
          <p:cNvSpPr>
            <a:spLocks noChangeShapeType="1"/>
          </p:cNvSpPr>
          <p:nvPr/>
        </p:nvSpPr>
        <p:spPr bwMode="auto">
          <a:xfrm flipV="1">
            <a:off x="4014788" y="5337175"/>
            <a:ext cx="0" cy="252413"/>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08" name="Line 40"/>
          <p:cNvSpPr>
            <a:spLocks noChangeShapeType="1"/>
          </p:cNvSpPr>
          <p:nvPr/>
        </p:nvSpPr>
        <p:spPr bwMode="auto">
          <a:xfrm>
            <a:off x="4019550" y="5332413"/>
            <a:ext cx="5032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09" name="Line 41"/>
          <p:cNvSpPr>
            <a:spLocks noChangeShapeType="1"/>
          </p:cNvSpPr>
          <p:nvPr/>
        </p:nvSpPr>
        <p:spPr bwMode="auto">
          <a:xfrm>
            <a:off x="3930650" y="6165850"/>
            <a:ext cx="3254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10" name="Line 42"/>
          <p:cNvSpPr>
            <a:spLocks noChangeShapeType="1"/>
          </p:cNvSpPr>
          <p:nvPr/>
        </p:nvSpPr>
        <p:spPr bwMode="auto">
          <a:xfrm flipV="1">
            <a:off x="4256088" y="5435600"/>
            <a:ext cx="0" cy="74453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11" name="Line 43"/>
          <p:cNvSpPr>
            <a:spLocks noChangeShapeType="1"/>
          </p:cNvSpPr>
          <p:nvPr/>
        </p:nvSpPr>
        <p:spPr bwMode="auto">
          <a:xfrm>
            <a:off x="4256088" y="5437188"/>
            <a:ext cx="2619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12" name="Line 44"/>
          <p:cNvSpPr>
            <a:spLocks noChangeShapeType="1"/>
          </p:cNvSpPr>
          <p:nvPr/>
        </p:nvSpPr>
        <p:spPr bwMode="auto">
          <a:xfrm>
            <a:off x="4781550" y="5233988"/>
            <a:ext cx="152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13" name="Text Box 45"/>
          <p:cNvSpPr txBox="1">
            <a:spLocks noChangeArrowheads="1"/>
          </p:cNvSpPr>
          <p:nvPr/>
        </p:nvSpPr>
        <p:spPr bwMode="auto">
          <a:xfrm>
            <a:off x="4876800" y="5095875"/>
            <a:ext cx="473075"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Trip</a:t>
            </a:r>
          </a:p>
        </p:txBody>
      </p:sp>
      <p:sp>
        <p:nvSpPr>
          <p:cNvPr id="32814" name="Text Box 46"/>
          <p:cNvSpPr txBox="1">
            <a:spLocks noChangeArrowheads="1"/>
          </p:cNvSpPr>
          <p:nvPr/>
        </p:nvSpPr>
        <p:spPr bwMode="auto">
          <a:xfrm>
            <a:off x="3578225" y="4764088"/>
            <a:ext cx="287338"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2815" name="Line 47"/>
          <p:cNvSpPr>
            <a:spLocks noChangeShapeType="1"/>
          </p:cNvSpPr>
          <p:nvPr/>
        </p:nvSpPr>
        <p:spPr bwMode="auto">
          <a:xfrm>
            <a:off x="3335338" y="4841875"/>
            <a:ext cx="2428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17" name="Text Box 49"/>
          <p:cNvSpPr txBox="1">
            <a:spLocks noChangeArrowheads="1"/>
          </p:cNvSpPr>
          <p:nvPr/>
        </p:nvSpPr>
        <p:spPr bwMode="auto">
          <a:xfrm>
            <a:off x="3535363" y="5445125"/>
            <a:ext cx="396875"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T2</a:t>
            </a:r>
            <a:endParaRPr lang="en-GB" altLang="en-US" sz="1200" i="0">
              <a:solidFill>
                <a:schemeClr val="tx1"/>
              </a:solidFill>
            </a:endParaRPr>
          </a:p>
        </p:txBody>
      </p:sp>
      <p:sp>
        <p:nvSpPr>
          <p:cNvPr id="32819" name="Line 51"/>
          <p:cNvSpPr>
            <a:spLocks noChangeShapeType="1"/>
          </p:cNvSpPr>
          <p:nvPr/>
        </p:nvSpPr>
        <p:spPr bwMode="auto">
          <a:xfrm>
            <a:off x="3473450" y="4989513"/>
            <a:ext cx="1047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20" name="Oval 52"/>
          <p:cNvSpPr>
            <a:spLocks noChangeArrowheads="1"/>
          </p:cNvSpPr>
          <p:nvPr/>
        </p:nvSpPr>
        <p:spPr bwMode="auto">
          <a:xfrm>
            <a:off x="3444875" y="493871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21" name="Oval 53"/>
          <p:cNvSpPr>
            <a:spLocks noChangeArrowheads="1"/>
          </p:cNvSpPr>
          <p:nvPr/>
        </p:nvSpPr>
        <p:spPr bwMode="auto">
          <a:xfrm>
            <a:off x="3443288" y="554672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22" name="Text Box 54"/>
          <p:cNvSpPr txBox="1">
            <a:spLocks noChangeArrowheads="1"/>
          </p:cNvSpPr>
          <p:nvPr/>
        </p:nvSpPr>
        <p:spPr bwMode="auto">
          <a:xfrm>
            <a:off x="3578225" y="4364038"/>
            <a:ext cx="322263"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2824" name="Line 56"/>
          <p:cNvSpPr>
            <a:spLocks noChangeShapeType="1"/>
          </p:cNvSpPr>
          <p:nvPr/>
        </p:nvSpPr>
        <p:spPr bwMode="auto">
          <a:xfrm>
            <a:off x="3219450" y="4516438"/>
            <a:ext cx="3730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25" name="Oval 57"/>
          <p:cNvSpPr>
            <a:spLocks noChangeArrowheads="1"/>
          </p:cNvSpPr>
          <p:nvPr/>
        </p:nvSpPr>
        <p:spPr bwMode="auto">
          <a:xfrm>
            <a:off x="3503613" y="4473575"/>
            <a:ext cx="66675" cy="7461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27" name="Line 59"/>
          <p:cNvSpPr>
            <a:spLocks noChangeShapeType="1"/>
          </p:cNvSpPr>
          <p:nvPr/>
        </p:nvSpPr>
        <p:spPr bwMode="auto">
          <a:xfrm>
            <a:off x="3340100" y="4605338"/>
            <a:ext cx="2349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28" name="Oval 60"/>
          <p:cNvSpPr>
            <a:spLocks noChangeArrowheads="1"/>
          </p:cNvSpPr>
          <p:nvPr/>
        </p:nvSpPr>
        <p:spPr bwMode="auto">
          <a:xfrm>
            <a:off x="3305175" y="456723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29" name="Text Box 61"/>
          <p:cNvSpPr txBox="1">
            <a:spLocks noChangeArrowheads="1"/>
          </p:cNvSpPr>
          <p:nvPr/>
        </p:nvSpPr>
        <p:spPr bwMode="auto">
          <a:xfrm>
            <a:off x="2678113" y="4371975"/>
            <a:ext cx="608012"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LDOV</a:t>
            </a:r>
            <a:endParaRPr lang="en-GB" altLang="en-US" b="0" i="0">
              <a:solidFill>
                <a:schemeClr val="tx1"/>
              </a:solidFill>
            </a:endParaRPr>
          </a:p>
        </p:txBody>
      </p:sp>
      <p:sp>
        <p:nvSpPr>
          <p:cNvPr id="32830" name="Line 62"/>
          <p:cNvSpPr>
            <a:spLocks noChangeShapeType="1"/>
          </p:cNvSpPr>
          <p:nvPr/>
        </p:nvSpPr>
        <p:spPr bwMode="auto">
          <a:xfrm>
            <a:off x="3400425" y="4421188"/>
            <a:ext cx="1920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31" name="Oval 63"/>
          <p:cNvSpPr>
            <a:spLocks noChangeArrowheads="1"/>
          </p:cNvSpPr>
          <p:nvPr/>
        </p:nvSpPr>
        <p:spPr bwMode="auto">
          <a:xfrm>
            <a:off x="3503613" y="4378325"/>
            <a:ext cx="66675" cy="7461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32" name="Text Box 64"/>
          <p:cNvSpPr txBox="1">
            <a:spLocks noChangeArrowheads="1"/>
          </p:cNvSpPr>
          <p:nvPr/>
        </p:nvSpPr>
        <p:spPr bwMode="auto">
          <a:xfrm flipH="1">
            <a:off x="7858125" y="6016625"/>
            <a:ext cx="322263"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Z3</a:t>
            </a:r>
            <a:endParaRPr lang="en-GB" altLang="en-US" b="0" i="0">
              <a:solidFill>
                <a:schemeClr val="bg2"/>
              </a:solidFill>
            </a:endParaRPr>
          </a:p>
        </p:txBody>
      </p:sp>
      <p:sp>
        <p:nvSpPr>
          <p:cNvPr id="32833" name="Text Box 65"/>
          <p:cNvSpPr txBox="1">
            <a:spLocks noChangeArrowheads="1"/>
          </p:cNvSpPr>
          <p:nvPr/>
        </p:nvSpPr>
        <p:spPr bwMode="auto">
          <a:xfrm flipH="1">
            <a:off x="7859713" y="543877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Z2</a:t>
            </a:r>
            <a:endParaRPr lang="en-GB" altLang="en-US" b="0" i="0">
              <a:solidFill>
                <a:schemeClr val="tx1"/>
              </a:solidFill>
            </a:endParaRPr>
          </a:p>
        </p:txBody>
      </p:sp>
      <p:sp>
        <p:nvSpPr>
          <p:cNvPr id="32834" name="Text Box 66"/>
          <p:cNvSpPr txBox="1">
            <a:spLocks noChangeArrowheads="1"/>
          </p:cNvSpPr>
          <p:nvPr/>
        </p:nvSpPr>
        <p:spPr bwMode="auto">
          <a:xfrm flipH="1">
            <a:off x="7859713" y="507682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Z1</a:t>
            </a:r>
            <a:endParaRPr lang="en-GB" altLang="en-US" b="0" i="0">
              <a:solidFill>
                <a:schemeClr val="tx1"/>
              </a:solidFill>
            </a:endParaRPr>
          </a:p>
        </p:txBody>
      </p:sp>
      <p:sp>
        <p:nvSpPr>
          <p:cNvPr id="32835" name="Line 67"/>
          <p:cNvSpPr>
            <a:spLocks noChangeShapeType="1"/>
          </p:cNvSpPr>
          <p:nvPr/>
        </p:nvSpPr>
        <p:spPr bwMode="auto">
          <a:xfrm flipH="1">
            <a:off x="6573838" y="5219700"/>
            <a:ext cx="13001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37" name="Line 69"/>
          <p:cNvSpPr>
            <a:spLocks noChangeShapeType="1"/>
          </p:cNvSpPr>
          <p:nvPr/>
        </p:nvSpPr>
        <p:spPr bwMode="auto">
          <a:xfrm flipH="1">
            <a:off x="7545388" y="5589588"/>
            <a:ext cx="3286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38" name="Text Box 70"/>
          <p:cNvSpPr txBox="1">
            <a:spLocks noChangeArrowheads="1"/>
          </p:cNvSpPr>
          <p:nvPr/>
        </p:nvSpPr>
        <p:spPr bwMode="auto">
          <a:xfrm flipH="1">
            <a:off x="7159625" y="6016625"/>
            <a:ext cx="398463"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T3</a:t>
            </a:r>
            <a:endParaRPr lang="en-GB" altLang="en-US" sz="1200" i="0">
              <a:solidFill>
                <a:schemeClr val="tx1"/>
              </a:solidFill>
            </a:endParaRPr>
          </a:p>
        </p:txBody>
      </p:sp>
      <p:sp>
        <p:nvSpPr>
          <p:cNvPr id="32839" name="Line 71"/>
          <p:cNvSpPr>
            <a:spLocks noChangeShapeType="1"/>
          </p:cNvSpPr>
          <p:nvPr/>
        </p:nvSpPr>
        <p:spPr bwMode="auto">
          <a:xfrm flipH="1">
            <a:off x="7558088" y="6167438"/>
            <a:ext cx="311150" cy="635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40" name="Line 72"/>
          <p:cNvSpPr>
            <a:spLocks noChangeShapeType="1"/>
          </p:cNvSpPr>
          <p:nvPr/>
        </p:nvSpPr>
        <p:spPr bwMode="auto">
          <a:xfrm flipH="1">
            <a:off x="7072313" y="5583238"/>
            <a:ext cx="841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41" name="Line 73"/>
          <p:cNvSpPr>
            <a:spLocks noChangeShapeType="1"/>
          </p:cNvSpPr>
          <p:nvPr/>
        </p:nvSpPr>
        <p:spPr bwMode="auto">
          <a:xfrm flipH="1" flipV="1">
            <a:off x="7073900" y="5322888"/>
            <a:ext cx="0" cy="261937"/>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42" name="Line 74"/>
          <p:cNvSpPr>
            <a:spLocks noChangeShapeType="1"/>
          </p:cNvSpPr>
          <p:nvPr/>
        </p:nvSpPr>
        <p:spPr bwMode="auto">
          <a:xfrm flipH="1">
            <a:off x="6565900" y="5332413"/>
            <a:ext cx="5032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43" name="Line 75"/>
          <p:cNvSpPr>
            <a:spLocks noChangeShapeType="1"/>
          </p:cNvSpPr>
          <p:nvPr/>
        </p:nvSpPr>
        <p:spPr bwMode="auto">
          <a:xfrm flipH="1">
            <a:off x="6832600" y="6165850"/>
            <a:ext cx="3254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44" name="Line 76"/>
          <p:cNvSpPr>
            <a:spLocks noChangeShapeType="1"/>
          </p:cNvSpPr>
          <p:nvPr/>
        </p:nvSpPr>
        <p:spPr bwMode="auto">
          <a:xfrm flipH="1" flipV="1">
            <a:off x="6832600" y="5435600"/>
            <a:ext cx="0" cy="74453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45" name="Line 77"/>
          <p:cNvSpPr>
            <a:spLocks noChangeShapeType="1"/>
          </p:cNvSpPr>
          <p:nvPr/>
        </p:nvSpPr>
        <p:spPr bwMode="auto">
          <a:xfrm flipH="1">
            <a:off x="6570663" y="5437188"/>
            <a:ext cx="2619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46" name="Line 78"/>
          <p:cNvSpPr>
            <a:spLocks noChangeShapeType="1"/>
          </p:cNvSpPr>
          <p:nvPr/>
        </p:nvSpPr>
        <p:spPr bwMode="auto">
          <a:xfrm flipH="1">
            <a:off x="6154738" y="5233988"/>
            <a:ext cx="152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47" name="Text Box 79"/>
          <p:cNvSpPr txBox="1">
            <a:spLocks noChangeArrowheads="1"/>
          </p:cNvSpPr>
          <p:nvPr/>
        </p:nvSpPr>
        <p:spPr bwMode="auto">
          <a:xfrm flipH="1">
            <a:off x="5735638" y="5095875"/>
            <a:ext cx="473075"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Trip</a:t>
            </a:r>
          </a:p>
        </p:txBody>
      </p:sp>
      <p:sp>
        <p:nvSpPr>
          <p:cNvPr id="32848" name="Text Box 80"/>
          <p:cNvSpPr txBox="1">
            <a:spLocks noChangeArrowheads="1"/>
          </p:cNvSpPr>
          <p:nvPr/>
        </p:nvSpPr>
        <p:spPr bwMode="auto">
          <a:xfrm flipH="1">
            <a:off x="7223125" y="4764088"/>
            <a:ext cx="287338" cy="303212"/>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2849" name="Line 81"/>
          <p:cNvSpPr>
            <a:spLocks noChangeShapeType="1"/>
          </p:cNvSpPr>
          <p:nvPr/>
        </p:nvSpPr>
        <p:spPr bwMode="auto">
          <a:xfrm flipH="1">
            <a:off x="7510463" y="4841875"/>
            <a:ext cx="2428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51" name="Text Box 83"/>
          <p:cNvSpPr txBox="1">
            <a:spLocks noChangeArrowheads="1"/>
          </p:cNvSpPr>
          <p:nvPr/>
        </p:nvSpPr>
        <p:spPr bwMode="auto">
          <a:xfrm flipH="1">
            <a:off x="7162800" y="5445125"/>
            <a:ext cx="390525"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32853" name="Line 85"/>
          <p:cNvSpPr>
            <a:spLocks noChangeShapeType="1"/>
          </p:cNvSpPr>
          <p:nvPr/>
        </p:nvSpPr>
        <p:spPr bwMode="auto">
          <a:xfrm flipH="1">
            <a:off x="7510463" y="4989513"/>
            <a:ext cx="1047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54" name="Oval 86"/>
          <p:cNvSpPr>
            <a:spLocks noChangeArrowheads="1"/>
          </p:cNvSpPr>
          <p:nvPr/>
        </p:nvSpPr>
        <p:spPr bwMode="auto">
          <a:xfrm flipH="1">
            <a:off x="7577138" y="493871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55" name="Oval 87"/>
          <p:cNvSpPr>
            <a:spLocks noChangeArrowheads="1"/>
          </p:cNvSpPr>
          <p:nvPr/>
        </p:nvSpPr>
        <p:spPr bwMode="auto">
          <a:xfrm flipH="1">
            <a:off x="7578725" y="554672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56" name="Text Box 88"/>
          <p:cNvSpPr txBox="1">
            <a:spLocks noChangeArrowheads="1"/>
          </p:cNvSpPr>
          <p:nvPr/>
        </p:nvSpPr>
        <p:spPr bwMode="auto">
          <a:xfrm flipH="1">
            <a:off x="7224713" y="4364038"/>
            <a:ext cx="322262"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2857" name="Line 89"/>
          <p:cNvSpPr>
            <a:spLocks noChangeShapeType="1"/>
          </p:cNvSpPr>
          <p:nvPr/>
        </p:nvSpPr>
        <p:spPr bwMode="auto">
          <a:xfrm flipH="1">
            <a:off x="7537450" y="4516438"/>
            <a:ext cx="330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58" name="Oval 90"/>
          <p:cNvSpPr>
            <a:spLocks noChangeArrowheads="1"/>
          </p:cNvSpPr>
          <p:nvPr/>
        </p:nvSpPr>
        <p:spPr bwMode="auto">
          <a:xfrm flipH="1">
            <a:off x="7518400" y="4473575"/>
            <a:ext cx="66675" cy="7461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61" name="Oval 93"/>
          <p:cNvSpPr>
            <a:spLocks noChangeArrowheads="1"/>
          </p:cNvSpPr>
          <p:nvPr/>
        </p:nvSpPr>
        <p:spPr bwMode="auto">
          <a:xfrm flipH="1">
            <a:off x="7716838" y="456723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62" name="Text Box 94"/>
          <p:cNvSpPr txBox="1">
            <a:spLocks noChangeArrowheads="1"/>
          </p:cNvSpPr>
          <p:nvPr/>
        </p:nvSpPr>
        <p:spPr bwMode="auto">
          <a:xfrm flipH="1">
            <a:off x="7870825" y="4371975"/>
            <a:ext cx="608013"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LDOV</a:t>
            </a:r>
            <a:endParaRPr lang="en-GB" altLang="en-US" b="0" i="0">
              <a:solidFill>
                <a:schemeClr val="tx1"/>
              </a:solidFill>
            </a:endParaRPr>
          </a:p>
        </p:txBody>
      </p:sp>
      <p:sp>
        <p:nvSpPr>
          <p:cNvPr id="32863" name="Line 95"/>
          <p:cNvSpPr>
            <a:spLocks noChangeShapeType="1"/>
          </p:cNvSpPr>
          <p:nvPr/>
        </p:nvSpPr>
        <p:spPr bwMode="auto">
          <a:xfrm flipH="1">
            <a:off x="7558088" y="4421188"/>
            <a:ext cx="1301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64" name="Oval 96"/>
          <p:cNvSpPr>
            <a:spLocks noChangeArrowheads="1"/>
          </p:cNvSpPr>
          <p:nvPr/>
        </p:nvSpPr>
        <p:spPr bwMode="auto">
          <a:xfrm flipH="1">
            <a:off x="7518400" y="4378325"/>
            <a:ext cx="66675" cy="7461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65" name="Text Box 97"/>
          <p:cNvSpPr txBox="1">
            <a:spLocks noChangeArrowheads="1"/>
          </p:cNvSpPr>
          <p:nvPr/>
        </p:nvSpPr>
        <p:spPr bwMode="auto">
          <a:xfrm>
            <a:off x="3578225" y="3492500"/>
            <a:ext cx="287338"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2866" name="Line 98"/>
          <p:cNvSpPr>
            <a:spLocks noChangeShapeType="1"/>
          </p:cNvSpPr>
          <p:nvPr/>
        </p:nvSpPr>
        <p:spPr bwMode="auto">
          <a:xfrm>
            <a:off x="3216275" y="3684588"/>
            <a:ext cx="3683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67" name="Line 99"/>
          <p:cNvSpPr>
            <a:spLocks noChangeShapeType="1"/>
          </p:cNvSpPr>
          <p:nvPr/>
        </p:nvSpPr>
        <p:spPr bwMode="auto">
          <a:xfrm>
            <a:off x="4149725" y="4051300"/>
            <a:ext cx="18415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69" name="Text Box 101"/>
          <p:cNvSpPr txBox="1">
            <a:spLocks noChangeArrowheads="1"/>
          </p:cNvSpPr>
          <p:nvPr/>
        </p:nvSpPr>
        <p:spPr bwMode="auto">
          <a:xfrm>
            <a:off x="4873625" y="3751263"/>
            <a:ext cx="407988"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32870" name="Line 102"/>
          <p:cNvSpPr>
            <a:spLocks noChangeShapeType="1"/>
          </p:cNvSpPr>
          <p:nvPr/>
        </p:nvSpPr>
        <p:spPr bwMode="auto">
          <a:xfrm>
            <a:off x="4654550" y="3895725"/>
            <a:ext cx="228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71" name="Line 103"/>
          <p:cNvSpPr>
            <a:spLocks noChangeShapeType="1"/>
          </p:cNvSpPr>
          <p:nvPr/>
        </p:nvSpPr>
        <p:spPr bwMode="auto">
          <a:xfrm>
            <a:off x="4868863" y="4000500"/>
            <a:ext cx="406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72" name="Line 104"/>
          <p:cNvSpPr>
            <a:spLocks noChangeShapeType="1"/>
          </p:cNvSpPr>
          <p:nvPr/>
        </p:nvSpPr>
        <p:spPr bwMode="auto">
          <a:xfrm flipV="1">
            <a:off x="4149725" y="3636963"/>
            <a:ext cx="0" cy="428625"/>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73" name="Line 105"/>
          <p:cNvSpPr>
            <a:spLocks noChangeShapeType="1"/>
          </p:cNvSpPr>
          <p:nvPr/>
        </p:nvSpPr>
        <p:spPr bwMode="auto">
          <a:xfrm flipH="1">
            <a:off x="3862388" y="3636963"/>
            <a:ext cx="3000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74" name="Line 106"/>
          <p:cNvSpPr>
            <a:spLocks noChangeShapeType="1"/>
          </p:cNvSpPr>
          <p:nvPr/>
        </p:nvSpPr>
        <p:spPr bwMode="auto">
          <a:xfrm>
            <a:off x="3862388" y="4022725"/>
            <a:ext cx="1349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75" name="Line 107"/>
          <p:cNvSpPr>
            <a:spLocks noChangeShapeType="1"/>
          </p:cNvSpPr>
          <p:nvPr/>
        </p:nvSpPr>
        <p:spPr bwMode="auto">
          <a:xfrm>
            <a:off x="3995738" y="4021138"/>
            <a:ext cx="0" cy="157162"/>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76" name="Line 108"/>
          <p:cNvSpPr>
            <a:spLocks noChangeShapeType="1"/>
          </p:cNvSpPr>
          <p:nvPr/>
        </p:nvSpPr>
        <p:spPr bwMode="auto">
          <a:xfrm>
            <a:off x="3997325" y="4165600"/>
            <a:ext cx="3397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79" name="Line 111"/>
          <p:cNvSpPr>
            <a:spLocks noChangeShapeType="1"/>
          </p:cNvSpPr>
          <p:nvPr/>
        </p:nvSpPr>
        <p:spPr bwMode="auto">
          <a:xfrm flipV="1">
            <a:off x="3338513" y="3298825"/>
            <a:ext cx="0" cy="13017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80" name="Line 112"/>
          <p:cNvSpPr>
            <a:spLocks noChangeShapeType="1"/>
          </p:cNvSpPr>
          <p:nvPr/>
        </p:nvSpPr>
        <p:spPr bwMode="auto">
          <a:xfrm>
            <a:off x="3327400" y="3294063"/>
            <a:ext cx="13398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81" name="Line 113"/>
          <p:cNvSpPr>
            <a:spLocks noChangeShapeType="1"/>
          </p:cNvSpPr>
          <p:nvPr/>
        </p:nvSpPr>
        <p:spPr bwMode="auto">
          <a:xfrm>
            <a:off x="4654550" y="3294063"/>
            <a:ext cx="0" cy="614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82" name="Line 114"/>
          <p:cNvSpPr>
            <a:spLocks noChangeShapeType="1"/>
          </p:cNvSpPr>
          <p:nvPr/>
        </p:nvSpPr>
        <p:spPr bwMode="auto">
          <a:xfrm>
            <a:off x="3333750" y="3956050"/>
            <a:ext cx="2413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83" name="Oval 115"/>
          <p:cNvSpPr>
            <a:spLocks noChangeArrowheads="1"/>
          </p:cNvSpPr>
          <p:nvPr/>
        </p:nvSpPr>
        <p:spPr bwMode="auto">
          <a:xfrm>
            <a:off x="3306763" y="3919538"/>
            <a:ext cx="65087"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85" name="Line 117"/>
          <p:cNvSpPr>
            <a:spLocks noChangeShapeType="1"/>
          </p:cNvSpPr>
          <p:nvPr/>
        </p:nvSpPr>
        <p:spPr bwMode="auto">
          <a:xfrm>
            <a:off x="3340100" y="3579813"/>
            <a:ext cx="23495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86" name="Oval 118"/>
          <p:cNvSpPr>
            <a:spLocks noChangeArrowheads="1"/>
          </p:cNvSpPr>
          <p:nvPr/>
        </p:nvSpPr>
        <p:spPr bwMode="auto">
          <a:xfrm>
            <a:off x="3305175" y="354171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87" name="Line 119"/>
          <p:cNvSpPr>
            <a:spLocks noChangeShapeType="1"/>
          </p:cNvSpPr>
          <p:nvPr/>
        </p:nvSpPr>
        <p:spPr bwMode="auto">
          <a:xfrm>
            <a:off x="3400425" y="4062413"/>
            <a:ext cx="1873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88" name="Oval 120"/>
          <p:cNvSpPr>
            <a:spLocks noChangeArrowheads="1"/>
          </p:cNvSpPr>
          <p:nvPr/>
        </p:nvSpPr>
        <p:spPr bwMode="auto">
          <a:xfrm>
            <a:off x="3498850" y="4019550"/>
            <a:ext cx="65088" cy="74613"/>
          </a:xfrm>
          <a:prstGeom prst="ellipse">
            <a:avLst/>
          </a:prstGeom>
          <a:solidFill>
            <a:schemeClr val="bg1"/>
          </a:solidFill>
          <a:ln w="12700">
            <a:solidFill>
              <a:srgbClr val="96969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89" name="Text Box 121"/>
          <p:cNvSpPr txBox="1">
            <a:spLocks noChangeArrowheads="1"/>
          </p:cNvSpPr>
          <p:nvPr/>
        </p:nvSpPr>
        <p:spPr bwMode="auto">
          <a:xfrm>
            <a:off x="2908300" y="3924300"/>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Z4</a:t>
            </a:r>
            <a:endParaRPr lang="en-GB" altLang="en-US" b="0" i="0">
              <a:solidFill>
                <a:schemeClr val="tx1"/>
              </a:solidFill>
            </a:endParaRPr>
          </a:p>
        </p:txBody>
      </p:sp>
      <p:sp>
        <p:nvSpPr>
          <p:cNvPr id="32890" name="Text Box 122"/>
          <p:cNvSpPr txBox="1">
            <a:spLocks noChangeArrowheads="1"/>
          </p:cNvSpPr>
          <p:nvPr/>
        </p:nvSpPr>
        <p:spPr bwMode="auto">
          <a:xfrm>
            <a:off x="2449513" y="3536950"/>
            <a:ext cx="811212"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CB open</a:t>
            </a:r>
            <a:endParaRPr lang="en-GB" altLang="en-US" b="0" i="0">
              <a:solidFill>
                <a:schemeClr val="bg2"/>
              </a:solidFill>
            </a:endParaRPr>
          </a:p>
        </p:txBody>
      </p:sp>
      <p:sp>
        <p:nvSpPr>
          <p:cNvPr id="32892" name="Line 124"/>
          <p:cNvSpPr>
            <a:spLocks noChangeShapeType="1"/>
          </p:cNvSpPr>
          <p:nvPr/>
        </p:nvSpPr>
        <p:spPr bwMode="auto">
          <a:xfrm flipV="1">
            <a:off x="3403600" y="4059238"/>
            <a:ext cx="0" cy="3683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93" name="Oval 125"/>
          <p:cNvSpPr>
            <a:spLocks noChangeArrowheads="1"/>
          </p:cNvSpPr>
          <p:nvPr/>
        </p:nvSpPr>
        <p:spPr bwMode="auto">
          <a:xfrm>
            <a:off x="3371850" y="4021138"/>
            <a:ext cx="65088"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94" name="Text Box 126"/>
          <p:cNvSpPr txBox="1">
            <a:spLocks noChangeArrowheads="1"/>
          </p:cNvSpPr>
          <p:nvPr/>
        </p:nvSpPr>
        <p:spPr bwMode="auto">
          <a:xfrm flipH="1">
            <a:off x="7223125" y="3492500"/>
            <a:ext cx="287338"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2895" name="Line 127"/>
          <p:cNvSpPr>
            <a:spLocks noChangeShapeType="1"/>
          </p:cNvSpPr>
          <p:nvPr/>
        </p:nvSpPr>
        <p:spPr bwMode="auto">
          <a:xfrm flipH="1">
            <a:off x="7504113" y="3684588"/>
            <a:ext cx="3683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96" name="Line 128"/>
          <p:cNvSpPr>
            <a:spLocks noChangeShapeType="1"/>
          </p:cNvSpPr>
          <p:nvPr/>
        </p:nvSpPr>
        <p:spPr bwMode="auto">
          <a:xfrm flipH="1">
            <a:off x="6735763" y="4051300"/>
            <a:ext cx="20320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98" name="Text Box 130"/>
          <p:cNvSpPr txBox="1">
            <a:spLocks noChangeArrowheads="1"/>
          </p:cNvSpPr>
          <p:nvPr/>
        </p:nvSpPr>
        <p:spPr bwMode="auto">
          <a:xfrm flipH="1">
            <a:off x="5880100" y="3751263"/>
            <a:ext cx="431800"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32900" name="Line 132"/>
          <p:cNvSpPr>
            <a:spLocks noChangeShapeType="1"/>
          </p:cNvSpPr>
          <p:nvPr/>
        </p:nvSpPr>
        <p:spPr bwMode="auto">
          <a:xfrm flipH="1">
            <a:off x="5884863" y="4000500"/>
            <a:ext cx="4222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01" name="Line 133"/>
          <p:cNvSpPr>
            <a:spLocks noChangeShapeType="1"/>
          </p:cNvSpPr>
          <p:nvPr/>
        </p:nvSpPr>
        <p:spPr bwMode="auto">
          <a:xfrm flipH="1" flipV="1">
            <a:off x="6938963" y="3636963"/>
            <a:ext cx="0" cy="428625"/>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02" name="Line 134"/>
          <p:cNvSpPr>
            <a:spLocks noChangeShapeType="1"/>
          </p:cNvSpPr>
          <p:nvPr/>
        </p:nvSpPr>
        <p:spPr bwMode="auto">
          <a:xfrm>
            <a:off x="6935788" y="3636963"/>
            <a:ext cx="290512"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03" name="Line 135"/>
          <p:cNvSpPr>
            <a:spLocks noChangeShapeType="1"/>
          </p:cNvSpPr>
          <p:nvPr/>
        </p:nvSpPr>
        <p:spPr bwMode="auto">
          <a:xfrm flipH="1">
            <a:off x="7091363" y="4022725"/>
            <a:ext cx="1349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04" name="Line 136"/>
          <p:cNvSpPr>
            <a:spLocks noChangeShapeType="1"/>
          </p:cNvSpPr>
          <p:nvPr/>
        </p:nvSpPr>
        <p:spPr bwMode="auto">
          <a:xfrm flipH="1">
            <a:off x="7086600" y="4021138"/>
            <a:ext cx="0" cy="157162"/>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05" name="Line 137"/>
          <p:cNvSpPr>
            <a:spLocks noChangeShapeType="1"/>
          </p:cNvSpPr>
          <p:nvPr/>
        </p:nvSpPr>
        <p:spPr bwMode="auto">
          <a:xfrm flipH="1">
            <a:off x="6751638" y="4165600"/>
            <a:ext cx="3397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06" name="Line 138"/>
          <p:cNvSpPr>
            <a:spLocks noChangeShapeType="1"/>
          </p:cNvSpPr>
          <p:nvPr/>
        </p:nvSpPr>
        <p:spPr bwMode="auto">
          <a:xfrm flipH="1" flipV="1">
            <a:off x="7612063" y="4252913"/>
            <a:ext cx="0" cy="13335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07" name="Line 139"/>
          <p:cNvSpPr>
            <a:spLocks noChangeShapeType="1"/>
          </p:cNvSpPr>
          <p:nvPr/>
        </p:nvSpPr>
        <p:spPr bwMode="auto">
          <a:xfrm flipH="1">
            <a:off x="6748463" y="4260850"/>
            <a:ext cx="876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11" name="Line 143"/>
          <p:cNvSpPr>
            <a:spLocks noChangeShapeType="1"/>
          </p:cNvSpPr>
          <p:nvPr/>
        </p:nvSpPr>
        <p:spPr bwMode="auto">
          <a:xfrm flipH="1">
            <a:off x="7513638" y="3956050"/>
            <a:ext cx="239712"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12" name="Oval 144"/>
          <p:cNvSpPr>
            <a:spLocks noChangeArrowheads="1"/>
          </p:cNvSpPr>
          <p:nvPr/>
        </p:nvSpPr>
        <p:spPr bwMode="auto">
          <a:xfrm flipH="1">
            <a:off x="7715250" y="391953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14" name="Line 146"/>
          <p:cNvSpPr>
            <a:spLocks noChangeShapeType="1"/>
          </p:cNvSpPr>
          <p:nvPr/>
        </p:nvSpPr>
        <p:spPr bwMode="auto">
          <a:xfrm flipH="1">
            <a:off x="7513638" y="3579813"/>
            <a:ext cx="234950"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15" name="Oval 147"/>
          <p:cNvSpPr>
            <a:spLocks noChangeArrowheads="1"/>
          </p:cNvSpPr>
          <p:nvPr/>
        </p:nvSpPr>
        <p:spPr bwMode="auto">
          <a:xfrm flipH="1">
            <a:off x="7716838" y="354171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16" name="Line 148"/>
          <p:cNvSpPr>
            <a:spLocks noChangeShapeType="1"/>
          </p:cNvSpPr>
          <p:nvPr/>
        </p:nvSpPr>
        <p:spPr bwMode="auto">
          <a:xfrm flipH="1">
            <a:off x="7500938" y="4062413"/>
            <a:ext cx="18097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17" name="Oval 149"/>
          <p:cNvSpPr>
            <a:spLocks noChangeArrowheads="1"/>
          </p:cNvSpPr>
          <p:nvPr/>
        </p:nvSpPr>
        <p:spPr bwMode="auto">
          <a:xfrm flipH="1">
            <a:off x="7524750" y="4019550"/>
            <a:ext cx="65088" cy="74613"/>
          </a:xfrm>
          <a:prstGeom prst="ellipse">
            <a:avLst/>
          </a:prstGeom>
          <a:solidFill>
            <a:schemeClr val="bg1"/>
          </a:solidFill>
          <a:ln w="12700">
            <a:solidFill>
              <a:srgbClr val="96969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18" name="Text Box 150"/>
          <p:cNvSpPr txBox="1">
            <a:spLocks noChangeArrowheads="1"/>
          </p:cNvSpPr>
          <p:nvPr/>
        </p:nvSpPr>
        <p:spPr bwMode="auto">
          <a:xfrm flipH="1">
            <a:off x="7859713" y="3924300"/>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tx1"/>
                </a:solidFill>
              </a:rPr>
              <a:t>Z4</a:t>
            </a:r>
            <a:endParaRPr lang="en-GB" altLang="en-US" b="0" i="0">
              <a:solidFill>
                <a:schemeClr val="tx1"/>
              </a:solidFill>
            </a:endParaRPr>
          </a:p>
        </p:txBody>
      </p:sp>
      <p:sp>
        <p:nvSpPr>
          <p:cNvPr id="32919" name="Text Box 151"/>
          <p:cNvSpPr txBox="1">
            <a:spLocks noChangeArrowheads="1"/>
          </p:cNvSpPr>
          <p:nvPr/>
        </p:nvSpPr>
        <p:spPr bwMode="auto">
          <a:xfrm flipH="1">
            <a:off x="7835900" y="3536950"/>
            <a:ext cx="720725"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CB open</a:t>
            </a:r>
            <a:endParaRPr lang="en-GB" altLang="en-US" b="0" i="0">
              <a:solidFill>
                <a:schemeClr val="bg2"/>
              </a:solidFill>
            </a:endParaRPr>
          </a:p>
        </p:txBody>
      </p:sp>
      <p:sp>
        <p:nvSpPr>
          <p:cNvPr id="32920" name="Line 152"/>
          <p:cNvSpPr>
            <a:spLocks noChangeShapeType="1"/>
          </p:cNvSpPr>
          <p:nvPr/>
        </p:nvSpPr>
        <p:spPr bwMode="auto">
          <a:xfrm flipH="1">
            <a:off x="6307138" y="4125913"/>
            <a:ext cx="177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21" name="Line 153"/>
          <p:cNvSpPr>
            <a:spLocks noChangeShapeType="1"/>
          </p:cNvSpPr>
          <p:nvPr/>
        </p:nvSpPr>
        <p:spPr bwMode="auto">
          <a:xfrm flipH="1" flipV="1">
            <a:off x="7685088" y="4059238"/>
            <a:ext cx="0" cy="3683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22" name="Oval 154"/>
          <p:cNvSpPr>
            <a:spLocks noChangeArrowheads="1"/>
          </p:cNvSpPr>
          <p:nvPr/>
        </p:nvSpPr>
        <p:spPr bwMode="auto">
          <a:xfrm flipH="1">
            <a:off x="7651750" y="4021138"/>
            <a:ext cx="65088"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23" name="Line 155"/>
          <p:cNvSpPr>
            <a:spLocks noChangeShapeType="1"/>
          </p:cNvSpPr>
          <p:nvPr/>
        </p:nvSpPr>
        <p:spPr bwMode="auto">
          <a:xfrm>
            <a:off x="5283200" y="3873500"/>
            <a:ext cx="595313" cy="24765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26" name="Line 158"/>
          <p:cNvSpPr>
            <a:spLocks noChangeShapeType="1"/>
          </p:cNvSpPr>
          <p:nvPr/>
        </p:nvSpPr>
        <p:spPr bwMode="auto">
          <a:xfrm>
            <a:off x="3863975" y="4911725"/>
            <a:ext cx="19208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27" name="Line 159"/>
          <p:cNvSpPr>
            <a:spLocks noChangeShapeType="1"/>
          </p:cNvSpPr>
          <p:nvPr/>
        </p:nvSpPr>
        <p:spPr bwMode="auto">
          <a:xfrm flipH="1">
            <a:off x="4056063" y="5108575"/>
            <a:ext cx="468312"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28" name="Line 160"/>
          <p:cNvSpPr>
            <a:spLocks noChangeShapeType="1"/>
          </p:cNvSpPr>
          <p:nvPr/>
        </p:nvSpPr>
        <p:spPr bwMode="auto">
          <a:xfrm flipV="1">
            <a:off x="4056063" y="4905375"/>
            <a:ext cx="0" cy="20955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30" name="Line 162"/>
          <p:cNvSpPr>
            <a:spLocks noChangeShapeType="1"/>
          </p:cNvSpPr>
          <p:nvPr/>
        </p:nvSpPr>
        <p:spPr bwMode="auto">
          <a:xfrm flipH="1">
            <a:off x="4252913" y="4975225"/>
            <a:ext cx="2651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31" name="Line 163"/>
          <p:cNvSpPr>
            <a:spLocks noChangeShapeType="1"/>
          </p:cNvSpPr>
          <p:nvPr/>
        </p:nvSpPr>
        <p:spPr bwMode="auto">
          <a:xfrm flipV="1">
            <a:off x="4252913" y="4518025"/>
            <a:ext cx="0" cy="4635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32" name="Line 164"/>
          <p:cNvSpPr>
            <a:spLocks noChangeShapeType="1"/>
          </p:cNvSpPr>
          <p:nvPr/>
        </p:nvSpPr>
        <p:spPr bwMode="auto">
          <a:xfrm flipH="1">
            <a:off x="3902075" y="4524375"/>
            <a:ext cx="3508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34" name="Line 166"/>
          <p:cNvSpPr>
            <a:spLocks noChangeShapeType="1"/>
          </p:cNvSpPr>
          <p:nvPr/>
        </p:nvSpPr>
        <p:spPr bwMode="auto">
          <a:xfrm flipH="1">
            <a:off x="7035800" y="4892675"/>
            <a:ext cx="19208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35" name="Line 167"/>
          <p:cNvSpPr>
            <a:spLocks noChangeShapeType="1"/>
          </p:cNvSpPr>
          <p:nvPr/>
        </p:nvSpPr>
        <p:spPr bwMode="auto">
          <a:xfrm>
            <a:off x="6567488" y="5089525"/>
            <a:ext cx="468312"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36" name="Line 168"/>
          <p:cNvSpPr>
            <a:spLocks noChangeShapeType="1"/>
          </p:cNvSpPr>
          <p:nvPr/>
        </p:nvSpPr>
        <p:spPr bwMode="auto">
          <a:xfrm flipH="1" flipV="1">
            <a:off x="7035800" y="4886325"/>
            <a:ext cx="0" cy="20955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2959" name="Group 191"/>
          <p:cNvGrpSpPr>
            <a:grpSpLocks/>
          </p:cNvGrpSpPr>
          <p:nvPr/>
        </p:nvGrpSpPr>
        <p:grpSpPr bwMode="auto">
          <a:xfrm>
            <a:off x="3214688" y="3294063"/>
            <a:ext cx="4546600" cy="2295525"/>
            <a:chOff x="2025" y="2075"/>
            <a:chExt cx="2864" cy="1446"/>
          </a:xfrm>
        </p:grpSpPr>
        <p:sp>
          <p:nvSpPr>
            <p:cNvPr id="32803" name="Line 35"/>
            <p:cNvSpPr>
              <a:spLocks noChangeShapeType="1"/>
            </p:cNvSpPr>
            <p:nvPr/>
          </p:nvSpPr>
          <p:spPr bwMode="auto">
            <a:xfrm>
              <a:off x="2025" y="3521"/>
              <a:ext cx="20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60" name="Line 92"/>
            <p:cNvSpPr>
              <a:spLocks noChangeShapeType="1"/>
            </p:cNvSpPr>
            <p:nvPr/>
          </p:nvSpPr>
          <p:spPr bwMode="auto">
            <a:xfrm flipH="1">
              <a:off x="4749" y="2901"/>
              <a:ext cx="1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77" name="Line 109"/>
            <p:cNvSpPr>
              <a:spLocks noChangeShapeType="1"/>
            </p:cNvSpPr>
            <p:nvPr/>
          </p:nvSpPr>
          <p:spPr bwMode="auto">
            <a:xfrm flipV="1">
              <a:off x="2190" y="2679"/>
              <a:ext cx="0" cy="8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78" name="Line 110"/>
            <p:cNvSpPr>
              <a:spLocks noChangeShapeType="1"/>
            </p:cNvSpPr>
            <p:nvPr/>
          </p:nvSpPr>
          <p:spPr bwMode="auto">
            <a:xfrm>
              <a:off x="2182" y="2684"/>
              <a:ext cx="5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91" name="Line 123"/>
            <p:cNvSpPr>
              <a:spLocks noChangeShapeType="1"/>
            </p:cNvSpPr>
            <p:nvPr/>
          </p:nvSpPr>
          <p:spPr bwMode="auto">
            <a:xfrm>
              <a:off x="2900" y="2599"/>
              <a:ext cx="17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99" name="Line 131"/>
            <p:cNvSpPr>
              <a:spLocks noChangeShapeType="1"/>
            </p:cNvSpPr>
            <p:nvPr/>
          </p:nvSpPr>
          <p:spPr bwMode="auto">
            <a:xfrm flipH="1">
              <a:off x="3973" y="2454"/>
              <a:ext cx="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08" name="Line 140"/>
            <p:cNvSpPr>
              <a:spLocks noChangeShapeType="1"/>
            </p:cNvSpPr>
            <p:nvPr/>
          </p:nvSpPr>
          <p:spPr bwMode="auto">
            <a:xfrm flipH="1" flipV="1">
              <a:off x="4882" y="2078"/>
              <a:ext cx="0" cy="8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09" name="Line 141"/>
            <p:cNvSpPr>
              <a:spLocks noChangeShapeType="1"/>
            </p:cNvSpPr>
            <p:nvPr/>
          </p:nvSpPr>
          <p:spPr bwMode="auto">
            <a:xfrm flipH="1">
              <a:off x="4045" y="2075"/>
              <a:ext cx="8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10" name="Line 142"/>
            <p:cNvSpPr>
              <a:spLocks noChangeShapeType="1"/>
            </p:cNvSpPr>
            <p:nvPr/>
          </p:nvSpPr>
          <p:spPr bwMode="auto">
            <a:xfrm flipH="1">
              <a:off x="4053" y="2075"/>
              <a:ext cx="0" cy="3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24" name="Line 156"/>
            <p:cNvSpPr>
              <a:spLocks noChangeShapeType="1"/>
            </p:cNvSpPr>
            <p:nvPr/>
          </p:nvSpPr>
          <p:spPr bwMode="auto">
            <a:xfrm flipH="1">
              <a:off x="3329" y="2444"/>
              <a:ext cx="367" cy="156"/>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38" name="Line 170"/>
            <p:cNvSpPr>
              <a:spLocks noChangeShapeType="1"/>
            </p:cNvSpPr>
            <p:nvPr/>
          </p:nvSpPr>
          <p:spPr bwMode="auto">
            <a:xfrm>
              <a:off x="4140" y="3130"/>
              <a:ext cx="16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39" name="Line 171"/>
            <p:cNvSpPr>
              <a:spLocks noChangeShapeType="1"/>
            </p:cNvSpPr>
            <p:nvPr/>
          </p:nvSpPr>
          <p:spPr bwMode="auto">
            <a:xfrm flipH="1" flipV="1">
              <a:off x="4307" y="2842"/>
              <a:ext cx="0" cy="2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40" name="Line 172"/>
            <p:cNvSpPr>
              <a:spLocks noChangeShapeType="1"/>
            </p:cNvSpPr>
            <p:nvPr/>
          </p:nvSpPr>
          <p:spPr bwMode="auto">
            <a:xfrm>
              <a:off x="4307" y="2846"/>
              <a:ext cx="24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2941" name="Text Box 173"/>
          <p:cNvSpPr txBox="1">
            <a:spLocks noChangeArrowheads="1"/>
          </p:cNvSpPr>
          <p:nvPr/>
        </p:nvSpPr>
        <p:spPr bwMode="auto">
          <a:xfrm>
            <a:off x="3578225" y="3873500"/>
            <a:ext cx="287338"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2942" name="Text Box 174"/>
          <p:cNvSpPr txBox="1">
            <a:spLocks noChangeArrowheads="1"/>
          </p:cNvSpPr>
          <p:nvPr/>
        </p:nvSpPr>
        <p:spPr bwMode="auto">
          <a:xfrm flipH="1">
            <a:off x="7223125" y="3873500"/>
            <a:ext cx="287338"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2943" name="Line 175"/>
          <p:cNvSpPr>
            <a:spLocks noChangeShapeType="1"/>
          </p:cNvSpPr>
          <p:nvPr/>
        </p:nvSpPr>
        <p:spPr bwMode="auto">
          <a:xfrm>
            <a:off x="7685088" y="4065588"/>
            <a:ext cx="1920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44" name="Line 176"/>
          <p:cNvSpPr>
            <a:spLocks noChangeShapeType="1"/>
          </p:cNvSpPr>
          <p:nvPr/>
        </p:nvSpPr>
        <p:spPr bwMode="auto">
          <a:xfrm>
            <a:off x="3208338" y="4065588"/>
            <a:ext cx="1920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45" name="Text Box 177"/>
          <p:cNvSpPr txBox="1">
            <a:spLocks noChangeArrowheads="1"/>
          </p:cNvSpPr>
          <p:nvPr/>
        </p:nvSpPr>
        <p:spPr bwMode="auto">
          <a:xfrm>
            <a:off x="4521200" y="4889500"/>
            <a:ext cx="258763" cy="668338"/>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sp>
        <p:nvSpPr>
          <p:cNvPr id="32946" name="Text Box 178"/>
          <p:cNvSpPr txBox="1">
            <a:spLocks noChangeArrowheads="1"/>
          </p:cNvSpPr>
          <p:nvPr/>
        </p:nvSpPr>
        <p:spPr bwMode="auto">
          <a:xfrm flipH="1">
            <a:off x="6310313" y="4889500"/>
            <a:ext cx="258762" cy="668338"/>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sp>
        <p:nvSpPr>
          <p:cNvPr id="32947" name="Text Box 179"/>
          <p:cNvSpPr txBox="1">
            <a:spLocks noChangeArrowheads="1"/>
          </p:cNvSpPr>
          <p:nvPr/>
        </p:nvSpPr>
        <p:spPr bwMode="auto">
          <a:xfrm>
            <a:off x="4344988" y="4011613"/>
            <a:ext cx="296862"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1</a:t>
            </a:r>
            <a:endParaRPr lang="en-GB" altLang="en-US" sz="1200" i="0">
              <a:solidFill>
                <a:schemeClr val="tx1"/>
              </a:solidFill>
            </a:endParaRPr>
          </a:p>
        </p:txBody>
      </p:sp>
      <p:sp>
        <p:nvSpPr>
          <p:cNvPr id="32948" name="Text Box 180"/>
          <p:cNvSpPr txBox="1">
            <a:spLocks noChangeArrowheads="1"/>
          </p:cNvSpPr>
          <p:nvPr/>
        </p:nvSpPr>
        <p:spPr bwMode="auto">
          <a:xfrm flipH="1">
            <a:off x="6480175" y="4011613"/>
            <a:ext cx="296863"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1</a:t>
            </a:r>
            <a:endParaRPr lang="en-GB" altLang="en-US" sz="1200" i="0">
              <a:solidFill>
                <a:schemeClr val="tx1"/>
              </a:solidFill>
            </a:endParaRPr>
          </a:p>
        </p:txBody>
      </p:sp>
      <p:sp>
        <p:nvSpPr>
          <p:cNvPr id="32950" name="Text Box 182"/>
          <p:cNvSpPr txBox="1">
            <a:spLocks noChangeArrowheads="1"/>
          </p:cNvSpPr>
          <p:nvPr/>
        </p:nvSpPr>
        <p:spPr bwMode="auto">
          <a:xfrm>
            <a:off x="713740" y="1628737"/>
            <a:ext cx="3405035" cy="11695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Send Logic : Z2</a:t>
            </a:r>
          </a:p>
          <a:p>
            <a:r>
              <a:rPr lang="en-GB" altLang="en-US" dirty="0"/>
              <a:t>Trip Logic : Rx + Z2</a:t>
            </a:r>
          </a:p>
          <a:p>
            <a:r>
              <a:rPr lang="en-GB" altLang="en-US" dirty="0"/>
              <a:t>Open terminal echo : CB Open + Rx</a:t>
            </a:r>
          </a:p>
          <a:p>
            <a:r>
              <a:rPr lang="en-GB" altLang="en-US" dirty="0"/>
              <a:t>Weak Infeed echo : </a:t>
            </a:r>
            <a:r>
              <a:rPr lang="en-GB" altLang="en-US" u="sng" dirty="0"/>
              <a:t>Z4</a:t>
            </a:r>
            <a:r>
              <a:rPr lang="en-GB" altLang="en-US" dirty="0"/>
              <a:t> + Rx</a:t>
            </a:r>
          </a:p>
          <a:p>
            <a:r>
              <a:rPr lang="en-GB" altLang="en-US" dirty="0"/>
              <a:t>Weak Infeed trip : </a:t>
            </a:r>
            <a:r>
              <a:rPr lang="en-GB" altLang="en-US" u="sng" dirty="0"/>
              <a:t>Z4</a:t>
            </a:r>
            <a:r>
              <a:rPr lang="en-GB" altLang="en-US" dirty="0"/>
              <a:t> + LDOV reset + Rx</a:t>
            </a:r>
          </a:p>
        </p:txBody>
      </p:sp>
      <p:grpSp>
        <p:nvGrpSpPr>
          <p:cNvPr id="32953" name="Group 185"/>
          <p:cNvGrpSpPr>
            <a:grpSpLocks/>
          </p:cNvGrpSpPr>
          <p:nvPr/>
        </p:nvGrpSpPr>
        <p:grpSpPr bwMode="auto">
          <a:xfrm>
            <a:off x="5688013" y="1704670"/>
            <a:ext cx="104775" cy="396875"/>
            <a:chOff x="5516" y="4124"/>
            <a:chExt cx="164" cy="544"/>
          </a:xfrm>
        </p:grpSpPr>
        <p:sp>
          <p:nvSpPr>
            <p:cNvPr id="32954" name="Line 186"/>
            <p:cNvSpPr>
              <a:spLocks noChangeShapeType="1"/>
            </p:cNvSpPr>
            <p:nvPr/>
          </p:nvSpPr>
          <p:spPr bwMode="auto">
            <a:xfrm flipH="1">
              <a:off x="5516" y="4360"/>
              <a:ext cx="157" cy="308"/>
            </a:xfrm>
            <a:prstGeom prst="line">
              <a:avLst/>
            </a:prstGeom>
            <a:noFill/>
            <a:ln w="19050">
              <a:solidFill>
                <a:srgbClr val="000000"/>
              </a:solidFill>
              <a:round/>
              <a:headEnd type="none" w="med"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2955" name="Line 187"/>
            <p:cNvSpPr>
              <a:spLocks noChangeShapeType="1"/>
            </p:cNvSpPr>
            <p:nvPr/>
          </p:nvSpPr>
          <p:spPr bwMode="auto">
            <a:xfrm flipH="1">
              <a:off x="5516" y="4124"/>
              <a:ext cx="129" cy="259"/>
            </a:xfrm>
            <a:prstGeom prst="line">
              <a:avLst/>
            </a:prstGeom>
            <a:noFill/>
            <a:ln w="19050">
              <a:solidFill>
                <a:srgbClr val="0000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2956" name="Line 188"/>
            <p:cNvSpPr>
              <a:spLocks noChangeShapeType="1"/>
            </p:cNvSpPr>
            <p:nvPr/>
          </p:nvSpPr>
          <p:spPr bwMode="auto">
            <a:xfrm>
              <a:off x="5524" y="4375"/>
              <a:ext cx="156" cy="0"/>
            </a:xfrm>
            <a:prstGeom prst="line">
              <a:avLst/>
            </a:prstGeom>
            <a:noFill/>
            <a:ln w="1905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81921" name="Rectangle 1"/>
          <p:cNvSpPr>
            <a:spLocks noGrp="1" noChangeArrowheads="1"/>
          </p:cNvSpPr>
          <p:nvPr>
            <p:ph type="title"/>
          </p:nvPr>
        </p:nvSpPr>
        <p:spPr>
          <a:xfrm>
            <a:off x="431800" y="77789"/>
            <a:ext cx="8280400" cy="937062"/>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a:t>Permissive Overreach Weak Infeed Trip Scheme</a:t>
            </a:r>
          </a:p>
        </p:txBody>
      </p:sp>
      <p:grpSp>
        <p:nvGrpSpPr>
          <p:cNvPr id="32960" name="Group 192"/>
          <p:cNvGrpSpPr>
            <a:grpSpLocks/>
          </p:cNvGrpSpPr>
          <p:nvPr/>
        </p:nvGrpSpPr>
        <p:grpSpPr bwMode="auto">
          <a:xfrm>
            <a:off x="3214688" y="3294063"/>
            <a:ext cx="4546600" cy="2295525"/>
            <a:chOff x="2025" y="2075"/>
            <a:chExt cx="2864" cy="1446"/>
          </a:xfrm>
        </p:grpSpPr>
        <p:sp>
          <p:nvSpPr>
            <p:cNvPr id="32961" name="Line 193"/>
            <p:cNvSpPr>
              <a:spLocks noChangeShapeType="1"/>
            </p:cNvSpPr>
            <p:nvPr/>
          </p:nvSpPr>
          <p:spPr bwMode="auto">
            <a:xfrm>
              <a:off x="2025" y="3521"/>
              <a:ext cx="20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62" name="Line 194"/>
            <p:cNvSpPr>
              <a:spLocks noChangeShapeType="1"/>
            </p:cNvSpPr>
            <p:nvPr/>
          </p:nvSpPr>
          <p:spPr bwMode="auto">
            <a:xfrm flipH="1">
              <a:off x="4749" y="2901"/>
              <a:ext cx="13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63" name="Line 195"/>
            <p:cNvSpPr>
              <a:spLocks noChangeShapeType="1"/>
            </p:cNvSpPr>
            <p:nvPr/>
          </p:nvSpPr>
          <p:spPr bwMode="auto">
            <a:xfrm flipV="1">
              <a:off x="2190" y="2679"/>
              <a:ext cx="0" cy="84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64" name="Line 196"/>
            <p:cNvSpPr>
              <a:spLocks noChangeShapeType="1"/>
            </p:cNvSpPr>
            <p:nvPr/>
          </p:nvSpPr>
          <p:spPr bwMode="auto">
            <a:xfrm>
              <a:off x="2182" y="2684"/>
              <a:ext cx="55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65" name="Line 197"/>
            <p:cNvSpPr>
              <a:spLocks noChangeShapeType="1"/>
            </p:cNvSpPr>
            <p:nvPr/>
          </p:nvSpPr>
          <p:spPr bwMode="auto">
            <a:xfrm>
              <a:off x="2900" y="2599"/>
              <a:ext cx="17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66" name="Line 198"/>
            <p:cNvSpPr>
              <a:spLocks noChangeShapeType="1"/>
            </p:cNvSpPr>
            <p:nvPr/>
          </p:nvSpPr>
          <p:spPr bwMode="auto">
            <a:xfrm flipH="1">
              <a:off x="3973" y="2454"/>
              <a:ext cx="8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67" name="Line 199"/>
            <p:cNvSpPr>
              <a:spLocks noChangeShapeType="1"/>
            </p:cNvSpPr>
            <p:nvPr/>
          </p:nvSpPr>
          <p:spPr bwMode="auto">
            <a:xfrm flipH="1" flipV="1">
              <a:off x="4882" y="2078"/>
              <a:ext cx="0" cy="81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68" name="Line 200"/>
            <p:cNvSpPr>
              <a:spLocks noChangeShapeType="1"/>
            </p:cNvSpPr>
            <p:nvPr/>
          </p:nvSpPr>
          <p:spPr bwMode="auto">
            <a:xfrm flipH="1">
              <a:off x="4045" y="2075"/>
              <a:ext cx="84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69" name="Line 201"/>
            <p:cNvSpPr>
              <a:spLocks noChangeShapeType="1"/>
            </p:cNvSpPr>
            <p:nvPr/>
          </p:nvSpPr>
          <p:spPr bwMode="auto">
            <a:xfrm flipH="1">
              <a:off x="4053" y="2075"/>
              <a:ext cx="0" cy="38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70" name="Line 202"/>
            <p:cNvSpPr>
              <a:spLocks noChangeShapeType="1"/>
            </p:cNvSpPr>
            <p:nvPr/>
          </p:nvSpPr>
          <p:spPr bwMode="auto">
            <a:xfrm flipH="1">
              <a:off x="3329" y="2444"/>
              <a:ext cx="367" cy="156"/>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71" name="Line 203"/>
            <p:cNvSpPr>
              <a:spLocks noChangeShapeType="1"/>
            </p:cNvSpPr>
            <p:nvPr/>
          </p:nvSpPr>
          <p:spPr bwMode="auto">
            <a:xfrm>
              <a:off x="4140" y="3130"/>
              <a:ext cx="167"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72" name="Line 204"/>
            <p:cNvSpPr>
              <a:spLocks noChangeShapeType="1"/>
            </p:cNvSpPr>
            <p:nvPr/>
          </p:nvSpPr>
          <p:spPr bwMode="auto">
            <a:xfrm flipH="1" flipV="1">
              <a:off x="4307" y="2842"/>
              <a:ext cx="0" cy="29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73" name="Line 205"/>
            <p:cNvSpPr>
              <a:spLocks noChangeShapeType="1"/>
            </p:cNvSpPr>
            <p:nvPr/>
          </p:nvSpPr>
          <p:spPr bwMode="auto">
            <a:xfrm>
              <a:off x="4307" y="2846"/>
              <a:ext cx="24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37550173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7" name="Rectangle 7"/>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dirty="0"/>
              <a:t>Permissive Overreach Transfer Trip</a:t>
            </a:r>
            <a:br>
              <a:rPr lang="en-GB" altLang="en-US" dirty="0"/>
            </a:br>
            <a:r>
              <a:rPr lang="en-GB" altLang="en-US" dirty="0"/>
              <a:t>Advantages</a:t>
            </a:r>
          </a:p>
        </p:txBody>
      </p:sp>
      <p:sp>
        <p:nvSpPr>
          <p:cNvPr id="35848" name="Rectangle 8"/>
          <p:cNvSpPr>
            <a:spLocks noGrp="1" noChangeArrowheads="1"/>
          </p:cNvSpPr>
          <p:nvPr>
            <p:ph type="body" idx="1"/>
          </p:nvPr>
        </p:nvSpPr>
        <p:spPr>
          <a:xfrm>
            <a:off x="431800" y="1568958"/>
            <a:ext cx="8280400" cy="4525962"/>
          </a:xfrm>
        </p:spPr>
        <p:txBody>
          <a:bodyPr/>
          <a:lstStyle/>
          <a:p>
            <a:r>
              <a:rPr lang="en-GB" altLang="en-US" dirty="0"/>
              <a:t>Provides better resistive coverage, especially on short lines, where MHO measuring elements are used</a:t>
            </a:r>
          </a:p>
          <a:p>
            <a:r>
              <a:rPr lang="en-GB" altLang="en-US" dirty="0"/>
              <a:t>For cases where one line terminal is open, open breaker echo logic can be used</a:t>
            </a:r>
          </a:p>
          <a:p>
            <a:r>
              <a:rPr lang="en-GB" altLang="en-US" dirty="0"/>
              <a:t>For cases of weak or zero infeed at one line terminal weak infeed logic can be used (reverse looking zone required)</a:t>
            </a:r>
          </a:p>
        </p:txBody>
      </p:sp>
    </p:spTree>
    <p:extLst>
      <p:ext uri="{BB962C8B-B14F-4D97-AF65-F5344CB8AC3E}">
        <p14:creationId xmlns:p14="http://schemas.microsoft.com/office/powerpoint/2010/main" val="34001102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1"/>
          <p:cNvSpPr>
            <a:spLocks noGrp="1" noChangeArrowheads="1"/>
          </p:cNvSpPr>
          <p:nvPr>
            <p:ph type="title"/>
          </p:nvPr>
        </p:nvSpPr>
        <p:spPr>
          <a:xfrm>
            <a:off x="431800" y="77789"/>
            <a:ext cx="8280400" cy="937062"/>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a:t>Permissive Overreach </a:t>
            </a:r>
            <a:br>
              <a:rPr lang="en-GB" altLang="en-US" sz="3600" dirty="0"/>
            </a:br>
            <a:r>
              <a:rPr lang="en-GB" altLang="en-US" sz="3600" dirty="0"/>
              <a:t>Current reversal Guard</a:t>
            </a:r>
          </a:p>
        </p:txBody>
      </p:sp>
      <p:sp>
        <p:nvSpPr>
          <p:cNvPr id="184" name="Rectangle 8"/>
          <p:cNvSpPr txBox="1">
            <a:spLocks noChangeArrowheads="1"/>
          </p:cNvSpPr>
          <p:nvPr/>
        </p:nvSpPr>
        <p:spPr>
          <a:xfrm>
            <a:off x="431800" y="1568958"/>
            <a:ext cx="8280400" cy="4525962"/>
          </a:xfrm>
          <a:prstGeom prst="rect">
            <a:avLst/>
          </a:prstGeom>
        </p:spPr>
        <p:txBody>
          <a:bodyPr/>
          <a:lstStyle>
            <a:lvl1pPr marL="180975" indent="-180975" algn="l" rtl="0" fontAlgn="base">
              <a:spcBef>
                <a:spcPct val="20000"/>
              </a:spcBef>
              <a:spcAft>
                <a:spcPct val="0"/>
              </a:spcAft>
              <a:buClr>
                <a:schemeClr val="accent1"/>
              </a:buClr>
              <a:buFont typeface="Arial" panose="020B0604020202020204" pitchFamily="34" charset="0"/>
              <a:buChar char="●"/>
              <a:defRPr sz="2400" kern="1200">
                <a:solidFill>
                  <a:schemeClr val="accent1"/>
                </a:solidFill>
                <a:latin typeface="Arial" panose="020B0604020202020204" pitchFamily="34" charset="0"/>
                <a:ea typeface="+mn-ea"/>
                <a:cs typeface="Arial" panose="020B0604020202020204" pitchFamily="34" charset="0"/>
              </a:defRPr>
            </a:lvl1pPr>
            <a:lvl2pPr marL="541338" indent="-180975" algn="l" rtl="0" fontAlgn="base">
              <a:spcBef>
                <a:spcPct val="20000"/>
              </a:spcBef>
              <a:spcAft>
                <a:spcPct val="0"/>
              </a:spcAft>
              <a:buClr>
                <a:schemeClr val="bg2"/>
              </a:buClr>
              <a:buFont typeface="Arial" panose="020B0604020202020204" pitchFamily="34" charset="0"/>
              <a:buChar char="●"/>
              <a:defRPr sz="2400" kern="1200">
                <a:solidFill>
                  <a:schemeClr val="bg2"/>
                </a:solidFill>
                <a:latin typeface="Arial" panose="020B0604020202020204" pitchFamily="34" charset="0"/>
                <a:ea typeface="+mn-ea"/>
                <a:cs typeface="Arial" panose="020B0604020202020204" pitchFamily="34" charset="0"/>
              </a:defRPr>
            </a:lvl2pPr>
            <a:lvl3pPr marL="990600" indent="-173038" algn="l" rtl="0" fontAlgn="base">
              <a:spcBef>
                <a:spcPct val="20000"/>
              </a:spcBef>
              <a:spcAft>
                <a:spcPct val="0"/>
              </a:spcAft>
              <a:buClr>
                <a:schemeClr val="bg2"/>
              </a:buClr>
              <a:buFont typeface="Arial" panose="020B0604020202020204" pitchFamily="34" charset="0"/>
              <a:buChar char="●"/>
              <a:defRPr sz="2400" kern="1200">
                <a:solidFill>
                  <a:schemeClr val="bg2"/>
                </a:solidFill>
                <a:latin typeface="Arial" panose="020B0604020202020204" pitchFamily="34" charset="0"/>
                <a:ea typeface="+mn-ea"/>
                <a:cs typeface="Arial" panose="020B0604020202020204" pitchFamily="34" charset="0"/>
              </a:defRPr>
            </a:lvl3pPr>
            <a:lvl4pPr marL="1751013" indent="-228600" algn="l" rtl="0" fontAlgn="base">
              <a:spcBef>
                <a:spcPct val="20000"/>
              </a:spcBef>
              <a:spcAft>
                <a:spcPct val="0"/>
              </a:spcAft>
              <a:buChar char="–"/>
              <a:defRPr sz="2000" kern="1200">
                <a:solidFill>
                  <a:schemeClr val="tx1"/>
                </a:solidFill>
                <a:latin typeface="Arial" panose="020B0604020202020204" pitchFamily="34" charset="0"/>
                <a:ea typeface="+mn-ea"/>
                <a:cs typeface="+mn-cs"/>
              </a:defRPr>
            </a:lvl4pPr>
            <a:lvl5pPr marL="2159000" indent="-228600" algn="l" rtl="0" fontAlgn="base">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endParaRPr lang="en-GB" altLang="en-US" dirty="0"/>
          </a:p>
        </p:txBody>
      </p:sp>
      <p:sp>
        <p:nvSpPr>
          <p:cNvPr id="3" name="Rectangle 2"/>
          <p:cNvSpPr/>
          <p:nvPr/>
        </p:nvSpPr>
        <p:spPr>
          <a:xfrm>
            <a:off x="396240" y="1166287"/>
            <a:ext cx="8747760" cy="12945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D1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18000" bIns="10800" numCol="1" anchor="t" anchorCtr="0" compatLnSpc="1">
            <a:prstTxWarp prst="textNoShape">
              <a:avLst/>
            </a:prstTxWarp>
          </a:bodyPr>
          <a:lstStyle/>
          <a:p>
            <a:pPr marL="180975" indent="-180975" algn="l">
              <a:spcBef>
                <a:spcPct val="20000"/>
              </a:spcBef>
              <a:buClr>
                <a:schemeClr val="accent1"/>
              </a:buClr>
              <a:buFont typeface="Arial" panose="020B0604020202020204" pitchFamily="34" charset="0"/>
              <a:buChar char="●"/>
            </a:pPr>
            <a:r>
              <a:rPr lang="en-US" sz="2400" dirty="0">
                <a:solidFill>
                  <a:schemeClr val="accent1"/>
                </a:solidFill>
                <a:latin typeface="Arial" panose="020B0604020202020204" pitchFamily="34" charset="0"/>
                <a:cs typeface="Arial" panose="020B0604020202020204" pitchFamily="34" charset="0"/>
              </a:rPr>
              <a:t>For double circuit lines, the fault current direction can change in one circuit when circuit breakers open sequentially to clear the fault on the parallel circuit. </a:t>
            </a:r>
          </a:p>
          <a:p>
            <a:pPr marL="180975" indent="-180975" algn="l">
              <a:spcBef>
                <a:spcPct val="20000"/>
              </a:spcBef>
              <a:buClr>
                <a:schemeClr val="accent1"/>
              </a:buClr>
              <a:buFont typeface="Arial" panose="020B0604020202020204" pitchFamily="34" charset="0"/>
              <a:buChar char="●"/>
            </a:pPr>
            <a:r>
              <a:rPr lang="en-US" sz="2400" dirty="0">
                <a:solidFill>
                  <a:schemeClr val="accent1"/>
                </a:solidFill>
                <a:latin typeface="Arial" panose="020B0604020202020204" pitchFamily="34" charset="0"/>
                <a:cs typeface="Arial" panose="020B0604020202020204" pitchFamily="34" charset="0"/>
              </a:rPr>
              <a:t>The change in current direction causes the overreaching distance elements to see the fault in the opposite direction to the direction in which the fault was initially detected (settings of these elements exceed 150% of the line impedance at each terminal). </a:t>
            </a:r>
          </a:p>
          <a:p>
            <a:pPr marL="180975" indent="-180975" algn="l">
              <a:spcBef>
                <a:spcPct val="20000"/>
              </a:spcBef>
              <a:buClr>
                <a:schemeClr val="accent1"/>
              </a:buClr>
              <a:buFont typeface="Arial" panose="020B0604020202020204" pitchFamily="34" charset="0"/>
              <a:buChar char="●"/>
            </a:pPr>
            <a:r>
              <a:rPr lang="en-US" sz="2400" dirty="0">
                <a:solidFill>
                  <a:schemeClr val="accent1"/>
                </a:solidFill>
                <a:latin typeface="Arial" panose="020B0604020202020204" pitchFamily="34" charset="0"/>
                <a:cs typeface="Arial" panose="020B0604020202020204" pitchFamily="34" charset="0"/>
              </a:rPr>
              <a:t>The race between operation and resetting of the overreaching distance elements at each line terminal can cause the Permissive Overreach, to trip the healthy line. </a:t>
            </a:r>
          </a:p>
          <a:p>
            <a:pPr marL="180975" indent="-180975" algn="l">
              <a:spcBef>
                <a:spcPct val="20000"/>
              </a:spcBef>
              <a:buClr>
                <a:schemeClr val="accent1"/>
              </a:buClr>
              <a:buFont typeface="Arial" panose="020B0604020202020204" pitchFamily="34" charset="0"/>
              <a:buChar char="●"/>
            </a:pPr>
            <a:r>
              <a:rPr lang="en-US" sz="2400" dirty="0">
                <a:solidFill>
                  <a:schemeClr val="accent1"/>
                </a:solidFill>
                <a:latin typeface="Arial" panose="020B0604020202020204" pitchFamily="34" charset="0"/>
                <a:cs typeface="Arial" panose="020B0604020202020204" pitchFamily="34" charset="0"/>
              </a:rPr>
              <a:t>Line L1 close to circuit breaker B, as circuit breaker B trips it causes the direction of current flow in line L2 to reverse.</a:t>
            </a:r>
          </a:p>
        </p:txBody>
      </p:sp>
    </p:spTree>
    <p:extLst>
      <p:ext uri="{BB962C8B-B14F-4D97-AF65-F5344CB8AC3E}">
        <p14:creationId xmlns:p14="http://schemas.microsoft.com/office/powerpoint/2010/main" val="377408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Current reversal guard:</a:t>
            </a:r>
          </a:p>
        </p:txBody>
      </p:sp>
      <p:pic>
        <p:nvPicPr>
          <p:cNvPr id="3" name="Picture 2"/>
          <p:cNvPicPr>
            <a:picLocks noChangeAspect="1"/>
          </p:cNvPicPr>
          <p:nvPr/>
        </p:nvPicPr>
        <p:blipFill>
          <a:blip r:embed="rId2"/>
          <a:stretch>
            <a:fillRect/>
          </a:stretch>
        </p:blipFill>
        <p:spPr>
          <a:xfrm>
            <a:off x="431800" y="1301685"/>
            <a:ext cx="4139565" cy="2135570"/>
          </a:xfrm>
          <a:prstGeom prst="rect">
            <a:avLst/>
          </a:prstGeom>
        </p:spPr>
      </p:pic>
      <p:pic>
        <p:nvPicPr>
          <p:cNvPr id="4" name="Picture 3"/>
          <p:cNvPicPr>
            <a:picLocks noChangeAspect="1"/>
          </p:cNvPicPr>
          <p:nvPr/>
        </p:nvPicPr>
        <p:blipFill>
          <a:blip r:embed="rId3"/>
          <a:stretch>
            <a:fillRect/>
          </a:stretch>
        </p:blipFill>
        <p:spPr>
          <a:xfrm>
            <a:off x="4571365" y="1301685"/>
            <a:ext cx="4066567" cy="2249137"/>
          </a:xfrm>
          <a:prstGeom prst="rect">
            <a:avLst/>
          </a:prstGeom>
        </p:spPr>
      </p:pic>
      <p:pic>
        <p:nvPicPr>
          <p:cNvPr id="5" name="Picture 4"/>
          <p:cNvPicPr>
            <a:picLocks noChangeAspect="1"/>
          </p:cNvPicPr>
          <p:nvPr/>
        </p:nvPicPr>
        <p:blipFill>
          <a:blip r:embed="rId4"/>
          <a:stretch>
            <a:fillRect/>
          </a:stretch>
        </p:blipFill>
        <p:spPr>
          <a:xfrm>
            <a:off x="3910965" y="3623782"/>
            <a:ext cx="5060315" cy="517062"/>
          </a:xfrm>
          <a:prstGeom prst="rect">
            <a:avLst/>
          </a:prstGeom>
        </p:spPr>
      </p:pic>
      <p:sp>
        <p:nvSpPr>
          <p:cNvPr id="6" name="Rectangle 5"/>
          <p:cNvSpPr/>
          <p:nvPr/>
        </p:nvSpPr>
        <p:spPr>
          <a:xfrm>
            <a:off x="589280" y="4745551"/>
            <a:ext cx="8285480" cy="159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D1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18000" bIns="10800" numCol="1" anchor="t" anchorCtr="0" compatLnSpc="1">
            <a:prstTxWarp prst="textNoShape">
              <a:avLst/>
            </a:prstTxWarp>
          </a:bodyPr>
          <a:lstStyle/>
          <a:p>
            <a:pPr marL="180975" indent="-180975" algn="l">
              <a:spcBef>
                <a:spcPct val="20000"/>
              </a:spcBef>
              <a:buClr>
                <a:schemeClr val="accent1"/>
              </a:buClr>
              <a:buFont typeface="Arial" panose="020B0604020202020204" pitchFamily="34" charset="0"/>
              <a:buChar char="●"/>
            </a:pPr>
            <a:r>
              <a:rPr lang="en-US" sz="2400" dirty="0">
                <a:solidFill>
                  <a:schemeClr val="accent1"/>
                </a:solidFill>
                <a:latin typeface="Arial" panose="020B0604020202020204" pitchFamily="34" charset="0"/>
                <a:cs typeface="Arial" panose="020B0604020202020204" pitchFamily="34" charset="0"/>
              </a:rPr>
              <a:t>A time delay </a:t>
            </a:r>
            <a:r>
              <a:rPr lang="en-US" sz="2400" dirty="0" err="1">
                <a:solidFill>
                  <a:schemeClr val="accent1"/>
                </a:solidFill>
                <a:latin typeface="Arial" panose="020B0604020202020204" pitchFamily="34" charset="0"/>
                <a:cs typeface="Arial" panose="020B0604020202020204" pitchFamily="34" charset="0"/>
              </a:rPr>
              <a:t>tREVERSAL</a:t>
            </a:r>
            <a:r>
              <a:rPr lang="en-US" sz="2400" dirty="0">
                <a:solidFill>
                  <a:schemeClr val="accent1"/>
                </a:solidFill>
                <a:latin typeface="Arial" panose="020B0604020202020204" pitchFamily="34" charset="0"/>
                <a:cs typeface="Arial" panose="020B0604020202020204" pitchFamily="34" charset="0"/>
              </a:rPr>
              <a:t> GUARD is required in case the overreaching trip element at end D operates before the signal send from the relay at end C has reset. Otherwise this would cause the relay at D to over trip.</a:t>
            </a:r>
          </a:p>
        </p:txBody>
      </p:sp>
    </p:spTree>
    <p:extLst>
      <p:ext uri="{BB962C8B-B14F-4D97-AF65-F5344CB8AC3E}">
        <p14:creationId xmlns:p14="http://schemas.microsoft.com/office/powerpoint/2010/main" val="123520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ctrTitle"/>
          </p:nvPr>
        </p:nvSpPr>
        <p:spPr>
          <a:xfrm>
            <a:off x="989486" y="2039263"/>
            <a:ext cx="7231062" cy="1143000"/>
          </a:xfrm>
        </p:spPr>
        <p:txBody>
          <a:bodyPr/>
          <a:lstStyle/>
          <a:p>
            <a:r>
              <a:rPr lang="fr-FR" altLang="en-US" sz="3600" dirty="0" err="1"/>
              <a:t>Blocking</a:t>
            </a:r>
            <a:r>
              <a:rPr lang="fr-FR" altLang="en-US" sz="3600" dirty="0"/>
              <a:t> </a:t>
            </a:r>
            <a:r>
              <a:rPr lang="fr-FR" altLang="en-US" sz="3600" dirty="0" err="1"/>
              <a:t>Schemes</a:t>
            </a:r>
            <a:endParaRPr lang="en-GB" altLang="en-US" sz="3600" dirty="0"/>
          </a:p>
        </p:txBody>
      </p:sp>
    </p:spTree>
    <p:extLst>
      <p:ext uri="{BB962C8B-B14F-4D97-AF65-F5344CB8AC3E}">
        <p14:creationId xmlns:p14="http://schemas.microsoft.com/office/powerpoint/2010/main" val="297720326"/>
      </p:ext>
    </p:extLst>
  </p:cSld>
  <p:clrMapOvr>
    <a:masterClrMapping/>
  </p:clrMapOvr>
  <p:transition>
    <p:randomBa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Line 1026"/>
          <p:cNvSpPr>
            <a:spLocks noChangeShapeType="1"/>
          </p:cNvSpPr>
          <p:nvPr/>
        </p:nvSpPr>
        <p:spPr bwMode="auto">
          <a:xfrm>
            <a:off x="6837363" y="5576888"/>
            <a:ext cx="84137"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5" name="Text Box 1027"/>
          <p:cNvSpPr txBox="1">
            <a:spLocks noChangeArrowheads="1"/>
          </p:cNvSpPr>
          <p:nvPr/>
        </p:nvSpPr>
        <p:spPr bwMode="auto">
          <a:xfrm>
            <a:off x="2208213" y="601662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54276" name="Text Box 1028"/>
          <p:cNvSpPr txBox="1">
            <a:spLocks noChangeArrowheads="1"/>
          </p:cNvSpPr>
          <p:nvPr/>
        </p:nvSpPr>
        <p:spPr bwMode="auto">
          <a:xfrm>
            <a:off x="2208213" y="543877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54277" name="Text Box 1029"/>
          <p:cNvSpPr txBox="1">
            <a:spLocks noChangeArrowheads="1"/>
          </p:cNvSpPr>
          <p:nvPr/>
        </p:nvSpPr>
        <p:spPr bwMode="auto">
          <a:xfrm>
            <a:off x="2208213" y="507682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54278" name="Line 1030"/>
          <p:cNvSpPr>
            <a:spLocks noChangeShapeType="1"/>
          </p:cNvSpPr>
          <p:nvPr/>
        </p:nvSpPr>
        <p:spPr bwMode="auto">
          <a:xfrm>
            <a:off x="2514600" y="5219700"/>
            <a:ext cx="13001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9" name="Text Box 1031"/>
          <p:cNvSpPr txBox="1">
            <a:spLocks noChangeArrowheads="1"/>
          </p:cNvSpPr>
          <p:nvPr/>
        </p:nvSpPr>
        <p:spPr bwMode="auto">
          <a:xfrm>
            <a:off x="2884488" y="601662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54280" name="Line 1032"/>
          <p:cNvSpPr>
            <a:spLocks noChangeShapeType="1"/>
          </p:cNvSpPr>
          <p:nvPr/>
        </p:nvSpPr>
        <p:spPr bwMode="auto">
          <a:xfrm>
            <a:off x="2643188" y="6167438"/>
            <a:ext cx="24447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1" name="Line 1033"/>
          <p:cNvSpPr>
            <a:spLocks noChangeShapeType="1"/>
          </p:cNvSpPr>
          <p:nvPr/>
        </p:nvSpPr>
        <p:spPr bwMode="auto">
          <a:xfrm>
            <a:off x="3254375" y="5583238"/>
            <a:ext cx="66675"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2" name="Line 1034"/>
          <p:cNvSpPr>
            <a:spLocks noChangeShapeType="1"/>
          </p:cNvSpPr>
          <p:nvPr/>
        </p:nvSpPr>
        <p:spPr bwMode="auto">
          <a:xfrm flipV="1">
            <a:off x="3314700" y="5322888"/>
            <a:ext cx="0" cy="26670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3" name="Line 1035"/>
          <p:cNvSpPr>
            <a:spLocks noChangeShapeType="1"/>
          </p:cNvSpPr>
          <p:nvPr/>
        </p:nvSpPr>
        <p:spPr bwMode="auto">
          <a:xfrm>
            <a:off x="3319463" y="5332413"/>
            <a:ext cx="503237"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4" name="Line 1036"/>
          <p:cNvSpPr>
            <a:spLocks noChangeShapeType="1"/>
          </p:cNvSpPr>
          <p:nvPr/>
        </p:nvSpPr>
        <p:spPr bwMode="auto">
          <a:xfrm>
            <a:off x="3278188" y="6165850"/>
            <a:ext cx="277812"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5" name="Line 1037"/>
          <p:cNvSpPr>
            <a:spLocks noChangeShapeType="1"/>
          </p:cNvSpPr>
          <p:nvPr/>
        </p:nvSpPr>
        <p:spPr bwMode="auto">
          <a:xfrm flipV="1">
            <a:off x="3556000" y="5435600"/>
            <a:ext cx="0" cy="74453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6" name="Line 1038"/>
          <p:cNvSpPr>
            <a:spLocks noChangeShapeType="1"/>
          </p:cNvSpPr>
          <p:nvPr/>
        </p:nvSpPr>
        <p:spPr bwMode="auto">
          <a:xfrm>
            <a:off x="3556000" y="5437188"/>
            <a:ext cx="2619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7" name="Text Box 1039"/>
          <p:cNvSpPr txBox="1">
            <a:spLocks noChangeArrowheads="1"/>
          </p:cNvSpPr>
          <p:nvPr/>
        </p:nvSpPr>
        <p:spPr bwMode="auto">
          <a:xfrm>
            <a:off x="4176713" y="5095875"/>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Trip</a:t>
            </a:r>
          </a:p>
        </p:txBody>
      </p:sp>
      <p:sp>
        <p:nvSpPr>
          <p:cNvPr id="54288" name="Text Box 1040"/>
          <p:cNvSpPr txBox="1">
            <a:spLocks noChangeArrowheads="1"/>
          </p:cNvSpPr>
          <p:nvPr/>
        </p:nvSpPr>
        <p:spPr bwMode="auto">
          <a:xfrm>
            <a:off x="2878138" y="4764088"/>
            <a:ext cx="322262"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54289" name="Line 1041"/>
          <p:cNvSpPr>
            <a:spLocks noChangeShapeType="1"/>
          </p:cNvSpPr>
          <p:nvPr/>
        </p:nvSpPr>
        <p:spPr bwMode="auto">
          <a:xfrm>
            <a:off x="2506663" y="4841875"/>
            <a:ext cx="304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0" name="Text Box 1042"/>
          <p:cNvSpPr txBox="1">
            <a:spLocks noChangeArrowheads="1"/>
          </p:cNvSpPr>
          <p:nvPr/>
        </p:nvSpPr>
        <p:spPr bwMode="auto">
          <a:xfrm>
            <a:off x="2878138" y="544512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54291" name="Line 1043"/>
          <p:cNvSpPr>
            <a:spLocks noChangeShapeType="1"/>
          </p:cNvSpPr>
          <p:nvPr/>
        </p:nvSpPr>
        <p:spPr bwMode="auto">
          <a:xfrm>
            <a:off x="2786063" y="5589588"/>
            <a:ext cx="84137"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2" name="Oval 1044"/>
          <p:cNvSpPr>
            <a:spLocks noChangeArrowheads="1"/>
          </p:cNvSpPr>
          <p:nvPr/>
        </p:nvSpPr>
        <p:spPr bwMode="auto">
          <a:xfrm>
            <a:off x="2744788" y="493871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3" name="Oval 1045"/>
          <p:cNvSpPr>
            <a:spLocks noChangeArrowheads="1"/>
          </p:cNvSpPr>
          <p:nvPr/>
        </p:nvSpPr>
        <p:spPr bwMode="auto">
          <a:xfrm>
            <a:off x="2743200" y="554672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4" name="Text Box 1046"/>
          <p:cNvSpPr txBox="1">
            <a:spLocks noChangeArrowheads="1"/>
          </p:cNvSpPr>
          <p:nvPr/>
        </p:nvSpPr>
        <p:spPr bwMode="auto">
          <a:xfrm>
            <a:off x="2878138" y="3492500"/>
            <a:ext cx="322262"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54295" name="Line 1047"/>
          <p:cNvSpPr>
            <a:spLocks noChangeShapeType="1"/>
          </p:cNvSpPr>
          <p:nvPr/>
        </p:nvSpPr>
        <p:spPr bwMode="auto">
          <a:xfrm>
            <a:off x="3449638" y="4121150"/>
            <a:ext cx="6921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6" name="Text Box 1048"/>
          <p:cNvSpPr txBox="1">
            <a:spLocks noChangeArrowheads="1"/>
          </p:cNvSpPr>
          <p:nvPr/>
        </p:nvSpPr>
        <p:spPr bwMode="auto">
          <a:xfrm>
            <a:off x="4149725" y="3751263"/>
            <a:ext cx="412750"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54297" name="Line 1049"/>
          <p:cNvSpPr>
            <a:spLocks noChangeShapeType="1"/>
          </p:cNvSpPr>
          <p:nvPr/>
        </p:nvSpPr>
        <p:spPr bwMode="auto">
          <a:xfrm>
            <a:off x="3954463" y="3895725"/>
            <a:ext cx="203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8" name="Line 1050"/>
          <p:cNvSpPr>
            <a:spLocks noChangeShapeType="1"/>
          </p:cNvSpPr>
          <p:nvPr/>
        </p:nvSpPr>
        <p:spPr bwMode="auto">
          <a:xfrm>
            <a:off x="4144963" y="4000500"/>
            <a:ext cx="406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9" name="Line 1051"/>
          <p:cNvSpPr>
            <a:spLocks noChangeShapeType="1"/>
          </p:cNvSpPr>
          <p:nvPr/>
        </p:nvSpPr>
        <p:spPr bwMode="auto">
          <a:xfrm flipV="1">
            <a:off x="3449638" y="3636963"/>
            <a:ext cx="0" cy="4857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00" name="Line 1052"/>
          <p:cNvSpPr>
            <a:spLocks noChangeShapeType="1"/>
          </p:cNvSpPr>
          <p:nvPr/>
        </p:nvSpPr>
        <p:spPr bwMode="auto">
          <a:xfrm flipH="1">
            <a:off x="3187700" y="3636963"/>
            <a:ext cx="2746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01" name="Line 1053"/>
          <p:cNvSpPr>
            <a:spLocks noChangeShapeType="1"/>
          </p:cNvSpPr>
          <p:nvPr/>
        </p:nvSpPr>
        <p:spPr bwMode="auto">
          <a:xfrm flipV="1">
            <a:off x="2638425" y="3584575"/>
            <a:ext cx="0" cy="25781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02" name="Line 1054"/>
          <p:cNvSpPr>
            <a:spLocks noChangeShapeType="1"/>
          </p:cNvSpPr>
          <p:nvPr/>
        </p:nvSpPr>
        <p:spPr bwMode="auto">
          <a:xfrm>
            <a:off x="2514600" y="3294063"/>
            <a:ext cx="14525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03" name="Line 1055"/>
          <p:cNvSpPr>
            <a:spLocks noChangeShapeType="1"/>
          </p:cNvSpPr>
          <p:nvPr/>
        </p:nvSpPr>
        <p:spPr bwMode="auto">
          <a:xfrm>
            <a:off x="3954463" y="3294063"/>
            <a:ext cx="0" cy="614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04" name="Line 1056"/>
          <p:cNvSpPr>
            <a:spLocks noChangeShapeType="1"/>
          </p:cNvSpPr>
          <p:nvPr/>
        </p:nvSpPr>
        <p:spPr bwMode="auto">
          <a:xfrm>
            <a:off x="2633663" y="3579813"/>
            <a:ext cx="241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05" name="Text Box 1057"/>
          <p:cNvSpPr txBox="1">
            <a:spLocks noChangeArrowheads="1"/>
          </p:cNvSpPr>
          <p:nvPr/>
        </p:nvSpPr>
        <p:spPr bwMode="auto">
          <a:xfrm>
            <a:off x="3821113" y="4889500"/>
            <a:ext cx="258762"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grpSp>
        <p:nvGrpSpPr>
          <p:cNvPr id="54307" name="Group 1059"/>
          <p:cNvGrpSpPr>
            <a:grpSpLocks/>
          </p:cNvGrpSpPr>
          <p:nvPr/>
        </p:nvGrpSpPr>
        <p:grpSpPr bwMode="auto">
          <a:xfrm>
            <a:off x="3740150" y="1728393"/>
            <a:ext cx="2352675" cy="392113"/>
            <a:chOff x="666" y="981"/>
            <a:chExt cx="2100" cy="312"/>
          </a:xfrm>
        </p:grpSpPr>
        <p:sp>
          <p:nvSpPr>
            <p:cNvPr id="54308" name="Line 1060"/>
            <p:cNvSpPr>
              <a:spLocks noChangeShapeType="1"/>
            </p:cNvSpPr>
            <p:nvPr/>
          </p:nvSpPr>
          <p:spPr bwMode="auto">
            <a:xfrm flipV="1">
              <a:off x="666" y="1137"/>
              <a:ext cx="21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09" name="Line 1061"/>
            <p:cNvSpPr>
              <a:spLocks noChangeShapeType="1"/>
            </p:cNvSpPr>
            <p:nvPr/>
          </p:nvSpPr>
          <p:spPr bwMode="auto">
            <a:xfrm>
              <a:off x="250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10" name="Line 1062"/>
            <p:cNvSpPr>
              <a:spLocks noChangeShapeType="1"/>
            </p:cNvSpPr>
            <p:nvPr/>
          </p:nvSpPr>
          <p:spPr bwMode="auto">
            <a:xfrm>
              <a:off x="2130"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11" name="Line 1063"/>
            <p:cNvSpPr>
              <a:spLocks noChangeShapeType="1"/>
            </p:cNvSpPr>
            <p:nvPr/>
          </p:nvSpPr>
          <p:spPr bwMode="auto">
            <a:xfrm>
              <a:off x="121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12" name="Line 1064"/>
            <p:cNvSpPr>
              <a:spLocks noChangeShapeType="1"/>
            </p:cNvSpPr>
            <p:nvPr/>
          </p:nvSpPr>
          <p:spPr bwMode="auto">
            <a:xfrm>
              <a:off x="846"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4313" name="Group 1065"/>
            <p:cNvGrpSpPr>
              <a:grpSpLocks/>
            </p:cNvGrpSpPr>
            <p:nvPr/>
          </p:nvGrpSpPr>
          <p:grpSpPr bwMode="auto">
            <a:xfrm>
              <a:off x="1271" y="1094"/>
              <a:ext cx="84" cy="87"/>
              <a:chOff x="2636" y="2286"/>
              <a:chExt cx="33" cy="34"/>
            </a:xfrm>
          </p:grpSpPr>
          <p:sp>
            <p:nvSpPr>
              <p:cNvPr id="54314" name="Line 1066"/>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5" name="Line 1067"/>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4316" name="Group 1068"/>
            <p:cNvGrpSpPr>
              <a:grpSpLocks/>
            </p:cNvGrpSpPr>
            <p:nvPr/>
          </p:nvGrpSpPr>
          <p:grpSpPr bwMode="auto">
            <a:xfrm>
              <a:off x="1997" y="1093"/>
              <a:ext cx="84" cy="87"/>
              <a:chOff x="2636" y="2286"/>
              <a:chExt cx="33" cy="34"/>
            </a:xfrm>
          </p:grpSpPr>
          <p:sp>
            <p:nvSpPr>
              <p:cNvPr id="54317" name="Line 1069"/>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8" name="Line 1070"/>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54319" name="Line 1071"/>
          <p:cNvSpPr>
            <a:spLocks noChangeShapeType="1"/>
          </p:cNvSpPr>
          <p:nvPr/>
        </p:nvSpPr>
        <p:spPr bwMode="auto">
          <a:xfrm>
            <a:off x="4459288" y="1656956"/>
            <a:ext cx="644525"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20" name="Line 1072"/>
          <p:cNvSpPr>
            <a:spLocks noChangeShapeType="1"/>
          </p:cNvSpPr>
          <p:nvPr/>
        </p:nvSpPr>
        <p:spPr bwMode="auto">
          <a:xfrm>
            <a:off x="4667250" y="2199881"/>
            <a:ext cx="646113"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21" name="Line 1073"/>
          <p:cNvSpPr>
            <a:spLocks noChangeShapeType="1"/>
          </p:cNvSpPr>
          <p:nvPr/>
        </p:nvSpPr>
        <p:spPr bwMode="auto">
          <a:xfrm>
            <a:off x="4468813" y="1412481"/>
            <a:ext cx="1100137"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22" name="Line 1074"/>
          <p:cNvSpPr>
            <a:spLocks noChangeShapeType="1"/>
          </p:cNvSpPr>
          <p:nvPr/>
        </p:nvSpPr>
        <p:spPr bwMode="auto">
          <a:xfrm>
            <a:off x="5308600" y="2679306"/>
            <a:ext cx="881063"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23" name="Line 1075"/>
          <p:cNvSpPr>
            <a:spLocks noChangeShapeType="1"/>
          </p:cNvSpPr>
          <p:nvPr/>
        </p:nvSpPr>
        <p:spPr bwMode="auto">
          <a:xfrm>
            <a:off x="4162425" y="2439593"/>
            <a:ext cx="1146175"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24" name="Line 1076"/>
          <p:cNvSpPr>
            <a:spLocks noChangeShapeType="1"/>
          </p:cNvSpPr>
          <p:nvPr/>
        </p:nvSpPr>
        <p:spPr bwMode="auto">
          <a:xfrm>
            <a:off x="3556000" y="1207693"/>
            <a:ext cx="915988"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25" name="Text Box 1077"/>
          <p:cNvSpPr txBox="1">
            <a:spLocks noChangeArrowheads="1"/>
          </p:cNvSpPr>
          <p:nvPr/>
        </p:nvSpPr>
        <p:spPr bwMode="auto">
          <a:xfrm>
            <a:off x="6183313" y="2552306"/>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54326" name="Text Box 1078"/>
          <p:cNvSpPr txBox="1">
            <a:spLocks noChangeArrowheads="1"/>
          </p:cNvSpPr>
          <p:nvPr/>
        </p:nvSpPr>
        <p:spPr bwMode="auto">
          <a:xfrm>
            <a:off x="3248025" y="1080693"/>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54327" name="Text Box 1079"/>
          <p:cNvSpPr txBox="1">
            <a:spLocks noChangeArrowheads="1"/>
          </p:cNvSpPr>
          <p:nvPr/>
        </p:nvSpPr>
        <p:spPr bwMode="auto">
          <a:xfrm>
            <a:off x="5078413" y="1542656"/>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54328" name="Text Box 1080"/>
          <p:cNvSpPr txBox="1">
            <a:spLocks noChangeArrowheads="1"/>
          </p:cNvSpPr>
          <p:nvPr/>
        </p:nvSpPr>
        <p:spPr bwMode="auto">
          <a:xfrm>
            <a:off x="4403725" y="2085581"/>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54329" name="Text Box 1081"/>
          <p:cNvSpPr txBox="1">
            <a:spLocks noChangeArrowheads="1"/>
          </p:cNvSpPr>
          <p:nvPr/>
        </p:nvSpPr>
        <p:spPr bwMode="auto">
          <a:xfrm>
            <a:off x="5545138" y="127436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54330" name="Text Box 1082"/>
          <p:cNvSpPr txBox="1">
            <a:spLocks noChangeArrowheads="1"/>
          </p:cNvSpPr>
          <p:nvPr/>
        </p:nvSpPr>
        <p:spPr bwMode="auto">
          <a:xfrm>
            <a:off x="3852863" y="2309418"/>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54331" name="Line 1083"/>
          <p:cNvSpPr>
            <a:spLocks noChangeShapeType="1"/>
          </p:cNvSpPr>
          <p:nvPr/>
        </p:nvSpPr>
        <p:spPr bwMode="auto">
          <a:xfrm>
            <a:off x="4572000" y="3879850"/>
            <a:ext cx="79375"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332" name="Line 1084"/>
          <p:cNvSpPr>
            <a:spLocks noChangeShapeType="1"/>
          </p:cNvSpPr>
          <p:nvPr/>
        </p:nvSpPr>
        <p:spPr bwMode="auto">
          <a:xfrm>
            <a:off x="4578350" y="4121150"/>
            <a:ext cx="68263"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333" name="Line 1085"/>
          <p:cNvSpPr>
            <a:spLocks noChangeShapeType="1"/>
          </p:cNvSpPr>
          <p:nvPr/>
        </p:nvSpPr>
        <p:spPr bwMode="auto">
          <a:xfrm>
            <a:off x="4643438" y="3873500"/>
            <a:ext cx="0" cy="26035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334" name="Line 1086"/>
          <p:cNvSpPr>
            <a:spLocks noChangeShapeType="1"/>
          </p:cNvSpPr>
          <p:nvPr/>
        </p:nvSpPr>
        <p:spPr bwMode="auto">
          <a:xfrm flipH="1">
            <a:off x="5083175" y="3879850"/>
            <a:ext cx="77788"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335" name="Line 1087"/>
          <p:cNvSpPr>
            <a:spLocks noChangeShapeType="1"/>
          </p:cNvSpPr>
          <p:nvPr/>
        </p:nvSpPr>
        <p:spPr bwMode="auto">
          <a:xfrm flipH="1">
            <a:off x="5087938" y="4121150"/>
            <a:ext cx="66675"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336" name="Line 1088"/>
          <p:cNvSpPr>
            <a:spLocks noChangeShapeType="1"/>
          </p:cNvSpPr>
          <p:nvPr/>
        </p:nvSpPr>
        <p:spPr bwMode="auto">
          <a:xfrm flipH="1">
            <a:off x="5091113" y="3879850"/>
            <a:ext cx="0" cy="2413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337" name="Line 1089"/>
          <p:cNvSpPr>
            <a:spLocks noChangeShapeType="1"/>
          </p:cNvSpPr>
          <p:nvPr/>
        </p:nvSpPr>
        <p:spPr bwMode="auto">
          <a:xfrm>
            <a:off x="4641850" y="3995738"/>
            <a:ext cx="449263" cy="4762"/>
          </a:xfrm>
          <a:prstGeom prst="line">
            <a:avLst/>
          </a:prstGeom>
          <a:noFill/>
          <a:ln w="1905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338" name="Oval 1090"/>
          <p:cNvSpPr>
            <a:spLocks noChangeArrowheads="1"/>
          </p:cNvSpPr>
          <p:nvPr/>
        </p:nvSpPr>
        <p:spPr bwMode="auto">
          <a:xfrm>
            <a:off x="2603500" y="611981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39" name="Oval 1091"/>
          <p:cNvSpPr>
            <a:spLocks noChangeArrowheads="1"/>
          </p:cNvSpPr>
          <p:nvPr/>
        </p:nvSpPr>
        <p:spPr bwMode="auto">
          <a:xfrm>
            <a:off x="2808288" y="3643313"/>
            <a:ext cx="66675" cy="746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40" name="Oval 1092"/>
          <p:cNvSpPr>
            <a:spLocks noChangeArrowheads="1"/>
          </p:cNvSpPr>
          <p:nvPr/>
        </p:nvSpPr>
        <p:spPr bwMode="auto">
          <a:xfrm>
            <a:off x="2806700" y="4799013"/>
            <a:ext cx="66675" cy="746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41" name="Line 1093"/>
          <p:cNvSpPr>
            <a:spLocks noChangeShapeType="1"/>
          </p:cNvSpPr>
          <p:nvPr/>
        </p:nvSpPr>
        <p:spPr bwMode="auto">
          <a:xfrm>
            <a:off x="2513013" y="6157913"/>
            <a:ext cx="1381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42" name="Line 1094"/>
          <p:cNvSpPr>
            <a:spLocks noChangeShapeType="1"/>
          </p:cNvSpPr>
          <p:nvPr/>
        </p:nvSpPr>
        <p:spPr bwMode="auto">
          <a:xfrm flipV="1">
            <a:off x="2508250" y="3286125"/>
            <a:ext cx="0" cy="157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43" name="Text Box 1095"/>
          <p:cNvSpPr txBox="1">
            <a:spLocks noChangeArrowheads="1"/>
          </p:cNvSpPr>
          <p:nvPr/>
        </p:nvSpPr>
        <p:spPr bwMode="auto">
          <a:xfrm flipH="1">
            <a:off x="7150100" y="600392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54344" name="Text Box 1096"/>
          <p:cNvSpPr txBox="1">
            <a:spLocks noChangeArrowheads="1"/>
          </p:cNvSpPr>
          <p:nvPr/>
        </p:nvSpPr>
        <p:spPr bwMode="auto">
          <a:xfrm flipH="1">
            <a:off x="7150100" y="542607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54345" name="Text Box 1097"/>
          <p:cNvSpPr txBox="1">
            <a:spLocks noChangeArrowheads="1"/>
          </p:cNvSpPr>
          <p:nvPr/>
        </p:nvSpPr>
        <p:spPr bwMode="auto">
          <a:xfrm flipH="1">
            <a:off x="7150100" y="506412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54346" name="Text Box 1098"/>
          <p:cNvSpPr txBox="1">
            <a:spLocks noChangeArrowheads="1"/>
          </p:cNvSpPr>
          <p:nvPr/>
        </p:nvSpPr>
        <p:spPr bwMode="auto">
          <a:xfrm flipH="1">
            <a:off x="6454775" y="543242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54347" name="Text Box 1099"/>
          <p:cNvSpPr txBox="1">
            <a:spLocks noChangeArrowheads="1"/>
          </p:cNvSpPr>
          <p:nvPr/>
        </p:nvSpPr>
        <p:spPr bwMode="auto">
          <a:xfrm flipH="1">
            <a:off x="6448425" y="6003925"/>
            <a:ext cx="390525"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54348" name="Line 1100"/>
          <p:cNvSpPr>
            <a:spLocks noChangeShapeType="1"/>
          </p:cNvSpPr>
          <p:nvPr/>
        </p:nvSpPr>
        <p:spPr bwMode="auto">
          <a:xfrm flipH="1">
            <a:off x="6848475" y="6154738"/>
            <a:ext cx="1873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49" name="Line 1101"/>
          <p:cNvSpPr>
            <a:spLocks noChangeShapeType="1"/>
          </p:cNvSpPr>
          <p:nvPr/>
        </p:nvSpPr>
        <p:spPr bwMode="auto">
          <a:xfrm flipH="1">
            <a:off x="6362700" y="5570538"/>
            <a:ext cx="857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50" name="Line 1102"/>
          <p:cNvSpPr>
            <a:spLocks noChangeShapeType="1"/>
          </p:cNvSpPr>
          <p:nvPr/>
        </p:nvSpPr>
        <p:spPr bwMode="auto">
          <a:xfrm flipH="1" flipV="1">
            <a:off x="6364288" y="5311775"/>
            <a:ext cx="0" cy="26828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51" name="Line 1103"/>
          <p:cNvSpPr>
            <a:spLocks noChangeShapeType="1"/>
          </p:cNvSpPr>
          <p:nvPr/>
        </p:nvSpPr>
        <p:spPr bwMode="auto">
          <a:xfrm flipH="1">
            <a:off x="5856288" y="5319713"/>
            <a:ext cx="5032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52" name="Line 1104"/>
          <p:cNvSpPr>
            <a:spLocks noChangeShapeType="1"/>
          </p:cNvSpPr>
          <p:nvPr/>
        </p:nvSpPr>
        <p:spPr bwMode="auto">
          <a:xfrm flipH="1">
            <a:off x="6122988" y="6153150"/>
            <a:ext cx="3254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53" name="Line 1105"/>
          <p:cNvSpPr>
            <a:spLocks noChangeShapeType="1"/>
          </p:cNvSpPr>
          <p:nvPr/>
        </p:nvSpPr>
        <p:spPr bwMode="auto">
          <a:xfrm flipH="1" flipV="1">
            <a:off x="6122988" y="5422900"/>
            <a:ext cx="0" cy="74453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54" name="Line 1106"/>
          <p:cNvSpPr>
            <a:spLocks noChangeShapeType="1"/>
          </p:cNvSpPr>
          <p:nvPr/>
        </p:nvSpPr>
        <p:spPr bwMode="auto">
          <a:xfrm flipH="1">
            <a:off x="5861050" y="5424488"/>
            <a:ext cx="2619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55" name="Text Box 1107"/>
          <p:cNvSpPr txBox="1">
            <a:spLocks noChangeArrowheads="1"/>
          </p:cNvSpPr>
          <p:nvPr/>
        </p:nvSpPr>
        <p:spPr bwMode="auto">
          <a:xfrm flipH="1">
            <a:off x="5040313" y="5083175"/>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Trip</a:t>
            </a:r>
          </a:p>
        </p:txBody>
      </p:sp>
      <p:sp>
        <p:nvSpPr>
          <p:cNvPr id="54356" name="Text Box 1108"/>
          <p:cNvSpPr txBox="1">
            <a:spLocks noChangeArrowheads="1"/>
          </p:cNvSpPr>
          <p:nvPr/>
        </p:nvSpPr>
        <p:spPr bwMode="auto">
          <a:xfrm flipH="1">
            <a:off x="6515100" y="4751388"/>
            <a:ext cx="322263"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54357" name="Line 1109"/>
          <p:cNvSpPr>
            <a:spLocks noChangeShapeType="1"/>
          </p:cNvSpPr>
          <p:nvPr/>
        </p:nvSpPr>
        <p:spPr bwMode="auto">
          <a:xfrm flipH="1">
            <a:off x="6891338" y="4829175"/>
            <a:ext cx="2809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58" name="Text Box 1110"/>
          <p:cNvSpPr txBox="1">
            <a:spLocks noChangeArrowheads="1"/>
          </p:cNvSpPr>
          <p:nvPr/>
        </p:nvSpPr>
        <p:spPr bwMode="auto">
          <a:xfrm flipH="1">
            <a:off x="6454775" y="5432425"/>
            <a:ext cx="390525"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54359" name="Oval 1111"/>
          <p:cNvSpPr>
            <a:spLocks noChangeArrowheads="1"/>
          </p:cNvSpPr>
          <p:nvPr/>
        </p:nvSpPr>
        <p:spPr bwMode="auto">
          <a:xfrm flipH="1">
            <a:off x="6900863" y="493077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60" name="Oval 1112"/>
          <p:cNvSpPr>
            <a:spLocks noChangeArrowheads="1"/>
          </p:cNvSpPr>
          <p:nvPr/>
        </p:nvSpPr>
        <p:spPr bwMode="auto">
          <a:xfrm flipH="1">
            <a:off x="6902450" y="553878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61" name="Text Box 1113"/>
          <p:cNvSpPr txBox="1">
            <a:spLocks noChangeArrowheads="1"/>
          </p:cNvSpPr>
          <p:nvPr/>
        </p:nvSpPr>
        <p:spPr bwMode="auto">
          <a:xfrm flipH="1">
            <a:off x="6515100" y="3479800"/>
            <a:ext cx="322263"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54362" name="Line 1114"/>
          <p:cNvSpPr>
            <a:spLocks noChangeShapeType="1"/>
          </p:cNvSpPr>
          <p:nvPr/>
        </p:nvSpPr>
        <p:spPr bwMode="auto">
          <a:xfrm flipH="1">
            <a:off x="5588000" y="4108450"/>
            <a:ext cx="6413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63" name="Text Box 1115"/>
          <p:cNvSpPr txBox="1">
            <a:spLocks noChangeArrowheads="1"/>
          </p:cNvSpPr>
          <p:nvPr/>
        </p:nvSpPr>
        <p:spPr bwMode="auto">
          <a:xfrm flipH="1">
            <a:off x="5164138" y="3733800"/>
            <a:ext cx="422275"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54364" name="Line 1116"/>
          <p:cNvSpPr>
            <a:spLocks noChangeShapeType="1"/>
          </p:cNvSpPr>
          <p:nvPr/>
        </p:nvSpPr>
        <p:spPr bwMode="auto">
          <a:xfrm flipH="1">
            <a:off x="5584825" y="3887788"/>
            <a:ext cx="1412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65" name="Line 1117"/>
          <p:cNvSpPr>
            <a:spLocks noChangeShapeType="1"/>
          </p:cNvSpPr>
          <p:nvPr/>
        </p:nvSpPr>
        <p:spPr bwMode="auto">
          <a:xfrm flipH="1">
            <a:off x="5176838" y="3983038"/>
            <a:ext cx="3968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66" name="Line 1118"/>
          <p:cNvSpPr>
            <a:spLocks noChangeShapeType="1"/>
          </p:cNvSpPr>
          <p:nvPr/>
        </p:nvSpPr>
        <p:spPr bwMode="auto">
          <a:xfrm flipH="1" flipV="1">
            <a:off x="6229350" y="3614738"/>
            <a:ext cx="0" cy="5048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67" name="Line 1119"/>
          <p:cNvSpPr>
            <a:spLocks noChangeShapeType="1"/>
          </p:cNvSpPr>
          <p:nvPr/>
        </p:nvSpPr>
        <p:spPr bwMode="auto">
          <a:xfrm>
            <a:off x="6230938" y="3624263"/>
            <a:ext cx="2857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68" name="Line 1120"/>
          <p:cNvSpPr>
            <a:spLocks noChangeShapeType="1"/>
          </p:cNvSpPr>
          <p:nvPr/>
        </p:nvSpPr>
        <p:spPr bwMode="auto">
          <a:xfrm flipH="1" flipV="1">
            <a:off x="7040563" y="3571875"/>
            <a:ext cx="0" cy="25781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69" name="Line 1121"/>
          <p:cNvSpPr>
            <a:spLocks noChangeShapeType="1"/>
          </p:cNvSpPr>
          <p:nvPr/>
        </p:nvSpPr>
        <p:spPr bwMode="auto">
          <a:xfrm flipH="1">
            <a:off x="5711825" y="3281363"/>
            <a:ext cx="14620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70" name="Line 1122"/>
          <p:cNvSpPr>
            <a:spLocks noChangeShapeType="1"/>
          </p:cNvSpPr>
          <p:nvPr/>
        </p:nvSpPr>
        <p:spPr bwMode="auto">
          <a:xfrm flipH="1">
            <a:off x="5724525" y="3281363"/>
            <a:ext cx="0" cy="614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71" name="Line 1123"/>
          <p:cNvSpPr>
            <a:spLocks noChangeShapeType="1"/>
          </p:cNvSpPr>
          <p:nvPr/>
        </p:nvSpPr>
        <p:spPr bwMode="auto">
          <a:xfrm flipH="1">
            <a:off x="6846888" y="3571875"/>
            <a:ext cx="203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72" name="Text Box 1124"/>
          <p:cNvSpPr txBox="1">
            <a:spLocks noChangeArrowheads="1"/>
          </p:cNvSpPr>
          <p:nvPr/>
        </p:nvSpPr>
        <p:spPr bwMode="auto">
          <a:xfrm flipH="1">
            <a:off x="5600700" y="4876800"/>
            <a:ext cx="258763"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grpSp>
        <p:nvGrpSpPr>
          <p:cNvPr id="54373" name="Group 1125"/>
          <p:cNvGrpSpPr>
            <a:grpSpLocks/>
          </p:cNvGrpSpPr>
          <p:nvPr/>
        </p:nvGrpSpPr>
        <p:grpSpPr bwMode="auto">
          <a:xfrm>
            <a:off x="2514600" y="3667125"/>
            <a:ext cx="4649788" cy="1922463"/>
            <a:chOff x="2025" y="2310"/>
            <a:chExt cx="2929" cy="1211"/>
          </a:xfrm>
        </p:grpSpPr>
        <p:sp>
          <p:nvSpPr>
            <p:cNvPr id="54374" name="Line 1126"/>
            <p:cNvSpPr>
              <a:spLocks noChangeShapeType="1"/>
            </p:cNvSpPr>
            <p:nvPr/>
          </p:nvSpPr>
          <p:spPr bwMode="auto">
            <a:xfrm>
              <a:off x="2025" y="3521"/>
              <a:ext cx="1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75" name="Line 1127"/>
            <p:cNvSpPr>
              <a:spLocks noChangeShapeType="1"/>
            </p:cNvSpPr>
            <p:nvPr/>
          </p:nvSpPr>
          <p:spPr bwMode="auto">
            <a:xfrm>
              <a:off x="3012" y="3297"/>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76" name="Line 1128"/>
            <p:cNvSpPr>
              <a:spLocks noChangeShapeType="1"/>
            </p:cNvSpPr>
            <p:nvPr/>
          </p:nvSpPr>
          <p:spPr bwMode="auto">
            <a:xfrm>
              <a:off x="2188" y="3143"/>
              <a:ext cx="6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77" name="Line 1129"/>
            <p:cNvSpPr>
              <a:spLocks noChangeShapeType="1"/>
            </p:cNvSpPr>
            <p:nvPr/>
          </p:nvSpPr>
          <p:spPr bwMode="auto">
            <a:xfrm flipV="1">
              <a:off x="2190" y="3135"/>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78" name="Line 1130"/>
            <p:cNvSpPr>
              <a:spLocks noChangeShapeType="1"/>
            </p:cNvSpPr>
            <p:nvPr/>
          </p:nvSpPr>
          <p:spPr bwMode="auto">
            <a:xfrm>
              <a:off x="2446" y="3094"/>
              <a:ext cx="10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79" name="Line 1131"/>
            <p:cNvSpPr>
              <a:spLocks noChangeShapeType="1"/>
            </p:cNvSpPr>
            <p:nvPr/>
          </p:nvSpPr>
          <p:spPr bwMode="auto">
            <a:xfrm flipH="1">
              <a:off x="2555" y="3218"/>
              <a:ext cx="29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80" name="Line 1132"/>
            <p:cNvSpPr>
              <a:spLocks noChangeShapeType="1"/>
            </p:cNvSpPr>
            <p:nvPr/>
          </p:nvSpPr>
          <p:spPr bwMode="auto">
            <a:xfrm flipV="1">
              <a:off x="2555" y="3090"/>
              <a:ext cx="0" cy="1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81" name="Line 1133"/>
            <p:cNvSpPr>
              <a:spLocks noChangeShapeType="1"/>
            </p:cNvSpPr>
            <p:nvPr/>
          </p:nvSpPr>
          <p:spPr bwMode="auto">
            <a:xfrm>
              <a:off x="2182" y="2321"/>
              <a:ext cx="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82" name="Line 1134"/>
            <p:cNvSpPr>
              <a:spLocks noChangeShapeType="1"/>
            </p:cNvSpPr>
            <p:nvPr/>
          </p:nvSpPr>
          <p:spPr bwMode="auto">
            <a:xfrm flipH="1" flipV="1">
              <a:off x="2191" y="2320"/>
              <a:ext cx="0" cy="8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83" name="Line 1135"/>
            <p:cNvSpPr>
              <a:spLocks noChangeShapeType="1"/>
            </p:cNvSpPr>
            <p:nvPr/>
          </p:nvSpPr>
          <p:spPr bwMode="auto">
            <a:xfrm flipH="1">
              <a:off x="4135" y="3280"/>
              <a:ext cx="81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84" name="Line 1136"/>
            <p:cNvSpPr>
              <a:spLocks noChangeShapeType="1"/>
            </p:cNvSpPr>
            <p:nvPr/>
          </p:nvSpPr>
          <p:spPr bwMode="auto">
            <a:xfrm flipH="1">
              <a:off x="4803" y="3513"/>
              <a:ext cx="15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85" name="Line 1137"/>
            <p:cNvSpPr>
              <a:spLocks noChangeShapeType="1"/>
            </p:cNvSpPr>
            <p:nvPr/>
          </p:nvSpPr>
          <p:spPr bwMode="auto">
            <a:xfrm flipH="1">
              <a:off x="3871" y="3289"/>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86" name="Line 1138"/>
            <p:cNvSpPr>
              <a:spLocks noChangeShapeType="1"/>
            </p:cNvSpPr>
            <p:nvPr/>
          </p:nvSpPr>
          <p:spPr bwMode="auto">
            <a:xfrm flipH="1">
              <a:off x="4749" y="3135"/>
              <a:ext cx="4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87" name="Line 1139"/>
            <p:cNvSpPr>
              <a:spLocks noChangeShapeType="1"/>
            </p:cNvSpPr>
            <p:nvPr/>
          </p:nvSpPr>
          <p:spPr bwMode="auto">
            <a:xfrm flipH="1" flipV="1">
              <a:off x="4810" y="3130"/>
              <a:ext cx="0" cy="3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88" name="Line 1140"/>
            <p:cNvSpPr>
              <a:spLocks noChangeShapeType="1"/>
            </p:cNvSpPr>
            <p:nvPr/>
          </p:nvSpPr>
          <p:spPr bwMode="auto">
            <a:xfrm flipH="1">
              <a:off x="4424" y="3086"/>
              <a:ext cx="12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89" name="Line 1141"/>
            <p:cNvSpPr>
              <a:spLocks noChangeShapeType="1"/>
            </p:cNvSpPr>
            <p:nvPr/>
          </p:nvSpPr>
          <p:spPr bwMode="auto">
            <a:xfrm>
              <a:off x="4129" y="3210"/>
              <a:ext cx="29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90" name="Line 1142"/>
            <p:cNvSpPr>
              <a:spLocks noChangeShapeType="1"/>
            </p:cNvSpPr>
            <p:nvPr/>
          </p:nvSpPr>
          <p:spPr bwMode="auto">
            <a:xfrm flipH="1" flipV="1">
              <a:off x="4424" y="3082"/>
              <a:ext cx="0" cy="1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91" name="Line 1143"/>
            <p:cNvSpPr>
              <a:spLocks noChangeShapeType="1"/>
            </p:cNvSpPr>
            <p:nvPr/>
          </p:nvSpPr>
          <p:spPr bwMode="auto">
            <a:xfrm flipH="1">
              <a:off x="4785" y="2310"/>
              <a:ext cx="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92" name="Line 1144"/>
            <p:cNvSpPr>
              <a:spLocks noChangeShapeType="1"/>
            </p:cNvSpPr>
            <p:nvPr/>
          </p:nvSpPr>
          <p:spPr bwMode="auto">
            <a:xfrm flipV="1">
              <a:off x="4809" y="2315"/>
              <a:ext cx="0" cy="8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4393" name="Oval 1145"/>
          <p:cNvSpPr>
            <a:spLocks noChangeArrowheads="1"/>
          </p:cNvSpPr>
          <p:nvPr/>
        </p:nvSpPr>
        <p:spPr bwMode="auto">
          <a:xfrm flipH="1">
            <a:off x="7008813" y="610711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94" name="Oval 1146"/>
          <p:cNvSpPr>
            <a:spLocks noChangeArrowheads="1"/>
          </p:cNvSpPr>
          <p:nvPr/>
        </p:nvSpPr>
        <p:spPr bwMode="auto">
          <a:xfrm flipH="1">
            <a:off x="6827838" y="3625850"/>
            <a:ext cx="66675" cy="74613"/>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95" name="Oval 1147"/>
          <p:cNvSpPr>
            <a:spLocks noChangeArrowheads="1"/>
          </p:cNvSpPr>
          <p:nvPr/>
        </p:nvSpPr>
        <p:spPr bwMode="auto">
          <a:xfrm flipH="1">
            <a:off x="6829425" y="4786313"/>
            <a:ext cx="66675" cy="746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96" name="Line 1148"/>
          <p:cNvSpPr>
            <a:spLocks noChangeShapeType="1"/>
          </p:cNvSpPr>
          <p:nvPr/>
        </p:nvSpPr>
        <p:spPr bwMode="auto">
          <a:xfrm flipH="1">
            <a:off x="7070725" y="6145213"/>
            <a:ext cx="952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397" name="Line 1149"/>
          <p:cNvSpPr>
            <a:spLocks noChangeShapeType="1"/>
          </p:cNvSpPr>
          <p:nvPr/>
        </p:nvSpPr>
        <p:spPr bwMode="auto">
          <a:xfrm flipH="1" flipV="1">
            <a:off x="7170738" y="3273425"/>
            <a:ext cx="0" cy="15652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3" name="Rectangle 1025"/>
          <p:cNvSpPr>
            <a:spLocks noGrp="1" noChangeArrowheads="1"/>
          </p:cNvSpPr>
          <p:nvPr>
            <p:ph type="title"/>
          </p:nvPr>
        </p:nvSpPr>
        <p:spPr>
          <a:xfrm>
            <a:off x="431800" y="77789"/>
            <a:ext cx="8280400" cy="69770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a:t>Blocking Scheme - Internal Fault</a:t>
            </a:r>
          </a:p>
        </p:txBody>
      </p:sp>
      <p:grpSp>
        <p:nvGrpSpPr>
          <p:cNvPr id="54399" name="Group 1151"/>
          <p:cNvGrpSpPr>
            <a:grpSpLocks/>
          </p:cNvGrpSpPr>
          <p:nvPr/>
        </p:nvGrpSpPr>
        <p:grpSpPr bwMode="auto">
          <a:xfrm>
            <a:off x="5094288" y="1776018"/>
            <a:ext cx="104775" cy="396875"/>
            <a:chOff x="5516" y="4124"/>
            <a:chExt cx="164" cy="544"/>
          </a:xfrm>
        </p:grpSpPr>
        <p:sp>
          <p:nvSpPr>
            <p:cNvPr id="54400" name="Line 1152"/>
            <p:cNvSpPr>
              <a:spLocks noChangeShapeType="1"/>
            </p:cNvSpPr>
            <p:nvPr/>
          </p:nvSpPr>
          <p:spPr bwMode="auto">
            <a:xfrm flipH="1">
              <a:off x="5516" y="4360"/>
              <a:ext cx="157" cy="308"/>
            </a:xfrm>
            <a:prstGeom prst="line">
              <a:avLst/>
            </a:prstGeom>
            <a:noFill/>
            <a:ln w="19050">
              <a:solidFill>
                <a:srgbClr val="000000"/>
              </a:solidFill>
              <a:round/>
              <a:headEnd type="none" w="med"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4401" name="Line 1153"/>
            <p:cNvSpPr>
              <a:spLocks noChangeShapeType="1"/>
            </p:cNvSpPr>
            <p:nvPr/>
          </p:nvSpPr>
          <p:spPr bwMode="auto">
            <a:xfrm flipH="1">
              <a:off x="5516" y="4124"/>
              <a:ext cx="129" cy="259"/>
            </a:xfrm>
            <a:prstGeom prst="line">
              <a:avLst/>
            </a:prstGeom>
            <a:noFill/>
            <a:ln w="19050">
              <a:solidFill>
                <a:srgbClr val="0000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4402" name="Line 1154"/>
            <p:cNvSpPr>
              <a:spLocks noChangeShapeType="1"/>
            </p:cNvSpPr>
            <p:nvPr/>
          </p:nvSpPr>
          <p:spPr bwMode="auto">
            <a:xfrm>
              <a:off x="5524" y="4375"/>
              <a:ext cx="156" cy="0"/>
            </a:xfrm>
            <a:prstGeom prst="line">
              <a:avLst/>
            </a:prstGeom>
            <a:noFill/>
            <a:ln w="1905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54403" name="Group 1155"/>
          <p:cNvGrpSpPr>
            <a:grpSpLocks/>
          </p:cNvGrpSpPr>
          <p:nvPr/>
        </p:nvGrpSpPr>
        <p:grpSpPr bwMode="auto">
          <a:xfrm>
            <a:off x="2514600" y="3667125"/>
            <a:ext cx="4649788" cy="1922463"/>
            <a:chOff x="2025" y="2310"/>
            <a:chExt cx="2929" cy="1211"/>
          </a:xfrm>
        </p:grpSpPr>
        <p:sp>
          <p:nvSpPr>
            <p:cNvPr id="54404" name="Line 1156"/>
            <p:cNvSpPr>
              <a:spLocks noChangeShapeType="1"/>
            </p:cNvSpPr>
            <p:nvPr/>
          </p:nvSpPr>
          <p:spPr bwMode="auto">
            <a:xfrm>
              <a:off x="2025" y="3521"/>
              <a:ext cx="15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05" name="Line 1157"/>
            <p:cNvSpPr>
              <a:spLocks noChangeShapeType="1"/>
            </p:cNvSpPr>
            <p:nvPr/>
          </p:nvSpPr>
          <p:spPr bwMode="auto">
            <a:xfrm>
              <a:off x="3012" y="3297"/>
              <a:ext cx="96"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06" name="Line 1158"/>
            <p:cNvSpPr>
              <a:spLocks noChangeShapeType="1"/>
            </p:cNvSpPr>
            <p:nvPr/>
          </p:nvSpPr>
          <p:spPr bwMode="auto">
            <a:xfrm>
              <a:off x="2188" y="3143"/>
              <a:ext cx="6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07" name="Line 1159"/>
            <p:cNvSpPr>
              <a:spLocks noChangeShapeType="1"/>
            </p:cNvSpPr>
            <p:nvPr/>
          </p:nvSpPr>
          <p:spPr bwMode="auto">
            <a:xfrm flipV="1">
              <a:off x="2190" y="3135"/>
              <a:ext cx="0" cy="38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08" name="Line 1160"/>
            <p:cNvSpPr>
              <a:spLocks noChangeShapeType="1"/>
            </p:cNvSpPr>
            <p:nvPr/>
          </p:nvSpPr>
          <p:spPr bwMode="auto">
            <a:xfrm>
              <a:off x="2446" y="3094"/>
              <a:ext cx="10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09" name="Line 1161"/>
            <p:cNvSpPr>
              <a:spLocks noChangeShapeType="1"/>
            </p:cNvSpPr>
            <p:nvPr/>
          </p:nvSpPr>
          <p:spPr bwMode="auto">
            <a:xfrm flipH="1">
              <a:off x="2555" y="3218"/>
              <a:ext cx="29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10" name="Line 1162"/>
            <p:cNvSpPr>
              <a:spLocks noChangeShapeType="1"/>
            </p:cNvSpPr>
            <p:nvPr/>
          </p:nvSpPr>
          <p:spPr bwMode="auto">
            <a:xfrm flipV="1">
              <a:off x="2555" y="3090"/>
              <a:ext cx="0" cy="13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11" name="Line 1163"/>
            <p:cNvSpPr>
              <a:spLocks noChangeShapeType="1"/>
            </p:cNvSpPr>
            <p:nvPr/>
          </p:nvSpPr>
          <p:spPr bwMode="auto">
            <a:xfrm>
              <a:off x="2182" y="2321"/>
              <a:ext cx="3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12" name="Line 1164"/>
            <p:cNvSpPr>
              <a:spLocks noChangeShapeType="1"/>
            </p:cNvSpPr>
            <p:nvPr/>
          </p:nvSpPr>
          <p:spPr bwMode="auto">
            <a:xfrm flipH="1" flipV="1">
              <a:off x="2191" y="2320"/>
              <a:ext cx="0" cy="81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13" name="Line 1165"/>
            <p:cNvSpPr>
              <a:spLocks noChangeShapeType="1"/>
            </p:cNvSpPr>
            <p:nvPr/>
          </p:nvSpPr>
          <p:spPr bwMode="auto">
            <a:xfrm flipH="1">
              <a:off x="4135" y="3280"/>
              <a:ext cx="81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14" name="Line 1166"/>
            <p:cNvSpPr>
              <a:spLocks noChangeShapeType="1"/>
            </p:cNvSpPr>
            <p:nvPr/>
          </p:nvSpPr>
          <p:spPr bwMode="auto">
            <a:xfrm flipH="1">
              <a:off x="4803" y="3513"/>
              <a:ext cx="151"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15" name="Line 1167"/>
            <p:cNvSpPr>
              <a:spLocks noChangeShapeType="1"/>
            </p:cNvSpPr>
            <p:nvPr/>
          </p:nvSpPr>
          <p:spPr bwMode="auto">
            <a:xfrm flipH="1">
              <a:off x="3871" y="3289"/>
              <a:ext cx="96"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16" name="Line 1168"/>
            <p:cNvSpPr>
              <a:spLocks noChangeShapeType="1"/>
            </p:cNvSpPr>
            <p:nvPr/>
          </p:nvSpPr>
          <p:spPr bwMode="auto">
            <a:xfrm flipH="1">
              <a:off x="4749" y="3135"/>
              <a:ext cx="4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17" name="Line 1169"/>
            <p:cNvSpPr>
              <a:spLocks noChangeShapeType="1"/>
            </p:cNvSpPr>
            <p:nvPr/>
          </p:nvSpPr>
          <p:spPr bwMode="auto">
            <a:xfrm flipH="1" flipV="1">
              <a:off x="4810" y="3130"/>
              <a:ext cx="0" cy="36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18" name="Line 1170"/>
            <p:cNvSpPr>
              <a:spLocks noChangeShapeType="1"/>
            </p:cNvSpPr>
            <p:nvPr/>
          </p:nvSpPr>
          <p:spPr bwMode="auto">
            <a:xfrm flipH="1">
              <a:off x="4424" y="3086"/>
              <a:ext cx="121"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19" name="Line 1171"/>
            <p:cNvSpPr>
              <a:spLocks noChangeShapeType="1"/>
            </p:cNvSpPr>
            <p:nvPr/>
          </p:nvSpPr>
          <p:spPr bwMode="auto">
            <a:xfrm>
              <a:off x="4129" y="3210"/>
              <a:ext cx="29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20" name="Line 1172"/>
            <p:cNvSpPr>
              <a:spLocks noChangeShapeType="1"/>
            </p:cNvSpPr>
            <p:nvPr/>
          </p:nvSpPr>
          <p:spPr bwMode="auto">
            <a:xfrm flipH="1" flipV="1">
              <a:off x="4424" y="3082"/>
              <a:ext cx="0" cy="13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21" name="Line 1173"/>
            <p:cNvSpPr>
              <a:spLocks noChangeShapeType="1"/>
            </p:cNvSpPr>
            <p:nvPr/>
          </p:nvSpPr>
          <p:spPr bwMode="auto">
            <a:xfrm flipH="1">
              <a:off x="4785" y="2310"/>
              <a:ext cx="3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422" name="Line 1174"/>
            <p:cNvSpPr>
              <a:spLocks noChangeShapeType="1"/>
            </p:cNvSpPr>
            <p:nvPr/>
          </p:nvSpPr>
          <p:spPr bwMode="auto">
            <a:xfrm flipV="1">
              <a:off x="4809" y="2315"/>
              <a:ext cx="0" cy="81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4306" name="Text Box 1058"/>
          <p:cNvSpPr txBox="1">
            <a:spLocks noChangeArrowheads="1"/>
          </p:cNvSpPr>
          <p:nvPr/>
        </p:nvSpPr>
        <p:spPr bwMode="auto">
          <a:xfrm>
            <a:off x="298451" y="2440449"/>
            <a:ext cx="185018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Send Logic : Z3 + </a:t>
            </a:r>
            <a:r>
              <a:rPr lang="en-GB" altLang="en-US" u="sng" dirty="0"/>
              <a:t>Z2</a:t>
            </a:r>
          </a:p>
          <a:p>
            <a:r>
              <a:rPr lang="en-GB" altLang="en-US" dirty="0"/>
              <a:t>Trip Logic : </a:t>
            </a:r>
            <a:r>
              <a:rPr lang="en-GB" altLang="en-US" u="sng" dirty="0"/>
              <a:t>Rx</a:t>
            </a:r>
            <a:r>
              <a:rPr lang="en-GB" altLang="en-US" dirty="0"/>
              <a:t> + Z2</a:t>
            </a:r>
          </a:p>
        </p:txBody>
      </p:sp>
    </p:spTree>
    <p:extLst>
      <p:ext uri="{BB962C8B-B14F-4D97-AF65-F5344CB8AC3E}">
        <p14:creationId xmlns:p14="http://schemas.microsoft.com/office/powerpoint/2010/main" val="10152775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53" name="Line 141"/>
          <p:cNvSpPr>
            <a:spLocks noChangeShapeType="1"/>
          </p:cNvSpPr>
          <p:nvPr/>
        </p:nvSpPr>
        <p:spPr bwMode="auto">
          <a:xfrm>
            <a:off x="6851650" y="5634038"/>
            <a:ext cx="84138"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5" name="Text Box 3"/>
          <p:cNvSpPr txBox="1">
            <a:spLocks noChangeArrowheads="1"/>
          </p:cNvSpPr>
          <p:nvPr/>
        </p:nvSpPr>
        <p:spPr bwMode="auto">
          <a:xfrm>
            <a:off x="2222500" y="607377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38916" name="Text Box 4"/>
          <p:cNvSpPr txBox="1">
            <a:spLocks noChangeArrowheads="1"/>
          </p:cNvSpPr>
          <p:nvPr/>
        </p:nvSpPr>
        <p:spPr bwMode="auto">
          <a:xfrm>
            <a:off x="2222500" y="549592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38917" name="Text Box 5"/>
          <p:cNvSpPr txBox="1">
            <a:spLocks noChangeArrowheads="1"/>
          </p:cNvSpPr>
          <p:nvPr/>
        </p:nvSpPr>
        <p:spPr bwMode="auto">
          <a:xfrm>
            <a:off x="2222500" y="513397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Z1</a:t>
            </a:r>
          </a:p>
        </p:txBody>
      </p:sp>
      <p:sp>
        <p:nvSpPr>
          <p:cNvPr id="38918" name="Line 6"/>
          <p:cNvSpPr>
            <a:spLocks noChangeShapeType="1"/>
          </p:cNvSpPr>
          <p:nvPr/>
        </p:nvSpPr>
        <p:spPr bwMode="auto">
          <a:xfrm>
            <a:off x="2528888" y="5276850"/>
            <a:ext cx="13001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1" name="Text Box 9"/>
          <p:cNvSpPr txBox="1">
            <a:spLocks noChangeArrowheads="1"/>
          </p:cNvSpPr>
          <p:nvPr/>
        </p:nvSpPr>
        <p:spPr bwMode="auto">
          <a:xfrm>
            <a:off x="2898775" y="607377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38922" name="Line 10"/>
          <p:cNvSpPr>
            <a:spLocks noChangeShapeType="1"/>
          </p:cNvSpPr>
          <p:nvPr/>
        </p:nvSpPr>
        <p:spPr bwMode="auto">
          <a:xfrm>
            <a:off x="2657475" y="6224588"/>
            <a:ext cx="24447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3" name="Line 11"/>
          <p:cNvSpPr>
            <a:spLocks noChangeShapeType="1"/>
          </p:cNvSpPr>
          <p:nvPr/>
        </p:nvSpPr>
        <p:spPr bwMode="auto">
          <a:xfrm>
            <a:off x="3268663" y="5640388"/>
            <a:ext cx="66675"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4" name="Line 12"/>
          <p:cNvSpPr>
            <a:spLocks noChangeShapeType="1"/>
          </p:cNvSpPr>
          <p:nvPr/>
        </p:nvSpPr>
        <p:spPr bwMode="auto">
          <a:xfrm flipV="1">
            <a:off x="3328988" y="5380038"/>
            <a:ext cx="0" cy="26670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5" name="Line 13"/>
          <p:cNvSpPr>
            <a:spLocks noChangeShapeType="1"/>
          </p:cNvSpPr>
          <p:nvPr/>
        </p:nvSpPr>
        <p:spPr bwMode="auto">
          <a:xfrm>
            <a:off x="3333750" y="5389563"/>
            <a:ext cx="503238"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6" name="Line 14"/>
          <p:cNvSpPr>
            <a:spLocks noChangeShapeType="1"/>
          </p:cNvSpPr>
          <p:nvPr/>
        </p:nvSpPr>
        <p:spPr bwMode="auto">
          <a:xfrm>
            <a:off x="3292475" y="6223000"/>
            <a:ext cx="277813"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7" name="Line 15"/>
          <p:cNvSpPr>
            <a:spLocks noChangeShapeType="1"/>
          </p:cNvSpPr>
          <p:nvPr/>
        </p:nvSpPr>
        <p:spPr bwMode="auto">
          <a:xfrm flipV="1">
            <a:off x="3570288" y="5492750"/>
            <a:ext cx="0" cy="74453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8" name="Line 16"/>
          <p:cNvSpPr>
            <a:spLocks noChangeShapeType="1"/>
          </p:cNvSpPr>
          <p:nvPr/>
        </p:nvSpPr>
        <p:spPr bwMode="auto">
          <a:xfrm>
            <a:off x="3570288" y="5494338"/>
            <a:ext cx="2619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0" name="Text Box 18"/>
          <p:cNvSpPr txBox="1">
            <a:spLocks noChangeArrowheads="1"/>
          </p:cNvSpPr>
          <p:nvPr/>
        </p:nvSpPr>
        <p:spPr bwMode="auto">
          <a:xfrm>
            <a:off x="4191000" y="5153025"/>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Trip</a:t>
            </a:r>
          </a:p>
        </p:txBody>
      </p:sp>
      <p:sp>
        <p:nvSpPr>
          <p:cNvPr id="38931" name="Text Box 19"/>
          <p:cNvSpPr txBox="1">
            <a:spLocks noChangeArrowheads="1"/>
          </p:cNvSpPr>
          <p:nvPr/>
        </p:nvSpPr>
        <p:spPr bwMode="auto">
          <a:xfrm>
            <a:off x="2892425" y="4821238"/>
            <a:ext cx="322263"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8933" name="Text Box 21"/>
          <p:cNvSpPr txBox="1">
            <a:spLocks noChangeArrowheads="1"/>
          </p:cNvSpPr>
          <p:nvPr/>
        </p:nvSpPr>
        <p:spPr bwMode="auto">
          <a:xfrm>
            <a:off x="2892425" y="550227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38934" name="Line 22"/>
          <p:cNvSpPr>
            <a:spLocks noChangeShapeType="1"/>
          </p:cNvSpPr>
          <p:nvPr/>
        </p:nvSpPr>
        <p:spPr bwMode="auto">
          <a:xfrm>
            <a:off x="2800350" y="5646738"/>
            <a:ext cx="84138"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6" name="Oval 24"/>
          <p:cNvSpPr>
            <a:spLocks noChangeArrowheads="1"/>
          </p:cNvSpPr>
          <p:nvPr/>
        </p:nvSpPr>
        <p:spPr bwMode="auto">
          <a:xfrm>
            <a:off x="2759075" y="499586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7" name="Oval 25"/>
          <p:cNvSpPr>
            <a:spLocks noChangeArrowheads="1"/>
          </p:cNvSpPr>
          <p:nvPr/>
        </p:nvSpPr>
        <p:spPr bwMode="auto">
          <a:xfrm>
            <a:off x="2757488" y="560387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8" name="Text Box 26"/>
          <p:cNvSpPr txBox="1">
            <a:spLocks noChangeArrowheads="1"/>
          </p:cNvSpPr>
          <p:nvPr/>
        </p:nvSpPr>
        <p:spPr bwMode="auto">
          <a:xfrm>
            <a:off x="2892425" y="3549650"/>
            <a:ext cx="322263"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8939" name="Line 27"/>
          <p:cNvSpPr>
            <a:spLocks noChangeShapeType="1"/>
          </p:cNvSpPr>
          <p:nvPr/>
        </p:nvSpPr>
        <p:spPr bwMode="auto">
          <a:xfrm>
            <a:off x="3463925" y="4178300"/>
            <a:ext cx="6921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41" name="Text Box 29"/>
          <p:cNvSpPr txBox="1">
            <a:spLocks noChangeArrowheads="1"/>
          </p:cNvSpPr>
          <p:nvPr/>
        </p:nvSpPr>
        <p:spPr bwMode="auto">
          <a:xfrm>
            <a:off x="4164013" y="3808413"/>
            <a:ext cx="412750"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38943" name="Line 31"/>
          <p:cNvSpPr>
            <a:spLocks noChangeShapeType="1"/>
          </p:cNvSpPr>
          <p:nvPr/>
        </p:nvSpPr>
        <p:spPr bwMode="auto">
          <a:xfrm>
            <a:off x="4159250" y="4057650"/>
            <a:ext cx="406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44" name="Line 32"/>
          <p:cNvSpPr>
            <a:spLocks noChangeShapeType="1"/>
          </p:cNvSpPr>
          <p:nvPr/>
        </p:nvSpPr>
        <p:spPr bwMode="auto">
          <a:xfrm flipV="1">
            <a:off x="3463925" y="3694113"/>
            <a:ext cx="0" cy="4857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45" name="Line 33"/>
          <p:cNvSpPr>
            <a:spLocks noChangeShapeType="1"/>
          </p:cNvSpPr>
          <p:nvPr/>
        </p:nvSpPr>
        <p:spPr bwMode="auto">
          <a:xfrm flipH="1">
            <a:off x="3201988" y="3694113"/>
            <a:ext cx="2746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47" name="Line 35"/>
          <p:cNvSpPr>
            <a:spLocks noChangeShapeType="1"/>
          </p:cNvSpPr>
          <p:nvPr/>
        </p:nvSpPr>
        <p:spPr bwMode="auto">
          <a:xfrm flipV="1">
            <a:off x="2652713" y="3641725"/>
            <a:ext cx="0" cy="25781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0" name="Line 38"/>
          <p:cNvSpPr>
            <a:spLocks noChangeShapeType="1"/>
          </p:cNvSpPr>
          <p:nvPr/>
        </p:nvSpPr>
        <p:spPr bwMode="auto">
          <a:xfrm>
            <a:off x="2647950" y="3636963"/>
            <a:ext cx="241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6" name="Text Box 44"/>
          <p:cNvSpPr txBox="1">
            <a:spLocks noChangeArrowheads="1"/>
          </p:cNvSpPr>
          <p:nvPr/>
        </p:nvSpPr>
        <p:spPr bwMode="auto">
          <a:xfrm>
            <a:off x="3835400" y="4946650"/>
            <a:ext cx="258763"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grpSp>
        <p:nvGrpSpPr>
          <p:cNvPr id="38960" name="Group 48"/>
          <p:cNvGrpSpPr>
            <a:grpSpLocks/>
          </p:cNvGrpSpPr>
          <p:nvPr/>
        </p:nvGrpSpPr>
        <p:grpSpPr bwMode="auto">
          <a:xfrm>
            <a:off x="3849688" y="1736725"/>
            <a:ext cx="2352675" cy="392113"/>
            <a:chOff x="666" y="981"/>
            <a:chExt cx="2100" cy="312"/>
          </a:xfrm>
        </p:grpSpPr>
        <p:sp>
          <p:nvSpPr>
            <p:cNvPr id="38961" name="Line 49"/>
            <p:cNvSpPr>
              <a:spLocks noChangeShapeType="1"/>
            </p:cNvSpPr>
            <p:nvPr/>
          </p:nvSpPr>
          <p:spPr bwMode="auto">
            <a:xfrm flipV="1">
              <a:off x="666" y="1137"/>
              <a:ext cx="21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62" name="Line 50"/>
            <p:cNvSpPr>
              <a:spLocks noChangeShapeType="1"/>
            </p:cNvSpPr>
            <p:nvPr/>
          </p:nvSpPr>
          <p:spPr bwMode="auto">
            <a:xfrm>
              <a:off x="250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63" name="Line 51"/>
            <p:cNvSpPr>
              <a:spLocks noChangeShapeType="1"/>
            </p:cNvSpPr>
            <p:nvPr/>
          </p:nvSpPr>
          <p:spPr bwMode="auto">
            <a:xfrm>
              <a:off x="2130"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64" name="Line 52"/>
            <p:cNvSpPr>
              <a:spLocks noChangeShapeType="1"/>
            </p:cNvSpPr>
            <p:nvPr/>
          </p:nvSpPr>
          <p:spPr bwMode="auto">
            <a:xfrm>
              <a:off x="1212"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65" name="Line 53"/>
            <p:cNvSpPr>
              <a:spLocks noChangeShapeType="1"/>
            </p:cNvSpPr>
            <p:nvPr/>
          </p:nvSpPr>
          <p:spPr bwMode="auto">
            <a:xfrm>
              <a:off x="846" y="981"/>
              <a:ext cx="0" cy="3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8966" name="Group 54"/>
            <p:cNvGrpSpPr>
              <a:grpSpLocks/>
            </p:cNvGrpSpPr>
            <p:nvPr/>
          </p:nvGrpSpPr>
          <p:grpSpPr bwMode="auto">
            <a:xfrm>
              <a:off x="1271" y="1094"/>
              <a:ext cx="84" cy="87"/>
              <a:chOff x="2636" y="2286"/>
              <a:chExt cx="33" cy="34"/>
            </a:xfrm>
          </p:grpSpPr>
          <p:sp>
            <p:nvSpPr>
              <p:cNvPr id="38967" name="Line 55"/>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8" name="Line 56"/>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969" name="Group 57"/>
            <p:cNvGrpSpPr>
              <a:grpSpLocks/>
            </p:cNvGrpSpPr>
            <p:nvPr/>
          </p:nvGrpSpPr>
          <p:grpSpPr bwMode="auto">
            <a:xfrm>
              <a:off x="1997" y="1093"/>
              <a:ext cx="84" cy="87"/>
              <a:chOff x="2636" y="2286"/>
              <a:chExt cx="33" cy="34"/>
            </a:xfrm>
          </p:grpSpPr>
          <p:sp>
            <p:nvSpPr>
              <p:cNvPr id="38970" name="Line 58"/>
              <p:cNvSpPr>
                <a:spLocks noChangeShapeType="1"/>
              </p:cNvSpPr>
              <p:nvPr/>
            </p:nvSpPr>
            <p:spPr bwMode="auto">
              <a:xfrm flipH="1">
                <a:off x="2636"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71" name="Line 59"/>
              <p:cNvSpPr>
                <a:spLocks noChangeShapeType="1"/>
              </p:cNvSpPr>
              <p:nvPr/>
            </p:nvSpPr>
            <p:spPr bwMode="auto">
              <a:xfrm>
                <a:off x="2637" y="2286"/>
                <a:ext cx="32" cy="3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38972" name="Line 60"/>
          <p:cNvSpPr>
            <a:spLocks noChangeShapeType="1"/>
          </p:cNvSpPr>
          <p:nvPr/>
        </p:nvSpPr>
        <p:spPr bwMode="auto">
          <a:xfrm>
            <a:off x="4568825" y="1665288"/>
            <a:ext cx="644525"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3" name="Line 61"/>
          <p:cNvSpPr>
            <a:spLocks noChangeShapeType="1"/>
          </p:cNvSpPr>
          <p:nvPr/>
        </p:nvSpPr>
        <p:spPr bwMode="auto">
          <a:xfrm>
            <a:off x="4776788" y="2208213"/>
            <a:ext cx="646112"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4" name="Line 62"/>
          <p:cNvSpPr>
            <a:spLocks noChangeShapeType="1"/>
          </p:cNvSpPr>
          <p:nvPr/>
        </p:nvSpPr>
        <p:spPr bwMode="auto">
          <a:xfrm>
            <a:off x="4578350" y="1420813"/>
            <a:ext cx="1100138"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5" name="Line 63"/>
          <p:cNvSpPr>
            <a:spLocks noChangeShapeType="1"/>
          </p:cNvSpPr>
          <p:nvPr/>
        </p:nvSpPr>
        <p:spPr bwMode="auto">
          <a:xfrm>
            <a:off x="5418138" y="2687638"/>
            <a:ext cx="881062" cy="0"/>
          </a:xfrm>
          <a:prstGeom prst="line">
            <a:avLst/>
          </a:prstGeom>
          <a:noFill/>
          <a:ln w="28575">
            <a:solidFill>
              <a:srgbClr val="CF0E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6" name="Line 64"/>
          <p:cNvSpPr>
            <a:spLocks noChangeShapeType="1"/>
          </p:cNvSpPr>
          <p:nvPr/>
        </p:nvSpPr>
        <p:spPr bwMode="auto">
          <a:xfrm>
            <a:off x="4271963" y="2447925"/>
            <a:ext cx="1146175"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7" name="Line 65"/>
          <p:cNvSpPr>
            <a:spLocks noChangeShapeType="1"/>
          </p:cNvSpPr>
          <p:nvPr/>
        </p:nvSpPr>
        <p:spPr bwMode="auto">
          <a:xfrm>
            <a:off x="3665538" y="1216025"/>
            <a:ext cx="915987" cy="0"/>
          </a:xfrm>
          <a:prstGeom prst="line">
            <a:avLst/>
          </a:prstGeom>
          <a:noFill/>
          <a:ln w="28575">
            <a:solidFill>
              <a:srgbClr val="CF0E3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8" name="Text Box 66"/>
          <p:cNvSpPr txBox="1">
            <a:spLocks noChangeArrowheads="1"/>
          </p:cNvSpPr>
          <p:nvPr/>
        </p:nvSpPr>
        <p:spPr bwMode="auto">
          <a:xfrm>
            <a:off x="6292850" y="2560638"/>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dirty="0">
                <a:solidFill>
                  <a:schemeClr val="tx1"/>
                </a:solidFill>
              </a:rPr>
              <a:t>Z3</a:t>
            </a:r>
            <a:endParaRPr lang="en-GB" altLang="en-US" b="0" i="0" dirty="0">
              <a:solidFill>
                <a:schemeClr val="tx1"/>
              </a:solidFill>
            </a:endParaRPr>
          </a:p>
        </p:txBody>
      </p:sp>
      <p:sp>
        <p:nvSpPr>
          <p:cNvPr id="38979" name="Text Box 67"/>
          <p:cNvSpPr txBox="1">
            <a:spLocks noChangeArrowheads="1"/>
          </p:cNvSpPr>
          <p:nvPr/>
        </p:nvSpPr>
        <p:spPr bwMode="auto">
          <a:xfrm>
            <a:off x="3357563" y="1089025"/>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dirty="0">
                <a:solidFill>
                  <a:schemeClr val="tx1"/>
                </a:solidFill>
              </a:rPr>
              <a:t>Z3</a:t>
            </a:r>
            <a:endParaRPr lang="en-GB" altLang="en-US" b="0" i="0" dirty="0">
              <a:solidFill>
                <a:schemeClr val="tx1"/>
              </a:solidFill>
            </a:endParaRPr>
          </a:p>
        </p:txBody>
      </p:sp>
      <p:sp>
        <p:nvSpPr>
          <p:cNvPr id="38980" name="Text Box 68"/>
          <p:cNvSpPr txBox="1">
            <a:spLocks noChangeArrowheads="1"/>
          </p:cNvSpPr>
          <p:nvPr/>
        </p:nvSpPr>
        <p:spPr bwMode="auto">
          <a:xfrm>
            <a:off x="5187950" y="1550988"/>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dirty="0">
                <a:solidFill>
                  <a:schemeClr val="tx1"/>
                </a:solidFill>
              </a:rPr>
              <a:t>Z1</a:t>
            </a:r>
            <a:endParaRPr lang="en-GB" altLang="en-US" b="0" i="0" dirty="0">
              <a:solidFill>
                <a:schemeClr val="tx1"/>
              </a:solidFill>
            </a:endParaRPr>
          </a:p>
        </p:txBody>
      </p:sp>
      <p:sp>
        <p:nvSpPr>
          <p:cNvPr id="38981" name="Text Box 69"/>
          <p:cNvSpPr txBox="1">
            <a:spLocks noChangeArrowheads="1"/>
          </p:cNvSpPr>
          <p:nvPr/>
        </p:nvSpPr>
        <p:spPr bwMode="auto">
          <a:xfrm>
            <a:off x="4513263" y="2093913"/>
            <a:ext cx="361950"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dirty="0">
                <a:solidFill>
                  <a:schemeClr val="tx1"/>
                </a:solidFill>
              </a:rPr>
              <a:t>Z1</a:t>
            </a:r>
            <a:endParaRPr lang="en-GB" altLang="en-US" b="0" i="0" dirty="0">
              <a:solidFill>
                <a:schemeClr val="tx1"/>
              </a:solidFill>
            </a:endParaRPr>
          </a:p>
        </p:txBody>
      </p:sp>
      <p:sp>
        <p:nvSpPr>
          <p:cNvPr id="38982" name="Text Box 70"/>
          <p:cNvSpPr txBox="1">
            <a:spLocks noChangeArrowheads="1"/>
          </p:cNvSpPr>
          <p:nvPr/>
        </p:nvSpPr>
        <p:spPr bwMode="auto">
          <a:xfrm>
            <a:off x="5654675" y="1282700"/>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dirty="0">
                <a:solidFill>
                  <a:schemeClr val="tx1"/>
                </a:solidFill>
              </a:rPr>
              <a:t>Z2</a:t>
            </a:r>
            <a:endParaRPr lang="en-GB" altLang="en-US" b="0" i="0" dirty="0">
              <a:solidFill>
                <a:schemeClr val="tx1"/>
              </a:solidFill>
            </a:endParaRPr>
          </a:p>
        </p:txBody>
      </p:sp>
      <p:sp>
        <p:nvSpPr>
          <p:cNvPr id="38983" name="Text Box 71"/>
          <p:cNvSpPr txBox="1">
            <a:spLocks noChangeArrowheads="1"/>
          </p:cNvSpPr>
          <p:nvPr/>
        </p:nvSpPr>
        <p:spPr bwMode="auto">
          <a:xfrm>
            <a:off x="3962400" y="2317750"/>
            <a:ext cx="3619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dirty="0">
                <a:solidFill>
                  <a:schemeClr val="tx1"/>
                </a:solidFill>
              </a:rPr>
              <a:t>Z2</a:t>
            </a:r>
            <a:endParaRPr lang="en-GB" altLang="en-US" b="0" i="0" dirty="0">
              <a:solidFill>
                <a:schemeClr val="tx1"/>
              </a:solidFill>
            </a:endParaRPr>
          </a:p>
        </p:txBody>
      </p:sp>
      <p:sp>
        <p:nvSpPr>
          <p:cNvPr id="38986" name="Line 74"/>
          <p:cNvSpPr>
            <a:spLocks noChangeShapeType="1"/>
          </p:cNvSpPr>
          <p:nvPr/>
        </p:nvSpPr>
        <p:spPr bwMode="auto">
          <a:xfrm>
            <a:off x="4592638" y="4178300"/>
            <a:ext cx="68262"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993" name="Oval 81"/>
          <p:cNvSpPr>
            <a:spLocks noChangeArrowheads="1"/>
          </p:cNvSpPr>
          <p:nvPr/>
        </p:nvSpPr>
        <p:spPr bwMode="auto">
          <a:xfrm>
            <a:off x="2617788" y="617696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94" name="Oval 82"/>
          <p:cNvSpPr>
            <a:spLocks noChangeArrowheads="1"/>
          </p:cNvSpPr>
          <p:nvPr/>
        </p:nvSpPr>
        <p:spPr bwMode="auto">
          <a:xfrm>
            <a:off x="2822575" y="3700463"/>
            <a:ext cx="66675" cy="746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95" name="Oval 83"/>
          <p:cNvSpPr>
            <a:spLocks noChangeArrowheads="1"/>
          </p:cNvSpPr>
          <p:nvPr/>
        </p:nvSpPr>
        <p:spPr bwMode="auto">
          <a:xfrm>
            <a:off x="2820988" y="4856163"/>
            <a:ext cx="66675" cy="746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96" name="Line 84"/>
          <p:cNvSpPr>
            <a:spLocks noChangeShapeType="1"/>
          </p:cNvSpPr>
          <p:nvPr/>
        </p:nvSpPr>
        <p:spPr bwMode="auto">
          <a:xfrm>
            <a:off x="2527300" y="6215063"/>
            <a:ext cx="1381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99" name="Text Box 87"/>
          <p:cNvSpPr txBox="1">
            <a:spLocks noChangeArrowheads="1"/>
          </p:cNvSpPr>
          <p:nvPr/>
        </p:nvSpPr>
        <p:spPr bwMode="auto">
          <a:xfrm flipH="1">
            <a:off x="7164388" y="606107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Z3</a:t>
            </a:r>
          </a:p>
        </p:txBody>
      </p:sp>
      <p:sp>
        <p:nvSpPr>
          <p:cNvPr id="39000" name="Text Box 88"/>
          <p:cNvSpPr txBox="1">
            <a:spLocks noChangeArrowheads="1"/>
          </p:cNvSpPr>
          <p:nvPr/>
        </p:nvSpPr>
        <p:spPr bwMode="auto">
          <a:xfrm flipH="1">
            <a:off x="7164388" y="548322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Z2</a:t>
            </a:r>
          </a:p>
        </p:txBody>
      </p:sp>
      <p:sp>
        <p:nvSpPr>
          <p:cNvPr id="39001" name="Text Box 89"/>
          <p:cNvSpPr txBox="1">
            <a:spLocks noChangeArrowheads="1"/>
          </p:cNvSpPr>
          <p:nvPr/>
        </p:nvSpPr>
        <p:spPr bwMode="auto">
          <a:xfrm flipH="1">
            <a:off x="7164388" y="5121275"/>
            <a:ext cx="39305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a:t>Z1</a:t>
            </a:r>
          </a:p>
        </p:txBody>
      </p:sp>
      <p:sp>
        <p:nvSpPr>
          <p:cNvPr id="39003" name="Text Box 91"/>
          <p:cNvSpPr txBox="1">
            <a:spLocks noChangeArrowheads="1"/>
          </p:cNvSpPr>
          <p:nvPr/>
        </p:nvSpPr>
        <p:spPr bwMode="auto">
          <a:xfrm flipH="1">
            <a:off x="6469063" y="5489575"/>
            <a:ext cx="390525" cy="303213"/>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39005" name="Text Box 93"/>
          <p:cNvSpPr txBox="1">
            <a:spLocks noChangeArrowheads="1"/>
          </p:cNvSpPr>
          <p:nvPr/>
        </p:nvSpPr>
        <p:spPr bwMode="auto">
          <a:xfrm flipH="1">
            <a:off x="6462713" y="6061075"/>
            <a:ext cx="390525"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T3</a:t>
            </a:r>
            <a:endParaRPr lang="en-GB" altLang="en-US" sz="1200" i="0">
              <a:solidFill>
                <a:schemeClr val="tx1"/>
              </a:solidFill>
            </a:endParaRPr>
          </a:p>
        </p:txBody>
      </p:sp>
      <p:sp>
        <p:nvSpPr>
          <p:cNvPr id="39006" name="Line 94"/>
          <p:cNvSpPr>
            <a:spLocks noChangeShapeType="1"/>
          </p:cNvSpPr>
          <p:nvPr/>
        </p:nvSpPr>
        <p:spPr bwMode="auto">
          <a:xfrm flipH="1">
            <a:off x="6862763" y="6211888"/>
            <a:ext cx="1873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07" name="Line 95"/>
          <p:cNvSpPr>
            <a:spLocks noChangeShapeType="1"/>
          </p:cNvSpPr>
          <p:nvPr/>
        </p:nvSpPr>
        <p:spPr bwMode="auto">
          <a:xfrm flipH="1">
            <a:off x="6376988" y="5627688"/>
            <a:ext cx="85725"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08" name="Line 96"/>
          <p:cNvSpPr>
            <a:spLocks noChangeShapeType="1"/>
          </p:cNvSpPr>
          <p:nvPr/>
        </p:nvSpPr>
        <p:spPr bwMode="auto">
          <a:xfrm flipH="1" flipV="1">
            <a:off x="6378575" y="5368925"/>
            <a:ext cx="0" cy="26828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09" name="Line 97"/>
          <p:cNvSpPr>
            <a:spLocks noChangeShapeType="1"/>
          </p:cNvSpPr>
          <p:nvPr/>
        </p:nvSpPr>
        <p:spPr bwMode="auto">
          <a:xfrm flipH="1">
            <a:off x="5870575" y="5376863"/>
            <a:ext cx="5032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10" name="Line 98"/>
          <p:cNvSpPr>
            <a:spLocks noChangeShapeType="1"/>
          </p:cNvSpPr>
          <p:nvPr/>
        </p:nvSpPr>
        <p:spPr bwMode="auto">
          <a:xfrm flipH="1">
            <a:off x="6137275" y="6210300"/>
            <a:ext cx="325438"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11" name="Line 99"/>
          <p:cNvSpPr>
            <a:spLocks noChangeShapeType="1"/>
          </p:cNvSpPr>
          <p:nvPr/>
        </p:nvSpPr>
        <p:spPr bwMode="auto">
          <a:xfrm flipH="1" flipV="1">
            <a:off x="6137275" y="5480050"/>
            <a:ext cx="0" cy="744538"/>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12" name="Line 100"/>
          <p:cNvSpPr>
            <a:spLocks noChangeShapeType="1"/>
          </p:cNvSpPr>
          <p:nvPr/>
        </p:nvSpPr>
        <p:spPr bwMode="auto">
          <a:xfrm flipH="1">
            <a:off x="5875338" y="5481638"/>
            <a:ext cx="261937" cy="0"/>
          </a:xfrm>
          <a:prstGeom prst="line">
            <a:avLst/>
          </a:prstGeom>
          <a:noFill/>
          <a:ln w="285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14" name="Text Box 102"/>
          <p:cNvSpPr txBox="1">
            <a:spLocks noChangeArrowheads="1"/>
          </p:cNvSpPr>
          <p:nvPr/>
        </p:nvSpPr>
        <p:spPr bwMode="auto">
          <a:xfrm flipH="1">
            <a:off x="5054600" y="5140325"/>
            <a:ext cx="48577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a:t>Trip</a:t>
            </a:r>
          </a:p>
        </p:txBody>
      </p:sp>
      <p:sp>
        <p:nvSpPr>
          <p:cNvPr id="39015" name="Text Box 103"/>
          <p:cNvSpPr txBox="1">
            <a:spLocks noChangeArrowheads="1"/>
          </p:cNvSpPr>
          <p:nvPr/>
        </p:nvSpPr>
        <p:spPr bwMode="auto">
          <a:xfrm flipH="1">
            <a:off x="6529388" y="4808538"/>
            <a:ext cx="322262" cy="303212"/>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9017" name="Text Box 105"/>
          <p:cNvSpPr txBox="1">
            <a:spLocks noChangeArrowheads="1"/>
          </p:cNvSpPr>
          <p:nvPr/>
        </p:nvSpPr>
        <p:spPr bwMode="auto">
          <a:xfrm flipH="1">
            <a:off x="6469063" y="5489575"/>
            <a:ext cx="390525" cy="303213"/>
          </a:xfrm>
          <a:prstGeom prst="rect">
            <a:avLst/>
          </a:prstGeom>
          <a:noFill/>
          <a:ln w="28575">
            <a:solidFill>
              <a:srgbClr val="96969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T2</a:t>
            </a:r>
            <a:endParaRPr lang="en-GB" altLang="en-US" sz="1200" i="0">
              <a:solidFill>
                <a:schemeClr val="tx1"/>
              </a:solidFill>
            </a:endParaRPr>
          </a:p>
        </p:txBody>
      </p:sp>
      <p:sp>
        <p:nvSpPr>
          <p:cNvPr id="39020" name="Oval 108"/>
          <p:cNvSpPr>
            <a:spLocks noChangeArrowheads="1"/>
          </p:cNvSpPr>
          <p:nvPr/>
        </p:nvSpPr>
        <p:spPr bwMode="auto">
          <a:xfrm flipH="1">
            <a:off x="6915150" y="4987925"/>
            <a:ext cx="66675" cy="7461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1" name="Oval 109"/>
          <p:cNvSpPr>
            <a:spLocks noChangeArrowheads="1"/>
          </p:cNvSpPr>
          <p:nvPr/>
        </p:nvSpPr>
        <p:spPr bwMode="auto">
          <a:xfrm flipH="1">
            <a:off x="6916738" y="5595938"/>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 name="Text Box 110"/>
          <p:cNvSpPr txBox="1">
            <a:spLocks noChangeArrowheads="1"/>
          </p:cNvSpPr>
          <p:nvPr/>
        </p:nvSpPr>
        <p:spPr bwMode="auto">
          <a:xfrm flipH="1">
            <a:off x="6529388" y="3536950"/>
            <a:ext cx="322262" cy="303213"/>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GB" altLang="en-US" sz="1200" i="0">
                <a:solidFill>
                  <a:schemeClr val="bg2"/>
                </a:solidFill>
              </a:rPr>
              <a:t>&amp;</a:t>
            </a:r>
            <a:endParaRPr lang="en-GB" altLang="en-US" sz="1200" i="0">
              <a:solidFill>
                <a:schemeClr val="tx1"/>
              </a:solidFill>
            </a:endParaRPr>
          </a:p>
        </p:txBody>
      </p:sp>
      <p:sp>
        <p:nvSpPr>
          <p:cNvPr id="39025" name="Text Box 113"/>
          <p:cNvSpPr txBox="1">
            <a:spLocks noChangeArrowheads="1"/>
          </p:cNvSpPr>
          <p:nvPr/>
        </p:nvSpPr>
        <p:spPr bwMode="auto">
          <a:xfrm flipH="1">
            <a:off x="5178425" y="3790950"/>
            <a:ext cx="422275" cy="4857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Rx Tx</a:t>
            </a:r>
            <a:endParaRPr lang="en-GB" altLang="en-US" sz="1200" i="0">
              <a:solidFill>
                <a:schemeClr val="tx1"/>
              </a:solidFill>
            </a:endParaRPr>
          </a:p>
        </p:txBody>
      </p:sp>
      <p:sp>
        <p:nvSpPr>
          <p:cNvPr id="39027" name="Line 115"/>
          <p:cNvSpPr>
            <a:spLocks noChangeShapeType="1"/>
          </p:cNvSpPr>
          <p:nvPr/>
        </p:nvSpPr>
        <p:spPr bwMode="auto">
          <a:xfrm flipH="1">
            <a:off x="5191125" y="4040188"/>
            <a:ext cx="3968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40" name="Text Box 128"/>
          <p:cNvSpPr txBox="1">
            <a:spLocks noChangeArrowheads="1"/>
          </p:cNvSpPr>
          <p:nvPr/>
        </p:nvSpPr>
        <p:spPr bwMode="auto">
          <a:xfrm flipH="1">
            <a:off x="5614988" y="4933950"/>
            <a:ext cx="258762" cy="850900"/>
          </a:xfrm>
          <a:prstGeom prst="rect">
            <a:avLst/>
          </a:prstGeom>
          <a:solidFill>
            <a:srgbClr val="FFFFC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GB" altLang="en-US" sz="1200" i="0">
                <a:solidFill>
                  <a:schemeClr val="bg2"/>
                </a:solidFill>
              </a:rPr>
              <a:t> 1 </a:t>
            </a:r>
            <a:r>
              <a:rPr lang="en-GB" altLang="en-US" sz="1200" i="0">
                <a:solidFill>
                  <a:schemeClr val="bg1"/>
                </a:solidFill>
              </a:rPr>
              <a:t>.</a:t>
            </a:r>
            <a:r>
              <a:rPr lang="en-GB" altLang="en-US" sz="1200" i="0">
                <a:solidFill>
                  <a:schemeClr val="bg2"/>
                </a:solidFill>
              </a:rPr>
              <a:t>                   </a:t>
            </a:r>
            <a:endParaRPr lang="en-GB" altLang="en-US" sz="1200" i="0">
              <a:solidFill>
                <a:schemeClr val="tx1"/>
              </a:solidFill>
            </a:endParaRPr>
          </a:p>
        </p:txBody>
      </p:sp>
      <p:sp>
        <p:nvSpPr>
          <p:cNvPr id="38929" name="Line 17"/>
          <p:cNvSpPr>
            <a:spLocks noChangeShapeType="1"/>
          </p:cNvSpPr>
          <p:nvPr/>
        </p:nvSpPr>
        <p:spPr bwMode="auto">
          <a:xfrm>
            <a:off x="4095750" y="5291138"/>
            <a:ext cx="152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2" name="Line 40"/>
          <p:cNvSpPr>
            <a:spLocks noChangeShapeType="1"/>
          </p:cNvSpPr>
          <p:nvPr/>
        </p:nvSpPr>
        <p:spPr bwMode="auto">
          <a:xfrm>
            <a:off x="3197225" y="4968875"/>
            <a:ext cx="1730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3" name="Line 41"/>
          <p:cNvSpPr>
            <a:spLocks noChangeShapeType="1"/>
          </p:cNvSpPr>
          <p:nvPr/>
        </p:nvSpPr>
        <p:spPr bwMode="auto">
          <a:xfrm flipH="1">
            <a:off x="3370263" y="5165725"/>
            <a:ext cx="4683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4" name="Line 42"/>
          <p:cNvSpPr>
            <a:spLocks noChangeShapeType="1"/>
          </p:cNvSpPr>
          <p:nvPr/>
        </p:nvSpPr>
        <p:spPr bwMode="auto">
          <a:xfrm flipV="1">
            <a:off x="3370263" y="4962525"/>
            <a:ext cx="0" cy="2095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02" name="Line 90"/>
          <p:cNvSpPr>
            <a:spLocks noChangeShapeType="1"/>
          </p:cNvSpPr>
          <p:nvPr/>
        </p:nvSpPr>
        <p:spPr bwMode="auto">
          <a:xfrm flipH="1">
            <a:off x="5878513" y="5264150"/>
            <a:ext cx="13001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04" name="Line 92"/>
          <p:cNvSpPr>
            <a:spLocks noChangeShapeType="1"/>
          </p:cNvSpPr>
          <p:nvPr/>
        </p:nvSpPr>
        <p:spPr bwMode="auto">
          <a:xfrm flipH="1">
            <a:off x="6938963" y="5634038"/>
            <a:ext cx="2397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13" name="Line 101"/>
          <p:cNvSpPr>
            <a:spLocks noChangeShapeType="1"/>
          </p:cNvSpPr>
          <p:nvPr/>
        </p:nvSpPr>
        <p:spPr bwMode="auto">
          <a:xfrm flipH="1">
            <a:off x="5459413" y="5278438"/>
            <a:ext cx="152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19" name="Line 107"/>
          <p:cNvSpPr>
            <a:spLocks noChangeShapeType="1"/>
          </p:cNvSpPr>
          <p:nvPr/>
        </p:nvSpPr>
        <p:spPr bwMode="auto">
          <a:xfrm flipH="1">
            <a:off x="6853238" y="5033963"/>
            <a:ext cx="666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30" name="Line 118"/>
          <p:cNvSpPr>
            <a:spLocks noChangeShapeType="1"/>
          </p:cNvSpPr>
          <p:nvPr/>
        </p:nvSpPr>
        <p:spPr bwMode="auto">
          <a:xfrm flipH="1" flipV="1">
            <a:off x="6950075" y="5026025"/>
            <a:ext cx="0" cy="5715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36" name="Line 124"/>
          <p:cNvSpPr>
            <a:spLocks noChangeShapeType="1"/>
          </p:cNvSpPr>
          <p:nvPr/>
        </p:nvSpPr>
        <p:spPr bwMode="auto">
          <a:xfrm flipH="1">
            <a:off x="6337300" y="4956175"/>
            <a:ext cx="1920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37" name="Line 125"/>
          <p:cNvSpPr>
            <a:spLocks noChangeShapeType="1"/>
          </p:cNvSpPr>
          <p:nvPr/>
        </p:nvSpPr>
        <p:spPr bwMode="auto">
          <a:xfrm>
            <a:off x="5868988" y="5153025"/>
            <a:ext cx="4683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38" name="Line 126"/>
          <p:cNvSpPr>
            <a:spLocks noChangeShapeType="1"/>
          </p:cNvSpPr>
          <p:nvPr/>
        </p:nvSpPr>
        <p:spPr bwMode="auto">
          <a:xfrm flipH="1" flipV="1">
            <a:off x="6337300" y="4949825"/>
            <a:ext cx="0" cy="2095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39" name="Line 127"/>
          <p:cNvSpPr>
            <a:spLocks noChangeShapeType="1"/>
          </p:cNvSpPr>
          <p:nvPr/>
        </p:nvSpPr>
        <p:spPr bwMode="auto">
          <a:xfrm flipH="1">
            <a:off x="6910388" y="3724275"/>
            <a:ext cx="523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41" name="Line 129"/>
          <p:cNvSpPr>
            <a:spLocks noChangeShapeType="1"/>
          </p:cNvSpPr>
          <p:nvPr/>
        </p:nvSpPr>
        <p:spPr bwMode="auto">
          <a:xfrm flipV="1">
            <a:off x="6948488" y="3732213"/>
            <a:ext cx="0" cy="12969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42" name="Oval 130"/>
          <p:cNvSpPr>
            <a:spLocks noChangeArrowheads="1"/>
          </p:cNvSpPr>
          <p:nvPr/>
        </p:nvSpPr>
        <p:spPr bwMode="auto">
          <a:xfrm flipH="1">
            <a:off x="7023100" y="6164263"/>
            <a:ext cx="66675" cy="746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43" name="Oval 131"/>
          <p:cNvSpPr>
            <a:spLocks noChangeArrowheads="1"/>
          </p:cNvSpPr>
          <p:nvPr/>
        </p:nvSpPr>
        <p:spPr bwMode="auto">
          <a:xfrm flipH="1">
            <a:off x="6842125" y="3683000"/>
            <a:ext cx="66675" cy="74613"/>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44" name="Oval 132"/>
          <p:cNvSpPr>
            <a:spLocks noChangeArrowheads="1"/>
          </p:cNvSpPr>
          <p:nvPr/>
        </p:nvSpPr>
        <p:spPr bwMode="auto">
          <a:xfrm flipH="1">
            <a:off x="6843713" y="4843463"/>
            <a:ext cx="66675" cy="746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9078" name="Group 166"/>
          <p:cNvGrpSpPr>
            <a:grpSpLocks/>
          </p:cNvGrpSpPr>
          <p:nvPr/>
        </p:nvGrpSpPr>
        <p:grpSpPr bwMode="auto">
          <a:xfrm>
            <a:off x="2520950" y="3330575"/>
            <a:ext cx="4667250" cy="2876550"/>
            <a:chOff x="2020" y="2062"/>
            <a:chExt cx="2940" cy="1812"/>
          </a:xfrm>
        </p:grpSpPr>
        <p:sp>
          <p:nvSpPr>
            <p:cNvPr id="38932" name="Line 20"/>
            <p:cNvSpPr>
              <a:spLocks noChangeShapeType="1"/>
            </p:cNvSpPr>
            <p:nvPr/>
          </p:nvSpPr>
          <p:spPr bwMode="auto">
            <a:xfrm>
              <a:off x="2020" y="305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42" name="Line 30"/>
            <p:cNvSpPr>
              <a:spLocks noChangeShapeType="1"/>
            </p:cNvSpPr>
            <p:nvPr/>
          </p:nvSpPr>
          <p:spPr bwMode="auto">
            <a:xfrm>
              <a:off x="2932" y="2454"/>
              <a:ext cx="1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48" name="Line 36"/>
            <p:cNvSpPr>
              <a:spLocks noChangeShapeType="1"/>
            </p:cNvSpPr>
            <p:nvPr/>
          </p:nvSpPr>
          <p:spPr bwMode="auto">
            <a:xfrm>
              <a:off x="2025" y="2075"/>
              <a:ext cx="91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49" name="Line 37"/>
            <p:cNvSpPr>
              <a:spLocks noChangeShapeType="1"/>
            </p:cNvSpPr>
            <p:nvPr/>
          </p:nvSpPr>
          <p:spPr bwMode="auto">
            <a:xfrm>
              <a:off x="2932" y="2075"/>
              <a:ext cx="0" cy="3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85" name="Line 73"/>
            <p:cNvSpPr>
              <a:spLocks noChangeShapeType="1"/>
            </p:cNvSpPr>
            <p:nvPr/>
          </p:nvSpPr>
          <p:spPr bwMode="auto">
            <a:xfrm>
              <a:off x="3321" y="2444"/>
              <a:ext cx="50"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987" name="Line 75"/>
            <p:cNvSpPr>
              <a:spLocks noChangeShapeType="1"/>
            </p:cNvSpPr>
            <p:nvPr/>
          </p:nvSpPr>
          <p:spPr bwMode="auto">
            <a:xfrm>
              <a:off x="3366" y="2440"/>
              <a:ext cx="0" cy="8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989" name="Line 77"/>
            <p:cNvSpPr>
              <a:spLocks noChangeShapeType="1"/>
            </p:cNvSpPr>
            <p:nvPr/>
          </p:nvSpPr>
          <p:spPr bwMode="auto">
            <a:xfrm flipH="1">
              <a:off x="3643" y="2444"/>
              <a:ext cx="49"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990" name="Line 78"/>
            <p:cNvSpPr>
              <a:spLocks noChangeShapeType="1"/>
            </p:cNvSpPr>
            <p:nvPr/>
          </p:nvSpPr>
          <p:spPr bwMode="auto">
            <a:xfrm flipH="1">
              <a:off x="3646" y="2596"/>
              <a:ext cx="42"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991" name="Line 79"/>
            <p:cNvSpPr>
              <a:spLocks noChangeShapeType="1"/>
            </p:cNvSpPr>
            <p:nvPr/>
          </p:nvSpPr>
          <p:spPr bwMode="auto">
            <a:xfrm flipH="1">
              <a:off x="3648" y="2444"/>
              <a:ext cx="0" cy="15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992" name="Line 80"/>
            <p:cNvSpPr>
              <a:spLocks noChangeShapeType="1"/>
            </p:cNvSpPr>
            <p:nvPr/>
          </p:nvSpPr>
          <p:spPr bwMode="auto">
            <a:xfrm>
              <a:off x="3365" y="2517"/>
              <a:ext cx="283" cy="3"/>
            </a:xfrm>
            <a:prstGeom prst="line">
              <a:avLst/>
            </a:prstGeom>
            <a:noFill/>
            <a:ln w="1905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997" name="Line 85"/>
            <p:cNvSpPr>
              <a:spLocks noChangeShapeType="1"/>
            </p:cNvSpPr>
            <p:nvPr/>
          </p:nvSpPr>
          <p:spPr bwMode="auto">
            <a:xfrm flipV="1">
              <a:off x="2021" y="2070"/>
              <a:ext cx="0" cy="9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16" name="Line 104"/>
            <p:cNvSpPr>
              <a:spLocks noChangeShapeType="1"/>
            </p:cNvSpPr>
            <p:nvPr/>
          </p:nvSpPr>
          <p:spPr bwMode="auto">
            <a:xfrm flipH="1">
              <a:off x="4782" y="3042"/>
              <a:ext cx="17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 name="Line 111"/>
            <p:cNvSpPr>
              <a:spLocks noChangeShapeType="1"/>
            </p:cNvSpPr>
            <p:nvPr/>
          </p:nvSpPr>
          <p:spPr bwMode="auto">
            <a:xfrm flipH="1">
              <a:off x="3961" y="2588"/>
              <a:ext cx="40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6" name="Line 114"/>
            <p:cNvSpPr>
              <a:spLocks noChangeShapeType="1"/>
            </p:cNvSpPr>
            <p:nvPr/>
          </p:nvSpPr>
          <p:spPr bwMode="auto">
            <a:xfrm flipH="1">
              <a:off x="3959" y="2449"/>
              <a:ext cx="8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8" name="Line 116"/>
            <p:cNvSpPr>
              <a:spLocks noChangeShapeType="1"/>
            </p:cNvSpPr>
            <p:nvPr/>
          </p:nvSpPr>
          <p:spPr bwMode="auto">
            <a:xfrm flipH="1" flipV="1">
              <a:off x="4365" y="2277"/>
              <a:ext cx="0" cy="31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9" name="Line 117"/>
            <p:cNvSpPr>
              <a:spLocks noChangeShapeType="1"/>
            </p:cNvSpPr>
            <p:nvPr/>
          </p:nvSpPr>
          <p:spPr bwMode="auto">
            <a:xfrm>
              <a:off x="4366" y="2283"/>
              <a:ext cx="1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31" name="Line 119"/>
            <p:cNvSpPr>
              <a:spLocks noChangeShapeType="1"/>
            </p:cNvSpPr>
            <p:nvPr/>
          </p:nvSpPr>
          <p:spPr bwMode="auto">
            <a:xfrm flipH="1" flipV="1">
              <a:off x="4876" y="2250"/>
              <a:ext cx="0" cy="16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32" name="Line 120"/>
            <p:cNvSpPr>
              <a:spLocks noChangeShapeType="1"/>
            </p:cNvSpPr>
            <p:nvPr/>
          </p:nvSpPr>
          <p:spPr bwMode="auto">
            <a:xfrm flipH="1">
              <a:off x="4039" y="2067"/>
              <a:ext cx="92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33" name="Line 121"/>
            <p:cNvSpPr>
              <a:spLocks noChangeShapeType="1"/>
            </p:cNvSpPr>
            <p:nvPr/>
          </p:nvSpPr>
          <p:spPr bwMode="auto">
            <a:xfrm flipH="1">
              <a:off x="4047" y="2067"/>
              <a:ext cx="0" cy="3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34" name="Line 122"/>
            <p:cNvSpPr>
              <a:spLocks noChangeShapeType="1"/>
            </p:cNvSpPr>
            <p:nvPr/>
          </p:nvSpPr>
          <p:spPr bwMode="auto">
            <a:xfrm flipH="1">
              <a:off x="4754" y="2250"/>
              <a:ext cx="1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0" name="Line 8"/>
            <p:cNvSpPr>
              <a:spLocks noChangeShapeType="1"/>
            </p:cNvSpPr>
            <p:nvPr/>
          </p:nvSpPr>
          <p:spPr bwMode="auto">
            <a:xfrm>
              <a:off x="2025" y="3521"/>
              <a:ext cx="1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5" name="Line 23"/>
            <p:cNvSpPr>
              <a:spLocks noChangeShapeType="1"/>
            </p:cNvSpPr>
            <p:nvPr/>
          </p:nvSpPr>
          <p:spPr bwMode="auto">
            <a:xfrm>
              <a:off x="2188" y="3143"/>
              <a:ext cx="6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46" name="Line 34"/>
            <p:cNvSpPr>
              <a:spLocks noChangeShapeType="1"/>
            </p:cNvSpPr>
            <p:nvPr/>
          </p:nvSpPr>
          <p:spPr bwMode="auto">
            <a:xfrm flipV="1">
              <a:off x="2190" y="3135"/>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5" name="Line 43"/>
            <p:cNvSpPr>
              <a:spLocks noChangeShapeType="1"/>
            </p:cNvSpPr>
            <p:nvPr/>
          </p:nvSpPr>
          <p:spPr bwMode="auto">
            <a:xfrm>
              <a:off x="2182" y="2321"/>
              <a:ext cx="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7" name="Line 45"/>
            <p:cNvSpPr>
              <a:spLocks noChangeShapeType="1"/>
            </p:cNvSpPr>
            <p:nvPr/>
          </p:nvSpPr>
          <p:spPr bwMode="auto">
            <a:xfrm flipH="1" flipV="1">
              <a:off x="2191" y="2320"/>
              <a:ext cx="0" cy="8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45" name="Line 133"/>
            <p:cNvSpPr>
              <a:spLocks noChangeShapeType="1"/>
            </p:cNvSpPr>
            <p:nvPr/>
          </p:nvSpPr>
          <p:spPr bwMode="auto">
            <a:xfrm flipH="1">
              <a:off x="4895" y="3871"/>
              <a:ext cx="6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46" name="Line 134"/>
            <p:cNvSpPr>
              <a:spLocks noChangeShapeType="1"/>
            </p:cNvSpPr>
            <p:nvPr/>
          </p:nvSpPr>
          <p:spPr bwMode="auto">
            <a:xfrm flipH="1" flipV="1">
              <a:off x="4958" y="2062"/>
              <a:ext cx="0" cy="98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9110" name="Rectangle 198"/>
          <p:cNvSpPr>
            <a:spLocks noGrp="1" noChangeArrowheads="1"/>
          </p:cNvSpPr>
          <p:nvPr>
            <p:ph type="title"/>
          </p:nvPr>
        </p:nvSpPr>
        <p:spPr>
          <a:xfrm>
            <a:off x="431800" y="77788"/>
            <a:ext cx="8280400" cy="700089"/>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sz="3600" dirty="0"/>
              <a:t>Blocking Scheme - External Fault</a:t>
            </a:r>
          </a:p>
        </p:txBody>
      </p:sp>
      <p:grpSp>
        <p:nvGrpSpPr>
          <p:cNvPr id="39049" name="Group 137"/>
          <p:cNvGrpSpPr>
            <a:grpSpLocks/>
          </p:cNvGrpSpPr>
          <p:nvPr/>
        </p:nvGrpSpPr>
        <p:grpSpPr bwMode="auto">
          <a:xfrm>
            <a:off x="5521325" y="1784350"/>
            <a:ext cx="104775" cy="396875"/>
            <a:chOff x="5516" y="4124"/>
            <a:chExt cx="164" cy="544"/>
          </a:xfrm>
        </p:grpSpPr>
        <p:sp>
          <p:nvSpPr>
            <p:cNvPr id="39050" name="Line 138"/>
            <p:cNvSpPr>
              <a:spLocks noChangeShapeType="1"/>
            </p:cNvSpPr>
            <p:nvPr/>
          </p:nvSpPr>
          <p:spPr bwMode="auto">
            <a:xfrm flipH="1">
              <a:off x="5516" y="4360"/>
              <a:ext cx="157" cy="308"/>
            </a:xfrm>
            <a:prstGeom prst="line">
              <a:avLst/>
            </a:prstGeom>
            <a:noFill/>
            <a:ln w="19050">
              <a:solidFill>
                <a:srgbClr val="000000"/>
              </a:solidFill>
              <a:round/>
              <a:headEnd type="none" w="med"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051" name="Line 139"/>
            <p:cNvSpPr>
              <a:spLocks noChangeShapeType="1"/>
            </p:cNvSpPr>
            <p:nvPr/>
          </p:nvSpPr>
          <p:spPr bwMode="auto">
            <a:xfrm flipH="1">
              <a:off x="5516" y="4124"/>
              <a:ext cx="129" cy="259"/>
            </a:xfrm>
            <a:prstGeom prst="line">
              <a:avLst/>
            </a:prstGeom>
            <a:noFill/>
            <a:ln w="19050">
              <a:solidFill>
                <a:srgbClr val="000000"/>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052" name="Line 140"/>
            <p:cNvSpPr>
              <a:spLocks noChangeShapeType="1"/>
            </p:cNvSpPr>
            <p:nvPr/>
          </p:nvSpPr>
          <p:spPr bwMode="auto">
            <a:xfrm>
              <a:off x="5524" y="4375"/>
              <a:ext cx="156" cy="0"/>
            </a:xfrm>
            <a:prstGeom prst="line">
              <a:avLst/>
            </a:prstGeom>
            <a:noFill/>
            <a:ln w="1905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9076" name="Text Box 164"/>
          <p:cNvSpPr txBox="1">
            <a:spLocks noChangeArrowheads="1"/>
          </p:cNvSpPr>
          <p:nvPr/>
        </p:nvSpPr>
        <p:spPr bwMode="auto">
          <a:xfrm>
            <a:off x="373064" y="2297908"/>
            <a:ext cx="184943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en-GB"/>
            </a:defPPr>
            <a:lvl1pPr algn="l">
              <a:defRPr sz="1400" i="0">
                <a:latin typeface="Arial" panose="020B0604020202020204" pitchFamily="34" charset="0"/>
                <a:cs typeface="Arial" panose="020B0604020202020204" pitchFamily="34" charset="0"/>
              </a:defRPr>
            </a:lvl1pPr>
          </a:lstStyle>
          <a:p>
            <a:r>
              <a:rPr lang="en-GB" altLang="en-US" dirty="0"/>
              <a:t>Send Logic : Z3 + </a:t>
            </a:r>
            <a:r>
              <a:rPr lang="en-GB" altLang="en-US" u="sng" dirty="0"/>
              <a:t>Z2</a:t>
            </a:r>
          </a:p>
          <a:p>
            <a:r>
              <a:rPr lang="en-GB" altLang="en-US" dirty="0"/>
              <a:t>Trip Logic : </a:t>
            </a:r>
            <a:r>
              <a:rPr lang="en-GB" altLang="en-US" u="sng" dirty="0"/>
              <a:t>Rx</a:t>
            </a:r>
            <a:r>
              <a:rPr lang="en-GB" altLang="en-US" dirty="0"/>
              <a:t> + Z2</a:t>
            </a:r>
          </a:p>
        </p:txBody>
      </p:sp>
      <p:grpSp>
        <p:nvGrpSpPr>
          <p:cNvPr id="39079" name="Group 167"/>
          <p:cNvGrpSpPr>
            <a:grpSpLocks/>
          </p:cNvGrpSpPr>
          <p:nvPr/>
        </p:nvGrpSpPr>
        <p:grpSpPr bwMode="auto">
          <a:xfrm>
            <a:off x="2520950" y="3330575"/>
            <a:ext cx="4667250" cy="2876550"/>
            <a:chOff x="2020" y="2062"/>
            <a:chExt cx="2940" cy="1812"/>
          </a:xfrm>
        </p:grpSpPr>
        <p:sp>
          <p:nvSpPr>
            <p:cNvPr id="39080" name="Line 168"/>
            <p:cNvSpPr>
              <a:spLocks noChangeShapeType="1"/>
            </p:cNvSpPr>
            <p:nvPr/>
          </p:nvSpPr>
          <p:spPr bwMode="auto">
            <a:xfrm>
              <a:off x="2020" y="3050"/>
              <a:ext cx="19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81" name="Line 169"/>
            <p:cNvSpPr>
              <a:spLocks noChangeShapeType="1"/>
            </p:cNvSpPr>
            <p:nvPr/>
          </p:nvSpPr>
          <p:spPr bwMode="auto">
            <a:xfrm>
              <a:off x="2932" y="2454"/>
              <a:ext cx="12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82" name="Line 170"/>
            <p:cNvSpPr>
              <a:spLocks noChangeShapeType="1"/>
            </p:cNvSpPr>
            <p:nvPr/>
          </p:nvSpPr>
          <p:spPr bwMode="auto">
            <a:xfrm>
              <a:off x="2025" y="2075"/>
              <a:ext cx="91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83" name="Line 171"/>
            <p:cNvSpPr>
              <a:spLocks noChangeShapeType="1"/>
            </p:cNvSpPr>
            <p:nvPr/>
          </p:nvSpPr>
          <p:spPr bwMode="auto">
            <a:xfrm>
              <a:off x="2932" y="2075"/>
              <a:ext cx="0" cy="38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84" name="Line 172"/>
            <p:cNvSpPr>
              <a:spLocks noChangeShapeType="1"/>
            </p:cNvSpPr>
            <p:nvPr/>
          </p:nvSpPr>
          <p:spPr bwMode="auto">
            <a:xfrm>
              <a:off x="3321" y="2444"/>
              <a:ext cx="5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085" name="Line 173"/>
            <p:cNvSpPr>
              <a:spLocks noChangeShapeType="1"/>
            </p:cNvSpPr>
            <p:nvPr/>
          </p:nvSpPr>
          <p:spPr bwMode="auto">
            <a:xfrm>
              <a:off x="3366" y="2440"/>
              <a:ext cx="0" cy="8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086" name="Line 174"/>
            <p:cNvSpPr>
              <a:spLocks noChangeShapeType="1"/>
            </p:cNvSpPr>
            <p:nvPr/>
          </p:nvSpPr>
          <p:spPr bwMode="auto">
            <a:xfrm flipH="1">
              <a:off x="3643" y="2444"/>
              <a:ext cx="4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087" name="Line 175"/>
            <p:cNvSpPr>
              <a:spLocks noChangeShapeType="1"/>
            </p:cNvSpPr>
            <p:nvPr/>
          </p:nvSpPr>
          <p:spPr bwMode="auto">
            <a:xfrm flipH="1">
              <a:off x="3646" y="2596"/>
              <a:ext cx="4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088" name="Line 176"/>
            <p:cNvSpPr>
              <a:spLocks noChangeShapeType="1"/>
            </p:cNvSpPr>
            <p:nvPr/>
          </p:nvSpPr>
          <p:spPr bwMode="auto">
            <a:xfrm flipH="1">
              <a:off x="3648" y="2444"/>
              <a:ext cx="0" cy="15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089" name="Line 177"/>
            <p:cNvSpPr>
              <a:spLocks noChangeShapeType="1"/>
            </p:cNvSpPr>
            <p:nvPr/>
          </p:nvSpPr>
          <p:spPr bwMode="auto">
            <a:xfrm>
              <a:off x="3365" y="2517"/>
              <a:ext cx="283" cy="3"/>
            </a:xfrm>
            <a:prstGeom prst="line">
              <a:avLst/>
            </a:prstGeom>
            <a:noFill/>
            <a:ln w="1905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090" name="Line 178"/>
            <p:cNvSpPr>
              <a:spLocks noChangeShapeType="1"/>
            </p:cNvSpPr>
            <p:nvPr/>
          </p:nvSpPr>
          <p:spPr bwMode="auto">
            <a:xfrm flipV="1">
              <a:off x="2021" y="2070"/>
              <a:ext cx="0" cy="99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91" name="Line 179"/>
            <p:cNvSpPr>
              <a:spLocks noChangeShapeType="1"/>
            </p:cNvSpPr>
            <p:nvPr/>
          </p:nvSpPr>
          <p:spPr bwMode="auto">
            <a:xfrm flipH="1">
              <a:off x="4782" y="3042"/>
              <a:ext cx="177"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92" name="Line 180"/>
            <p:cNvSpPr>
              <a:spLocks noChangeShapeType="1"/>
            </p:cNvSpPr>
            <p:nvPr/>
          </p:nvSpPr>
          <p:spPr bwMode="auto">
            <a:xfrm flipH="1">
              <a:off x="3961" y="2588"/>
              <a:ext cx="40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93" name="Line 181"/>
            <p:cNvSpPr>
              <a:spLocks noChangeShapeType="1"/>
            </p:cNvSpPr>
            <p:nvPr/>
          </p:nvSpPr>
          <p:spPr bwMode="auto">
            <a:xfrm flipH="1">
              <a:off x="3959" y="2449"/>
              <a:ext cx="8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94" name="Line 182"/>
            <p:cNvSpPr>
              <a:spLocks noChangeShapeType="1"/>
            </p:cNvSpPr>
            <p:nvPr/>
          </p:nvSpPr>
          <p:spPr bwMode="auto">
            <a:xfrm flipH="1" flipV="1">
              <a:off x="4365" y="2277"/>
              <a:ext cx="0" cy="31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95" name="Line 183"/>
            <p:cNvSpPr>
              <a:spLocks noChangeShapeType="1"/>
            </p:cNvSpPr>
            <p:nvPr/>
          </p:nvSpPr>
          <p:spPr bwMode="auto">
            <a:xfrm>
              <a:off x="4366" y="2283"/>
              <a:ext cx="18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96" name="Line 184"/>
            <p:cNvSpPr>
              <a:spLocks noChangeShapeType="1"/>
            </p:cNvSpPr>
            <p:nvPr/>
          </p:nvSpPr>
          <p:spPr bwMode="auto">
            <a:xfrm flipH="1" flipV="1">
              <a:off x="4876" y="2250"/>
              <a:ext cx="0" cy="162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97" name="Line 185"/>
            <p:cNvSpPr>
              <a:spLocks noChangeShapeType="1"/>
            </p:cNvSpPr>
            <p:nvPr/>
          </p:nvSpPr>
          <p:spPr bwMode="auto">
            <a:xfrm flipH="1">
              <a:off x="4039" y="2067"/>
              <a:ext cx="921"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98" name="Line 186"/>
            <p:cNvSpPr>
              <a:spLocks noChangeShapeType="1"/>
            </p:cNvSpPr>
            <p:nvPr/>
          </p:nvSpPr>
          <p:spPr bwMode="auto">
            <a:xfrm flipH="1">
              <a:off x="4047" y="2067"/>
              <a:ext cx="0" cy="38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99" name="Line 187"/>
            <p:cNvSpPr>
              <a:spLocks noChangeShapeType="1"/>
            </p:cNvSpPr>
            <p:nvPr/>
          </p:nvSpPr>
          <p:spPr bwMode="auto">
            <a:xfrm flipH="1">
              <a:off x="4754" y="2250"/>
              <a:ext cx="12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100" name="Line 188"/>
            <p:cNvSpPr>
              <a:spLocks noChangeShapeType="1"/>
            </p:cNvSpPr>
            <p:nvPr/>
          </p:nvSpPr>
          <p:spPr bwMode="auto">
            <a:xfrm>
              <a:off x="2025" y="3521"/>
              <a:ext cx="159"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101" name="Line 189"/>
            <p:cNvSpPr>
              <a:spLocks noChangeShapeType="1"/>
            </p:cNvSpPr>
            <p:nvPr/>
          </p:nvSpPr>
          <p:spPr bwMode="auto">
            <a:xfrm>
              <a:off x="2188" y="3143"/>
              <a:ext cx="6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102" name="Line 190"/>
            <p:cNvSpPr>
              <a:spLocks noChangeShapeType="1"/>
            </p:cNvSpPr>
            <p:nvPr/>
          </p:nvSpPr>
          <p:spPr bwMode="auto">
            <a:xfrm flipV="1">
              <a:off x="2190" y="3135"/>
              <a:ext cx="0" cy="38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103" name="Line 191"/>
            <p:cNvSpPr>
              <a:spLocks noChangeShapeType="1"/>
            </p:cNvSpPr>
            <p:nvPr/>
          </p:nvSpPr>
          <p:spPr bwMode="auto">
            <a:xfrm>
              <a:off x="2182" y="2321"/>
              <a:ext cx="3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104" name="Line 192"/>
            <p:cNvSpPr>
              <a:spLocks noChangeShapeType="1"/>
            </p:cNvSpPr>
            <p:nvPr/>
          </p:nvSpPr>
          <p:spPr bwMode="auto">
            <a:xfrm flipH="1" flipV="1">
              <a:off x="2191" y="2320"/>
              <a:ext cx="0" cy="81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105" name="Line 193"/>
            <p:cNvSpPr>
              <a:spLocks noChangeShapeType="1"/>
            </p:cNvSpPr>
            <p:nvPr/>
          </p:nvSpPr>
          <p:spPr bwMode="auto">
            <a:xfrm flipH="1">
              <a:off x="4895" y="3871"/>
              <a:ext cx="6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106" name="Line 194"/>
            <p:cNvSpPr>
              <a:spLocks noChangeShapeType="1"/>
            </p:cNvSpPr>
            <p:nvPr/>
          </p:nvSpPr>
          <p:spPr bwMode="auto">
            <a:xfrm flipH="1" flipV="1">
              <a:off x="4958" y="2062"/>
              <a:ext cx="0" cy="98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9107" name="Line 195"/>
          <p:cNvSpPr>
            <a:spLocks noChangeShapeType="1"/>
          </p:cNvSpPr>
          <p:nvPr/>
        </p:nvSpPr>
        <p:spPr bwMode="auto">
          <a:xfrm>
            <a:off x="4660900" y="4057650"/>
            <a:ext cx="0" cy="12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7444464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5"/>
          <p:cNvSpPr>
            <a:spLocks noGrp="1" noChangeArrowheads="1"/>
          </p:cNvSpPr>
          <p:nvPr>
            <p:ph type="title"/>
          </p:nvPr>
        </p:nvSpPr>
        <p:spPr>
          <a:xfrm>
            <a:off x="431800" y="77788"/>
            <a:ext cx="8280400" cy="85606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dirty="0"/>
              <a:t>Blocking Scheme - Advantages</a:t>
            </a:r>
          </a:p>
        </p:txBody>
      </p:sp>
      <p:sp>
        <p:nvSpPr>
          <p:cNvPr id="40966" name="Rectangle 6"/>
          <p:cNvSpPr>
            <a:spLocks noGrp="1" noChangeArrowheads="1"/>
          </p:cNvSpPr>
          <p:nvPr>
            <p:ph type="body" idx="1"/>
          </p:nvPr>
        </p:nvSpPr>
        <p:spPr>
          <a:xfrm>
            <a:off x="431800" y="1209034"/>
            <a:ext cx="8280400" cy="4525962"/>
          </a:xfrm>
        </p:spPr>
        <p:txBody>
          <a:bodyPr/>
          <a:lstStyle/>
          <a:p>
            <a:r>
              <a:rPr lang="en-GB" altLang="en-US" dirty="0"/>
              <a:t>Fast tripping will still be possible at closed end of line for all fault positions with remote breaker open</a:t>
            </a:r>
          </a:p>
          <a:p>
            <a:r>
              <a:rPr lang="en-GB" altLang="en-US" dirty="0"/>
              <a:t>Fast tripping will still be possible at strong infeed terminal for all fault positions where remote terminal has no or weak infeed</a:t>
            </a:r>
          </a:p>
        </p:txBody>
      </p:sp>
    </p:spTree>
    <p:extLst>
      <p:ext uri="{BB962C8B-B14F-4D97-AF65-F5344CB8AC3E}">
        <p14:creationId xmlns:p14="http://schemas.microsoft.com/office/powerpoint/2010/main" val="5238912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1" name="Rectangle 7"/>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nSpc>
                <a:spcPct val="90000"/>
              </a:lnSpc>
            </a:pPr>
            <a:r>
              <a:rPr lang="en-GB" altLang="en-US"/>
              <a:t>Blocking Scheme - Disadvantages</a:t>
            </a:r>
          </a:p>
        </p:txBody>
      </p:sp>
      <p:sp>
        <p:nvSpPr>
          <p:cNvPr id="41992" name="Rectangle 8"/>
          <p:cNvSpPr>
            <a:spLocks noGrp="1" noChangeArrowheads="1"/>
          </p:cNvSpPr>
          <p:nvPr>
            <p:ph type="body" idx="1"/>
          </p:nvPr>
        </p:nvSpPr>
        <p:spPr>
          <a:xfrm>
            <a:off x="431800" y="1335494"/>
            <a:ext cx="8280400" cy="4525962"/>
          </a:xfrm>
        </p:spPr>
        <p:txBody>
          <a:bodyPr/>
          <a:lstStyle/>
          <a:p>
            <a:r>
              <a:rPr lang="en-GB" altLang="en-US" dirty="0"/>
              <a:t>Historically only 2 forward zones of protection available (unless relay has &gt;3 Zones)</a:t>
            </a:r>
          </a:p>
          <a:p>
            <a:r>
              <a:rPr lang="en-GB" altLang="en-US" dirty="0"/>
              <a:t>If signalling channel fails supervision must revert the relay back to Basic scheme logic</a:t>
            </a:r>
          </a:p>
        </p:txBody>
      </p:sp>
    </p:spTree>
    <p:extLst>
      <p:ext uri="{BB962C8B-B14F-4D97-AF65-F5344CB8AC3E}">
        <p14:creationId xmlns:p14="http://schemas.microsoft.com/office/powerpoint/2010/main" val="5962864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5442" name="Rectangle 2"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085546" name="think-cell Slide" r:id="rId5" imgW="0" imgH="0" progId="TCLayout.ActiveDocument.1">
                  <p:embed/>
                </p:oleObj>
              </mc:Choice>
              <mc:Fallback>
                <p:oleObj name="think-cell Slide" r:id="rId5" imgW="0" imgH="0" progId="TCLayout.ActiveDocument.1">
                  <p:embed/>
                  <p:pic>
                    <p:nvPicPr>
                      <p:cNvPr id="0" name="Rectangle 2" hidden="1"/>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443" name="Rectangle 3"/>
          <p:cNvSpPr>
            <a:spLocks noGrp="1" noChangeArrowheads="1"/>
          </p:cNvSpPr>
          <p:nvPr>
            <p:ph type="ctrTitle"/>
          </p:nvPr>
        </p:nvSpPr>
        <p:spPr>
          <a:xfrm>
            <a:off x="393700" y="306388"/>
            <a:ext cx="8280400" cy="1550987"/>
          </a:xfrm>
          <a:noFill/>
          <a:ln/>
          <a:extLst>
            <a:ext uri="{91240B29-F687-4F45-9708-019B960494DF}">
              <a14:hiddenLine xmlns:a14="http://schemas.microsoft.com/office/drawing/2010/main" w="9525">
                <a:solidFill>
                  <a:srgbClr val="FFD100"/>
                </a:solidFill>
                <a:miter lim="800000"/>
                <a:headEnd/>
                <a:tailEnd/>
              </a14:hiddenLine>
            </a:ext>
          </a:extLst>
        </p:spPr>
        <p:txBody>
          <a:bodyPr tIns="10776" bIns="10776"/>
          <a:lstStyle/>
          <a:p>
            <a:pPr marL="3175" indent="-3175">
              <a:lnSpc>
                <a:spcPct val="80000"/>
              </a:lnSpc>
            </a:pPr>
            <a:r>
              <a:rPr lang="en-GB" altLang="en-US"/>
              <a:t>Make the most of </a:t>
            </a:r>
            <a:br>
              <a:rPr lang="en-GB" altLang="en-US"/>
            </a:br>
            <a:r>
              <a:rPr lang="en-GB" altLang="en-US"/>
              <a:t>your energy™</a:t>
            </a:r>
          </a:p>
        </p:txBody>
      </p:sp>
      <p:pic>
        <p:nvPicPr>
          <p:cNvPr id="1085444" name="Picture 4" descr="arrow_smiley"/>
          <p:cNvPicPr>
            <a:picLocks noGrp="1" noChangeAspect="1" noChangeArrowheads="1"/>
          </p:cNvPicPr>
          <p:nvPr>
            <p:ph type="subTitle" idx="1"/>
          </p:nvPr>
        </p:nvPicPr>
        <p:blipFill>
          <a:blip r:embed="rId6">
            <a:extLst>
              <a:ext uri="{28A0092B-C50C-407E-A947-70E740481C1C}">
                <a14:useLocalDpi xmlns:a14="http://schemas.microsoft.com/office/drawing/2010/main" val="0"/>
              </a:ext>
            </a:extLst>
          </a:blip>
          <a:srcRect/>
          <a:stretch>
            <a:fillRect/>
          </a:stretch>
        </p:blipFill>
        <p:spPr>
          <a:xfrm>
            <a:off x="2590800" y="2520950"/>
            <a:ext cx="3203575" cy="19542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zoom/>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E08_EN">
  <a:themeElements>
    <a:clrScheme name="SE08_EN 2">
      <a:dk1>
        <a:srgbClr val="000000"/>
      </a:dk1>
      <a:lt1>
        <a:srgbClr val="FFFFFF"/>
      </a:lt1>
      <a:dk2>
        <a:srgbClr val="000000"/>
      </a:dk2>
      <a:lt2>
        <a:srgbClr val="626469"/>
      </a:lt2>
      <a:accent1>
        <a:srgbClr val="009530"/>
      </a:accent1>
      <a:accent2>
        <a:srgbClr val="B10043"/>
      </a:accent2>
      <a:accent3>
        <a:srgbClr val="FFFFFF"/>
      </a:accent3>
      <a:accent4>
        <a:srgbClr val="000000"/>
      </a:accent4>
      <a:accent5>
        <a:srgbClr val="AAC8AD"/>
      </a:accent5>
      <a:accent6>
        <a:srgbClr val="A0003C"/>
      </a:accent6>
      <a:hlink>
        <a:srgbClr val="42B4E6"/>
      </a:hlink>
      <a:folHlink>
        <a:srgbClr val="4FA600"/>
      </a:folHlink>
    </a:clrScheme>
    <a:fontScheme name="SE08_EN">
      <a:majorFont>
        <a:latin typeface="SEOptimist"/>
        <a:ea typeface=""/>
        <a:cs typeface=""/>
      </a:majorFont>
      <a:minorFont>
        <a:latin typeface="SEOptimi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GB" altLang="en-US" sz="1800" b="0" i="0" u="none" strike="noStrike" cap="none" normalizeH="0" baseline="0" smtClean="0">
            <a:ln>
              <a:noFill/>
            </a:ln>
            <a:solidFill>
              <a:schemeClr val="tx1"/>
            </a:solidFill>
            <a:effectLst/>
            <a:latin typeface="SEOptimist" pitchFamily="2" charset="0"/>
          </a:defRPr>
        </a:defPPr>
      </a:lstStyle>
    </a:spDef>
    <a:lnDef>
      <a:spPr bwMode="auto">
        <a:xfrm>
          <a:off x="0" y="0"/>
          <a:ext cx="1" cy="1"/>
        </a:xfrm>
        <a:custGeom>
          <a:avLst/>
          <a:gdLst/>
          <a:ahLst/>
          <a:cxnLst/>
          <a:rect l="0" t="0" r="0" b="0"/>
          <a:pathLst/>
        </a:custGeom>
        <a:solidFill>
          <a:schemeClr val="accent1"/>
        </a:solidFill>
        <a:ln w="19050"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GB" altLang="en-US" sz="1800" b="0" i="0" u="none" strike="noStrike" cap="none" normalizeH="0" baseline="0" smtClean="0">
            <a:ln>
              <a:noFill/>
            </a:ln>
            <a:solidFill>
              <a:schemeClr val="tx1"/>
            </a:solidFill>
            <a:effectLst/>
            <a:latin typeface="SEOptimist" pitchFamily="2" charset="0"/>
          </a:defRPr>
        </a:defPPr>
      </a:lstStyle>
    </a:lnDef>
  </a:objectDefaults>
  <a:extraClrSchemeLst>
    <a:extraClrScheme>
      <a:clrScheme name="SE08_EN 1">
        <a:dk1>
          <a:srgbClr val="FFFFFF"/>
        </a:dk1>
        <a:lt1>
          <a:srgbClr val="FFFFFF"/>
        </a:lt1>
        <a:dk2>
          <a:srgbClr val="B10043"/>
        </a:dk2>
        <a:lt2>
          <a:srgbClr val="FFFFFF"/>
        </a:lt2>
        <a:accent1>
          <a:srgbClr val="FFFFFF"/>
        </a:accent1>
        <a:accent2>
          <a:srgbClr val="B10043"/>
        </a:accent2>
        <a:accent3>
          <a:srgbClr val="D5AAB0"/>
        </a:accent3>
        <a:accent4>
          <a:srgbClr val="DADADA"/>
        </a:accent4>
        <a:accent5>
          <a:srgbClr val="FFFFFF"/>
        </a:accent5>
        <a:accent6>
          <a:srgbClr val="A0003C"/>
        </a:accent6>
        <a:hlink>
          <a:srgbClr val="42B4E6"/>
        </a:hlink>
        <a:folHlink>
          <a:srgbClr val="9FA0A4"/>
        </a:folHlink>
      </a:clrScheme>
      <a:clrMap bg1="dk2" tx1="lt1" bg2="dk1" tx2="lt2" accent1="accent1" accent2="accent2" accent3="accent3" accent4="accent4" accent5="accent5" accent6="accent6" hlink="hlink" folHlink="folHlink"/>
    </a:extraClrScheme>
    <a:extraClrScheme>
      <a:clrScheme name="SE08_EN 2">
        <a:dk1>
          <a:srgbClr val="000000"/>
        </a:dk1>
        <a:lt1>
          <a:srgbClr val="FFFFFF"/>
        </a:lt1>
        <a:dk2>
          <a:srgbClr val="000000"/>
        </a:dk2>
        <a:lt2>
          <a:srgbClr val="626469"/>
        </a:lt2>
        <a:accent1>
          <a:srgbClr val="009530"/>
        </a:accent1>
        <a:accent2>
          <a:srgbClr val="B10043"/>
        </a:accent2>
        <a:accent3>
          <a:srgbClr val="FFFFFF"/>
        </a:accent3>
        <a:accent4>
          <a:srgbClr val="000000"/>
        </a:accent4>
        <a:accent5>
          <a:srgbClr val="AAC8AD"/>
        </a:accent5>
        <a:accent6>
          <a:srgbClr val="A0003C"/>
        </a:accent6>
        <a:hlink>
          <a:srgbClr val="42B4E6"/>
        </a:hlink>
        <a:folHlink>
          <a:srgbClr val="4FA600"/>
        </a:folHlink>
      </a:clrScheme>
      <a:clrMap bg1="lt1" tx1="dk1" bg2="lt2" tx2="dk2" accent1="accent1" accent2="accent2" accent3="accent3" accent4="accent4" accent5="accent5" accent6="accent6" hlink="hlink" folHlink="folHlink"/>
    </a:extraClrScheme>
    <a:extraClrScheme>
      <a:clrScheme name="SE08_EN 3">
        <a:dk1>
          <a:srgbClr val="FFFFFF"/>
        </a:dk1>
        <a:lt1>
          <a:srgbClr val="FFFFFF"/>
        </a:lt1>
        <a:dk2>
          <a:srgbClr val="42B4E6"/>
        </a:dk2>
        <a:lt2>
          <a:srgbClr val="FFFFFF"/>
        </a:lt2>
        <a:accent1>
          <a:srgbClr val="FFFFFF"/>
        </a:accent1>
        <a:accent2>
          <a:srgbClr val="B10043"/>
        </a:accent2>
        <a:accent3>
          <a:srgbClr val="B0D6F0"/>
        </a:accent3>
        <a:accent4>
          <a:srgbClr val="DADADA"/>
        </a:accent4>
        <a:accent5>
          <a:srgbClr val="FFFFFF"/>
        </a:accent5>
        <a:accent6>
          <a:srgbClr val="A0003C"/>
        </a:accent6>
        <a:hlink>
          <a:srgbClr val="42B4E6"/>
        </a:hlink>
        <a:folHlink>
          <a:srgbClr val="FFFFFF"/>
        </a:folHlink>
      </a:clrScheme>
      <a:clrMap bg1="dk2" tx1="lt1" bg2="dk1" tx2="lt2" accent1="accent1" accent2="accent2" accent3="accent3" accent4="accent4" accent5="accent5" accent6="accent6" hlink="hlink" folHlink="folHlink"/>
    </a:extraClrScheme>
    <a:extraClrScheme>
      <a:clrScheme name="SE08_EN 4">
        <a:dk1>
          <a:srgbClr val="FFFFFF"/>
        </a:dk1>
        <a:lt1>
          <a:srgbClr val="FFFFFF"/>
        </a:lt1>
        <a:dk2>
          <a:srgbClr val="4FA600"/>
        </a:dk2>
        <a:lt2>
          <a:srgbClr val="FFFFFF"/>
        </a:lt2>
        <a:accent1>
          <a:srgbClr val="FFFFFF"/>
        </a:accent1>
        <a:accent2>
          <a:srgbClr val="FFFFFF"/>
        </a:accent2>
        <a:accent3>
          <a:srgbClr val="B2D0AA"/>
        </a:accent3>
        <a:accent4>
          <a:srgbClr val="DADADA"/>
        </a:accent4>
        <a:accent5>
          <a:srgbClr val="FFFFFF"/>
        </a:accent5>
        <a:accent6>
          <a:srgbClr val="E7E7E7"/>
        </a:accent6>
        <a:hlink>
          <a:srgbClr val="FFFFFF"/>
        </a:hlink>
        <a:folHlink>
          <a:srgbClr val="FFFFFF"/>
        </a:folHlink>
      </a:clrScheme>
      <a:clrMap bg1="dk2" tx1="lt1" bg2="dk1" tx2="lt2" accent1="accent1" accent2="accent2" accent3="accent3" accent4="accent4" accent5="accent5" accent6="accent6" hlink="hlink" folHlink="folHlink"/>
    </a:extraClrScheme>
    <a:extraClrScheme>
      <a:clrScheme name="SE08_EN 5">
        <a:dk1>
          <a:srgbClr val="FFFFFF"/>
        </a:dk1>
        <a:lt1>
          <a:srgbClr val="FFFFFF"/>
        </a:lt1>
        <a:dk2>
          <a:srgbClr val="009530"/>
        </a:dk2>
        <a:lt2>
          <a:srgbClr val="FFFFFF"/>
        </a:lt2>
        <a:accent1>
          <a:srgbClr val="FFFFFF"/>
        </a:accent1>
        <a:accent2>
          <a:srgbClr val="FFFFFF"/>
        </a:accent2>
        <a:accent3>
          <a:srgbClr val="AAC8AD"/>
        </a:accent3>
        <a:accent4>
          <a:srgbClr val="DADADA"/>
        </a:accent4>
        <a:accent5>
          <a:srgbClr val="FFFFFF"/>
        </a:accent5>
        <a:accent6>
          <a:srgbClr val="E7E7E7"/>
        </a:accent6>
        <a:hlink>
          <a:srgbClr val="FFFFFF"/>
        </a:hlink>
        <a:folHlink>
          <a:srgbClr val="FFFF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E08_FR">
  <a:themeElements>
    <a:clrScheme name="1_SE08_FR 2">
      <a:dk1>
        <a:srgbClr val="000000"/>
      </a:dk1>
      <a:lt1>
        <a:srgbClr val="FFFFFF"/>
      </a:lt1>
      <a:dk2>
        <a:srgbClr val="000000"/>
      </a:dk2>
      <a:lt2>
        <a:srgbClr val="626469"/>
      </a:lt2>
      <a:accent1>
        <a:srgbClr val="009530"/>
      </a:accent1>
      <a:accent2>
        <a:srgbClr val="B10043"/>
      </a:accent2>
      <a:accent3>
        <a:srgbClr val="FFFFFF"/>
      </a:accent3>
      <a:accent4>
        <a:srgbClr val="000000"/>
      </a:accent4>
      <a:accent5>
        <a:srgbClr val="AAC8AD"/>
      </a:accent5>
      <a:accent6>
        <a:srgbClr val="A0003C"/>
      </a:accent6>
      <a:hlink>
        <a:srgbClr val="42B4E6"/>
      </a:hlink>
      <a:folHlink>
        <a:srgbClr val="4FA600"/>
      </a:folHlink>
    </a:clrScheme>
    <a:fontScheme name="1_SE08_F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chemeClr val="tx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85000"/>
          </a:lnSpc>
          <a:spcBef>
            <a:spcPct val="40000"/>
          </a:spcBef>
          <a:spcAft>
            <a:spcPct val="0"/>
          </a:spcAft>
          <a:buClr>
            <a:schemeClr val="accent2"/>
          </a:buClr>
          <a:buSzPct val="130000"/>
          <a:buFontTx/>
          <a:buChar char="»"/>
          <a:tabLst/>
          <a:defRPr kumimoji="0" lang="fr-FR" altLang="fr-FR" sz="2800" b="1" i="1"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9050" cap="flat" cmpd="sng" algn="ctr">
          <a:solidFill>
            <a:schemeClr val="tx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85000"/>
          </a:lnSpc>
          <a:spcBef>
            <a:spcPct val="40000"/>
          </a:spcBef>
          <a:spcAft>
            <a:spcPct val="0"/>
          </a:spcAft>
          <a:buClr>
            <a:schemeClr val="accent2"/>
          </a:buClr>
          <a:buSzPct val="130000"/>
          <a:buFontTx/>
          <a:buChar char="»"/>
          <a:tabLst/>
          <a:defRPr kumimoji="0" lang="fr-FR" altLang="fr-FR" sz="2800" b="1" i="1" u="none" strike="noStrike" cap="none" normalizeH="0" baseline="0" smtClean="0">
            <a:ln>
              <a:noFill/>
            </a:ln>
            <a:solidFill>
              <a:schemeClr val="tx1"/>
            </a:solidFill>
            <a:effectLst/>
            <a:latin typeface="Arial" charset="0"/>
          </a:defRPr>
        </a:defPPr>
      </a:lstStyle>
    </a:lnDef>
  </a:objectDefaults>
  <a:extraClrSchemeLst>
    <a:extraClrScheme>
      <a:clrScheme name="1_SE08_FR 1">
        <a:dk1>
          <a:srgbClr val="FFFFFF"/>
        </a:dk1>
        <a:lt1>
          <a:srgbClr val="FFFFFF"/>
        </a:lt1>
        <a:dk2>
          <a:srgbClr val="B10043"/>
        </a:dk2>
        <a:lt2>
          <a:srgbClr val="FFFFFF"/>
        </a:lt2>
        <a:accent1>
          <a:srgbClr val="FFFFFF"/>
        </a:accent1>
        <a:accent2>
          <a:srgbClr val="B10043"/>
        </a:accent2>
        <a:accent3>
          <a:srgbClr val="D5AAB0"/>
        </a:accent3>
        <a:accent4>
          <a:srgbClr val="DADADA"/>
        </a:accent4>
        <a:accent5>
          <a:srgbClr val="FFFFFF"/>
        </a:accent5>
        <a:accent6>
          <a:srgbClr val="A0003C"/>
        </a:accent6>
        <a:hlink>
          <a:srgbClr val="42B4E6"/>
        </a:hlink>
        <a:folHlink>
          <a:srgbClr val="9FA0A4"/>
        </a:folHlink>
      </a:clrScheme>
      <a:clrMap bg1="dk2" tx1="lt1" bg2="dk1" tx2="lt2" accent1="accent1" accent2="accent2" accent3="accent3" accent4="accent4" accent5="accent5" accent6="accent6" hlink="hlink" folHlink="folHlink"/>
    </a:extraClrScheme>
    <a:extraClrScheme>
      <a:clrScheme name="1_SE08_FR 2">
        <a:dk1>
          <a:srgbClr val="000000"/>
        </a:dk1>
        <a:lt1>
          <a:srgbClr val="FFFFFF"/>
        </a:lt1>
        <a:dk2>
          <a:srgbClr val="000000"/>
        </a:dk2>
        <a:lt2>
          <a:srgbClr val="626469"/>
        </a:lt2>
        <a:accent1>
          <a:srgbClr val="009530"/>
        </a:accent1>
        <a:accent2>
          <a:srgbClr val="B10043"/>
        </a:accent2>
        <a:accent3>
          <a:srgbClr val="FFFFFF"/>
        </a:accent3>
        <a:accent4>
          <a:srgbClr val="000000"/>
        </a:accent4>
        <a:accent5>
          <a:srgbClr val="AAC8AD"/>
        </a:accent5>
        <a:accent6>
          <a:srgbClr val="A0003C"/>
        </a:accent6>
        <a:hlink>
          <a:srgbClr val="42B4E6"/>
        </a:hlink>
        <a:folHlink>
          <a:srgbClr val="4FA600"/>
        </a:folHlink>
      </a:clrScheme>
      <a:clrMap bg1="lt1" tx1="dk1" bg2="lt2" tx2="dk2" accent1="accent1" accent2="accent2" accent3="accent3" accent4="accent4" accent5="accent5" accent6="accent6" hlink="hlink" folHlink="folHlink"/>
    </a:extraClrScheme>
    <a:extraClrScheme>
      <a:clrScheme name="1_SE08_FR 3">
        <a:dk1>
          <a:srgbClr val="FFFFFF"/>
        </a:dk1>
        <a:lt1>
          <a:srgbClr val="FFFFFF"/>
        </a:lt1>
        <a:dk2>
          <a:srgbClr val="42B4E6"/>
        </a:dk2>
        <a:lt2>
          <a:srgbClr val="FFFFFF"/>
        </a:lt2>
        <a:accent1>
          <a:srgbClr val="FFFFFF"/>
        </a:accent1>
        <a:accent2>
          <a:srgbClr val="B10043"/>
        </a:accent2>
        <a:accent3>
          <a:srgbClr val="B0D6F0"/>
        </a:accent3>
        <a:accent4>
          <a:srgbClr val="DADADA"/>
        </a:accent4>
        <a:accent5>
          <a:srgbClr val="FFFFFF"/>
        </a:accent5>
        <a:accent6>
          <a:srgbClr val="A0003C"/>
        </a:accent6>
        <a:hlink>
          <a:srgbClr val="42B4E6"/>
        </a:hlink>
        <a:folHlink>
          <a:srgbClr val="FFFFFF"/>
        </a:folHlink>
      </a:clrScheme>
      <a:clrMap bg1="dk2" tx1="lt1" bg2="dk1" tx2="lt2" accent1="accent1" accent2="accent2" accent3="accent3" accent4="accent4" accent5="accent5" accent6="accent6" hlink="hlink" folHlink="folHlink"/>
    </a:extraClrScheme>
    <a:extraClrScheme>
      <a:clrScheme name="1_SE08_FR 4">
        <a:dk1>
          <a:srgbClr val="FFFFFF"/>
        </a:dk1>
        <a:lt1>
          <a:srgbClr val="FFFFFF"/>
        </a:lt1>
        <a:dk2>
          <a:srgbClr val="4FA600"/>
        </a:dk2>
        <a:lt2>
          <a:srgbClr val="FFFFFF"/>
        </a:lt2>
        <a:accent1>
          <a:srgbClr val="FFFFFF"/>
        </a:accent1>
        <a:accent2>
          <a:srgbClr val="FFFFFF"/>
        </a:accent2>
        <a:accent3>
          <a:srgbClr val="B2D0AA"/>
        </a:accent3>
        <a:accent4>
          <a:srgbClr val="DADADA"/>
        </a:accent4>
        <a:accent5>
          <a:srgbClr val="FFFFFF"/>
        </a:accent5>
        <a:accent6>
          <a:srgbClr val="E7E7E7"/>
        </a:accent6>
        <a:hlink>
          <a:srgbClr val="FFFFFF"/>
        </a:hlink>
        <a:folHlink>
          <a:srgbClr val="FFFFFF"/>
        </a:folHlink>
      </a:clrScheme>
      <a:clrMap bg1="dk2" tx1="lt1" bg2="dk1" tx2="lt2" accent1="accent1" accent2="accent2" accent3="accent3" accent4="accent4" accent5="accent5" accent6="accent6" hlink="hlink" folHlink="folHlink"/>
    </a:extraClrScheme>
    <a:extraClrScheme>
      <a:clrScheme name="1_SE08_FR 5">
        <a:dk1>
          <a:srgbClr val="FFFFFF"/>
        </a:dk1>
        <a:lt1>
          <a:srgbClr val="FFFFFF"/>
        </a:lt1>
        <a:dk2>
          <a:srgbClr val="009530"/>
        </a:dk2>
        <a:lt2>
          <a:srgbClr val="FFFFFF"/>
        </a:lt2>
        <a:accent1>
          <a:srgbClr val="FFFFFF"/>
        </a:accent1>
        <a:accent2>
          <a:srgbClr val="FFFFFF"/>
        </a:accent2>
        <a:accent3>
          <a:srgbClr val="AAC8AD"/>
        </a:accent3>
        <a:accent4>
          <a:srgbClr val="DADADA"/>
        </a:accent4>
        <a:accent5>
          <a:srgbClr val="FFFFFF"/>
        </a:accent5>
        <a:accent6>
          <a:srgbClr val="E7E7E7"/>
        </a:accent6>
        <a:hlink>
          <a:srgbClr val="FFFFFF"/>
        </a:hlink>
        <a:folHlink>
          <a:srgbClr val="FFFF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SE08_FR">
  <a:themeElements>
    <a:clrScheme name="1_SE08_FR 2">
      <a:dk1>
        <a:srgbClr val="000000"/>
      </a:dk1>
      <a:lt1>
        <a:srgbClr val="FFFFFF"/>
      </a:lt1>
      <a:dk2>
        <a:srgbClr val="000000"/>
      </a:dk2>
      <a:lt2>
        <a:srgbClr val="626469"/>
      </a:lt2>
      <a:accent1>
        <a:srgbClr val="009530"/>
      </a:accent1>
      <a:accent2>
        <a:srgbClr val="B10043"/>
      </a:accent2>
      <a:accent3>
        <a:srgbClr val="FFFFFF"/>
      </a:accent3>
      <a:accent4>
        <a:srgbClr val="000000"/>
      </a:accent4>
      <a:accent5>
        <a:srgbClr val="AAC8AD"/>
      </a:accent5>
      <a:accent6>
        <a:srgbClr val="A0003C"/>
      </a:accent6>
      <a:hlink>
        <a:srgbClr val="42B4E6"/>
      </a:hlink>
      <a:folHlink>
        <a:srgbClr val="4FA600"/>
      </a:folHlink>
    </a:clrScheme>
    <a:fontScheme name="1_SE08_F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chemeClr val="tx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85000"/>
          </a:lnSpc>
          <a:spcBef>
            <a:spcPct val="40000"/>
          </a:spcBef>
          <a:spcAft>
            <a:spcPct val="0"/>
          </a:spcAft>
          <a:buClr>
            <a:schemeClr val="accent2"/>
          </a:buClr>
          <a:buSzPct val="130000"/>
          <a:buFontTx/>
          <a:buChar char="»"/>
          <a:tabLst/>
          <a:defRPr kumimoji="0" lang="fr-FR" altLang="fr-FR" sz="2800" b="1" i="1"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9050" cap="flat" cmpd="sng" algn="ctr">
          <a:solidFill>
            <a:schemeClr val="tx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85000"/>
          </a:lnSpc>
          <a:spcBef>
            <a:spcPct val="40000"/>
          </a:spcBef>
          <a:spcAft>
            <a:spcPct val="0"/>
          </a:spcAft>
          <a:buClr>
            <a:schemeClr val="accent2"/>
          </a:buClr>
          <a:buSzPct val="130000"/>
          <a:buFontTx/>
          <a:buChar char="»"/>
          <a:tabLst/>
          <a:defRPr kumimoji="0" lang="fr-FR" altLang="fr-FR" sz="2800" b="1" i="1" u="none" strike="noStrike" cap="none" normalizeH="0" baseline="0" smtClean="0">
            <a:ln>
              <a:noFill/>
            </a:ln>
            <a:solidFill>
              <a:schemeClr val="tx1"/>
            </a:solidFill>
            <a:effectLst/>
            <a:latin typeface="Arial" charset="0"/>
          </a:defRPr>
        </a:defPPr>
      </a:lstStyle>
    </a:lnDef>
  </a:objectDefaults>
  <a:extraClrSchemeLst>
    <a:extraClrScheme>
      <a:clrScheme name="1_SE08_FR 1">
        <a:dk1>
          <a:srgbClr val="FFFFFF"/>
        </a:dk1>
        <a:lt1>
          <a:srgbClr val="FFFFFF"/>
        </a:lt1>
        <a:dk2>
          <a:srgbClr val="B10043"/>
        </a:dk2>
        <a:lt2>
          <a:srgbClr val="FFFFFF"/>
        </a:lt2>
        <a:accent1>
          <a:srgbClr val="FFFFFF"/>
        </a:accent1>
        <a:accent2>
          <a:srgbClr val="B10043"/>
        </a:accent2>
        <a:accent3>
          <a:srgbClr val="D5AAB0"/>
        </a:accent3>
        <a:accent4>
          <a:srgbClr val="DADADA"/>
        </a:accent4>
        <a:accent5>
          <a:srgbClr val="FFFFFF"/>
        </a:accent5>
        <a:accent6>
          <a:srgbClr val="A0003C"/>
        </a:accent6>
        <a:hlink>
          <a:srgbClr val="42B4E6"/>
        </a:hlink>
        <a:folHlink>
          <a:srgbClr val="9FA0A4"/>
        </a:folHlink>
      </a:clrScheme>
      <a:clrMap bg1="dk2" tx1="lt1" bg2="dk1" tx2="lt2" accent1="accent1" accent2="accent2" accent3="accent3" accent4="accent4" accent5="accent5" accent6="accent6" hlink="hlink" folHlink="folHlink"/>
    </a:extraClrScheme>
    <a:extraClrScheme>
      <a:clrScheme name="1_SE08_FR 2">
        <a:dk1>
          <a:srgbClr val="000000"/>
        </a:dk1>
        <a:lt1>
          <a:srgbClr val="FFFFFF"/>
        </a:lt1>
        <a:dk2>
          <a:srgbClr val="000000"/>
        </a:dk2>
        <a:lt2>
          <a:srgbClr val="626469"/>
        </a:lt2>
        <a:accent1>
          <a:srgbClr val="009530"/>
        </a:accent1>
        <a:accent2>
          <a:srgbClr val="B10043"/>
        </a:accent2>
        <a:accent3>
          <a:srgbClr val="FFFFFF"/>
        </a:accent3>
        <a:accent4>
          <a:srgbClr val="000000"/>
        </a:accent4>
        <a:accent5>
          <a:srgbClr val="AAC8AD"/>
        </a:accent5>
        <a:accent6>
          <a:srgbClr val="A0003C"/>
        </a:accent6>
        <a:hlink>
          <a:srgbClr val="42B4E6"/>
        </a:hlink>
        <a:folHlink>
          <a:srgbClr val="4FA600"/>
        </a:folHlink>
      </a:clrScheme>
      <a:clrMap bg1="lt1" tx1="dk1" bg2="lt2" tx2="dk2" accent1="accent1" accent2="accent2" accent3="accent3" accent4="accent4" accent5="accent5" accent6="accent6" hlink="hlink" folHlink="folHlink"/>
    </a:extraClrScheme>
    <a:extraClrScheme>
      <a:clrScheme name="1_SE08_FR 3">
        <a:dk1>
          <a:srgbClr val="FFFFFF"/>
        </a:dk1>
        <a:lt1>
          <a:srgbClr val="FFFFFF"/>
        </a:lt1>
        <a:dk2>
          <a:srgbClr val="42B4E6"/>
        </a:dk2>
        <a:lt2>
          <a:srgbClr val="FFFFFF"/>
        </a:lt2>
        <a:accent1>
          <a:srgbClr val="FFFFFF"/>
        </a:accent1>
        <a:accent2>
          <a:srgbClr val="B10043"/>
        </a:accent2>
        <a:accent3>
          <a:srgbClr val="B0D6F0"/>
        </a:accent3>
        <a:accent4>
          <a:srgbClr val="DADADA"/>
        </a:accent4>
        <a:accent5>
          <a:srgbClr val="FFFFFF"/>
        </a:accent5>
        <a:accent6>
          <a:srgbClr val="A0003C"/>
        </a:accent6>
        <a:hlink>
          <a:srgbClr val="42B4E6"/>
        </a:hlink>
        <a:folHlink>
          <a:srgbClr val="FFFFFF"/>
        </a:folHlink>
      </a:clrScheme>
      <a:clrMap bg1="dk2" tx1="lt1" bg2="dk1" tx2="lt2" accent1="accent1" accent2="accent2" accent3="accent3" accent4="accent4" accent5="accent5" accent6="accent6" hlink="hlink" folHlink="folHlink"/>
    </a:extraClrScheme>
    <a:extraClrScheme>
      <a:clrScheme name="1_SE08_FR 4">
        <a:dk1>
          <a:srgbClr val="FFFFFF"/>
        </a:dk1>
        <a:lt1>
          <a:srgbClr val="FFFFFF"/>
        </a:lt1>
        <a:dk2>
          <a:srgbClr val="4FA600"/>
        </a:dk2>
        <a:lt2>
          <a:srgbClr val="FFFFFF"/>
        </a:lt2>
        <a:accent1>
          <a:srgbClr val="FFFFFF"/>
        </a:accent1>
        <a:accent2>
          <a:srgbClr val="FFFFFF"/>
        </a:accent2>
        <a:accent3>
          <a:srgbClr val="B2D0AA"/>
        </a:accent3>
        <a:accent4>
          <a:srgbClr val="DADADA"/>
        </a:accent4>
        <a:accent5>
          <a:srgbClr val="FFFFFF"/>
        </a:accent5>
        <a:accent6>
          <a:srgbClr val="E7E7E7"/>
        </a:accent6>
        <a:hlink>
          <a:srgbClr val="FFFFFF"/>
        </a:hlink>
        <a:folHlink>
          <a:srgbClr val="FFFFFF"/>
        </a:folHlink>
      </a:clrScheme>
      <a:clrMap bg1="dk2" tx1="lt1" bg2="dk1" tx2="lt2" accent1="accent1" accent2="accent2" accent3="accent3" accent4="accent4" accent5="accent5" accent6="accent6" hlink="hlink" folHlink="folHlink"/>
    </a:extraClrScheme>
    <a:extraClrScheme>
      <a:clrScheme name="1_SE08_FR 5">
        <a:dk1>
          <a:srgbClr val="FFFFFF"/>
        </a:dk1>
        <a:lt1>
          <a:srgbClr val="FFFFFF"/>
        </a:lt1>
        <a:dk2>
          <a:srgbClr val="009530"/>
        </a:dk2>
        <a:lt2>
          <a:srgbClr val="FFFFFF"/>
        </a:lt2>
        <a:accent1>
          <a:srgbClr val="FFFFFF"/>
        </a:accent1>
        <a:accent2>
          <a:srgbClr val="FFFFFF"/>
        </a:accent2>
        <a:accent3>
          <a:srgbClr val="AAC8AD"/>
        </a:accent3>
        <a:accent4>
          <a:srgbClr val="DADADA"/>
        </a:accent4>
        <a:accent5>
          <a:srgbClr val="FFFFFF"/>
        </a:accent5>
        <a:accent6>
          <a:srgbClr val="E7E7E7"/>
        </a:accent6>
        <a:hlink>
          <a:srgbClr val="FFFFFF"/>
        </a:hlink>
        <a:folHlink>
          <a:srgbClr val="FFFFFF"/>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E08_EN 4">
    <a:dk1>
      <a:srgbClr val="FFFFFF"/>
    </a:dk1>
    <a:lt1>
      <a:srgbClr val="FFFFFF"/>
    </a:lt1>
    <a:dk2>
      <a:srgbClr val="4FA600"/>
    </a:dk2>
    <a:lt2>
      <a:srgbClr val="FFFFFF"/>
    </a:lt2>
    <a:accent1>
      <a:srgbClr val="FFFFFF"/>
    </a:accent1>
    <a:accent2>
      <a:srgbClr val="FFFFFF"/>
    </a:accent2>
    <a:accent3>
      <a:srgbClr val="B2D0AA"/>
    </a:accent3>
    <a:accent4>
      <a:srgbClr val="DADADA"/>
    </a:accent4>
    <a:accent5>
      <a:srgbClr val="FFFFFF"/>
    </a:accent5>
    <a:accent6>
      <a:srgbClr val="E7E7E7"/>
    </a:accent6>
    <a:hlink>
      <a:srgbClr val="FFFFFF"/>
    </a:hlink>
    <a:folHlink>
      <a:srgbClr val="FFFFFF"/>
    </a:folHlink>
  </a:clrScheme>
</a:themeOverride>
</file>

<file path=ppt/theme/themeOverride2.xml><?xml version="1.0" encoding="utf-8"?>
<a:themeOverride xmlns:a="http://schemas.openxmlformats.org/drawingml/2006/main">
  <a:clrScheme name="1_SE08_FR 4">
    <a:dk1>
      <a:srgbClr val="FFFFFF"/>
    </a:dk1>
    <a:lt1>
      <a:srgbClr val="FFFFFF"/>
    </a:lt1>
    <a:dk2>
      <a:srgbClr val="4FA600"/>
    </a:dk2>
    <a:lt2>
      <a:srgbClr val="FFFFFF"/>
    </a:lt2>
    <a:accent1>
      <a:srgbClr val="FFFFFF"/>
    </a:accent1>
    <a:accent2>
      <a:srgbClr val="FFFFFF"/>
    </a:accent2>
    <a:accent3>
      <a:srgbClr val="B2D0AA"/>
    </a:accent3>
    <a:accent4>
      <a:srgbClr val="DADADA"/>
    </a:accent4>
    <a:accent5>
      <a:srgbClr val="FFFFFF"/>
    </a:accent5>
    <a:accent6>
      <a:srgbClr val="E7E7E7"/>
    </a:accent6>
    <a:hlink>
      <a:srgbClr val="FFFFFF"/>
    </a:hlink>
    <a:folHlink>
      <a:srgbClr val="FFFFFF"/>
    </a:folHlink>
  </a:clrScheme>
</a:themeOverride>
</file>

<file path=ppt/theme/themeOverride3.xml><?xml version="1.0" encoding="utf-8"?>
<a:themeOverride xmlns:a="http://schemas.openxmlformats.org/drawingml/2006/main">
  <a:clrScheme name="1_SE08_FR 4">
    <a:dk1>
      <a:srgbClr val="FFFFFF"/>
    </a:dk1>
    <a:lt1>
      <a:srgbClr val="FFFFFF"/>
    </a:lt1>
    <a:dk2>
      <a:srgbClr val="4FA600"/>
    </a:dk2>
    <a:lt2>
      <a:srgbClr val="FFFFFF"/>
    </a:lt2>
    <a:accent1>
      <a:srgbClr val="FFFFFF"/>
    </a:accent1>
    <a:accent2>
      <a:srgbClr val="FFFFFF"/>
    </a:accent2>
    <a:accent3>
      <a:srgbClr val="B2D0AA"/>
    </a:accent3>
    <a:accent4>
      <a:srgbClr val="DADADA"/>
    </a:accent4>
    <a:accent5>
      <a:srgbClr val="FFFFFF"/>
    </a:accent5>
    <a:accent6>
      <a:srgbClr val="E7E7E7"/>
    </a:accent6>
    <a:hlink>
      <a:srgbClr val="FFFFFF"/>
    </a:hlink>
    <a:folHlink>
      <a:srgbClr val="FFFFFF"/>
    </a:folHlink>
  </a:clrScheme>
</a:themeOverride>
</file>

<file path=docProps/app.xml><?xml version="1.0" encoding="utf-8"?>
<Properties xmlns="http://schemas.openxmlformats.org/officeDocument/2006/extended-properties" xmlns:vt="http://schemas.openxmlformats.org/officeDocument/2006/docPropsVTypes">
  <Template/>
  <TotalTime>1284</TotalTime>
  <Words>2912</Words>
  <Application>Microsoft Office PowerPoint</Application>
  <PresentationFormat>On-screen Show (4:3)</PresentationFormat>
  <Paragraphs>815</Paragraphs>
  <Slides>57</Slides>
  <Notes>56</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4</vt:i4>
      </vt:variant>
      <vt:variant>
        <vt:lpstr>Slide Titles</vt:lpstr>
      </vt:variant>
      <vt:variant>
        <vt:i4>57</vt:i4>
      </vt:variant>
    </vt:vector>
  </HeadingPairs>
  <TitlesOfParts>
    <vt:vector size="73" baseType="lpstr">
      <vt:lpstr>Futura Md BT</vt:lpstr>
      <vt:lpstr>FuturaA Hv BT</vt:lpstr>
      <vt:lpstr>FuturaA Md BT</vt:lpstr>
      <vt:lpstr>SEOptimist</vt:lpstr>
      <vt:lpstr>Arial</vt:lpstr>
      <vt:lpstr>Cambria Math</vt:lpstr>
      <vt:lpstr>Times New Roman</vt:lpstr>
      <vt:lpstr>Wingdings</vt:lpstr>
      <vt:lpstr>Wingdings 3</vt:lpstr>
      <vt:lpstr>SE08_EN</vt:lpstr>
      <vt:lpstr>1_SE08_FR</vt:lpstr>
      <vt:lpstr>2_SE08_FR</vt:lpstr>
      <vt:lpstr>Equation</vt:lpstr>
      <vt:lpstr>CorelDRAW</vt:lpstr>
      <vt:lpstr>VISIO</vt:lpstr>
      <vt:lpstr>think-cell Slide</vt:lpstr>
      <vt:lpstr>Distance Protection</vt:lpstr>
      <vt:lpstr>Distance Protection</vt:lpstr>
      <vt:lpstr>Overcurrent weakness for line protection:</vt:lpstr>
      <vt:lpstr>Advantages of Distance Protection</vt:lpstr>
      <vt:lpstr>Simplified Line Diagram</vt:lpstr>
      <vt:lpstr>Impedance Seen By Measuring Element</vt:lpstr>
      <vt:lpstr>Basic Principle of Distance Protection</vt:lpstr>
      <vt:lpstr>Basic Principle of Distance Protection</vt:lpstr>
      <vt:lpstr>Basic Principle of Distance Protection</vt:lpstr>
      <vt:lpstr>Plain Impedance Characteristic</vt:lpstr>
      <vt:lpstr>Impedance ratio factor:</vt:lpstr>
      <vt:lpstr>Example </vt:lpstr>
      <vt:lpstr>Input Quantities for - Faults</vt:lpstr>
      <vt:lpstr>Neutral Impedance Replica Vectorial Compensation ( A-N fault)</vt:lpstr>
      <vt:lpstr>Neutral Impedance Compensation (reference calculation)</vt:lpstr>
      <vt:lpstr>Distance Characteristics</vt:lpstr>
      <vt:lpstr>Distance Characteristics</vt:lpstr>
      <vt:lpstr>Self Polarised Mho Relays</vt:lpstr>
      <vt:lpstr>Offset Mho Characteristic:</vt:lpstr>
      <vt:lpstr>Quadrilateral Characteristic</vt:lpstr>
      <vt:lpstr>Protection Zone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MiCOM Distance features</vt:lpstr>
      <vt:lpstr>MiCOM P54x/P44X Distance protection - Introduction</vt:lpstr>
      <vt:lpstr>MiCOM P54x/P44X Faulted = Unfaulted + Superimposed</vt:lpstr>
      <vt:lpstr>MiCOM P54x Superimposed Components</vt:lpstr>
      <vt:lpstr>MiCOM P54x/P44X Distance Zones, Mho Characteristics</vt:lpstr>
      <vt:lpstr>Distance Zones, Quatrilateral Characteristics</vt:lpstr>
      <vt:lpstr>MiCOM P54x/P44X Distance protection, loadblinders</vt:lpstr>
      <vt:lpstr>MiCOM P54x/P44X Distance protection, Blinder for faults</vt:lpstr>
      <vt:lpstr>Channel Dependant Schemes</vt:lpstr>
      <vt:lpstr>Permissive Under reach Scheme (PUR)</vt:lpstr>
      <vt:lpstr>Permissive Underreach Scheme Time race</vt:lpstr>
      <vt:lpstr>Permissive Underreach Transfer Trip Advantages</vt:lpstr>
      <vt:lpstr>Permissive Underreach Transfer Trip Disadvantages</vt:lpstr>
      <vt:lpstr>Permissive Overreach Scheme (POR) Internal Fault</vt:lpstr>
      <vt:lpstr>Permissive Overreach Scheme (POR)  External Fault</vt:lpstr>
      <vt:lpstr>Permissive Overreach Scheme  (CB Echo Logic)</vt:lpstr>
      <vt:lpstr>Permissive Overreach Scheme  (WI Echo Logic)</vt:lpstr>
      <vt:lpstr>Permissive Overreach Weak Infeed Trip Scheme</vt:lpstr>
      <vt:lpstr>Permissive Overreach Transfer Trip Advantages</vt:lpstr>
      <vt:lpstr>Permissive Overreach  Current reversal Guard</vt:lpstr>
      <vt:lpstr>Current reversal guard:</vt:lpstr>
      <vt:lpstr>Blocking Schemes</vt:lpstr>
      <vt:lpstr>Blocking Scheme - Internal Fault</vt:lpstr>
      <vt:lpstr>Blocking Scheme - External Fault</vt:lpstr>
      <vt:lpstr>Blocking Scheme - Advantages</vt:lpstr>
      <vt:lpstr>Blocking Scheme - Disadvantages</vt:lpstr>
      <vt:lpstr>Make the most of  your energy™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P541-6 General Presentation</dc:title>
  <dc:creator>Protection Products Marketing</dc:creator>
  <dc:description>Mar 2012</dc:description>
  <cp:lastModifiedBy>Baohua WANG</cp:lastModifiedBy>
  <cp:revision>420</cp:revision>
  <cp:lastPrinted>2004-02-18T11:48:58Z</cp:lastPrinted>
  <dcterms:created xsi:type="dcterms:W3CDTF">2001-08-18T06:52:46Z</dcterms:created>
  <dcterms:modified xsi:type="dcterms:W3CDTF">2020-06-02T03:29:00Z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ChangeDate">
    <vt:lpwstr>Date of last change</vt:lpwstr>
  </property>
  <property fmtid="{D5CDD505-2E9C-101B-9397-08002B2CF9AE}" pid="3" name="IdRef">
    <vt:lpwstr>Reference</vt:lpwstr>
  </property>
  <property fmtid="{D5CDD505-2E9C-101B-9397-08002B2CF9AE}" pid="4" name="CodeWord">
    <vt:lpwstr>Alstom</vt:lpwstr>
  </property>
  <property fmtid="{D5CDD505-2E9C-101B-9397-08002B2CF9AE}" pid="5" name="CustFormLanguage">
    <vt:lpwstr>English</vt:lpwstr>
  </property>
  <property fmtid="{D5CDD505-2E9C-101B-9397-08002B2CF9AE}" pid="6" name="CustSpellCheckLanguage">
    <vt:lpwstr>English (United Kingdom)</vt:lpwstr>
  </property>
</Properties>
</file>