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63" r:id="rId4"/>
    <p:sldId id="264" r:id="rId5"/>
    <p:sldId id="258" r:id="rId6"/>
    <p:sldId id="259" r:id="rId7"/>
    <p:sldId id="260" r:id="rId8"/>
    <p:sldId id="261" r:id="rId9"/>
    <p:sldId id="262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4" autoAdjust="0"/>
    <p:restoredTop sz="95407" autoAdjust="0"/>
  </p:normalViewPr>
  <p:slideViewPr>
    <p:cSldViewPr snapToGrid="0">
      <p:cViewPr varScale="1">
        <p:scale>
          <a:sx n="86" d="100"/>
          <a:sy n="86" d="100"/>
        </p:scale>
        <p:origin x="738" y="9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9" d="100"/>
          <a:sy n="69" d="100"/>
        </p:scale>
        <p:origin x="3264" y="6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4ABEE9-79DC-4435-A6AF-92E8003C632C}" type="datetimeFigureOut">
              <a:rPr lang="en-US" smtClean="0"/>
              <a:t>1/8/2021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5C1F35-949D-4E7B-9D3A-DC7DCC9F60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32112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0322" y="2733709"/>
            <a:ext cx="8144134" cy="1373070"/>
          </a:xfrm>
        </p:spPr>
        <p:txBody>
          <a:bodyPr anchor="b">
            <a:noAutofit/>
          </a:bodyPr>
          <a:lstStyle>
            <a:lvl1pPr algn="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0322" y="4394039"/>
            <a:ext cx="8144134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239A9A-B4B0-4B32-B8CD-2E25E95134C4}" type="datetimeFigureOut">
              <a:rPr lang="en-US" dirty="0"/>
              <a:t>1/8/2021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55346" y="2750337"/>
            <a:ext cx="1171888" cy="1356442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E21DC-8981-44E6-BC8C-2BA8F673FFBB}" type="datetimeFigureOut">
              <a:rPr lang="en-US" dirty="0"/>
              <a:t>1/8/2021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86907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4" y="4087901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-2" y="2726267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5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2869895"/>
            <a:ext cx="961386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2" y="4232171"/>
            <a:ext cx="961386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B9C5D3-0140-4E75-8D7F-C0623D06DFD7}" type="datetimeFigureOut">
              <a:rPr lang="en-US" dirty="0"/>
              <a:t>1/8/2021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9455" y="2869895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320" y="2336873"/>
            <a:ext cx="4698358" cy="359931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94123" y="2336873"/>
            <a:ext cx="4700058" cy="359931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5666F9-5B40-48E0-8DFD-99EF944CDD22}" type="datetimeFigureOut">
              <a:rPr lang="en-US" dirty="0"/>
              <a:t>1/8/2021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753229"/>
            <a:ext cx="9613863" cy="10809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6350" y="2336873"/>
            <a:ext cx="4472327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322" y="3030008"/>
            <a:ext cx="4698355" cy="290617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20154" y="2336873"/>
            <a:ext cx="4474028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94123" y="3030008"/>
            <a:ext cx="4700059" cy="290617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698D6B-2C72-4E21-9893-A649C6E2A47D}" type="datetimeFigureOut">
              <a:rPr lang="en-US" dirty="0"/>
              <a:t>1/8/2021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811C9-A66C-49F0-970E-F7B68D9109A0}" type="datetimeFigureOut">
              <a:rPr lang="en-US" dirty="0"/>
              <a:t>1/8/2021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01AE78-96A2-4A23-B183-3B6DB4374FE7}" type="datetimeFigureOut">
              <a:rPr lang="en-US" dirty="0"/>
              <a:t>1/8/2021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753227"/>
            <a:ext cx="9613859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5846" y="2336873"/>
            <a:ext cx="5608336" cy="359931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2336872"/>
            <a:ext cx="3790078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E0757-B101-4811-9189-10EB2F458E2D}" type="datetimeFigureOut">
              <a:rPr lang="en-US" dirty="0"/>
              <a:t>1/8/2021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3" y="753228"/>
            <a:ext cx="9613857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68333" y="2336874"/>
            <a:ext cx="5425849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3" y="2336873"/>
            <a:ext cx="3876256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BDC078-589F-40E3-816C-EE21D62B5BBA}" type="datetimeFigureOut">
              <a:rPr lang="en-US" dirty="0"/>
              <a:t>1/8/2021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4711616"/>
            <a:ext cx="9613859" cy="453051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0322" y="609597"/>
            <a:ext cx="9613859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19" y="5169583"/>
            <a:ext cx="9613862" cy="62297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5518A9-B687-4302-9395-2322403C6656}" type="datetimeFigureOut">
              <a:rPr lang="en-US" dirty="0"/>
              <a:t>1/8/2021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309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609597"/>
            <a:ext cx="9613858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9A684-0CB7-41E9-A4DF-5D1C2CA5BF6F}" type="datetimeFigureOut">
              <a:rPr lang="en-US" dirty="0"/>
              <a:t>1/8/2021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615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856" y="609598"/>
            <a:ext cx="871887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02288" y="3653379"/>
            <a:ext cx="815657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D7C35-9E19-4518-A4B2-3B09CD8CC756}" type="datetimeFigureOut">
              <a:rPr lang="en-US" dirty="0"/>
              <a:t>1/8/2021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4711615"/>
            <a:ext cx="9613862" cy="5885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0" y="5300149"/>
            <a:ext cx="9613862" cy="50225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96DA8-8897-4DDF-BFB6-5D83863C837A}" type="datetimeFigureOut">
              <a:rPr lang="en-US" dirty="0"/>
              <a:t>1/8/2021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69222" y="753228"/>
            <a:ext cx="96249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60946" y="2336873"/>
            <a:ext cx="307003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0322" y="3022673"/>
            <a:ext cx="3049702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56025" y="233687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945470" y="3022673"/>
            <a:ext cx="306324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24156" y="2336873"/>
            <a:ext cx="30700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224156" y="3022673"/>
            <a:ext cx="3070025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BA708-C5F0-412D-90E2-1919F0D196AE}" type="datetimeFigureOut">
              <a:rPr lang="en-US" dirty="0"/>
              <a:t>1/8/2021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0322" y="753228"/>
            <a:ext cx="96138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0318" y="4297503"/>
            <a:ext cx="30497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0318" y="2336873"/>
            <a:ext cx="30497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0318" y="4873765"/>
            <a:ext cx="3049705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45471" y="429750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945470" y="2336873"/>
            <a:ext cx="306324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944117" y="4873764"/>
            <a:ext cx="306729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30678" y="4297503"/>
            <a:ext cx="30635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230677" y="2336873"/>
            <a:ext cx="30635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230553" y="4873762"/>
            <a:ext cx="3067563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8F8FA-EF43-4642-9368-3F4E33039BD9}" type="datetimeFigureOut">
              <a:rPr lang="en-US" dirty="0"/>
              <a:t>1/8/2021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61E721-B01C-4D5D-A3CA-2E5518383F10}" type="datetimeFigureOut">
              <a:rPr lang="en-US" dirty="0"/>
              <a:t>1/8/2021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 rot="5400000">
            <a:off x="8116207" y="1869395"/>
            <a:ext cx="5106988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9868202" y="5372403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29231" y="609597"/>
            <a:ext cx="1073802" cy="435376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0322" y="609597"/>
            <a:ext cx="8870004" cy="532658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07126" y="5936187"/>
            <a:ext cx="2743200" cy="365125"/>
          </a:xfrm>
        </p:spPr>
        <p:txBody>
          <a:bodyPr/>
          <a:lstStyle/>
          <a:p>
            <a:fld id="{6513FEF9-69D0-4F8C-A336-59491FBEDC47}" type="datetimeFigureOut">
              <a:rPr lang="en-US" dirty="0"/>
              <a:t>1/8/2021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0321" y="5936188"/>
            <a:ext cx="6126805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97550" y="5398633"/>
            <a:ext cx="1154151" cy="1090789"/>
          </a:xfrm>
        </p:spPr>
        <p:txBody>
          <a:bodyPr anchor="t"/>
          <a:lstStyle>
            <a:lvl1pPr algn="ctr">
              <a:defRPr/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004436-CA73-4D53-89B4-2A5C7347BF2F}" type="datetimeFigureOut">
              <a:rPr lang="en-US" dirty="0"/>
              <a:t>1/8/2021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228600" algn="ctr" rotWithShape="0">
              <a:prstClr val="black">
                <a:alpha val="53000"/>
              </a:prst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228600" algn="ctr" rotWithShape="0">
              <a:prstClr val="black">
                <a:alpha val="53000"/>
              </a:prst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228600" algn="ctr" rotWithShape="0">
              <a:prstClr val="black">
                <a:alpha val="53000"/>
              </a:prst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228600" algn="ctr" rotWithShape="0">
              <a:prstClr val="black">
                <a:alpha val="53000"/>
              </a:prst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228600" algn="ctr" rotWithShape="0">
              <a:prstClr val="black">
                <a:alpha val="53000"/>
              </a:prst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C0E34A-6C13-4A53-B279-BA149841D1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7200" dirty="0">
                <a:latin typeface="Arial" panose="020B0604020202020204" pitchFamily="34" charset="0"/>
                <a:cs typeface="Arial" panose="020B0604020202020204" pitchFamily="34" charset="0"/>
              </a:rPr>
              <a:t>Smoothing Reactor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Lahore Converter Station</a:t>
            </a:r>
            <a:b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3200" b="1" u="sng" dirty="0">
                <a:latin typeface="Arial" panose="020B0604020202020204" pitchFamily="34" charset="0"/>
                <a:cs typeface="Arial" panose="020B0604020202020204" pitchFamily="34" charset="0"/>
              </a:rPr>
              <a:t>Master Name: </a:t>
            </a:r>
            <a:r>
              <a:rPr lang="en-US" sz="3200" b="1" u="sng" dirty="0" err="1">
                <a:latin typeface="Arial" panose="020B0604020202020204" pitchFamily="34" charset="0"/>
                <a:cs typeface="Arial" panose="020B0604020202020204" pitchFamily="34" charset="0"/>
              </a:rPr>
              <a:t>Mr</a:t>
            </a:r>
            <a:r>
              <a:rPr lang="en-US" sz="3200" b="1" u="sng" dirty="0">
                <a:latin typeface="Arial" panose="020B0604020202020204" pitchFamily="34" charset="0"/>
                <a:cs typeface="Arial" panose="020B0604020202020204" pitchFamily="34" charset="0"/>
              </a:rPr>
              <a:t> Wang Tong </a:t>
            </a:r>
            <a:r>
              <a:rPr lang="en-US" sz="3200" b="1" u="sng" dirty="0" err="1">
                <a:latin typeface="Arial" panose="020B0604020202020204" pitchFamily="34" charset="0"/>
                <a:cs typeface="Arial" panose="020B0604020202020204" pitchFamily="34" charset="0"/>
              </a:rPr>
              <a:t>lu</a:t>
            </a:r>
            <a:r>
              <a:rPr lang="en-US" sz="3200" b="1" u="sng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u="sng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223A4E-1A02-4228-B582-139CFAFB380A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By Rana Abdul Rehman</a:t>
            </a:r>
          </a:p>
        </p:txBody>
      </p:sp>
    </p:spTree>
    <p:extLst>
      <p:ext uri="{BB962C8B-B14F-4D97-AF65-F5344CB8AC3E}">
        <p14:creationId xmlns:p14="http://schemas.microsoft.com/office/powerpoint/2010/main" val="19360947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CB73B3-5C58-4DF7-9BE7-CF6E7F5BA5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Smoothing Reactor</a:t>
            </a:r>
            <a:r>
              <a:rPr lang="en-US" dirty="0"/>
              <a:t>: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39502EC3-A5A3-462C-B826-2656D7E77C9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292840" y="2336800"/>
            <a:ext cx="4395557" cy="3598863"/>
          </a:xfr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E676D99-09AF-4F33-94F8-0C4F5ADE04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0321" y="2505456"/>
            <a:ext cx="3790078" cy="3599317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sz="24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It’s the series connected device inserted in the DC yard for protection of the converter valves. It is designed as a linear reactor and is connected  Two on line side and one on valve side, two connected on neutral side or at intermediate location and one on valve side.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88051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C263B3-D639-41FB-B956-655ED59F40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Function of Smoothing Reactor: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2E288DF-E97C-4CF6-8167-C8D8490A48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To Smooth of the DC ripples. DC ripples are the unwanted variation in the DC voltages. They occur because of the incomplete conversion of AC to DC voltage.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To reduce the incidence of the commutation failure in inverters cause by dips in the ac voltage at the converter bus.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To reduce the harmonic voltage and current in the DC line.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To reduce the  requirement of the AC and DC filter.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To reduce the current and voltage transient during sudden changes in the power flow.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To reduce the crest of the short circuit current in the DC line there by reducing the stress on the converter valves. </a:t>
            </a:r>
          </a:p>
        </p:txBody>
      </p:sp>
    </p:spTree>
    <p:extLst>
      <p:ext uri="{BB962C8B-B14F-4D97-AF65-F5344CB8AC3E}">
        <p14:creationId xmlns:p14="http://schemas.microsoft.com/office/powerpoint/2010/main" val="2249982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7D35F1-A8A9-4CA5-A435-42503CBC21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Working of DC Smoothing Reactor: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3B567E-C1DE-49AC-9491-83726C11CD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Smoothing reactor functions as the pure inductance.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Current “Id” through the smoothing reactor do not change instantaneously. Under Changing current condition the EMF is induced in the reactor coil.</a:t>
            </a:r>
          </a:p>
          <a:p>
            <a:pPr marL="0" indent="0" algn="ctr">
              <a:buNone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e= L *di/dt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This EMF opposes the rate of change of current. The current change takes finite time of the orders of a few micro or milli seconds.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This principal gives the smoothing effect to the DC waveform.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On neutral line the benefit of reactor is it also helps to clear the ground faults with the help of converter control.</a:t>
            </a:r>
          </a:p>
          <a:p>
            <a:pPr marL="2743200" lvl="6" indent="0">
              <a:buNone/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7586376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92FE3A-860F-41BB-BC6C-CD9D900FF5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Reactor Configuration: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29CAFC0A-2CC5-4695-93A6-0C1A5785C58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88337" y="2336872"/>
            <a:ext cx="5605494" cy="3599317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C47932-376C-482D-964E-706DD4E287D2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Reactor body Consist of Spider Arms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Lifting lugs use to lift the Smoothing reactor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Cooling ducts are there to provide air circulation in the tank.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Insulator are there to isolate the pedestal and Smoothing reactor.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Pedestal make the reactor vibration free and strong foundation structure.</a:t>
            </a:r>
          </a:p>
        </p:txBody>
      </p:sp>
    </p:spTree>
    <p:extLst>
      <p:ext uri="{BB962C8B-B14F-4D97-AF65-F5344CB8AC3E}">
        <p14:creationId xmlns:p14="http://schemas.microsoft.com/office/powerpoint/2010/main" val="1661560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C2FDC9-3BE0-4E87-8755-80A0EEAE14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Sizing of the Smoothing Reactor 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15932919-0265-4FD5-9EF5-D85B8F5B32B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86300" y="2622512"/>
            <a:ext cx="5608638" cy="3027439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CC86E3-C434-4C29-91A6-5B4ABBC3C5AE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Taking all design aspects above into account, the size of smoothing reactors is often selected in the range of 100 to 300 MH for long-distance DC links and 30 to 80 MH for back-to-back stations.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It should smoothen the DC voltage and current waveform to acceptable limit.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It should be insure the flow of DC current when the delay angle is close to 90 degree.</a:t>
            </a:r>
          </a:p>
        </p:txBody>
      </p:sp>
    </p:spTree>
    <p:extLst>
      <p:ext uri="{BB962C8B-B14F-4D97-AF65-F5344CB8AC3E}">
        <p14:creationId xmlns:p14="http://schemas.microsoft.com/office/powerpoint/2010/main" val="36181497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A0E385-AF91-4FCF-BB74-0C9832DECA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Reactor Design Alternatives 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2078F2F-FBF4-458F-808E-03E4EB6C54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There are basically two types of reactor design: </a:t>
            </a:r>
          </a:p>
          <a:p>
            <a:pPr marL="0" indent="0">
              <a:buNone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■ 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Air-insulated dry-type reactors </a:t>
            </a:r>
          </a:p>
          <a:p>
            <a:pPr marL="0" indent="0">
              <a:buNone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■ 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Oil-insulated reactors in a tank</a:t>
            </a:r>
          </a:p>
          <a:p>
            <a:pPr marL="0" indent="0">
              <a:buNone/>
            </a:pP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We are using here Air-insulated dry-type reactor. </a:t>
            </a:r>
          </a:p>
          <a:p>
            <a:pPr marL="0" indent="0">
              <a:buNone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The reactor type should be selected taking the following aspects into consideration: </a:t>
            </a:r>
          </a:p>
          <a:p>
            <a:pPr marL="0" indent="0">
              <a:buNone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■ Inductance </a:t>
            </a:r>
          </a:p>
          <a:p>
            <a:pPr marL="0" indent="0">
              <a:buNone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■ Costs </a:t>
            </a:r>
          </a:p>
          <a:p>
            <a:pPr marL="0" indent="0">
              <a:buNone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■ Maintenance and location of spare units </a:t>
            </a:r>
          </a:p>
          <a:p>
            <a:pPr marL="0" indent="0">
              <a:buNone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■ Seismic requirements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890482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FCE1DC-3339-4F21-8B64-55E26B8F49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Operation procedure of Reactor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09B061-03CC-479C-8ACA-ED53F6300F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During normal operation, the sound and vibration of the reactor should be normal.</a:t>
            </a:r>
          </a:p>
          <a:p>
            <a:pPr lvl="0"/>
            <a:r>
              <a:rPr lang="en-US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Monthly charged infrared temperature measurement of the reactor body and its electrical connection parts.</a:t>
            </a:r>
          </a:p>
          <a:p>
            <a:pPr lvl="0"/>
            <a:r>
              <a:rPr lang="en-US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The surface of the reactor should be cleaned regularly, and if there are discharge marks or paint peeling off on the surface, as well as flow</a:t>
            </a:r>
          </a:p>
          <a:p>
            <a:r>
              <a:rPr lang="en-US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(dripping) glue and cracks, it should be handled in time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64847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29D66-BB38-4E64-A644-63BA6A5AB1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Operation Routine Checks: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7823ED-8D5B-4C41-892D-E83CB9F9FC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sz="2600" dirty="0">
                <a:effectLst/>
              </a:rPr>
              <a:t>Regularly check whether there are birds nesting on the reactor or insulating support.</a:t>
            </a:r>
          </a:p>
          <a:p>
            <a:pPr lvl="0"/>
            <a:r>
              <a:rPr lang="en-US" sz="2600" dirty="0">
                <a:effectLst/>
              </a:rPr>
              <a:t>Regularly check for abnormal sounds, loose bolts or other parts.</a:t>
            </a:r>
          </a:p>
          <a:p>
            <a:pPr lvl="0"/>
            <a:r>
              <a:rPr lang="en-US" sz="2600" dirty="0">
                <a:effectLst/>
              </a:rPr>
              <a:t>Regularly check whether there are discharge marks on the outer surface of the reactor.</a:t>
            </a:r>
          </a:p>
          <a:p>
            <a:pPr lvl="0"/>
            <a:r>
              <a:rPr lang="en-US" sz="2600" dirty="0">
                <a:effectLst/>
              </a:rPr>
              <a:t>Regularly check whether there are obvious large cracks in the sound absorption tube in</a:t>
            </a:r>
          </a:p>
          <a:p>
            <a:pPr marL="0" lvl="0" indent="0">
              <a:buNone/>
            </a:pPr>
            <a:r>
              <a:rPr lang="en-US" sz="2600" dirty="0">
                <a:effectLst/>
              </a:rPr>
              <a:t>   the middle of the reactor.</a:t>
            </a:r>
          </a:p>
          <a:p>
            <a:pPr lvl="0"/>
            <a:r>
              <a:rPr lang="en-US" sz="2600" dirty="0">
                <a:effectLst/>
              </a:rPr>
              <a:t>Regularly check the outer surface of the reactor for obvious abnormal discoloration.</a:t>
            </a:r>
          </a:p>
          <a:p>
            <a:pPr lvl="0"/>
            <a:r>
              <a:rPr lang="en-US" sz="2600" dirty="0">
                <a:effectLst/>
              </a:rPr>
              <a:t>Regularly check the quality of the RTV coating on the surface of the sound cover.</a:t>
            </a:r>
          </a:p>
          <a:p>
            <a:pPr lvl="0"/>
            <a:r>
              <a:rPr lang="en-US" sz="2600" dirty="0">
                <a:effectLst/>
              </a:rPr>
              <a:t>Regularly check the overall corona ring installation for looseness or displacement. Use an</a:t>
            </a:r>
          </a:p>
          <a:p>
            <a:pPr marL="0" lvl="0" indent="0">
              <a:buNone/>
            </a:pPr>
            <a:r>
              <a:rPr lang="en-US" sz="2600" dirty="0">
                <a:effectLst/>
              </a:rPr>
              <a:t>   infrared imager to check the overall reactor for hot spots</a:t>
            </a:r>
          </a:p>
          <a:p>
            <a:endParaRPr lang="en-US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369220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00B2154-4088-4641-B92E-FC94C29CA1A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9600" dirty="0">
                <a:latin typeface="Arial" panose="020B0604020202020204" pitchFamily="34" charset="0"/>
                <a:cs typeface="Arial" panose="020B0604020202020204" pitchFamily="34" charset="0"/>
              </a:rPr>
              <a:t>Thank you </a:t>
            </a:r>
          </a:p>
        </p:txBody>
      </p:sp>
    </p:spTree>
    <p:extLst>
      <p:ext uri="{BB962C8B-B14F-4D97-AF65-F5344CB8AC3E}">
        <p14:creationId xmlns:p14="http://schemas.microsoft.com/office/powerpoint/2010/main" val="2955628573"/>
      </p:ext>
    </p:extLst>
  </p:cSld>
  <p:clrMapOvr>
    <a:masterClrMapping/>
  </p:clrMapOvr>
</p:sld>
</file>

<file path=ppt/theme/theme1.xml><?xml version="1.0" encoding="utf-8"?>
<a:theme xmlns:a="http://schemas.openxmlformats.org/drawingml/2006/main" name="Berlin">
  <a:themeElements>
    <a:clrScheme name="Berlin">
      <a:dk1>
        <a:sysClr val="windowText" lastClr="000000"/>
      </a:dk1>
      <a:lt1>
        <a:sysClr val="window" lastClr="FFFFFF"/>
      </a:lt1>
      <a:dk2>
        <a:srgbClr val="6A9C41"/>
      </a:dk2>
      <a:lt2>
        <a:srgbClr val="E7E6E6"/>
      </a:lt2>
      <a:accent1>
        <a:srgbClr val="A7D535"/>
      </a:accent1>
      <a:accent2>
        <a:srgbClr val="EACA4F"/>
      </a:accent2>
      <a:accent3>
        <a:srgbClr val="FD9850"/>
      </a:accent3>
      <a:accent4>
        <a:srgbClr val="F46442"/>
      </a:accent4>
      <a:accent5>
        <a:srgbClr val="54D289"/>
      </a:accent5>
      <a:accent6>
        <a:srgbClr val="6AD8CB"/>
      </a:accent6>
      <a:hlink>
        <a:srgbClr val="CAFB50"/>
      </a:hlink>
      <a:folHlink>
        <a:srgbClr val="DEFF8B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92000"/>
                <a:satMod val="200000"/>
                <a:lumMod val="13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106000"/>
                <a:satMod val="120000"/>
                <a:lumMod val="7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B587E4A9-1405-4B4F-8BC3-512EE08D2EB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TM04033917[[fn=Berlin]]</Template>
  <TotalTime>524</TotalTime>
  <Words>668</Words>
  <Application>Microsoft Office PowerPoint</Application>
  <PresentationFormat>Widescreen</PresentationFormat>
  <Paragraphs>55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Trebuchet MS</vt:lpstr>
      <vt:lpstr>Berlin</vt:lpstr>
      <vt:lpstr>Smoothing Reactor Lahore Converter Station   Master Name: Mr Wang Tong lu  </vt:lpstr>
      <vt:lpstr>Smoothing Reactor:</vt:lpstr>
      <vt:lpstr>Function of Smoothing Reactor:</vt:lpstr>
      <vt:lpstr>Working of DC Smoothing Reactor:</vt:lpstr>
      <vt:lpstr>Reactor Configuration:</vt:lpstr>
      <vt:lpstr>Sizing of the Smoothing Reactor </vt:lpstr>
      <vt:lpstr>Reactor Design Alternatives </vt:lpstr>
      <vt:lpstr>Operation procedure of Reactor </vt:lpstr>
      <vt:lpstr>Operation Routine Checks: </vt:lpstr>
      <vt:lpstr>Thank you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Smoothing Reactor Lahore Converter Station</dc:title>
  <dc:creator>Rana Abdul Rehman</dc:creator>
  <cp:lastModifiedBy>Rana Abdul Rehman</cp:lastModifiedBy>
  <cp:revision>23</cp:revision>
  <dcterms:created xsi:type="dcterms:W3CDTF">2021-01-04T04:29:31Z</dcterms:created>
  <dcterms:modified xsi:type="dcterms:W3CDTF">2021-01-08T12:23:46Z</dcterms:modified>
</cp:coreProperties>
</file>