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76" r:id="rId2"/>
    <p:sldId id="256" r:id="rId3"/>
    <p:sldId id="257" r:id="rId4"/>
    <p:sldId id="258" r:id="rId5"/>
    <p:sldId id="259" r:id="rId6"/>
    <p:sldId id="260" r:id="rId7"/>
    <p:sldId id="261" r:id="rId8"/>
    <p:sldId id="262" r:id="rId9"/>
    <p:sldId id="263" r:id="rId10"/>
    <p:sldId id="265" r:id="rId11"/>
    <p:sldId id="266" r:id="rId12"/>
    <p:sldId id="267" r:id="rId13"/>
    <p:sldId id="268" r:id="rId14"/>
    <p:sldId id="273" r:id="rId15"/>
    <p:sldId id="269" r:id="rId16"/>
    <p:sldId id="270" r:id="rId17"/>
    <p:sldId id="271" r:id="rId18"/>
    <p:sldId id="272" r:id="rId19"/>
    <p:sldId id="277" r:id="rId20"/>
    <p:sldId id="27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 name="Group 9"/>
          <p:cNvGrpSpPr/>
          <p:nvPr/>
        </p:nvGrpSpPr>
        <p:grpSpPr>
          <a:xfrm>
            <a:off x="0" y="0"/>
            <a:ext cx="12188825" cy="6872226"/>
            <a:chOff x="0" y="0"/>
            <a:chExt cx="12188825" cy="6872226"/>
          </a:xfrm>
        </p:grpSpPr>
        <p:pic>
          <p:nvPicPr>
            <p:cNvPr id="9" name="Picture 8" descr="H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673"/>
            <a:stretch/>
          </p:blipFill>
          <p:spPr>
            <a:xfrm rot="5400000">
              <a:off x="5245268" y="530352"/>
              <a:ext cx="1673352" cy="612648"/>
            </a:xfrm>
            <a:prstGeom prst="rect">
              <a:avLst/>
            </a:prstGeom>
          </p:spPr>
        </p:pic>
        <p:pic>
          <p:nvPicPr>
            <p:cNvPr id="18" name="Picture 17"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r="48819"/>
            <a:stretch/>
          </p:blipFill>
          <p:spPr>
            <a:xfrm rot="5400000">
              <a:off x="5263556" y="5747514"/>
              <a:ext cx="1636776"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1/8/2021</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5BFA754-D5C3-4E66-96A6-867B257F58DC}" type="datetimeFigureOut">
              <a:rPr lang="en-US" dirty="0"/>
              <a:t>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1/8/2021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1/8/2021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1/8/2021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1/8/2021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6"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8825" cy="6856215"/>
            <a:chOff x="0" y="0"/>
            <a:chExt cx="12188825" cy="6856215"/>
          </a:xfrm>
        </p:grpSpPr>
        <p:pic>
          <p:nvPicPr>
            <p:cNvPr id="8" name="Picture 7" descr="H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1" y="76265"/>
              <a:ext cx="758952"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0" y="6173526"/>
              <a:ext cx="758952"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1/8/2021</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056326" y="1911267"/>
            <a:ext cx="8890716" cy="2308324"/>
          </a:xfrm>
          <a:prstGeom prst="rect">
            <a:avLst/>
          </a:prstGeom>
        </p:spPr>
        <p:txBody>
          <a:bodyPr wrap="square">
            <a:spAutoFit/>
          </a:bodyPr>
          <a:lstStyle/>
          <a:p>
            <a:r>
              <a:rPr lang="en-US" sz="4800" smtClean="0">
                <a:latin typeface="Times New Roman" panose="02020603050405020304" pitchFamily="18" charset="0"/>
                <a:cs typeface="Times New Roman" panose="02020603050405020304" pitchFamily="18" charset="0"/>
              </a:rPr>
              <a:t>Presenter Name</a:t>
            </a:r>
            <a:r>
              <a:rPr lang="en-US" sz="4800" dirty="0">
                <a:latin typeface="Times New Roman" panose="02020603050405020304" pitchFamily="18" charset="0"/>
                <a:cs typeface="Times New Roman" panose="02020603050405020304" pitchFamily="18" charset="0"/>
              </a:rPr>
              <a:t>: Habib Ullah</a:t>
            </a:r>
            <a:br>
              <a:rPr lang="en-US" sz="4800" dirty="0">
                <a:latin typeface="Times New Roman" panose="02020603050405020304" pitchFamily="18" charset="0"/>
                <a:cs typeface="Times New Roman" panose="02020603050405020304" pitchFamily="18" charset="0"/>
              </a:rPr>
            </a:br>
            <a:r>
              <a:rPr lang="en-US" sz="4800" dirty="0">
                <a:latin typeface="Times New Roman" panose="02020603050405020304" pitchFamily="18" charset="0"/>
                <a:cs typeface="Times New Roman" panose="02020603050405020304" pitchFamily="18" charset="0"/>
              </a:rPr>
              <a:t/>
            </a:r>
            <a:br>
              <a:rPr lang="en-US" sz="4800" dirty="0">
                <a:latin typeface="Times New Roman" panose="02020603050405020304" pitchFamily="18" charset="0"/>
                <a:cs typeface="Times New Roman" panose="02020603050405020304" pitchFamily="18" charset="0"/>
              </a:rPr>
            </a:br>
            <a:r>
              <a:rPr lang="en-US" sz="4800" dirty="0">
                <a:latin typeface="Times New Roman" panose="02020603050405020304" pitchFamily="18" charset="0"/>
                <a:cs typeface="Times New Roman" panose="02020603050405020304" pitchFamily="18" charset="0"/>
              </a:rPr>
              <a:t>Master Name: Mr. </a:t>
            </a:r>
            <a:r>
              <a:rPr lang="en-US" sz="4800" dirty="0" err="1">
                <a:latin typeface="Times New Roman" panose="02020603050405020304" pitchFamily="18" charset="0"/>
                <a:cs typeface="Times New Roman" panose="02020603050405020304" pitchFamily="18" charset="0"/>
              </a:rPr>
              <a:t>Guo</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QingShuai</a:t>
            </a:r>
            <a:endParaRPr lang="en-US" sz="2000" dirty="0"/>
          </a:p>
        </p:txBody>
      </p:sp>
    </p:spTree>
    <p:extLst>
      <p:ext uri="{BB962C8B-B14F-4D97-AF65-F5344CB8AC3E}">
        <p14:creationId xmlns:p14="http://schemas.microsoft.com/office/powerpoint/2010/main" val="35470290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66641" y="1987041"/>
            <a:ext cx="6815669" cy="1515533"/>
          </a:xfrm>
        </p:spPr>
        <p:txBody>
          <a:bodyPr/>
          <a:lstStyle/>
          <a:p>
            <a:r>
              <a:rPr lang="en-US" dirty="0" smtClean="0"/>
              <a:t/>
            </a:r>
            <a:br>
              <a:rPr lang="en-US" dirty="0" smtClean="0"/>
            </a:br>
            <a:r>
              <a:rPr lang="en-US" dirty="0"/>
              <a:t/>
            </a:r>
            <a:br>
              <a:rPr lang="en-US" dirty="0"/>
            </a:br>
            <a:r>
              <a:rPr lang="en-US" sz="6600" dirty="0" smtClean="0"/>
              <a:t>Arresters</a:t>
            </a:r>
            <a:endParaRPr lang="en-US" sz="6600" dirty="0"/>
          </a:p>
        </p:txBody>
      </p:sp>
    </p:spTree>
    <p:extLst>
      <p:ext uri="{BB962C8B-B14F-4D97-AF65-F5344CB8AC3E}">
        <p14:creationId xmlns:p14="http://schemas.microsoft.com/office/powerpoint/2010/main" val="31483665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21217" y="785611"/>
            <a:ext cx="10728101" cy="3508653"/>
          </a:xfrm>
          <a:prstGeom prst="rect">
            <a:avLst/>
          </a:prstGeom>
          <a:noFill/>
        </p:spPr>
        <p:txBody>
          <a:bodyPr wrap="square" rtlCol="0">
            <a:spAutoFit/>
          </a:bodyPr>
          <a:lstStyle/>
          <a:p>
            <a:r>
              <a:rPr lang="en-US" sz="3600" b="1" dirty="0" smtClean="0">
                <a:latin typeface="Times New Roman" panose="02020603050405020304" pitchFamily="18" charset="0"/>
                <a:cs typeface="Times New Roman" panose="02020603050405020304" pitchFamily="18" charset="0"/>
              </a:rPr>
              <a:t>Introduction</a:t>
            </a:r>
            <a:r>
              <a:rPr lang="en-US" sz="3600" b="1" dirty="0">
                <a:latin typeface="Times New Roman" panose="02020603050405020304" pitchFamily="18" charset="0"/>
                <a:cs typeface="Times New Roman" panose="02020603050405020304" pitchFamily="18" charset="0"/>
              </a:rPr>
              <a:t>:</a:t>
            </a:r>
            <a:endParaRPr lang="en-US" sz="3600" dirty="0">
              <a:latin typeface="Times New Roman" panose="02020603050405020304" pitchFamily="18" charset="0"/>
              <a:cs typeface="Times New Roman" panose="02020603050405020304" pitchFamily="18" charset="0"/>
            </a:endParaRPr>
          </a:p>
          <a:p>
            <a:r>
              <a:rPr lang="en-US" b="1" dirty="0"/>
              <a:t> </a:t>
            </a:r>
            <a:endParaRPr lang="en-US" dirty="0"/>
          </a:p>
          <a:p>
            <a:pPr algn="just"/>
            <a:r>
              <a:rPr lang="en-US" sz="2400" dirty="0">
                <a:latin typeface="Times New Roman" panose="02020603050405020304" pitchFamily="18" charset="0"/>
                <a:cs typeface="Times New Roman" panose="02020603050405020304" pitchFamily="18" charset="0"/>
              </a:rPr>
              <a:t> Over voltages in power system may occur due to lightning, fault or switching operation. These over-voltages could reach dangerous amplitudes for power system apparatus. To protect the system electrical equipment and to guarantee an economic and reliable operation</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arresters are applied in almost all types of electrical power network. Gapless zinc oxide (</a:t>
            </a:r>
            <a:r>
              <a:rPr lang="en-US" sz="2400" dirty="0" err="1" smtClean="0">
                <a:latin typeface="Times New Roman" panose="02020603050405020304" pitchFamily="18" charset="0"/>
                <a:cs typeface="Times New Roman" panose="02020603050405020304" pitchFamily="18" charset="0"/>
              </a:rPr>
              <a:t>ZnO</a:t>
            </a:r>
            <a:r>
              <a:rPr lang="en-US" sz="2400" dirty="0" smtClean="0">
                <a:latin typeface="Times New Roman" panose="02020603050405020304" pitchFamily="18" charset="0"/>
                <a:cs typeface="Times New Roman" panose="02020603050405020304" pitchFamily="18" charset="0"/>
              </a:rPr>
              <a:t>) arresters </a:t>
            </a:r>
            <a:r>
              <a:rPr lang="en-US" sz="2400" dirty="0">
                <a:latin typeface="Times New Roman" panose="02020603050405020304" pitchFamily="18" charset="0"/>
                <a:cs typeface="Times New Roman" panose="02020603050405020304" pitchFamily="18" charset="0"/>
              </a:rPr>
              <a:t>are widely </a:t>
            </a:r>
            <a:r>
              <a:rPr lang="en-US" sz="2400" dirty="0" smtClean="0">
                <a:latin typeface="Times New Roman" panose="02020603050405020304" pitchFamily="18" charset="0"/>
                <a:cs typeface="Times New Roman" panose="02020603050405020304" pitchFamily="18" charset="0"/>
              </a:rPr>
              <a:t>used. Arresters </a:t>
            </a:r>
            <a:r>
              <a:rPr lang="en-US" sz="2400" dirty="0">
                <a:latin typeface="Times New Roman" panose="02020603050405020304" pitchFamily="18" charset="0"/>
                <a:cs typeface="Times New Roman" panose="02020603050405020304" pitchFamily="18" charset="0"/>
              </a:rPr>
              <a:t>are usually connected between the phase and ground terminals. They limit the voltage level in equipment such as transformers below the withstand voltage level.</a:t>
            </a:r>
          </a:p>
        </p:txBody>
      </p:sp>
    </p:spTree>
    <p:extLst>
      <p:ext uri="{BB962C8B-B14F-4D97-AF65-F5344CB8AC3E}">
        <p14:creationId xmlns:p14="http://schemas.microsoft.com/office/powerpoint/2010/main" val="9391034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1370" y="798491"/>
            <a:ext cx="10650828" cy="4801314"/>
          </a:xfrm>
          <a:prstGeom prst="rect">
            <a:avLst/>
          </a:prstGeom>
          <a:noFill/>
        </p:spPr>
        <p:txBody>
          <a:bodyPr wrap="square" rtlCol="0">
            <a:spAutoFit/>
          </a:bodyPr>
          <a:lstStyle/>
          <a:p>
            <a:r>
              <a:rPr lang="en-US" sz="3600" b="1" dirty="0" smtClean="0">
                <a:latin typeface="Times New Roman" panose="02020603050405020304" pitchFamily="18" charset="0"/>
                <a:cs typeface="Times New Roman" panose="02020603050405020304" pitchFamily="18" charset="0"/>
              </a:rPr>
              <a:t>Zinc Oxide (</a:t>
            </a:r>
            <a:r>
              <a:rPr lang="en-US" sz="3600" b="1" dirty="0" err="1" smtClean="0">
                <a:latin typeface="Times New Roman" panose="02020603050405020304" pitchFamily="18" charset="0"/>
                <a:cs typeface="Times New Roman" panose="02020603050405020304" pitchFamily="18" charset="0"/>
              </a:rPr>
              <a:t>ZnO</a:t>
            </a:r>
            <a:r>
              <a:rPr lang="en-US" sz="3600" b="1" dirty="0" smtClean="0">
                <a:latin typeface="Times New Roman" panose="02020603050405020304" pitchFamily="18" charset="0"/>
                <a:cs typeface="Times New Roman" panose="02020603050405020304" pitchFamily="18" charset="0"/>
              </a:rPr>
              <a:t>) Arrester:</a:t>
            </a:r>
          </a:p>
          <a:p>
            <a:endParaRPr lang="en-US" b="1" dirty="0" smtClean="0"/>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construction of </a:t>
            </a:r>
            <a:r>
              <a:rPr lang="en-US" sz="2400" dirty="0" err="1" smtClean="0">
                <a:latin typeface="Times New Roman" panose="02020603050405020304" pitchFamily="18" charset="0"/>
                <a:cs typeface="Times New Roman" panose="02020603050405020304" pitchFamily="18" charset="0"/>
              </a:rPr>
              <a:t>ZnO</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arresters consist of a very simple structure. They basically consist of an insulating housing which is made of porcelain or polymeric material, and the inner active column, composed of the </a:t>
            </a:r>
            <a:r>
              <a:rPr lang="en-US" sz="2400" dirty="0" err="1">
                <a:latin typeface="Times New Roman" panose="02020603050405020304" pitchFamily="18" charset="0"/>
                <a:cs typeface="Times New Roman" panose="02020603050405020304" pitchFamily="18" charset="0"/>
              </a:rPr>
              <a:t>ZnO</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arresters is shown in Figure-1.1. </a:t>
            </a: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ZnO</a:t>
            </a:r>
            <a:r>
              <a:rPr lang="en-US" sz="2400" dirty="0">
                <a:latin typeface="Times New Roman" panose="02020603050405020304" pitchFamily="18" charset="0"/>
                <a:cs typeface="Times New Roman" panose="02020603050405020304" pitchFamily="18" charset="0"/>
              </a:rPr>
              <a:t> arrester block elements are the main component of the </a:t>
            </a:r>
            <a:r>
              <a:rPr lang="en-US" sz="2400" dirty="0" err="1" smtClean="0">
                <a:latin typeface="Times New Roman" panose="02020603050405020304" pitchFamily="18" charset="0"/>
                <a:cs typeface="Times New Roman" panose="02020603050405020304" pitchFamily="18" charset="0"/>
              </a:rPr>
              <a:t>ZnO</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arrester. They provide the desired non-linear </a:t>
            </a:r>
            <a:r>
              <a:rPr lang="en-US" sz="2400" dirty="0" smtClean="0">
                <a:latin typeface="Times New Roman" panose="02020603050405020304" pitchFamily="18" charset="0"/>
                <a:cs typeface="Times New Roman" panose="02020603050405020304" pitchFamily="18" charset="0"/>
              </a:rPr>
              <a:t>characteristics. The </a:t>
            </a:r>
            <a:r>
              <a:rPr lang="en-US" sz="2400" dirty="0">
                <a:latin typeface="Times New Roman" panose="02020603050405020304" pitchFamily="18" charset="0"/>
                <a:cs typeface="Times New Roman" panose="02020603050405020304" pitchFamily="18" charset="0"/>
              </a:rPr>
              <a:t>non-linear resistivity is an inherent bulk property of the composite ceramic resistor, which consists of mainly </a:t>
            </a:r>
            <a:r>
              <a:rPr lang="en-US" sz="2400" dirty="0" err="1">
                <a:latin typeface="Times New Roman" panose="02020603050405020304" pitchFamily="18" charset="0"/>
                <a:cs typeface="Times New Roman" panose="02020603050405020304" pitchFamily="18" charset="0"/>
              </a:rPr>
              <a:t>ZnO</a:t>
            </a:r>
            <a:r>
              <a:rPr lang="en-US" sz="2400" dirty="0">
                <a:latin typeface="Times New Roman" panose="02020603050405020304" pitchFamily="18" charset="0"/>
                <a:cs typeface="Times New Roman" panose="02020603050405020304" pitchFamily="18" charset="0"/>
              </a:rPr>
              <a:t> with relatively small amount of several additives of other metal oxides such as </a:t>
            </a:r>
            <a:r>
              <a:rPr lang="en-US" sz="2400" dirty="0" smtClean="0">
                <a:latin typeface="Times New Roman" panose="02020603050405020304" pitchFamily="18" charset="0"/>
                <a:cs typeface="Times New Roman" panose="02020603050405020304" pitchFamily="18" charset="0"/>
              </a:rPr>
              <a:t>Bi2O3</a:t>
            </a:r>
            <a:r>
              <a:rPr lang="en-US" sz="2400" dirty="0">
                <a:latin typeface="Times New Roman" panose="02020603050405020304" pitchFamily="18" charset="0"/>
                <a:cs typeface="Times New Roman" panose="02020603050405020304" pitchFamily="18" charset="0"/>
              </a:rPr>
              <a:t>, CoO2, MnO3, and </a:t>
            </a:r>
            <a:r>
              <a:rPr lang="en-US" sz="2400" dirty="0" smtClean="0">
                <a:latin typeface="Times New Roman" panose="02020603050405020304" pitchFamily="18" charset="0"/>
                <a:cs typeface="Times New Roman" panose="02020603050405020304" pitchFamily="18" charset="0"/>
              </a:rPr>
              <a:t>Sb2O3. </a:t>
            </a:r>
            <a:r>
              <a:rPr lang="en-US" sz="2400" dirty="0">
                <a:latin typeface="Times New Roman" panose="02020603050405020304" pitchFamily="18" charset="0"/>
                <a:cs typeface="Times New Roman" panose="02020603050405020304" pitchFamily="18" charset="0"/>
              </a:rPr>
              <a:t>These additives essentially determine the electric properties of the block arresters element.</a:t>
            </a:r>
          </a:p>
          <a:p>
            <a:endParaRPr lang="en-US" dirty="0"/>
          </a:p>
          <a:p>
            <a:endParaRPr lang="en-US" dirty="0"/>
          </a:p>
        </p:txBody>
      </p:sp>
    </p:spTree>
    <p:extLst>
      <p:ext uri="{BB962C8B-B14F-4D97-AF65-F5344CB8AC3E}">
        <p14:creationId xmlns:p14="http://schemas.microsoft.com/office/powerpoint/2010/main" val="39354809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0770" y="795199"/>
            <a:ext cx="4827770" cy="4810731"/>
          </a:xfrm>
          <a:prstGeom prst="rect">
            <a:avLst/>
          </a:prstGeom>
          <a:ln>
            <a:solidFill>
              <a:schemeClr val="tx1"/>
            </a:solidFill>
          </a:ln>
        </p:spPr>
      </p:pic>
      <p:sp>
        <p:nvSpPr>
          <p:cNvPr id="3" name="TextBox 2"/>
          <p:cNvSpPr txBox="1"/>
          <p:nvPr/>
        </p:nvSpPr>
        <p:spPr>
          <a:xfrm>
            <a:off x="3786389" y="5605930"/>
            <a:ext cx="5009881" cy="461665"/>
          </a:xfrm>
          <a:prstGeom prst="rect">
            <a:avLst/>
          </a:prstGeom>
          <a:noFill/>
        </p:spPr>
        <p:txBody>
          <a:bodyPr wrap="square" rtlCol="0">
            <a:spAutoFit/>
          </a:bodyPr>
          <a:lstStyle/>
          <a:p>
            <a:r>
              <a:rPr lang="en-US" sz="2400" dirty="0" smtClean="0">
                <a:latin typeface="Times New Roman" panose="02020603050405020304" pitchFamily="18" charset="0"/>
                <a:cs typeface="Times New Roman" panose="02020603050405020304" pitchFamily="18" charset="0"/>
              </a:rPr>
              <a:t>Figure-1.1: </a:t>
            </a:r>
            <a:r>
              <a:rPr lang="en-US" sz="2400" dirty="0" err="1" smtClean="0">
                <a:latin typeface="Times New Roman" panose="02020603050405020304" pitchFamily="18" charset="0"/>
                <a:cs typeface="Times New Roman" panose="02020603050405020304" pitchFamily="18" charset="0"/>
              </a:rPr>
              <a:t>ZnO</a:t>
            </a:r>
            <a:r>
              <a:rPr lang="en-US" sz="2400" dirty="0" smtClean="0">
                <a:latin typeface="Times New Roman" panose="02020603050405020304" pitchFamily="18" charset="0"/>
                <a:cs typeface="Times New Roman" panose="02020603050405020304" pitchFamily="18" charset="0"/>
              </a:rPr>
              <a:t> Arrester Construction</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11702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9854" y="1223494"/>
            <a:ext cx="10740980" cy="3693319"/>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selection of arresters is based on the operating voltage across them with consideration temporary over-voltages, harmonics and communication overshoots when applicable. The discharge duties and coordinating currents are defined by the studied faults cases or are by experience well known.  </a:t>
            </a:r>
          </a:p>
          <a:p>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In our project, at Lahore converter station, we used two kind of </a:t>
            </a:r>
            <a:r>
              <a:rPr lang="en-US" sz="2400" dirty="0" smtClean="0">
                <a:latin typeface="Times New Roman" panose="02020603050405020304" pitchFamily="18" charset="0"/>
                <a:cs typeface="Times New Roman" panose="02020603050405020304" pitchFamily="18" charset="0"/>
              </a:rPr>
              <a:t>Arresters</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pPr marL="457200" indent="-457200">
              <a:buFont typeface="+mj-lt"/>
              <a:buAutoNum type="arabicParenR"/>
            </a:pPr>
            <a:r>
              <a:rPr lang="en-US" sz="2400" dirty="0" smtClean="0">
                <a:latin typeface="Times New Roman" panose="02020603050405020304" pitchFamily="18" charset="0"/>
                <a:cs typeface="Times New Roman" panose="02020603050405020304" pitchFamily="18" charset="0"/>
              </a:rPr>
              <a:t>Lightning Arresters</a:t>
            </a:r>
            <a:endParaRPr lang="en-US" sz="2400" dirty="0">
              <a:latin typeface="Times New Roman" panose="02020603050405020304" pitchFamily="18" charset="0"/>
              <a:cs typeface="Times New Roman" panose="02020603050405020304" pitchFamily="18" charset="0"/>
            </a:endParaRPr>
          </a:p>
          <a:p>
            <a:pPr marL="457200" lvl="0" indent="-457200">
              <a:buFont typeface="+mj-lt"/>
              <a:buAutoNum type="arabicParenR"/>
            </a:pPr>
            <a:r>
              <a:rPr lang="en-US" sz="2400" dirty="0" smtClean="0">
                <a:latin typeface="Times New Roman" panose="02020603050405020304" pitchFamily="18" charset="0"/>
                <a:cs typeface="Times New Roman" panose="02020603050405020304" pitchFamily="18" charset="0"/>
              </a:rPr>
              <a:t>Surge </a:t>
            </a:r>
            <a:r>
              <a:rPr lang="en-US" sz="2400" dirty="0">
                <a:latin typeface="Times New Roman" panose="02020603050405020304" pitchFamily="18" charset="0"/>
                <a:cs typeface="Times New Roman" panose="02020603050405020304" pitchFamily="18" charset="0"/>
              </a:rPr>
              <a:t>A</a:t>
            </a:r>
            <a:r>
              <a:rPr lang="en-US" sz="2400" dirty="0" smtClean="0">
                <a:latin typeface="Times New Roman" panose="02020603050405020304" pitchFamily="18" charset="0"/>
                <a:cs typeface="Times New Roman" panose="02020603050405020304" pitchFamily="18" charset="0"/>
              </a:rPr>
              <a:t>rresters</a:t>
            </a:r>
            <a:endParaRPr lang="en-US" sz="24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31854391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2732" y="785612"/>
            <a:ext cx="10625071" cy="5447645"/>
          </a:xfrm>
          <a:prstGeom prst="rect">
            <a:avLst/>
          </a:prstGeom>
          <a:noFill/>
        </p:spPr>
        <p:txBody>
          <a:bodyPr wrap="square" rtlCol="0">
            <a:spAutoFit/>
          </a:bodyPr>
          <a:lstStyle/>
          <a:p>
            <a:r>
              <a:rPr lang="en-US" sz="3600" b="1" dirty="0" smtClean="0">
                <a:latin typeface="Times New Roman" panose="02020603050405020304" pitchFamily="18" charset="0"/>
                <a:cs typeface="Times New Roman" panose="02020603050405020304" pitchFamily="18" charset="0"/>
              </a:rPr>
              <a:t>Lightning </a:t>
            </a:r>
            <a:r>
              <a:rPr lang="en-US" sz="3600" b="1" dirty="0">
                <a:latin typeface="Times New Roman" panose="02020603050405020304" pitchFamily="18" charset="0"/>
                <a:cs typeface="Times New Roman" panose="02020603050405020304" pitchFamily="18" charset="0"/>
              </a:rPr>
              <a:t>Arrester</a:t>
            </a:r>
            <a:endParaRPr lang="en-US" sz="36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r>
              <a:rPr lang="en-US" sz="3600" b="1" dirty="0" smtClean="0">
                <a:latin typeface="Times New Roman" panose="02020603050405020304" pitchFamily="18" charset="0"/>
                <a:cs typeface="Times New Roman" panose="02020603050405020304" pitchFamily="18" charset="0"/>
              </a:rPr>
              <a:t>Role </a:t>
            </a:r>
            <a:r>
              <a:rPr lang="en-US" sz="3600" b="1" dirty="0">
                <a:latin typeface="Times New Roman" panose="02020603050405020304" pitchFamily="18" charset="0"/>
                <a:cs typeface="Times New Roman" panose="02020603050405020304" pitchFamily="18" charset="0"/>
              </a:rPr>
              <a:t>of Arrester:</a:t>
            </a:r>
            <a:endParaRPr lang="en-US" sz="36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a:t>
            </a:r>
            <a:endParaRPr lang="en-US" sz="2400" b="1"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When </a:t>
            </a:r>
            <a:r>
              <a:rPr lang="en-US" sz="2400" dirty="0">
                <a:latin typeface="Times New Roman" panose="02020603050405020304" pitchFamily="18" charset="0"/>
                <a:cs typeface="Times New Roman" panose="02020603050405020304" pitchFamily="18" charset="0"/>
              </a:rPr>
              <a:t>the peak value of the over-voltage caused by the thunder or the circuit switch exceeds the standard value, it limits the over-voltage, protects the insulation of the electrical installation, and prevents the normal state of the system from being disturbed, and realize automatic recovery.</a:t>
            </a:r>
          </a:p>
          <a:p>
            <a:r>
              <a:rPr lang="en-US" sz="2400" dirty="0">
                <a:latin typeface="Times New Roman" panose="02020603050405020304" pitchFamily="18" charset="0"/>
                <a:cs typeface="Times New Roman" panose="02020603050405020304" pitchFamily="18" charset="0"/>
              </a:rPr>
              <a:t> </a:t>
            </a:r>
          </a:p>
          <a:p>
            <a:r>
              <a:rPr lang="en-US" sz="3600" b="1" dirty="0" smtClean="0">
                <a:latin typeface="Times New Roman" panose="02020603050405020304" pitchFamily="18" charset="0"/>
                <a:cs typeface="Times New Roman" panose="02020603050405020304" pitchFamily="18" charset="0"/>
              </a:rPr>
              <a:t>Arrester </a:t>
            </a:r>
            <a:r>
              <a:rPr lang="en-US" sz="3600" b="1" dirty="0">
                <a:latin typeface="Times New Roman" panose="02020603050405020304" pitchFamily="18" charset="0"/>
                <a:cs typeface="Times New Roman" panose="02020603050405020304" pitchFamily="18" charset="0"/>
              </a:rPr>
              <a:t>Model:</a:t>
            </a:r>
            <a:endParaRPr lang="en-US" sz="36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An </a:t>
            </a:r>
            <a:r>
              <a:rPr lang="en-US" sz="2400" dirty="0">
                <a:latin typeface="Times New Roman" panose="02020603050405020304" pitchFamily="18" charset="0"/>
                <a:cs typeface="Times New Roman" panose="02020603050405020304" pitchFamily="18" charset="0"/>
              </a:rPr>
              <a:t>arrester is represented by specific sequence of numerical and alphabets which have special meanings. Figure-1.2 shows the ordering information of surge arrester.</a:t>
            </a:r>
          </a:p>
        </p:txBody>
      </p:sp>
    </p:spTree>
    <p:extLst>
      <p:ext uri="{BB962C8B-B14F-4D97-AF65-F5344CB8AC3E}">
        <p14:creationId xmlns:p14="http://schemas.microsoft.com/office/powerpoint/2010/main" val="8819914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6675" y="850005"/>
            <a:ext cx="9200376" cy="4507317"/>
          </a:xfrm>
          <a:prstGeom prst="rect">
            <a:avLst/>
          </a:prstGeom>
          <a:ln>
            <a:solidFill>
              <a:schemeClr val="tx1"/>
            </a:solidFill>
          </a:ln>
        </p:spPr>
      </p:pic>
      <p:sp>
        <p:nvSpPr>
          <p:cNvPr id="3" name="TextBox 2"/>
          <p:cNvSpPr txBox="1"/>
          <p:nvPr/>
        </p:nvSpPr>
        <p:spPr>
          <a:xfrm>
            <a:off x="3181083" y="5357322"/>
            <a:ext cx="5885644" cy="738664"/>
          </a:xfrm>
          <a:prstGeom prst="rect">
            <a:avLst/>
          </a:prstGeom>
          <a:noFill/>
        </p:spPr>
        <p:txBody>
          <a:bodyPr wrap="square" rtlCol="0">
            <a:spAutoFit/>
          </a:bodyPr>
          <a:lstStyle/>
          <a:p>
            <a:pPr algn="ctr"/>
            <a:r>
              <a:rPr lang="en-US" sz="2400" dirty="0" smtClean="0">
                <a:latin typeface="Times New Roman" panose="02020603050405020304" pitchFamily="18" charset="0"/>
                <a:cs typeface="Times New Roman" panose="02020603050405020304" pitchFamily="18" charset="0"/>
              </a:rPr>
              <a:t>Figure-1.2</a:t>
            </a:r>
            <a:r>
              <a:rPr lang="en-US" sz="2400" dirty="0">
                <a:latin typeface="Times New Roman" panose="02020603050405020304" pitchFamily="18" charset="0"/>
                <a:cs typeface="Times New Roman" panose="02020603050405020304" pitchFamily="18" charset="0"/>
              </a:rPr>
              <a:t>: Surge Arrester </a:t>
            </a:r>
            <a:r>
              <a:rPr lang="en-US" sz="2400" dirty="0" smtClean="0">
                <a:latin typeface="Times New Roman" panose="02020603050405020304" pitchFamily="18" charset="0"/>
                <a:cs typeface="Times New Roman" panose="02020603050405020304" pitchFamily="18" charset="0"/>
              </a:rPr>
              <a:t>Model Explanation</a:t>
            </a:r>
            <a:endParaRPr lang="en-US" sz="2400" dirty="0">
              <a:latin typeface="Times New Roman" panose="02020603050405020304" pitchFamily="18" charset="0"/>
              <a:cs typeface="Times New Roman" panose="02020603050405020304" pitchFamily="18" charset="0"/>
            </a:endParaRPr>
          </a:p>
          <a:p>
            <a:pPr algn="ctr"/>
            <a:endParaRPr lang="en-US" dirty="0"/>
          </a:p>
        </p:txBody>
      </p:sp>
    </p:spTree>
    <p:extLst>
      <p:ext uri="{BB962C8B-B14F-4D97-AF65-F5344CB8AC3E}">
        <p14:creationId xmlns:p14="http://schemas.microsoft.com/office/powerpoint/2010/main" val="28112792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8338" y="746975"/>
            <a:ext cx="10753859" cy="1200329"/>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Arrester </a:t>
            </a:r>
            <a:r>
              <a:rPr lang="en-US" sz="3600" b="1" dirty="0" smtClean="0">
                <a:latin typeface="Times New Roman" panose="02020603050405020304" pitchFamily="18" charset="0"/>
                <a:cs typeface="Times New Roman" panose="02020603050405020304" pitchFamily="18" charset="0"/>
              </a:rPr>
              <a:t>Type:</a:t>
            </a:r>
            <a:endParaRPr lang="en-US" sz="36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1821539623"/>
              </p:ext>
            </p:extLst>
          </p:nvPr>
        </p:nvGraphicFramePr>
        <p:xfrm>
          <a:off x="1865038" y="1477124"/>
          <a:ext cx="8128968" cy="4202460"/>
        </p:xfrm>
        <a:graphic>
          <a:graphicData uri="http://schemas.openxmlformats.org/drawingml/2006/table">
            <a:tbl>
              <a:tblPr firstRow="1" firstCol="1" bandRow="1">
                <a:tableStyleId>{5C22544A-7EE6-4342-B048-85BDC9FD1C3A}</a:tableStyleId>
              </a:tblPr>
              <a:tblGrid>
                <a:gridCol w="524229"/>
                <a:gridCol w="1058256"/>
                <a:gridCol w="2910201"/>
                <a:gridCol w="3636282"/>
              </a:tblGrid>
              <a:tr h="420246">
                <a:tc>
                  <a:txBody>
                    <a:bodyPr/>
                    <a:lstStyle/>
                    <a:p>
                      <a:pPr marL="0" marR="0" algn="ctr">
                        <a:lnSpc>
                          <a:spcPct val="150000"/>
                        </a:lnSpc>
                        <a:spcBef>
                          <a:spcPts val="0"/>
                        </a:spcBef>
                        <a:spcAft>
                          <a:spcPts val="0"/>
                        </a:spcAft>
                      </a:pPr>
                      <a:r>
                        <a:rPr lang="en-US" sz="1500" kern="100" dirty="0">
                          <a:effectLst/>
                          <a:latin typeface="Times New Roman" panose="02020603050405020304" pitchFamily="18" charset="0"/>
                          <a:cs typeface="Times New Roman" panose="02020603050405020304" pitchFamily="18" charset="0"/>
                        </a:rPr>
                        <a:t>No.</a:t>
                      </a:r>
                      <a:endParaRPr lang="en-US" sz="15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dirty="0">
                          <a:effectLst/>
                          <a:latin typeface="Times New Roman" panose="02020603050405020304" pitchFamily="18" charset="0"/>
                          <a:cs typeface="Times New Roman" panose="02020603050405020304" pitchFamily="18" charset="0"/>
                        </a:rPr>
                        <a:t>Type</a:t>
                      </a:r>
                      <a:endParaRPr lang="en-US" sz="15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dirty="0" smtClean="0">
                          <a:effectLst/>
                          <a:latin typeface="Times New Roman" panose="02020603050405020304" pitchFamily="18" charset="0"/>
                          <a:cs typeface="Times New Roman" panose="02020603050405020304" pitchFamily="18" charset="0"/>
                        </a:rPr>
                        <a:t>Arrester Name</a:t>
                      </a:r>
                      <a:endParaRPr lang="en-US" sz="15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a:effectLst/>
                          <a:latin typeface="Times New Roman" panose="02020603050405020304" pitchFamily="18" charset="0"/>
                          <a:cs typeface="Times New Roman" panose="02020603050405020304" pitchFamily="18" charset="0"/>
                        </a:rPr>
                        <a:t>Arrester Model</a:t>
                      </a:r>
                      <a:endParaRPr lang="en-US" sz="15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r>
              <a:tr h="420246">
                <a:tc>
                  <a:txBody>
                    <a:bodyPr/>
                    <a:lstStyle/>
                    <a:p>
                      <a:pPr marL="0" marR="0" algn="ctr">
                        <a:lnSpc>
                          <a:spcPct val="150000"/>
                        </a:lnSpc>
                        <a:spcBef>
                          <a:spcPts val="0"/>
                        </a:spcBef>
                        <a:spcAft>
                          <a:spcPts val="0"/>
                        </a:spcAft>
                      </a:pPr>
                      <a:r>
                        <a:rPr lang="en-US" sz="1500" kern="100" dirty="0">
                          <a:effectLst/>
                          <a:latin typeface="Times New Roman" panose="02020603050405020304" pitchFamily="18" charset="0"/>
                          <a:cs typeface="Times New Roman" panose="02020603050405020304" pitchFamily="18" charset="0"/>
                        </a:rPr>
                        <a:t>1</a:t>
                      </a:r>
                      <a:endParaRPr lang="en-US" sz="15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dirty="0">
                          <a:effectLst/>
                          <a:latin typeface="Times New Roman" panose="02020603050405020304" pitchFamily="18" charset="0"/>
                          <a:cs typeface="Times New Roman" panose="02020603050405020304" pitchFamily="18" charset="0"/>
                        </a:rPr>
                        <a:t>CBH</a:t>
                      </a:r>
                      <a:endParaRPr lang="en-US" sz="15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a:effectLst/>
                          <a:latin typeface="Times New Roman" panose="02020603050405020304" pitchFamily="18" charset="0"/>
                          <a:cs typeface="Times New Roman" panose="02020603050405020304" pitchFamily="18" charset="0"/>
                        </a:rPr>
                        <a:t>660kV valve hall DC polar Arrester</a:t>
                      </a:r>
                      <a:endParaRPr lang="en-US" sz="15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a:effectLst/>
                          <a:latin typeface="Times New Roman" panose="02020603050405020304" pitchFamily="18" charset="0"/>
                          <a:cs typeface="Times New Roman" panose="02020603050405020304" pitchFamily="18" charset="0"/>
                        </a:rPr>
                        <a:t>YH2WCBH1-709/1416</a:t>
                      </a:r>
                      <a:endParaRPr lang="en-US" sz="15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r>
              <a:tr h="420246">
                <a:tc>
                  <a:txBody>
                    <a:bodyPr/>
                    <a:lstStyle/>
                    <a:p>
                      <a:pPr marL="0" marR="0" algn="ctr">
                        <a:lnSpc>
                          <a:spcPct val="150000"/>
                        </a:lnSpc>
                        <a:spcBef>
                          <a:spcPts val="0"/>
                        </a:spcBef>
                        <a:spcAft>
                          <a:spcPts val="0"/>
                        </a:spcAft>
                      </a:pPr>
                      <a:r>
                        <a:rPr lang="en-US" sz="1500" kern="100">
                          <a:effectLst/>
                          <a:latin typeface="Times New Roman" panose="02020603050405020304" pitchFamily="18" charset="0"/>
                          <a:cs typeface="Times New Roman" panose="02020603050405020304" pitchFamily="18" charset="0"/>
                        </a:rPr>
                        <a:t>2</a:t>
                      </a:r>
                      <a:endParaRPr lang="en-US" sz="15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dirty="0">
                          <a:effectLst/>
                          <a:latin typeface="Times New Roman" panose="02020603050405020304" pitchFamily="18" charset="0"/>
                          <a:cs typeface="Times New Roman" panose="02020603050405020304" pitchFamily="18" charset="0"/>
                        </a:rPr>
                        <a:t>M</a:t>
                      </a:r>
                      <a:endParaRPr lang="en-US" sz="15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dirty="0">
                          <a:effectLst/>
                          <a:latin typeface="Times New Roman" panose="02020603050405020304" pitchFamily="18" charset="0"/>
                          <a:cs typeface="Times New Roman" panose="02020603050405020304" pitchFamily="18" charset="0"/>
                        </a:rPr>
                        <a:t>6-Pulse bridge Arrester</a:t>
                      </a:r>
                      <a:endParaRPr lang="en-US" sz="15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a:effectLst/>
                          <a:latin typeface="Times New Roman" panose="02020603050405020304" pitchFamily="18" charset="0"/>
                          <a:cs typeface="Times New Roman" panose="02020603050405020304" pitchFamily="18" charset="0"/>
                        </a:rPr>
                        <a:t>YH2WM1-384/754</a:t>
                      </a:r>
                      <a:endParaRPr lang="en-US" sz="15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r>
              <a:tr h="420246">
                <a:tc>
                  <a:txBody>
                    <a:bodyPr/>
                    <a:lstStyle/>
                    <a:p>
                      <a:pPr marL="0" marR="0" algn="ctr">
                        <a:lnSpc>
                          <a:spcPct val="150000"/>
                        </a:lnSpc>
                        <a:spcBef>
                          <a:spcPts val="0"/>
                        </a:spcBef>
                        <a:spcAft>
                          <a:spcPts val="0"/>
                        </a:spcAft>
                      </a:pPr>
                      <a:r>
                        <a:rPr lang="en-US" sz="1500" kern="100">
                          <a:effectLst/>
                          <a:latin typeface="Times New Roman" panose="02020603050405020304" pitchFamily="18" charset="0"/>
                          <a:cs typeface="Times New Roman" panose="02020603050405020304" pitchFamily="18" charset="0"/>
                        </a:rPr>
                        <a:t>3</a:t>
                      </a:r>
                      <a:endParaRPr lang="en-US" sz="15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a:effectLst/>
                          <a:latin typeface="Times New Roman" panose="02020603050405020304" pitchFamily="18" charset="0"/>
                          <a:cs typeface="Times New Roman" panose="02020603050405020304" pitchFamily="18" charset="0"/>
                        </a:rPr>
                        <a:t>CBN1</a:t>
                      </a:r>
                      <a:endParaRPr lang="en-US" sz="15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dirty="0">
                          <a:effectLst/>
                          <a:latin typeface="Times New Roman" panose="02020603050405020304" pitchFamily="18" charset="0"/>
                          <a:cs typeface="Times New Roman" panose="02020603050405020304" pitchFamily="18" charset="0"/>
                        </a:rPr>
                        <a:t>Valve Hall neutral bus arrester</a:t>
                      </a:r>
                      <a:endParaRPr lang="en-US" sz="15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a:effectLst/>
                          <a:latin typeface="Times New Roman" panose="02020603050405020304" pitchFamily="18" charset="0"/>
                          <a:cs typeface="Times New Roman" panose="02020603050405020304" pitchFamily="18" charset="0"/>
                        </a:rPr>
                        <a:t>YH2WCBN1-230/451</a:t>
                      </a:r>
                      <a:endParaRPr lang="en-US" sz="15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r>
              <a:tr h="420246">
                <a:tc>
                  <a:txBody>
                    <a:bodyPr/>
                    <a:lstStyle/>
                    <a:p>
                      <a:pPr marL="0" marR="0" algn="ctr">
                        <a:lnSpc>
                          <a:spcPct val="150000"/>
                        </a:lnSpc>
                        <a:spcBef>
                          <a:spcPts val="0"/>
                        </a:spcBef>
                        <a:spcAft>
                          <a:spcPts val="0"/>
                        </a:spcAft>
                      </a:pPr>
                      <a:r>
                        <a:rPr lang="en-US" sz="1500" kern="100">
                          <a:effectLst/>
                          <a:latin typeface="Times New Roman" panose="02020603050405020304" pitchFamily="18" charset="0"/>
                          <a:cs typeface="Times New Roman" panose="02020603050405020304" pitchFamily="18" charset="0"/>
                        </a:rPr>
                        <a:t>4</a:t>
                      </a:r>
                      <a:endParaRPr lang="en-US" sz="15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a:effectLst/>
                          <a:latin typeface="Times New Roman" panose="02020603050405020304" pitchFamily="18" charset="0"/>
                          <a:cs typeface="Times New Roman" panose="02020603050405020304" pitchFamily="18" charset="0"/>
                        </a:rPr>
                        <a:t>DB</a:t>
                      </a:r>
                      <a:endParaRPr lang="en-US" sz="15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dirty="0">
                          <a:effectLst/>
                          <a:latin typeface="Times New Roman" panose="02020603050405020304" pitchFamily="18" charset="0"/>
                          <a:cs typeface="Times New Roman" panose="02020603050405020304" pitchFamily="18" charset="0"/>
                        </a:rPr>
                        <a:t>660kV outdoor DC polar Arrester</a:t>
                      </a:r>
                      <a:endParaRPr lang="en-US" sz="15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dirty="0">
                          <a:effectLst/>
                          <a:latin typeface="Times New Roman" panose="02020603050405020304" pitchFamily="18" charset="0"/>
                          <a:cs typeface="Times New Roman" panose="02020603050405020304" pitchFamily="18" charset="0"/>
                        </a:rPr>
                        <a:t>YH20WDB1-680/1448</a:t>
                      </a:r>
                      <a:endParaRPr lang="en-US" sz="15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r>
              <a:tr h="420246">
                <a:tc>
                  <a:txBody>
                    <a:bodyPr/>
                    <a:lstStyle/>
                    <a:p>
                      <a:pPr marL="0" marR="0" algn="ctr">
                        <a:lnSpc>
                          <a:spcPct val="150000"/>
                        </a:lnSpc>
                        <a:spcBef>
                          <a:spcPts val="0"/>
                        </a:spcBef>
                        <a:spcAft>
                          <a:spcPts val="0"/>
                        </a:spcAft>
                      </a:pPr>
                      <a:r>
                        <a:rPr lang="en-US" sz="1500" kern="100">
                          <a:effectLst/>
                          <a:latin typeface="Times New Roman" panose="02020603050405020304" pitchFamily="18" charset="0"/>
                          <a:cs typeface="Times New Roman" panose="02020603050405020304" pitchFamily="18" charset="0"/>
                        </a:rPr>
                        <a:t>5</a:t>
                      </a:r>
                      <a:endParaRPr lang="en-US" sz="15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a:effectLst/>
                          <a:latin typeface="Times New Roman" panose="02020603050405020304" pitchFamily="18" charset="0"/>
                          <a:cs typeface="Times New Roman" panose="02020603050405020304" pitchFamily="18" charset="0"/>
                        </a:rPr>
                        <a:t>DL</a:t>
                      </a:r>
                      <a:endParaRPr lang="en-US" sz="15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dirty="0">
                          <a:effectLst/>
                          <a:latin typeface="Times New Roman" panose="02020603050405020304" pitchFamily="18" charset="0"/>
                          <a:cs typeface="Times New Roman" panose="02020603050405020304" pitchFamily="18" charset="0"/>
                        </a:rPr>
                        <a:t>660kV outdoor DC polar Arrester</a:t>
                      </a:r>
                      <a:endParaRPr lang="en-US" sz="15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dirty="0">
                          <a:effectLst/>
                          <a:latin typeface="Times New Roman" panose="02020603050405020304" pitchFamily="18" charset="0"/>
                          <a:cs typeface="Times New Roman" panose="02020603050405020304" pitchFamily="18" charset="0"/>
                        </a:rPr>
                        <a:t>YH20WDL1-680/1448</a:t>
                      </a:r>
                      <a:endParaRPr lang="en-US" sz="15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r>
              <a:tr h="420246">
                <a:tc>
                  <a:txBody>
                    <a:bodyPr/>
                    <a:lstStyle/>
                    <a:p>
                      <a:pPr marL="0" marR="0" algn="ctr">
                        <a:lnSpc>
                          <a:spcPct val="150000"/>
                        </a:lnSpc>
                        <a:spcBef>
                          <a:spcPts val="0"/>
                        </a:spcBef>
                        <a:spcAft>
                          <a:spcPts val="0"/>
                        </a:spcAft>
                      </a:pPr>
                      <a:r>
                        <a:rPr lang="en-US" sz="1500" kern="100">
                          <a:effectLst/>
                          <a:latin typeface="Times New Roman" panose="02020603050405020304" pitchFamily="18" charset="0"/>
                          <a:cs typeface="Times New Roman" panose="02020603050405020304" pitchFamily="18" charset="0"/>
                        </a:rPr>
                        <a:t>6</a:t>
                      </a:r>
                      <a:endParaRPr lang="en-US" sz="15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a:effectLst/>
                          <a:latin typeface="Times New Roman" panose="02020603050405020304" pitchFamily="18" charset="0"/>
                          <a:cs typeface="Times New Roman" panose="02020603050405020304" pitchFamily="18" charset="0"/>
                        </a:rPr>
                        <a:t>CBN2</a:t>
                      </a:r>
                      <a:endParaRPr lang="en-US" sz="15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dirty="0">
                          <a:effectLst/>
                          <a:latin typeface="Times New Roman" panose="02020603050405020304" pitchFamily="18" charset="0"/>
                          <a:cs typeface="Times New Roman" panose="02020603050405020304" pitchFamily="18" charset="0"/>
                        </a:rPr>
                        <a:t>Neutral Bas Arrester</a:t>
                      </a:r>
                      <a:endParaRPr lang="en-US" sz="15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dirty="0">
                          <a:effectLst/>
                          <a:latin typeface="Times New Roman" panose="02020603050405020304" pitchFamily="18" charset="0"/>
                          <a:cs typeface="Times New Roman" panose="02020603050405020304" pitchFamily="18" charset="0"/>
                        </a:rPr>
                        <a:t>YH2WCBN1-207/392</a:t>
                      </a:r>
                      <a:endParaRPr lang="en-US" sz="15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r>
              <a:tr h="420246">
                <a:tc>
                  <a:txBody>
                    <a:bodyPr/>
                    <a:lstStyle/>
                    <a:p>
                      <a:pPr marL="0" marR="0" algn="ctr">
                        <a:lnSpc>
                          <a:spcPct val="150000"/>
                        </a:lnSpc>
                        <a:spcBef>
                          <a:spcPts val="0"/>
                        </a:spcBef>
                        <a:spcAft>
                          <a:spcPts val="0"/>
                        </a:spcAft>
                      </a:pPr>
                      <a:r>
                        <a:rPr lang="en-US" sz="1500" kern="100">
                          <a:effectLst/>
                          <a:latin typeface="Times New Roman" panose="02020603050405020304" pitchFamily="18" charset="0"/>
                          <a:cs typeface="Times New Roman" panose="02020603050405020304" pitchFamily="18" charset="0"/>
                        </a:rPr>
                        <a:t>7</a:t>
                      </a:r>
                      <a:endParaRPr lang="en-US" sz="15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a:effectLst/>
                          <a:latin typeface="Times New Roman" panose="02020603050405020304" pitchFamily="18" charset="0"/>
                          <a:cs typeface="Times New Roman" panose="02020603050405020304" pitchFamily="18" charset="0"/>
                        </a:rPr>
                        <a:t>E</a:t>
                      </a:r>
                      <a:endParaRPr lang="en-US" sz="15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a:effectLst/>
                          <a:latin typeface="Times New Roman" panose="02020603050405020304" pitchFamily="18" charset="0"/>
                          <a:cs typeface="Times New Roman" panose="02020603050405020304" pitchFamily="18" charset="0"/>
                        </a:rPr>
                        <a:t>Neutral Bas Arrester</a:t>
                      </a:r>
                      <a:endParaRPr lang="en-US" sz="15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dirty="0">
                          <a:effectLst/>
                          <a:latin typeface="Times New Roman" panose="02020603050405020304" pitchFamily="18" charset="0"/>
                          <a:cs typeface="Times New Roman" panose="02020603050405020304" pitchFamily="18" charset="0"/>
                        </a:rPr>
                        <a:t>YH5WE1-163/369</a:t>
                      </a:r>
                      <a:endParaRPr lang="en-US" sz="15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r>
              <a:tr h="420246">
                <a:tc>
                  <a:txBody>
                    <a:bodyPr/>
                    <a:lstStyle/>
                    <a:p>
                      <a:pPr marL="0" marR="0" algn="ctr">
                        <a:lnSpc>
                          <a:spcPct val="150000"/>
                        </a:lnSpc>
                        <a:spcBef>
                          <a:spcPts val="0"/>
                        </a:spcBef>
                        <a:spcAft>
                          <a:spcPts val="0"/>
                        </a:spcAft>
                      </a:pPr>
                      <a:r>
                        <a:rPr lang="en-US" sz="1500" kern="100">
                          <a:effectLst/>
                          <a:latin typeface="Times New Roman" panose="02020603050405020304" pitchFamily="18" charset="0"/>
                          <a:cs typeface="Times New Roman" panose="02020603050405020304" pitchFamily="18" charset="0"/>
                        </a:rPr>
                        <a:t>8</a:t>
                      </a:r>
                      <a:endParaRPr lang="en-US" sz="15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a:effectLst/>
                          <a:latin typeface="Times New Roman" panose="02020603050405020304" pitchFamily="18" charset="0"/>
                          <a:cs typeface="Times New Roman" panose="02020603050405020304" pitchFamily="18" charset="0"/>
                        </a:rPr>
                        <a:t>EL</a:t>
                      </a:r>
                      <a:endParaRPr lang="en-US" sz="15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a:effectLst/>
                          <a:latin typeface="Times New Roman" panose="02020603050405020304" pitchFamily="18" charset="0"/>
                          <a:cs typeface="Times New Roman" panose="02020603050405020304" pitchFamily="18" charset="0"/>
                        </a:rPr>
                        <a:t>Grounding Polar Arrester</a:t>
                      </a:r>
                      <a:endParaRPr lang="en-US" sz="15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dirty="0">
                          <a:effectLst/>
                          <a:latin typeface="Times New Roman" panose="02020603050405020304" pitchFamily="18" charset="0"/>
                          <a:cs typeface="Times New Roman" panose="02020603050405020304" pitchFamily="18" charset="0"/>
                        </a:rPr>
                        <a:t>YH10WEL1-131/277</a:t>
                      </a:r>
                      <a:endParaRPr lang="en-US" sz="15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r>
              <a:tr h="420246">
                <a:tc>
                  <a:txBody>
                    <a:bodyPr/>
                    <a:lstStyle/>
                    <a:p>
                      <a:pPr marL="0" marR="0" algn="ctr">
                        <a:lnSpc>
                          <a:spcPct val="150000"/>
                        </a:lnSpc>
                        <a:spcBef>
                          <a:spcPts val="0"/>
                        </a:spcBef>
                        <a:spcAft>
                          <a:spcPts val="0"/>
                        </a:spcAft>
                      </a:pPr>
                      <a:r>
                        <a:rPr lang="en-US" sz="1500" kern="100">
                          <a:effectLst/>
                          <a:latin typeface="Times New Roman" panose="02020603050405020304" pitchFamily="18" charset="0"/>
                          <a:cs typeface="Times New Roman" panose="02020603050405020304" pitchFamily="18" charset="0"/>
                        </a:rPr>
                        <a:t>9</a:t>
                      </a:r>
                      <a:endParaRPr lang="en-US" sz="15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a:effectLst/>
                          <a:latin typeface="Times New Roman" panose="02020603050405020304" pitchFamily="18" charset="0"/>
                          <a:cs typeface="Times New Roman" panose="02020603050405020304" pitchFamily="18" charset="0"/>
                        </a:rPr>
                        <a:t>EM</a:t>
                      </a:r>
                      <a:endParaRPr lang="en-US" sz="15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a:effectLst/>
                          <a:latin typeface="Times New Roman" panose="02020603050405020304" pitchFamily="18" charset="0"/>
                          <a:cs typeface="Times New Roman" panose="02020603050405020304" pitchFamily="18" charset="0"/>
                        </a:rPr>
                        <a:t>Metal Return Transfer Bus Arrester</a:t>
                      </a:r>
                      <a:endParaRPr lang="en-US" sz="15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0"/>
                        </a:spcAft>
                      </a:pPr>
                      <a:r>
                        <a:rPr lang="en-US" sz="1500" kern="100" dirty="0">
                          <a:effectLst/>
                          <a:latin typeface="Times New Roman" panose="02020603050405020304" pitchFamily="18" charset="0"/>
                          <a:cs typeface="Times New Roman" panose="02020603050405020304" pitchFamily="18" charset="0"/>
                        </a:rPr>
                        <a:t>YH20WEM1-163/412</a:t>
                      </a:r>
                      <a:endParaRPr lang="en-US" sz="15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r>
            </a:tbl>
          </a:graphicData>
        </a:graphic>
      </p:graphicFrame>
      <p:sp>
        <p:nvSpPr>
          <p:cNvPr id="4" name="TextBox 3"/>
          <p:cNvSpPr txBox="1"/>
          <p:nvPr/>
        </p:nvSpPr>
        <p:spPr>
          <a:xfrm>
            <a:off x="4018207" y="5743979"/>
            <a:ext cx="4198513"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Table-1.1 shows different types of </a:t>
            </a:r>
            <a:r>
              <a:rPr lang="en-US" dirty="0" smtClean="0">
                <a:latin typeface="Times New Roman" panose="02020603050405020304" pitchFamily="18" charset="0"/>
                <a:cs typeface="Times New Roman" panose="02020603050405020304" pitchFamily="18" charset="0"/>
              </a:rPr>
              <a:t>Arrester</a:t>
            </a:r>
            <a:r>
              <a:rPr lang="en-US" dirty="0">
                <a:latin typeface="Times New Roman" panose="02020603050405020304" pitchFamily="18" charset="0"/>
                <a:cs typeface="Times New Roman" panose="02020603050405020304" pitchFamily="18" charset="0"/>
              </a:rPr>
              <a:t>.</a:t>
            </a:r>
            <a:endParaRPr lang="en-US" dirty="0"/>
          </a:p>
        </p:txBody>
      </p:sp>
    </p:spTree>
    <p:extLst>
      <p:ext uri="{BB962C8B-B14F-4D97-AF65-F5344CB8AC3E}">
        <p14:creationId xmlns:p14="http://schemas.microsoft.com/office/powerpoint/2010/main" val="38021721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78052" y="5743978"/>
            <a:ext cx="607882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Table-1.2 shows the protection levels of different </a:t>
            </a:r>
            <a:r>
              <a:rPr lang="en-US" dirty="0" smtClean="0">
                <a:latin typeface="Times New Roman" panose="02020603050405020304" pitchFamily="18" charset="0"/>
                <a:cs typeface="Times New Roman" panose="02020603050405020304" pitchFamily="18" charset="0"/>
              </a:rPr>
              <a:t>Arrester </a:t>
            </a:r>
            <a:r>
              <a:rPr lang="en-US" dirty="0">
                <a:latin typeface="Times New Roman" panose="02020603050405020304" pitchFamily="18" charset="0"/>
                <a:cs typeface="Times New Roman" panose="02020603050405020304" pitchFamily="18" charset="0"/>
              </a:rPr>
              <a:t>types.</a:t>
            </a:r>
          </a:p>
        </p:txBody>
      </p:sp>
      <p:graphicFrame>
        <p:nvGraphicFramePr>
          <p:cNvPr id="3" name="Table 2"/>
          <p:cNvGraphicFramePr>
            <a:graphicFrameLocks noGrp="1"/>
          </p:cNvGraphicFramePr>
          <p:nvPr>
            <p:extLst>
              <p:ext uri="{D42A27DB-BD31-4B8C-83A1-F6EECF244321}">
                <p14:modId xmlns:p14="http://schemas.microsoft.com/office/powerpoint/2010/main" val="2878403551"/>
              </p:ext>
            </p:extLst>
          </p:nvPr>
        </p:nvGraphicFramePr>
        <p:xfrm>
          <a:off x="2292440" y="713280"/>
          <a:ext cx="7495504" cy="5030698"/>
        </p:xfrm>
        <a:graphic>
          <a:graphicData uri="http://schemas.openxmlformats.org/drawingml/2006/table">
            <a:tbl>
              <a:tblPr firstRow="1" firstCol="1" bandRow="1">
                <a:tableStyleId>{5C22544A-7EE6-4342-B048-85BDC9FD1C3A}</a:tableStyleId>
              </a:tblPr>
              <a:tblGrid>
                <a:gridCol w="749008"/>
                <a:gridCol w="749008"/>
                <a:gridCol w="749008"/>
                <a:gridCol w="749008"/>
                <a:gridCol w="749912"/>
                <a:gridCol w="749912"/>
                <a:gridCol w="749912"/>
                <a:gridCol w="749912"/>
                <a:gridCol w="749912"/>
                <a:gridCol w="749912"/>
              </a:tblGrid>
              <a:tr h="380206">
                <a:tc>
                  <a:txBody>
                    <a:bodyPr/>
                    <a:lstStyle/>
                    <a:p>
                      <a:pPr marL="0" marR="0" algn="ctr">
                        <a:lnSpc>
                          <a:spcPct val="115000"/>
                        </a:lnSpc>
                        <a:spcBef>
                          <a:spcPts val="0"/>
                        </a:spcBef>
                        <a:spcAft>
                          <a:spcPts val="0"/>
                        </a:spcAft>
                      </a:pPr>
                      <a:r>
                        <a:rPr lang="en-US" sz="1100" kern="100" dirty="0" smtClean="0">
                          <a:effectLst/>
                          <a:latin typeface="Times New Roman" panose="02020603050405020304" pitchFamily="18" charset="0"/>
                          <a:cs typeface="Times New Roman" panose="02020603050405020304" pitchFamily="18" charset="0"/>
                        </a:rPr>
                        <a:t>Arrester</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PCOV</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CCOV</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Uref</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LIPL</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SIPL</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U500A</a:t>
                      </a:r>
                    </a:p>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(kV)</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U10Ka</a:t>
                      </a:r>
                    </a:p>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(kV)</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Col</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Energy</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r>
              <a:tr h="380206">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M</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 </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445</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542.7</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754.6/2</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722.4/0.5</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754.6</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 </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4</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15.3</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r>
              <a:tr h="330614">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DB</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 </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680</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851</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1448/20</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1228/1</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 </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1448</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2</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12.1</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r>
              <a:tr h="330614">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CBH</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 </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801</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1002</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1416/2</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1384/1</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 </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 </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3</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15</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r>
              <a:tr h="330614">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CBN1</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168</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130</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325</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451/2</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451</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 </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2</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6</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r>
              <a:tr h="330614">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CBN2</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168</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130</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292.6</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392.4/2</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421.3/8</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409.6</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 </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8</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15.9</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r>
              <a:tr h="380206">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EL</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 </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20</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184.8</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277.7/10</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272.1/6</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258.7</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 </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6</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7.9</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r>
              <a:tr h="380206">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EM</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 </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20</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231</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412.9/20</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365.4/5</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323.4</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 </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2</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2.29</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r>
              <a:tr h="380206">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V1</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492.2</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413.6</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348.1RMS</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651/2</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677.2/5</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660.7</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 </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6</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13.8</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r>
              <a:tr h="380206">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V2</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492.2</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413.6</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348.1RMS</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660.7/2</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683.2/4</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660.7</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 </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4</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9.2</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r>
              <a:tr h="330614">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DL</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680</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851</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1448/20</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1228/20</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 </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1448</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2</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12.1</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r>
              <a:tr h="330614">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E</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20</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231</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369.6/5</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323.4</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 </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2</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4.2</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r>
              <a:tr h="380206">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A</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318</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396RMS</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965/20</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761/8</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 </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872</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1</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 </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r>
              <a:tr h="380206">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DR</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72</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470RMS</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875/1</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a:effectLst/>
                          <a:latin typeface="Times New Roman" panose="02020603050405020304" pitchFamily="18" charset="0"/>
                          <a:cs typeface="Times New Roman" panose="02020603050405020304" pitchFamily="18" charset="0"/>
                        </a:rPr>
                        <a:t>845</a:t>
                      </a:r>
                      <a:endParaRPr lang="en-US" sz="11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smtClean="0">
                          <a:effectLst/>
                          <a:latin typeface="Times New Roman" panose="02020603050405020304" pitchFamily="18" charset="0"/>
                          <a:cs typeface="Times New Roman" panose="02020603050405020304" pitchFamily="18" charset="0"/>
                        </a:rPr>
                        <a:t> </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1</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c>
                  <a:txBody>
                    <a:bodyPr/>
                    <a:lstStyle/>
                    <a:p>
                      <a:pPr marL="0" marR="0" algn="ctr">
                        <a:lnSpc>
                          <a:spcPct val="115000"/>
                        </a:lnSpc>
                        <a:spcBef>
                          <a:spcPts val="0"/>
                        </a:spcBef>
                        <a:spcAft>
                          <a:spcPts val="0"/>
                        </a:spcAft>
                      </a:pPr>
                      <a:r>
                        <a:rPr lang="en-US" sz="1100" kern="100" dirty="0">
                          <a:effectLst/>
                          <a:latin typeface="Times New Roman" panose="02020603050405020304" pitchFamily="18" charset="0"/>
                          <a:cs typeface="Times New Roman" panose="02020603050405020304" pitchFamily="18" charset="0"/>
                        </a:rPr>
                        <a:t>5</a:t>
                      </a:r>
                      <a:endParaRPr lang="en-US" sz="11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4570" marR="54570" marT="0" marB="0" anchor="ctr"/>
                </a:tc>
              </a:tr>
            </a:tbl>
          </a:graphicData>
        </a:graphic>
      </p:graphicFrame>
    </p:spTree>
    <p:extLst>
      <p:ext uri="{BB962C8B-B14F-4D97-AF65-F5344CB8AC3E}">
        <p14:creationId xmlns:p14="http://schemas.microsoft.com/office/powerpoint/2010/main" val="11287068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6975" y="759854"/>
            <a:ext cx="10612191" cy="5447645"/>
          </a:xfrm>
          <a:prstGeom prst="rect">
            <a:avLst/>
          </a:prstGeom>
          <a:noFill/>
        </p:spPr>
        <p:txBody>
          <a:bodyPr wrap="square" rtlCol="0">
            <a:spAutoFit/>
          </a:bodyPr>
          <a:lstStyle/>
          <a:p>
            <a:r>
              <a:rPr lang="en-US" sz="3600" b="1" dirty="0" smtClean="0">
                <a:latin typeface="Times New Roman" panose="02020603050405020304" pitchFamily="18" charset="0"/>
                <a:cs typeface="Times New Roman" panose="02020603050405020304" pitchFamily="18" charset="0"/>
              </a:rPr>
              <a:t>A valve Arrester</a:t>
            </a:r>
            <a:r>
              <a:rPr lang="en-US" sz="3600" dirty="0" smtClean="0">
                <a:latin typeface="Times New Roman" panose="02020603050405020304" pitchFamily="18" charset="0"/>
                <a:cs typeface="Times New Roman" panose="02020603050405020304" pitchFamily="18" charset="0"/>
              </a:rPr>
              <a:t>: </a:t>
            </a:r>
            <a:endParaRPr lang="en-US" sz="3600" dirty="0">
              <a:latin typeface="Times New Roman" panose="02020603050405020304" pitchFamily="18" charset="0"/>
              <a:cs typeface="Times New Roman" panose="02020603050405020304" pitchFamily="18" charset="0"/>
            </a:endParaRPr>
          </a:p>
          <a:p>
            <a:r>
              <a:rPr lang="en-US" dirty="0"/>
              <a:t> </a:t>
            </a:r>
          </a:p>
          <a:p>
            <a:pPr algn="just"/>
            <a:r>
              <a:rPr lang="en-US" dirty="0"/>
              <a:t> </a:t>
            </a:r>
            <a:r>
              <a:rPr lang="en-US" sz="2400" dirty="0">
                <a:latin typeface="Times New Roman" panose="02020603050405020304" pitchFamily="18" charset="0"/>
                <a:cs typeface="Times New Roman" panose="02020603050405020304" pitchFamily="18" charset="0"/>
              </a:rPr>
              <a:t>It is used to protect the converter valve from damage resulting from excessive </a:t>
            </a:r>
            <a:r>
              <a:rPr lang="en-US" sz="2400" dirty="0" smtClean="0">
                <a:latin typeface="Times New Roman" panose="02020603050405020304" pitchFamily="18" charset="0"/>
                <a:cs typeface="Times New Roman" panose="02020603050405020304" pitchFamily="18" charset="0"/>
              </a:rPr>
              <a:t>voltage. </a:t>
            </a:r>
            <a:r>
              <a:rPr lang="en-US" sz="2400" dirty="0">
                <a:latin typeface="Times New Roman" panose="02020603050405020304" pitchFamily="18" charset="0"/>
                <a:cs typeface="Times New Roman" panose="02020603050405020304" pitchFamily="18" charset="0"/>
              </a:rPr>
              <a:t>The valve arrester determines the required phase </a:t>
            </a:r>
            <a:r>
              <a:rPr lang="en-US" sz="2400" dirty="0" smtClean="0">
                <a:latin typeface="Times New Roman" panose="02020603050405020304" pitchFamily="18" charset="0"/>
                <a:cs typeface="Times New Roman" panose="02020603050405020304" pitchFamily="18" charset="0"/>
              </a:rPr>
              <a:t>insulation level</a:t>
            </a:r>
            <a:r>
              <a:rPr lang="en-US" sz="2400" dirty="0">
                <a:latin typeface="Times New Roman" panose="02020603050405020304" pitchFamily="18" charset="0"/>
                <a:cs typeface="Times New Roman" panose="02020603050405020304" pitchFamily="18" charset="0"/>
              </a:rPr>
              <a:t> of the converter transformer’s valve side. The insulation level of the transformer valve-side winding and each point depend on protection levels of the valve of the lightning arrester and other series of </a:t>
            </a:r>
            <a:r>
              <a:rPr lang="en-US" sz="2400" dirty="0" smtClean="0">
                <a:latin typeface="Times New Roman" panose="02020603050405020304" pitchFamily="18" charset="0"/>
                <a:cs typeface="Times New Roman" panose="02020603050405020304" pitchFamily="18" charset="0"/>
              </a:rPr>
              <a:t>valve arrester.</a:t>
            </a:r>
          </a:p>
          <a:p>
            <a:pPr algn="just"/>
            <a:endParaRPr lang="en-US" sz="2400" dirty="0">
              <a:latin typeface="Times New Roman" panose="02020603050405020304" pitchFamily="18" charset="0"/>
              <a:cs typeface="Times New Roman" panose="02020603050405020304" pitchFamily="18" charset="0"/>
            </a:endParaRPr>
          </a:p>
          <a:p>
            <a:r>
              <a:rPr lang="en-US" sz="3600" b="1" dirty="0">
                <a:latin typeface="Times New Roman" panose="02020603050405020304" pitchFamily="18" charset="0"/>
                <a:cs typeface="Times New Roman" panose="02020603050405020304" pitchFamily="18" charset="0"/>
              </a:rPr>
              <a:t>A DC </a:t>
            </a:r>
            <a:r>
              <a:rPr lang="en-US" sz="3600" b="1" dirty="0" smtClean="0">
                <a:latin typeface="Times New Roman" panose="02020603050405020304" pitchFamily="18" charset="0"/>
                <a:cs typeface="Times New Roman" panose="02020603050405020304" pitchFamily="18" charset="0"/>
              </a:rPr>
              <a:t>Neutral </a:t>
            </a:r>
            <a:r>
              <a:rPr lang="en-US" sz="3600" b="1" dirty="0">
                <a:latin typeface="Times New Roman" panose="02020603050405020304" pitchFamily="18" charset="0"/>
                <a:cs typeface="Times New Roman" panose="02020603050405020304" pitchFamily="18" charset="0"/>
              </a:rPr>
              <a:t>P</a:t>
            </a:r>
            <a:r>
              <a:rPr lang="en-US" sz="3600" b="1" dirty="0" smtClean="0">
                <a:latin typeface="Times New Roman" panose="02020603050405020304" pitchFamily="18" charset="0"/>
                <a:cs typeface="Times New Roman" panose="02020603050405020304" pitchFamily="18" charset="0"/>
              </a:rPr>
              <a:t>oint </a:t>
            </a:r>
            <a:r>
              <a:rPr lang="en-US" sz="3600" b="1" dirty="0">
                <a:latin typeface="Times New Roman" panose="02020603050405020304" pitchFamily="18" charset="0"/>
                <a:cs typeface="Times New Roman" panose="02020603050405020304" pitchFamily="18" charset="0"/>
              </a:rPr>
              <a:t>B</a:t>
            </a:r>
            <a:r>
              <a:rPr lang="en-US" sz="3600" b="1" dirty="0" smtClean="0">
                <a:latin typeface="Times New Roman" panose="02020603050405020304" pitchFamily="18" charset="0"/>
                <a:cs typeface="Times New Roman" panose="02020603050405020304" pitchFamily="18" charset="0"/>
              </a:rPr>
              <a:t>us </a:t>
            </a:r>
            <a:r>
              <a:rPr lang="en-US" sz="3600" b="1" dirty="0">
                <a:latin typeface="Times New Roman" panose="02020603050405020304" pitchFamily="18" charset="0"/>
                <a:cs typeface="Times New Roman" panose="02020603050405020304" pitchFamily="18" charset="0"/>
              </a:rPr>
              <a:t>A</a:t>
            </a:r>
            <a:r>
              <a:rPr lang="en-US" sz="3600" b="1" dirty="0" smtClean="0">
                <a:latin typeface="Times New Roman" panose="02020603050405020304" pitchFamily="18" charset="0"/>
                <a:cs typeface="Times New Roman" panose="02020603050405020304" pitchFamily="18" charset="0"/>
              </a:rPr>
              <a:t>rrester</a:t>
            </a:r>
            <a:r>
              <a:rPr lang="en-US" sz="3600" dirty="0">
                <a:latin typeface="Times New Roman" panose="02020603050405020304" pitchFamily="18" charset="0"/>
                <a:cs typeface="Times New Roman" panose="02020603050405020304" pitchFamily="18" charset="0"/>
              </a:rPr>
              <a:t>: </a:t>
            </a:r>
          </a:p>
          <a:p>
            <a:r>
              <a:rPr lang="en-US" sz="2400" dirty="0"/>
              <a:t> </a:t>
            </a:r>
          </a:p>
          <a:p>
            <a:pPr algn="just"/>
            <a:r>
              <a:rPr lang="en-US" sz="2400" dirty="0"/>
              <a:t> </a:t>
            </a:r>
            <a:r>
              <a:rPr lang="en-US" sz="2400" dirty="0">
                <a:latin typeface="Times New Roman" panose="02020603050405020304" pitchFamily="18" charset="0"/>
                <a:cs typeface="Times New Roman" panose="02020603050405020304" pitchFamily="18" charset="0"/>
              </a:rPr>
              <a:t>The DC neutral point bus arrester is adopted to protect the bridge arm from overvoltage damage.</a:t>
            </a:r>
          </a:p>
          <a:p>
            <a:pPr algn="just"/>
            <a:endParaRPr lang="en-US" sz="24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0116799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4096" y="734096"/>
            <a:ext cx="10728101" cy="4870564"/>
          </a:xfrm>
          <a:prstGeom prst="rect">
            <a:avLst/>
          </a:prstGeom>
        </p:spPr>
        <p:txBody>
          <a:bodyPr wrap="square">
            <a:spAutoFit/>
          </a:bodyPr>
          <a:lstStyle/>
          <a:p>
            <a:pPr algn="just">
              <a:lnSpc>
                <a:spcPct val="115000"/>
              </a:lnSpc>
            </a:pPr>
            <a:r>
              <a:rPr lang="en-US" sz="2000" b="1" kern="1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 </a:t>
            </a:r>
            <a:r>
              <a:rPr lang="en-US" sz="3600" b="1" kern="1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A </a:t>
            </a:r>
            <a:r>
              <a:rPr lang="en-US" sz="3600" b="1" kern="100" dirty="0" smtClean="0">
                <a:solidFill>
                  <a:srgbClr val="000000"/>
                </a:solidFill>
                <a:latin typeface="Times New Roman" panose="02020603050405020304" pitchFamily="18" charset="0"/>
                <a:ea typeface="SimSun" panose="02010600030101010101" pitchFamily="2" charset="-122"/>
                <a:cs typeface="Times New Roman" panose="02020603050405020304" pitchFamily="18" charset="0"/>
              </a:rPr>
              <a:t>Converter </a:t>
            </a:r>
            <a:r>
              <a:rPr lang="en-US" sz="3600" b="1" kern="1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L</a:t>
            </a:r>
            <a:r>
              <a:rPr lang="en-US" sz="3600" b="1" kern="100" dirty="0" smtClean="0">
                <a:solidFill>
                  <a:srgbClr val="000000"/>
                </a:solidFill>
                <a:latin typeface="Times New Roman" panose="02020603050405020304" pitchFamily="18" charset="0"/>
                <a:ea typeface="SimSun" panose="02010600030101010101" pitchFamily="2" charset="-122"/>
                <a:cs typeface="Times New Roman" panose="02020603050405020304" pitchFamily="18" charset="0"/>
              </a:rPr>
              <a:t>ightning </a:t>
            </a:r>
            <a:r>
              <a:rPr lang="en-US" sz="3600" b="1" kern="1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A</a:t>
            </a:r>
            <a:r>
              <a:rPr lang="en-US" sz="3600" b="1" kern="100" dirty="0" smtClean="0">
                <a:solidFill>
                  <a:srgbClr val="000000"/>
                </a:solidFill>
                <a:latin typeface="Times New Roman" panose="02020603050405020304" pitchFamily="18" charset="0"/>
                <a:ea typeface="SimSun" panose="02010600030101010101" pitchFamily="2" charset="-122"/>
                <a:cs typeface="Times New Roman" panose="02020603050405020304" pitchFamily="18" charset="0"/>
              </a:rPr>
              <a:t>rrester</a:t>
            </a:r>
            <a:r>
              <a:rPr lang="en-US" sz="3600" kern="1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 </a:t>
            </a:r>
            <a:endParaRPr lang="en-US" sz="3600" kern="100" dirty="0">
              <a:latin typeface="Times New Roman" panose="02020603050405020304" pitchFamily="18" charset="0"/>
              <a:ea typeface="SimSun" panose="02010600030101010101" pitchFamily="2" charset="-122"/>
              <a:cs typeface="Times New Roman" panose="02020603050405020304" pitchFamily="18" charset="0"/>
            </a:endParaRPr>
          </a:p>
          <a:p>
            <a:pPr algn="just">
              <a:lnSpc>
                <a:spcPct val="115000"/>
              </a:lnSpc>
            </a:pPr>
            <a:r>
              <a:rPr lang="en-US" kern="1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 </a:t>
            </a:r>
            <a:endParaRPr lang="en-US" sz="1100" kern="100" dirty="0">
              <a:latin typeface="Calibri" panose="020F0502020204030204" pitchFamily="34" charset="0"/>
              <a:ea typeface="SimSun" panose="02010600030101010101" pitchFamily="2" charset="-122"/>
              <a:cs typeface="Times New Roman" panose="02020603050405020304" pitchFamily="18" charset="0"/>
            </a:endParaRPr>
          </a:p>
          <a:p>
            <a:pPr algn="just">
              <a:lnSpc>
                <a:spcPct val="115000"/>
              </a:lnSpc>
            </a:pPr>
            <a:r>
              <a:rPr lang="en-US" kern="1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 </a:t>
            </a:r>
            <a:r>
              <a:rPr lang="en-US" sz="2400" kern="1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Adopted to limit the overvoltage amplitude resulting from the intrusion of lightning into the valve hall.</a:t>
            </a:r>
            <a:endParaRPr lang="en-US" sz="2400" kern="100" dirty="0">
              <a:latin typeface="Times New Roman" panose="02020603050405020304" pitchFamily="18" charset="0"/>
              <a:ea typeface="SimSun" panose="02010600030101010101" pitchFamily="2" charset="-122"/>
              <a:cs typeface="Times New Roman" panose="02020603050405020304" pitchFamily="18" charset="0"/>
            </a:endParaRPr>
          </a:p>
          <a:p>
            <a:pPr algn="just">
              <a:lnSpc>
                <a:spcPct val="115000"/>
              </a:lnSpc>
            </a:pPr>
            <a:r>
              <a:rPr lang="en-US" kern="1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 </a:t>
            </a:r>
            <a:endParaRPr lang="en-US" sz="1100" kern="100" dirty="0">
              <a:latin typeface="Calibri" panose="020F0502020204030204" pitchFamily="34" charset="0"/>
              <a:ea typeface="SimSun" panose="02010600030101010101" pitchFamily="2" charset="-122"/>
              <a:cs typeface="Times New Roman" panose="02020603050405020304" pitchFamily="18" charset="0"/>
            </a:endParaRPr>
          </a:p>
          <a:p>
            <a:pPr algn="just">
              <a:lnSpc>
                <a:spcPct val="115000"/>
              </a:lnSpc>
            </a:pPr>
            <a:r>
              <a:rPr lang="en-US" sz="3600" b="1" kern="100" dirty="0" smtClean="0">
                <a:solidFill>
                  <a:srgbClr val="000000"/>
                </a:solidFill>
                <a:latin typeface="Times New Roman" panose="02020603050405020304" pitchFamily="18" charset="0"/>
                <a:ea typeface="SimSun" panose="02010600030101010101" pitchFamily="2" charset="-122"/>
                <a:cs typeface="Times New Roman" panose="02020603050405020304" pitchFamily="18" charset="0"/>
              </a:rPr>
              <a:t>A </a:t>
            </a:r>
            <a:r>
              <a:rPr lang="en-US" sz="3600" b="1" kern="1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DC B</a:t>
            </a:r>
            <a:r>
              <a:rPr lang="en-US" sz="3600" b="1" kern="100" dirty="0" smtClean="0">
                <a:solidFill>
                  <a:srgbClr val="000000"/>
                </a:solidFill>
                <a:latin typeface="Times New Roman" panose="02020603050405020304" pitchFamily="18" charset="0"/>
                <a:ea typeface="SimSun" panose="02010600030101010101" pitchFamily="2" charset="-122"/>
                <a:cs typeface="Times New Roman" panose="02020603050405020304" pitchFamily="18" charset="0"/>
              </a:rPr>
              <a:t>us Arrester</a:t>
            </a:r>
            <a:r>
              <a:rPr lang="en-US" sz="3600" kern="1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 </a:t>
            </a:r>
            <a:endParaRPr lang="en-US" sz="3600" kern="100" dirty="0">
              <a:latin typeface="Times New Roman" panose="02020603050405020304" pitchFamily="18" charset="0"/>
              <a:ea typeface="SimSun" panose="02010600030101010101" pitchFamily="2" charset="-122"/>
              <a:cs typeface="Times New Roman" panose="02020603050405020304" pitchFamily="18" charset="0"/>
            </a:endParaRPr>
          </a:p>
          <a:p>
            <a:pPr algn="just">
              <a:lnSpc>
                <a:spcPct val="115000"/>
              </a:lnSpc>
            </a:pPr>
            <a:r>
              <a:rPr lang="en-US" kern="1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 </a:t>
            </a:r>
            <a:endParaRPr lang="en-US" sz="1100" kern="100" dirty="0">
              <a:latin typeface="Calibri" panose="020F0502020204030204" pitchFamily="34" charset="0"/>
              <a:ea typeface="SimSun" panose="02010600030101010101" pitchFamily="2" charset="-122"/>
              <a:cs typeface="Times New Roman" panose="02020603050405020304" pitchFamily="18" charset="0"/>
            </a:endParaRPr>
          </a:p>
          <a:p>
            <a:pPr algn="just">
              <a:lnSpc>
                <a:spcPct val="115000"/>
              </a:lnSpc>
            </a:pPr>
            <a:r>
              <a:rPr lang="en-US" kern="1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 </a:t>
            </a:r>
            <a:r>
              <a:rPr lang="en-US" sz="2400" kern="1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Adopted to protect equipment in the DC field from overvoltage damage. The arrester F4 is used to protect the station equipment from over-voltage surges and prevent them from entering into the system. It neutralize the over-voltage by grounding them and the system remains safe and keep working normally.</a:t>
            </a:r>
            <a:endParaRPr lang="en-US" sz="2400" kern="100" dirty="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2615290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6975" y="785611"/>
            <a:ext cx="10702343" cy="2862322"/>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A </a:t>
            </a:r>
            <a:r>
              <a:rPr lang="en-US" sz="3600" b="1" dirty="0" smtClean="0">
                <a:latin typeface="Times New Roman" panose="02020603050405020304" pitchFamily="18" charset="0"/>
                <a:cs typeface="Times New Roman" panose="02020603050405020304" pitchFamily="18" charset="0"/>
              </a:rPr>
              <a:t>Neutral </a:t>
            </a:r>
            <a:r>
              <a:rPr lang="en-US" sz="3600" b="1" dirty="0">
                <a:latin typeface="Times New Roman" panose="02020603050405020304" pitchFamily="18" charset="0"/>
                <a:cs typeface="Times New Roman" panose="02020603050405020304" pitchFamily="18" charset="0"/>
              </a:rPr>
              <a:t>B</a:t>
            </a:r>
            <a:r>
              <a:rPr lang="en-US" sz="3600" b="1" dirty="0" smtClean="0">
                <a:latin typeface="Times New Roman" panose="02020603050405020304" pitchFamily="18" charset="0"/>
                <a:cs typeface="Times New Roman" panose="02020603050405020304" pitchFamily="18" charset="0"/>
              </a:rPr>
              <a:t>us Arrester</a:t>
            </a:r>
            <a:r>
              <a:rPr lang="en-US" sz="3600" dirty="0">
                <a:latin typeface="Times New Roman" panose="02020603050405020304" pitchFamily="18" charset="0"/>
                <a:cs typeface="Times New Roman" panose="02020603050405020304" pitchFamily="18" charset="0"/>
              </a:rPr>
              <a:t>: </a:t>
            </a:r>
          </a:p>
          <a:p>
            <a:r>
              <a:rPr lang="en-US" dirty="0"/>
              <a:t> </a:t>
            </a:r>
          </a:p>
          <a:p>
            <a:pPr>
              <a:lnSpc>
                <a:spcPct val="150000"/>
              </a:lnSpc>
            </a:pPr>
            <a:r>
              <a:rPr lang="en-US" dirty="0" smtClean="0"/>
              <a:t>  </a:t>
            </a:r>
            <a:r>
              <a:rPr lang="en-US" sz="2400" dirty="0">
                <a:latin typeface="Times New Roman" panose="02020603050405020304" pitchFamily="18" charset="0"/>
                <a:cs typeface="Times New Roman" panose="02020603050405020304" pitchFamily="18" charset="0"/>
              </a:rPr>
              <a:t>Adopted to protect the neutral bus connecting equipment from overvoltage damage. Arrester F2 is used to protect the system from being damaged by over-voltage surges. And the combination of F1 and T3 is used for the measurement of current</a:t>
            </a:r>
            <a:r>
              <a:rPr lang="en-US" dirty="0"/>
              <a:t>.</a:t>
            </a:r>
          </a:p>
          <a:p>
            <a:endParaRPr lang="en-US" dirty="0"/>
          </a:p>
        </p:txBody>
      </p:sp>
    </p:spTree>
    <p:extLst>
      <p:ext uri="{BB962C8B-B14F-4D97-AF65-F5344CB8AC3E}">
        <p14:creationId xmlns:p14="http://schemas.microsoft.com/office/powerpoint/2010/main" val="85087595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9585" y="816997"/>
            <a:ext cx="8357603" cy="4963973"/>
          </a:xfrm>
          <a:prstGeom prst="rect">
            <a:avLst/>
          </a:prstGeom>
          <a:ln>
            <a:solidFill>
              <a:schemeClr val="tx1"/>
            </a:solidFill>
          </a:ln>
        </p:spPr>
      </p:pic>
      <p:sp>
        <p:nvSpPr>
          <p:cNvPr id="3" name="TextBox 2"/>
          <p:cNvSpPr txBox="1"/>
          <p:nvPr/>
        </p:nvSpPr>
        <p:spPr>
          <a:xfrm>
            <a:off x="3400415" y="5678926"/>
            <a:ext cx="5215944" cy="461665"/>
          </a:xfrm>
          <a:prstGeom prst="rect">
            <a:avLst/>
          </a:prstGeom>
          <a:noFill/>
        </p:spPr>
        <p:txBody>
          <a:bodyPr wrap="square" rtlCol="0">
            <a:spAutoFit/>
          </a:bodyPr>
          <a:lstStyle/>
          <a:p>
            <a:pPr algn="ctr"/>
            <a:r>
              <a:rPr lang="en-US" sz="2400" dirty="0" smtClean="0">
                <a:latin typeface="Times New Roman" panose="02020603050405020304" pitchFamily="18" charset="0"/>
                <a:cs typeface="Times New Roman" panose="02020603050405020304" pitchFamily="18" charset="0"/>
              </a:rPr>
              <a:t>Arrangement of Arresters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08172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2580" y="798490"/>
            <a:ext cx="10753859" cy="470898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Surge Arrester</a:t>
            </a:r>
            <a:r>
              <a:rPr lang="en-US" sz="3600" b="1" dirty="0" smtClean="0">
                <a:latin typeface="Times New Roman" panose="02020603050405020304" pitchFamily="18" charset="0"/>
                <a:cs typeface="Times New Roman" panose="02020603050405020304" pitchFamily="18" charset="0"/>
              </a:rPr>
              <a:t>:</a:t>
            </a:r>
            <a:endParaRPr lang="en-US" sz="3600" dirty="0" smtClean="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 The </a:t>
            </a:r>
            <a:r>
              <a:rPr lang="en-US" sz="2400" dirty="0">
                <a:latin typeface="Times New Roman" panose="02020603050405020304" pitchFamily="18" charset="0"/>
                <a:cs typeface="Times New Roman" panose="02020603050405020304" pitchFamily="18" charset="0"/>
              </a:rPr>
              <a:t>Surge arrestors are electrical products which are used to protect the power transmission and transformation equipment from being damaged by the atmospheric pressure and switching over-voltages. Because </a:t>
            </a:r>
            <a:r>
              <a:rPr lang="en-US" sz="2400" dirty="0" err="1">
                <a:latin typeface="Times New Roman" panose="02020603050405020304" pitchFamily="18" charset="0"/>
                <a:cs typeface="Times New Roman" panose="02020603050405020304" pitchFamily="18" charset="0"/>
              </a:rPr>
              <a:t>ZnO</a:t>
            </a:r>
            <a:r>
              <a:rPr lang="en-US" sz="2400" dirty="0">
                <a:latin typeface="Times New Roman" panose="02020603050405020304" pitchFamily="18" charset="0"/>
                <a:cs typeface="Times New Roman" panose="02020603050405020304" pitchFamily="18" charset="0"/>
              </a:rPr>
              <a:t> resistor has very excellent non-linear volt-ampere characteristic, there is only several hundred micro-amps of current passing through it under normal working voltage. Therefore, it can be designed as non-gap structure, which makes it have the characteristic of small size, light weight and good protection property. When the voltage invades, the current running through the resistor increase quickly, and the amplitude of over-voltage is restricted and the energy of over-voltage is released. Later, </a:t>
            </a:r>
            <a:r>
              <a:rPr lang="en-US" sz="2400" dirty="0" err="1">
                <a:latin typeface="Times New Roman" panose="02020603050405020304" pitchFamily="18" charset="0"/>
                <a:cs typeface="Times New Roman" panose="02020603050405020304" pitchFamily="18" charset="0"/>
              </a:rPr>
              <a:t>ZnO</a:t>
            </a:r>
            <a:r>
              <a:rPr lang="en-US" sz="2400" dirty="0">
                <a:latin typeface="Times New Roman" panose="02020603050405020304" pitchFamily="18" charset="0"/>
                <a:cs typeface="Times New Roman" panose="02020603050405020304" pitchFamily="18" charset="0"/>
              </a:rPr>
              <a:t> resistor resumes its high resistance state and enables the power system to function normally.</a:t>
            </a:r>
            <a:endParaRPr lang="en-US" sz="2400"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515594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4096" y="824248"/>
            <a:ext cx="10676586" cy="1477328"/>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Model Explanation:</a:t>
            </a:r>
            <a:r>
              <a:rPr lang="en-US" sz="3600" dirty="0">
                <a:latin typeface="Times New Roman" panose="02020603050405020304" pitchFamily="18" charset="0"/>
                <a:cs typeface="Times New Roman" panose="02020603050405020304" pitchFamily="18" charset="0"/>
              </a:rPr>
              <a:t>  </a:t>
            </a:r>
          </a:p>
          <a:p>
            <a:r>
              <a:rPr lang="en-US" dirty="0"/>
              <a:t> </a:t>
            </a:r>
          </a:p>
          <a:p>
            <a:endParaRPr lang="en-US" dirty="0"/>
          </a:p>
          <a:p>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078142" y="556772"/>
            <a:ext cx="3988493" cy="5741976"/>
          </a:xfrm>
          <a:prstGeom prst="rect">
            <a:avLst/>
          </a:prstGeom>
        </p:spPr>
      </p:pic>
      <p:sp>
        <p:nvSpPr>
          <p:cNvPr id="4" name="TextBox 3"/>
          <p:cNvSpPr txBox="1"/>
          <p:nvPr/>
        </p:nvSpPr>
        <p:spPr>
          <a:xfrm>
            <a:off x="2531698" y="5422007"/>
            <a:ext cx="7694127"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Figure-1.4 consist ordering information about surge arresters.</a:t>
            </a:r>
          </a:p>
        </p:txBody>
      </p:sp>
    </p:spTree>
    <p:extLst>
      <p:ext uri="{BB962C8B-B14F-4D97-AF65-F5344CB8AC3E}">
        <p14:creationId xmlns:p14="http://schemas.microsoft.com/office/powerpoint/2010/main" val="6538391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4248" y="850006"/>
            <a:ext cx="10599313" cy="2492990"/>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AC Surge Arresters at Lahore Converter Station</a:t>
            </a:r>
            <a:r>
              <a:rPr lang="en-US" sz="3600" b="1" dirty="0" smtClean="0">
                <a:latin typeface="Times New Roman" panose="02020603050405020304" pitchFamily="18" charset="0"/>
                <a:cs typeface="Times New Roman" panose="02020603050405020304" pitchFamily="18" charset="0"/>
              </a:rPr>
              <a:t>:</a:t>
            </a:r>
          </a:p>
          <a:p>
            <a:endParaRPr lang="en-US" dirty="0" smtClean="0"/>
          </a:p>
          <a:p>
            <a:r>
              <a:rPr lang="en-US" sz="2400" dirty="0" smtClean="0">
                <a:latin typeface="Times New Roman" panose="02020603050405020304" pitchFamily="18" charset="0"/>
                <a:cs typeface="Times New Roman" panose="02020603050405020304" pitchFamily="18" charset="0"/>
              </a:rPr>
              <a:t>Table-1.3 </a:t>
            </a:r>
            <a:r>
              <a:rPr lang="en-US" sz="2400" dirty="0">
                <a:latin typeface="Times New Roman" panose="02020603050405020304" pitchFamily="18" charset="0"/>
                <a:cs typeface="Times New Roman" panose="02020603050405020304" pitchFamily="18" charset="0"/>
              </a:rPr>
              <a:t>consists the information about the AC surge arresters installed at Lahore Converter Station.</a:t>
            </a:r>
          </a:p>
          <a:p>
            <a:endParaRPr lang="en-US" dirty="0" smtClean="0"/>
          </a:p>
          <a:p>
            <a:endParaRPr lang="en-US" dirty="0"/>
          </a:p>
          <a:p>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3971510196"/>
              </p:ext>
            </p:extLst>
          </p:nvPr>
        </p:nvGraphicFramePr>
        <p:xfrm>
          <a:off x="2279563" y="2458465"/>
          <a:ext cx="7443986" cy="3143844"/>
        </p:xfrm>
        <a:graphic>
          <a:graphicData uri="http://schemas.openxmlformats.org/drawingml/2006/table">
            <a:tbl>
              <a:tblPr firstRow="1" firstCol="1" bandRow="1">
                <a:tableStyleId>{5C22544A-7EE6-4342-B048-85BDC9FD1C3A}</a:tableStyleId>
              </a:tblPr>
              <a:tblGrid>
                <a:gridCol w="550265"/>
                <a:gridCol w="3248765"/>
                <a:gridCol w="1678969"/>
                <a:gridCol w="1965987"/>
              </a:tblGrid>
              <a:tr h="785961">
                <a:tc>
                  <a:txBody>
                    <a:bodyPr/>
                    <a:lstStyle/>
                    <a:p>
                      <a:pPr marL="0" marR="0" algn="ctr">
                        <a:spcBef>
                          <a:spcPts val="0"/>
                        </a:spcBef>
                        <a:spcAft>
                          <a:spcPts val="0"/>
                        </a:spcAft>
                      </a:pPr>
                      <a:r>
                        <a:rPr lang="en-US" sz="1800" kern="100" dirty="0">
                          <a:effectLst/>
                          <a:latin typeface="Times New Roman" panose="02020603050405020304" pitchFamily="18" charset="0"/>
                          <a:cs typeface="Times New Roman" panose="02020603050405020304" pitchFamily="18" charset="0"/>
                        </a:rPr>
                        <a:t>Sr.</a:t>
                      </a:r>
                      <a:endParaRPr lang="en-US"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kern="100" dirty="0">
                          <a:effectLst/>
                          <a:latin typeface="Times New Roman" panose="02020603050405020304" pitchFamily="18" charset="0"/>
                          <a:cs typeface="Times New Roman" panose="02020603050405020304" pitchFamily="18" charset="0"/>
                        </a:rPr>
                        <a:t>Filter Type</a:t>
                      </a:r>
                      <a:endParaRPr lang="en-US"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kern="100">
                          <a:effectLst/>
                          <a:latin typeface="Times New Roman" panose="02020603050405020304" pitchFamily="18" charset="0"/>
                          <a:cs typeface="Times New Roman" panose="02020603050405020304" pitchFamily="18" charset="0"/>
                        </a:rPr>
                        <a:t>Quantity</a:t>
                      </a:r>
                      <a:endParaRPr lang="en-US" sz="18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kern="100">
                          <a:effectLst/>
                          <a:latin typeface="Times New Roman" panose="02020603050405020304" pitchFamily="18" charset="0"/>
                          <a:cs typeface="Times New Roman" panose="02020603050405020304" pitchFamily="18" charset="0"/>
                        </a:rPr>
                        <a:t>Model</a:t>
                      </a:r>
                      <a:endParaRPr lang="en-US" sz="18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r>
              <a:tr h="785961">
                <a:tc>
                  <a:txBody>
                    <a:bodyPr/>
                    <a:lstStyle/>
                    <a:p>
                      <a:pPr marL="0" marR="0" algn="ctr">
                        <a:spcBef>
                          <a:spcPts val="0"/>
                        </a:spcBef>
                        <a:spcAft>
                          <a:spcPts val="0"/>
                        </a:spcAft>
                      </a:pPr>
                      <a:r>
                        <a:rPr lang="en-US" sz="1800" kern="100">
                          <a:effectLst/>
                          <a:latin typeface="Times New Roman" panose="02020603050405020304" pitchFamily="18" charset="0"/>
                          <a:cs typeface="Times New Roman" panose="02020603050405020304" pitchFamily="18" charset="0"/>
                        </a:rPr>
                        <a:t>1</a:t>
                      </a:r>
                      <a:endParaRPr lang="en-US" sz="18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kern="100" dirty="0">
                          <a:effectLst/>
                          <a:latin typeface="Times New Roman" panose="02020603050405020304" pitchFamily="18" charset="0"/>
                          <a:cs typeface="Times New Roman" panose="02020603050405020304" pitchFamily="18" charset="0"/>
                        </a:rPr>
                        <a:t>HP 12/24 High End</a:t>
                      </a:r>
                      <a:endParaRPr lang="en-US"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kern="100" dirty="0">
                          <a:effectLst/>
                          <a:latin typeface="Times New Roman" panose="02020603050405020304" pitchFamily="18" charset="0"/>
                          <a:cs typeface="Times New Roman" panose="02020603050405020304" pitchFamily="18" charset="0"/>
                        </a:rPr>
                        <a:t>24 Set</a:t>
                      </a:r>
                      <a:endParaRPr lang="en-US"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kern="100">
                          <a:effectLst/>
                          <a:latin typeface="Times New Roman" panose="02020603050405020304" pitchFamily="18" charset="0"/>
                          <a:cs typeface="Times New Roman" panose="02020603050405020304" pitchFamily="18" charset="0"/>
                        </a:rPr>
                        <a:t>Y71W1-144/354W</a:t>
                      </a:r>
                      <a:endParaRPr lang="en-US" sz="18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r>
              <a:tr h="785961">
                <a:tc>
                  <a:txBody>
                    <a:bodyPr/>
                    <a:lstStyle/>
                    <a:p>
                      <a:pPr marL="0" marR="0" algn="ctr">
                        <a:spcBef>
                          <a:spcPts val="0"/>
                        </a:spcBef>
                        <a:spcAft>
                          <a:spcPts val="0"/>
                        </a:spcAft>
                      </a:pPr>
                      <a:r>
                        <a:rPr lang="en-US" sz="1800" kern="100">
                          <a:effectLst/>
                          <a:latin typeface="Times New Roman" panose="02020603050405020304" pitchFamily="18" charset="0"/>
                          <a:cs typeface="Times New Roman" panose="02020603050405020304" pitchFamily="18" charset="0"/>
                        </a:rPr>
                        <a:t>2</a:t>
                      </a:r>
                      <a:endParaRPr lang="en-US" sz="18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kern="100" dirty="0">
                          <a:effectLst/>
                          <a:latin typeface="Times New Roman" panose="02020603050405020304" pitchFamily="18" charset="0"/>
                          <a:cs typeface="Times New Roman" panose="02020603050405020304" pitchFamily="18" charset="0"/>
                        </a:rPr>
                        <a:t>HP 12/24 Low End</a:t>
                      </a:r>
                      <a:endParaRPr lang="en-US"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kern="100" dirty="0">
                          <a:effectLst/>
                          <a:latin typeface="Times New Roman" panose="02020603050405020304" pitchFamily="18" charset="0"/>
                          <a:cs typeface="Times New Roman" panose="02020603050405020304" pitchFamily="18" charset="0"/>
                        </a:rPr>
                        <a:t>24 Set</a:t>
                      </a:r>
                      <a:endParaRPr lang="en-US"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kern="100" dirty="0">
                          <a:effectLst/>
                          <a:latin typeface="Times New Roman" panose="02020603050405020304" pitchFamily="18" charset="0"/>
                          <a:cs typeface="Times New Roman" panose="02020603050405020304" pitchFamily="18" charset="0"/>
                        </a:rPr>
                        <a:t>Y10W1-48/109.2W</a:t>
                      </a:r>
                      <a:endParaRPr lang="en-US"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r>
              <a:tr h="785961">
                <a:tc>
                  <a:txBody>
                    <a:bodyPr/>
                    <a:lstStyle/>
                    <a:p>
                      <a:pPr marL="0" marR="0" algn="ctr">
                        <a:spcBef>
                          <a:spcPts val="0"/>
                        </a:spcBef>
                        <a:spcAft>
                          <a:spcPts val="0"/>
                        </a:spcAft>
                      </a:pPr>
                      <a:r>
                        <a:rPr lang="en-US" sz="1800" kern="100">
                          <a:effectLst/>
                          <a:latin typeface="Times New Roman" panose="02020603050405020304" pitchFamily="18" charset="0"/>
                          <a:cs typeface="Times New Roman" panose="02020603050405020304" pitchFamily="18" charset="0"/>
                        </a:rPr>
                        <a:t>3</a:t>
                      </a:r>
                      <a:endParaRPr lang="en-US" sz="18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kern="100">
                          <a:effectLst/>
                          <a:latin typeface="Times New Roman" panose="02020603050405020304" pitchFamily="18" charset="0"/>
                          <a:cs typeface="Times New Roman" panose="02020603050405020304" pitchFamily="18" charset="0"/>
                        </a:rPr>
                        <a:t>SC (Parallel HV condenser Group)</a:t>
                      </a:r>
                      <a:endParaRPr lang="en-US" sz="18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kern="100">
                          <a:effectLst/>
                          <a:latin typeface="Times New Roman" panose="02020603050405020304" pitchFamily="18" charset="0"/>
                          <a:cs typeface="Times New Roman" panose="02020603050405020304" pitchFamily="18" charset="0"/>
                        </a:rPr>
                        <a:t>24 Set</a:t>
                      </a:r>
                      <a:endParaRPr lang="en-US" sz="18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kern="100" dirty="0">
                          <a:effectLst/>
                          <a:latin typeface="Times New Roman" panose="02020603050405020304" pitchFamily="18" charset="0"/>
                          <a:cs typeface="Times New Roman" panose="02020603050405020304" pitchFamily="18" charset="0"/>
                        </a:rPr>
                        <a:t>Y67W1-144/351W</a:t>
                      </a:r>
                      <a:endParaRPr lang="en-US" sz="1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r>
            </a:tbl>
          </a:graphicData>
        </a:graphic>
      </p:graphicFrame>
      <p:sp>
        <p:nvSpPr>
          <p:cNvPr id="4" name="TextBox 3"/>
          <p:cNvSpPr txBox="1"/>
          <p:nvPr/>
        </p:nvSpPr>
        <p:spPr>
          <a:xfrm>
            <a:off x="2524259" y="5602309"/>
            <a:ext cx="719929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Table-1.3: Lahore Converter Station AC Surge Arresters</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99295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1217" y="811369"/>
            <a:ext cx="10702344" cy="1938992"/>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DC Surge Arresters at Lahore Converter Station:</a:t>
            </a:r>
            <a:endParaRPr lang="en-US" sz="3600" dirty="0">
              <a:latin typeface="Times New Roman" panose="02020603050405020304" pitchFamily="18" charset="0"/>
              <a:cs typeface="Times New Roman" panose="02020603050405020304" pitchFamily="18" charset="0"/>
            </a:endParaRPr>
          </a:p>
          <a:p>
            <a:r>
              <a:rPr lang="en-US" dirty="0"/>
              <a:t> </a:t>
            </a:r>
          </a:p>
          <a:p>
            <a:r>
              <a:rPr lang="en-US" dirty="0"/>
              <a:t> </a:t>
            </a:r>
            <a:r>
              <a:rPr lang="en-US" sz="2400" dirty="0">
                <a:latin typeface="Times New Roman" panose="02020603050405020304" pitchFamily="18" charset="0"/>
                <a:cs typeface="Times New Roman" panose="02020603050405020304" pitchFamily="18" charset="0"/>
              </a:rPr>
              <a:t>Table-1.4 consists the information about the DC surge arresters installed at Lahore Converter Station.</a:t>
            </a:r>
          </a:p>
          <a:p>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331619854"/>
              </p:ext>
            </p:extLst>
          </p:nvPr>
        </p:nvGraphicFramePr>
        <p:xfrm>
          <a:off x="2144331" y="2434106"/>
          <a:ext cx="7856114" cy="3322752"/>
        </p:xfrm>
        <a:graphic>
          <a:graphicData uri="http://schemas.openxmlformats.org/drawingml/2006/table">
            <a:tbl>
              <a:tblPr firstRow="1" firstCol="1" bandRow="1">
                <a:tableStyleId>{5C22544A-7EE6-4342-B048-85BDC9FD1C3A}</a:tableStyleId>
              </a:tblPr>
              <a:tblGrid>
                <a:gridCol w="591859"/>
                <a:gridCol w="3336197"/>
                <a:gridCol w="1964029"/>
                <a:gridCol w="1964029"/>
              </a:tblGrid>
              <a:tr h="419684">
                <a:tc>
                  <a:txBody>
                    <a:bodyPr/>
                    <a:lstStyle/>
                    <a:p>
                      <a:pPr marL="0" marR="0" algn="ctr">
                        <a:spcBef>
                          <a:spcPts val="0"/>
                        </a:spcBef>
                        <a:spcAft>
                          <a:spcPts val="0"/>
                        </a:spcAft>
                      </a:pPr>
                      <a:r>
                        <a:rPr lang="en-US" sz="1600" kern="100" dirty="0">
                          <a:effectLst/>
                          <a:latin typeface="Times New Roman" panose="02020603050405020304" pitchFamily="18" charset="0"/>
                          <a:cs typeface="Times New Roman" panose="02020603050405020304" pitchFamily="18" charset="0"/>
                        </a:rPr>
                        <a:t>Sr.</a:t>
                      </a:r>
                      <a:endParaRPr lang="en-US"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kern="100" dirty="0">
                          <a:effectLst/>
                          <a:latin typeface="Times New Roman" panose="02020603050405020304" pitchFamily="18" charset="0"/>
                          <a:cs typeface="Times New Roman" panose="02020603050405020304" pitchFamily="18" charset="0"/>
                        </a:rPr>
                        <a:t>Filter Type</a:t>
                      </a:r>
                      <a:endParaRPr lang="en-US"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kern="100" dirty="0">
                          <a:effectLst/>
                          <a:latin typeface="Times New Roman" panose="02020603050405020304" pitchFamily="18" charset="0"/>
                          <a:cs typeface="Times New Roman" panose="02020603050405020304" pitchFamily="18" charset="0"/>
                        </a:rPr>
                        <a:t>Quantity</a:t>
                      </a:r>
                      <a:endParaRPr lang="en-US"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kern="100">
                          <a:effectLst/>
                          <a:latin typeface="Times New Roman" panose="02020603050405020304" pitchFamily="18" charset="0"/>
                          <a:cs typeface="Times New Roman" panose="02020603050405020304" pitchFamily="18" charset="0"/>
                        </a:rPr>
                        <a:t>Model</a:t>
                      </a:r>
                      <a:endParaRPr lang="en-US" sz="16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r>
              <a:tr h="559579">
                <a:tc>
                  <a:txBody>
                    <a:bodyPr/>
                    <a:lstStyle/>
                    <a:p>
                      <a:pPr marL="0" marR="0" algn="ctr">
                        <a:spcBef>
                          <a:spcPts val="0"/>
                        </a:spcBef>
                        <a:spcAft>
                          <a:spcPts val="0"/>
                        </a:spcAft>
                      </a:pPr>
                      <a:r>
                        <a:rPr lang="en-US" sz="1600" kern="100">
                          <a:effectLst/>
                          <a:latin typeface="Times New Roman" panose="02020603050405020304" pitchFamily="18" charset="0"/>
                          <a:cs typeface="Times New Roman" panose="02020603050405020304" pitchFamily="18" charset="0"/>
                        </a:rPr>
                        <a:t>1</a:t>
                      </a:r>
                      <a:endParaRPr lang="en-US" sz="16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kern="100" dirty="0">
                          <a:effectLst/>
                          <a:latin typeface="Times New Roman" panose="02020603050405020304" pitchFamily="18" charset="0"/>
                          <a:cs typeface="Times New Roman" panose="02020603050405020304" pitchFamily="18" charset="0"/>
                        </a:rPr>
                        <a:t>HP 12/24 HV</a:t>
                      </a:r>
                      <a:endParaRPr lang="en-US"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kern="100">
                          <a:effectLst/>
                          <a:latin typeface="Times New Roman" panose="02020603050405020304" pitchFamily="18" charset="0"/>
                          <a:cs typeface="Times New Roman" panose="02020603050405020304" pitchFamily="18" charset="0"/>
                        </a:rPr>
                        <a:t>2 Set</a:t>
                      </a:r>
                      <a:endParaRPr lang="en-US" sz="16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kern="100" dirty="0">
                          <a:effectLst/>
                          <a:latin typeface="Times New Roman" panose="02020603050405020304" pitchFamily="18" charset="0"/>
                          <a:cs typeface="Times New Roman" panose="02020603050405020304" pitchFamily="18" charset="0"/>
                        </a:rPr>
                        <a:t>Y75.5W1-177/435W</a:t>
                      </a:r>
                      <a:endParaRPr lang="en-US"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r>
              <a:tr h="472271">
                <a:tc>
                  <a:txBody>
                    <a:bodyPr/>
                    <a:lstStyle/>
                    <a:p>
                      <a:pPr marL="0" marR="0" algn="ctr">
                        <a:spcBef>
                          <a:spcPts val="0"/>
                        </a:spcBef>
                        <a:spcAft>
                          <a:spcPts val="0"/>
                        </a:spcAft>
                      </a:pPr>
                      <a:r>
                        <a:rPr lang="en-US" sz="1600" kern="100">
                          <a:effectLst/>
                          <a:latin typeface="Times New Roman" panose="02020603050405020304" pitchFamily="18" charset="0"/>
                          <a:cs typeface="Times New Roman" panose="02020603050405020304" pitchFamily="18" charset="0"/>
                        </a:rPr>
                        <a:t>2</a:t>
                      </a:r>
                      <a:endParaRPr lang="en-US" sz="16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kern="100" dirty="0">
                          <a:effectLst/>
                          <a:latin typeface="Times New Roman" panose="02020603050405020304" pitchFamily="18" charset="0"/>
                          <a:cs typeface="Times New Roman" panose="02020603050405020304" pitchFamily="18" charset="0"/>
                        </a:rPr>
                        <a:t>HP 6/42 HV</a:t>
                      </a:r>
                      <a:endParaRPr lang="en-US"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kern="100" dirty="0">
                          <a:effectLst/>
                          <a:latin typeface="Times New Roman" panose="02020603050405020304" pitchFamily="18" charset="0"/>
                          <a:cs typeface="Times New Roman" panose="02020603050405020304" pitchFamily="18" charset="0"/>
                        </a:rPr>
                        <a:t>2 Set</a:t>
                      </a:r>
                      <a:endParaRPr lang="en-US"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kern="100">
                          <a:effectLst/>
                          <a:latin typeface="Times New Roman" panose="02020603050405020304" pitchFamily="18" charset="0"/>
                          <a:cs typeface="Times New Roman" panose="02020603050405020304" pitchFamily="18" charset="0"/>
                        </a:rPr>
                        <a:t>Y91W1-219/557W</a:t>
                      </a:r>
                      <a:endParaRPr lang="en-US" sz="16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r>
              <a:tr h="472271">
                <a:tc>
                  <a:txBody>
                    <a:bodyPr/>
                    <a:lstStyle/>
                    <a:p>
                      <a:pPr marL="0" marR="0" algn="ctr">
                        <a:spcBef>
                          <a:spcPts val="0"/>
                        </a:spcBef>
                        <a:spcAft>
                          <a:spcPts val="0"/>
                        </a:spcAft>
                      </a:pPr>
                      <a:r>
                        <a:rPr lang="en-US" sz="1600" kern="100">
                          <a:effectLst/>
                          <a:latin typeface="Times New Roman" panose="02020603050405020304" pitchFamily="18" charset="0"/>
                          <a:cs typeface="Times New Roman" panose="02020603050405020304" pitchFamily="18" charset="0"/>
                        </a:rPr>
                        <a:t>3</a:t>
                      </a:r>
                      <a:endParaRPr lang="en-US" sz="16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kern="100">
                          <a:effectLst/>
                          <a:latin typeface="Times New Roman" panose="02020603050405020304" pitchFamily="18" charset="0"/>
                          <a:cs typeface="Times New Roman" panose="02020603050405020304" pitchFamily="18" charset="0"/>
                        </a:rPr>
                        <a:t>HP 12/24 HV L1</a:t>
                      </a:r>
                      <a:endParaRPr lang="en-US" sz="16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kern="100" dirty="0">
                          <a:effectLst/>
                          <a:latin typeface="Times New Roman" panose="02020603050405020304" pitchFamily="18" charset="0"/>
                          <a:cs typeface="Times New Roman" panose="02020603050405020304" pitchFamily="18" charset="0"/>
                        </a:rPr>
                        <a:t>2 Set</a:t>
                      </a:r>
                      <a:endParaRPr lang="en-US"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kern="100" dirty="0">
                          <a:effectLst/>
                          <a:latin typeface="Times New Roman" panose="02020603050405020304" pitchFamily="18" charset="0"/>
                          <a:cs typeface="Times New Roman" panose="02020603050405020304" pitchFamily="18" charset="0"/>
                        </a:rPr>
                        <a:t>Y7.6W1-186/412W</a:t>
                      </a:r>
                      <a:endParaRPr lang="en-US"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r>
              <a:tr h="559579">
                <a:tc>
                  <a:txBody>
                    <a:bodyPr/>
                    <a:lstStyle/>
                    <a:p>
                      <a:pPr marL="0" marR="0" algn="ctr">
                        <a:spcBef>
                          <a:spcPts val="0"/>
                        </a:spcBef>
                        <a:spcAft>
                          <a:spcPts val="0"/>
                        </a:spcAft>
                      </a:pPr>
                      <a:r>
                        <a:rPr lang="en-US" sz="1600" kern="100">
                          <a:effectLst/>
                          <a:latin typeface="Times New Roman" panose="02020603050405020304" pitchFamily="18" charset="0"/>
                          <a:cs typeface="Times New Roman" panose="02020603050405020304" pitchFamily="18" charset="0"/>
                        </a:rPr>
                        <a:t>4</a:t>
                      </a:r>
                      <a:endParaRPr lang="en-US" sz="16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kern="100">
                          <a:effectLst/>
                          <a:latin typeface="Times New Roman" panose="02020603050405020304" pitchFamily="18" charset="0"/>
                          <a:cs typeface="Times New Roman" panose="02020603050405020304" pitchFamily="18" charset="0"/>
                        </a:rPr>
                        <a:t>HP 6/42 HV L1</a:t>
                      </a:r>
                      <a:endParaRPr lang="en-US" sz="16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kern="100">
                          <a:effectLst/>
                          <a:latin typeface="Times New Roman" panose="02020603050405020304" pitchFamily="18" charset="0"/>
                          <a:cs typeface="Times New Roman" panose="02020603050405020304" pitchFamily="18" charset="0"/>
                        </a:rPr>
                        <a:t>2 Set</a:t>
                      </a:r>
                      <a:endParaRPr lang="en-US" sz="16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kern="100" dirty="0">
                          <a:effectLst/>
                          <a:latin typeface="Times New Roman" panose="02020603050405020304" pitchFamily="18" charset="0"/>
                          <a:cs typeface="Times New Roman" panose="02020603050405020304" pitchFamily="18" charset="0"/>
                        </a:rPr>
                        <a:t>Y11.9W1-219/512W</a:t>
                      </a:r>
                      <a:endParaRPr lang="en-US"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r>
              <a:tr h="419684">
                <a:tc>
                  <a:txBody>
                    <a:bodyPr/>
                    <a:lstStyle/>
                    <a:p>
                      <a:pPr marL="0" marR="0" algn="ctr">
                        <a:spcBef>
                          <a:spcPts val="0"/>
                        </a:spcBef>
                        <a:spcAft>
                          <a:spcPts val="0"/>
                        </a:spcAft>
                      </a:pPr>
                      <a:r>
                        <a:rPr lang="en-US" sz="1600" kern="100">
                          <a:effectLst/>
                          <a:latin typeface="Times New Roman" panose="02020603050405020304" pitchFamily="18" charset="0"/>
                          <a:cs typeface="Times New Roman" panose="02020603050405020304" pitchFamily="18" charset="0"/>
                        </a:rPr>
                        <a:t>5</a:t>
                      </a:r>
                      <a:endParaRPr lang="en-US" sz="16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kern="100">
                          <a:effectLst/>
                          <a:latin typeface="Times New Roman" panose="02020603050405020304" pitchFamily="18" charset="0"/>
                          <a:cs typeface="Times New Roman" panose="02020603050405020304" pitchFamily="18" charset="0"/>
                        </a:rPr>
                        <a:t>HP 12/24 Low End</a:t>
                      </a:r>
                      <a:endParaRPr lang="en-US" sz="16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kern="100">
                          <a:effectLst/>
                          <a:latin typeface="Times New Roman" panose="02020603050405020304" pitchFamily="18" charset="0"/>
                          <a:cs typeface="Times New Roman" panose="02020603050405020304" pitchFamily="18" charset="0"/>
                        </a:rPr>
                        <a:t>2 Set</a:t>
                      </a:r>
                      <a:endParaRPr lang="en-US" sz="16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kern="100" dirty="0">
                          <a:effectLst/>
                          <a:latin typeface="Times New Roman" panose="02020603050405020304" pitchFamily="18" charset="0"/>
                          <a:cs typeface="Times New Roman" panose="02020603050405020304" pitchFamily="18" charset="0"/>
                        </a:rPr>
                        <a:t>Y10W1-63/125W</a:t>
                      </a:r>
                      <a:endParaRPr lang="en-US"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r>
              <a:tr h="419684">
                <a:tc>
                  <a:txBody>
                    <a:bodyPr/>
                    <a:lstStyle/>
                    <a:p>
                      <a:pPr marL="0" marR="0" algn="ctr">
                        <a:spcBef>
                          <a:spcPts val="0"/>
                        </a:spcBef>
                        <a:spcAft>
                          <a:spcPts val="0"/>
                        </a:spcAft>
                      </a:pPr>
                      <a:r>
                        <a:rPr lang="en-US" sz="1600" kern="100">
                          <a:effectLst/>
                          <a:latin typeface="Times New Roman" panose="02020603050405020304" pitchFamily="18" charset="0"/>
                          <a:cs typeface="Times New Roman" panose="02020603050405020304" pitchFamily="18" charset="0"/>
                        </a:rPr>
                        <a:t>6</a:t>
                      </a:r>
                      <a:endParaRPr lang="en-US" sz="16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kern="100">
                          <a:effectLst/>
                          <a:latin typeface="Times New Roman" panose="02020603050405020304" pitchFamily="18" charset="0"/>
                          <a:cs typeface="Times New Roman" panose="02020603050405020304" pitchFamily="18" charset="0"/>
                        </a:rPr>
                        <a:t>HP 6/42 Low End</a:t>
                      </a:r>
                      <a:endParaRPr lang="en-US" sz="16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kern="100">
                          <a:effectLst/>
                          <a:latin typeface="Times New Roman" panose="02020603050405020304" pitchFamily="18" charset="0"/>
                          <a:cs typeface="Times New Roman" panose="02020603050405020304" pitchFamily="18" charset="0"/>
                        </a:rPr>
                        <a:t>2 Set</a:t>
                      </a:r>
                      <a:endParaRPr lang="en-US" sz="16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kern="100" dirty="0">
                          <a:effectLst/>
                          <a:latin typeface="Times New Roman" panose="02020603050405020304" pitchFamily="18" charset="0"/>
                          <a:cs typeface="Times New Roman" panose="02020603050405020304" pitchFamily="18" charset="0"/>
                        </a:rPr>
                        <a:t>Y10W1-66/134W</a:t>
                      </a:r>
                      <a:endParaRPr lang="en-US"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r>
            </a:tbl>
          </a:graphicData>
        </a:graphic>
      </p:graphicFrame>
      <p:sp>
        <p:nvSpPr>
          <p:cNvPr id="4" name="TextBox 3"/>
          <p:cNvSpPr txBox="1"/>
          <p:nvPr/>
        </p:nvSpPr>
        <p:spPr>
          <a:xfrm>
            <a:off x="2434107" y="5666704"/>
            <a:ext cx="7276563"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Table-1.4: Lahore Converter Station DC Surge Arresters</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294674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3796" y="893001"/>
            <a:ext cx="3381375" cy="4505325"/>
          </a:xfrm>
          <a:prstGeom prst="rect">
            <a:avLst/>
          </a:prstGeom>
          <a:ln>
            <a:solidFill>
              <a:schemeClr val="tx1"/>
            </a:solidFill>
          </a:ln>
        </p:spPr>
      </p:pic>
      <p:sp>
        <p:nvSpPr>
          <p:cNvPr id="5" name="TextBox 4"/>
          <p:cNvSpPr txBox="1"/>
          <p:nvPr/>
        </p:nvSpPr>
        <p:spPr>
          <a:xfrm>
            <a:off x="4736203" y="5552872"/>
            <a:ext cx="2616560" cy="461665"/>
          </a:xfrm>
          <a:prstGeom prst="rect">
            <a:avLst/>
          </a:prstGeom>
          <a:noFill/>
        </p:spPr>
        <p:txBody>
          <a:bodyPr wrap="square" rtlCol="0">
            <a:spAutoFit/>
          </a:bodyPr>
          <a:lstStyle/>
          <a:p>
            <a:pPr algn="ctr"/>
            <a:r>
              <a:rPr lang="en-US" sz="2400" smtClean="0">
                <a:latin typeface="Times New Roman" panose="02020603050405020304" pitchFamily="18" charset="0"/>
                <a:cs typeface="Times New Roman" panose="02020603050405020304" pitchFamily="18" charset="0"/>
              </a:rPr>
              <a:t>DC Bus </a:t>
            </a:r>
            <a:r>
              <a:rPr lang="en-US" sz="2400" dirty="0" smtClean="0">
                <a:latin typeface="Times New Roman" panose="02020603050405020304" pitchFamily="18" charset="0"/>
                <a:cs typeface="Times New Roman" panose="02020603050405020304" pitchFamily="18" charset="0"/>
              </a:rPr>
              <a:t>Arrester</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65988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98490" y="2446985"/>
            <a:ext cx="10509161" cy="2215991"/>
          </a:xfrm>
          <a:prstGeom prst="rect">
            <a:avLst/>
          </a:prstGeom>
          <a:noFill/>
        </p:spPr>
        <p:txBody>
          <a:bodyPr wrap="square" rtlCol="0">
            <a:spAutoFit/>
          </a:bodyPr>
          <a:lstStyle/>
          <a:p>
            <a:pPr algn="ctr"/>
            <a:r>
              <a:rPr lang="en-US" sz="13800" dirty="0" smtClean="0">
                <a:latin typeface="Times New Roman" panose="02020603050405020304" pitchFamily="18" charset="0"/>
                <a:cs typeface="Times New Roman" panose="02020603050405020304" pitchFamily="18" charset="0"/>
              </a:rPr>
              <a:t>Thank You</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05562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docProps/app.xml><?xml version="1.0" encoding="utf-8"?>
<Properties xmlns="http://schemas.openxmlformats.org/officeDocument/2006/extended-properties" xmlns:vt="http://schemas.openxmlformats.org/officeDocument/2006/docPropsVTypes">
  <Template>Organic</Template>
  <TotalTime>220</TotalTime>
  <Words>708</Words>
  <Application>Microsoft Office PowerPoint</Application>
  <PresentationFormat>Widescreen</PresentationFormat>
  <Paragraphs>289</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SimSun</vt:lpstr>
      <vt:lpstr>Arial</vt:lpstr>
      <vt:lpstr>Calibri</vt:lpstr>
      <vt:lpstr>Garamond</vt:lpstr>
      <vt:lpstr>Times New Roman</vt:lpstr>
      <vt:lpstr>Organic</vt:lpstr>
      <vt:lpstr>PowerPoint Presentation</vt:lpstr>
      <vt:lpstr>  Arresters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Arresters</dc:title>
  <dc:creator>Habib Ullah</dc:creator>
  <cp:lastModifiedBy>Habib Ullah</cp:lastModifiedBy>
  <cp:revision>62</cp:revision>
  <dcterms:created xsi:type="dcterms:W3CDTF">2021-01-02T11:52:20Z</dcterms:created>
  <dcterms:modified xsi:type="dcterms:W3CDTF">2021-01-08T03:44:59Z</dcterms:modified>
</cp:coreProperties>
</file>