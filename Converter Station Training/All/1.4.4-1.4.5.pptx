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129D0B8-5B97-4722-8E2B-8471213B1446}" type="datetimeFigureOut">
              <a:rPr lang="en-US" smtClean="0"/>
              <a:t>20-Jan-21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656185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129D0B8-5B97-4722-8E2B-8471213B1446}" type="datetimeFigureOut">
              <a:rPr lang="en-US" smtClean="0"/>
              <a:t>20-Jan-21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3250804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129D0B8-5B97-4722-8E2B-8471213B1446}" type="datetimeFigureOut">
              <a:rPr lang="en-US" smtClean="0"/>
              <a:t>20-Jan-21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3518435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129D0B8-5B97-4722-8E2B-8471213B1446}" type="datetimeFigureOut">
              <a:rPr lang="en-US" smtClean="0"/>
              <a:t>20-Jan-21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2560301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129D0B8-5B97-4722-8E2B-8471213B1446}" type="datetimeFigureOut">
              <a:rPr lang="en-US" smtClean="0"/>
              <a:t>20-Jan-21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617993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29D0B8-5B97-4722-8E2B-8471213B1446}" type="datetimeFigureOut">
              <a:rPr lang="en-US" smtClean="0"/>
              <a:t>20-Jan-21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2467833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29D0B8-5B97-4722-8E2B-8471213B1446}" type="datetimeFigureOut">
              <a:rPr lang="en-US" smtClean="0"/>
              <a:t>20-Jan-21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3102331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129D0B8-5B97-4722-8E2B-8471213B1446}" type="datetimeFigureOut">
              <a:rPr lang="en-US" smtClean="0"/>
              <a:t>20-Jan-21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2096183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129D0B8-5B97-4722-8E2B-8471213B1446}" type="datetimeFigureOut">
              <a:rPr lang="en-US" smtClean="0"/>
              <a:t>20-Jan-21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38011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129D0B8-5B97-4722-8E2B-8471213B1446}" type="datetimeFigureOut">
              <a:rPr lang="en-US" smtClean="0"/>
              <a:t>20-Jan-21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821923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129D0B8-5B97-4722-8E2B-8471213B1446}" type="datetimeFigureOut">
              <a:rPr lang="en-US" smtClean="0"/>
              <a:t>20-Jan-21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0A97EF-E294-4A18-A1FB-75816FA2751A}" type="slidenum">
              <a:rPr lang="en-US" smtClean="0"/>
              <a:t>‹#›</a:t>
            </a:fld>
            <a:endParaRPr lang="en-US"/>
          </a:p>
        </p:txBody>
      </p:sp>
    </p:spTree>
    <p:extLst>
      <p:ext uri="{BB962C8B-B14F-4D97-AF65-F5344CB8AC3E}">
        <p14:creationId xmlns:p14="http://schemas.microsoft.com/office/powerpoint/2010/main" val="2223140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29D0B8-5B97-4722-8E2B-8471213B1446}" type="datetimeFigureOut">
              <a:rPr lang="en-US" smtClean="0"/>
              <a:t>20-Jan-21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0A97EF-E294-4A18-A1FB-75816FA2751A}" type="slidenum">
              <a:rPr lang="en-US" smtClean="0"/>
              <a:t>‹#›</a:t>
            </a:fld>
            <a:endParaRPr lang="en-US"/>
          </a:p>
        </p:txBody>
      </p:sp>
    </p:spTree>
    <p:extLst>
      <p:ext uri="{BB962C8B-B14F-4D97-AF65-F5344CB8AC3E}">
        <p14:creationId xmlns:p14="http://schemas.microsoft.com/office/powerpoint/2010/main" val="1069644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1.4.4. Selection and Switching of Control Position</a:t>
            </a:r>
            <a:endParaRPr lang="en-US" dirty="0"/>
          </a:p>
        </p:txBody>
      </p:sp>
      <p:sp>
        <p:nvSpPr>
          <p:cNvPr id="7" name="Content Placeholder 6"/>
          <p:cNvSpPr>
            <a:spLocks noGrp="1"/>
          </p:cNvSpPr>
          <p:nvPr>
            <p:ph idx="1"/>
          </p:nvPr>
        </p:nvSpPr>
        <p:spPr>
          <a:xfrm>
            <a:off x="838200" y="1825624"/>
            <a:ext cx="10515600" cy="4630593"/>
          </a:xfrm>
        </p:spPr>
        <p:txBody>
          <a:bodyPr>
            <a:normAutofit fontScale="77500" lnSpcReduction="20000"/>
          </a:bodyPr>
          <a:lstStyle/>
          <a:p>
            <a:pPr marL="0" indent="0">
              <a:buNone/>
            </a:pPr>
            <a:r>
              <a:rPr lang="en-US" dirty="0" smtClean="0"/>
              <a:t>The switching of control position of each functional group:</a:t>
            </a:r>
          </a:p>
          <a:p>
            <a:pPr marL="514350" indent="-514350">
              <a:buFont typeface="+mj-lt"/>
              <a:buAutoNum type="arabicPeriod"/>
            </a:pPr>
            <a:r>
              <a:rPr lang="en-US" dirty="0" smtClean="0"/>
              <a:t>System Level </a:t>
            </a:r>
          </a:p>
          <a:p>
            <a:pPr marL="514350" indent="-514350">
              <a:buFont typeface="+mj-lt"/>
              <a:buAutoNum type="arabicPeriod"/>
            </a:pPr>
            <a:r>
              <a:rPr lang="en-US" dirty="0" smtClean="0"/>
              <a:t>Station Level </a:t>
            </a:r>
          </a:p>
          <a:p>
            <a:pPr marL="0" indent="0">
              <a:buNone/>
            </a:pPr>
            <a:r>
              <a:rPr lang="en-US" dirty="0"/>
              <a:t>is completed separately in DC station control with position status sent to pole control system</a:t>
            </a:r>
            <a:r>
              <a:rPr lang="en-US" dirty="0" smtClean="0"/>
              <a:t>.</a:t>
            </a:r>
            <a:endParaRPr lang="en-US" dirty="0" smtClean="0"/>
          </a:p>
          <a:p>
            <a:pPr marL="0" indent="0">
              <a:buNone/>
            </a:pPr>
            <a:r>
              <a:rPr lang="en-US" u="sng" dirty="0" smtClean="0"/>
              <a:t>Request-release </a:t>
            </a:r>
            <a:r>
              <a:rPr lang="en-US" u="sng" dirty="0" smtClean="0"/>
              <a:t>logic</a:t>
            </a:r>
            <a:r>
              <a:rPr lang="en-US" dirty="0" smtClean="0"/>
              <a:t> </a:t>
            </a:r>
          </a:p>
          <a:p>
            <a:r>
              <a:rPr lang="en-US" dirty="0" smtClean="0"/>
              <a:t>The </a:t>
            </a:r>
            <a:r>
              <a:rPr lang="en-US" dirty="0" smtClean="0"/>
              <a:t>master control position is selected by request-release logic. Switching is executed only if a request is received from other control positions. Master control position must be released within 60sec, otherwise the request is considered invalid. </a:t>
            </a:r>
            <a:endParaRPr lang="en-US" dirty="0" smtClean="0"/>
          </a:p>
          <a:p>
            <a:r>
              <a:rPr lang="en-US" dirty="0" smtClean="0"/>
              <a:t>If </a:t>
            </a:r>
            <a:r>
              <a:rPr lang="en-US" dirty="0" smtClean="0"/>
              <a:t>the request is for a remote dispatching center control position, the control position can be switched directly without release so that operators can take over control any time.</a:t>
            </a:r>
          </a:p>
          <a:p>
            <a:r>
              <a:rPr lang="en-US" dirty="0" smtClean="0"/>
              <a:t>In case of DC station control system LAN communication fault and communication fault between workstations at effective control positions, control positions are set to an undefined status, SER alarm </a:t>
            </a:r>
            <a:r>
              <a:rPr lang="en-US" dirty="0" smtClean="0"/>
              <a:t>of respective </a:t>
            </a:r>
            <a:r>
              <a:rPr lang="en-US" dirty="0" smtClean="0"/>
              <a:t>functional group is generated and the </a:t>
            </a:r>
            <a:r>
              <a:rPr lang="en-US" dirty="0" smtClean="0"/>
              <a:t>control can </a:t>
            </a:r>
            <a:r>
              <a:rPr lang="en-US" dirty="0" smtClean="0"/>
              <a:t>be </a:t>
            </a:r>
            <a:r>
              <a:rPr lang="en-US" dirty="0" smtClean="0"/>
              <a:t>handed over</a:t>
            </a:r>
            <a:r>
              <a:rPr lang="en-US" dirty="0" smtClean="0"/>
              <a:t> </a:t>
            </a:r>
            <a:r>
              <a:rPr lang="en-US" dirty="0" smtClean="0"/>
              <a:t>directly without release if there is a request.  </a:t>
            </a:r>
            <a:endParaRPr lang="en-US" dirty="0"/>
          </a:p>
        </p:txBody>
      </p:sp>
    </p:spTree>
    <p:extLst>
      <p:ext uri="{BB962C8B-B14F-4D97-AF65-F5344CB8AC3E}">
        <p14:creationId xmlns:p14="http://schemas.microsoft.com/office/powerpoint/2010/main" val="2367869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1.4.5. Selection and switching of Control Level</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system control level can be switched in the master control system of any station provided that:</a:t>
            </a:r>
          </a:p>
          <a:p>
            <a:pPr marL="514350" indent="-514350">
              <a:buFont typeface="+mj-lt"/>
              <a:buAutoNum type="arabicPeriod"/>
            </a:pPr>
            <a:r>
              <a:rPr lang="en-US" u="sng" dirty="0" smtClean="0"/>
              <a:t>DC Station Control Communication is normal:</a:t>
            </a:r>
            <a:r>
              <a:rPr lang="en-US" dirty="0" smtClean="0"/>
              <a:t> LAN connected to DC Station Control of other station and LAN connected to an effective system control position.</a:t>
            </a:r>
          </a:p>
          <a:p>
            <a:pPr marL="514350" indent="-514350">
              <a:buFont typeface="+mj-lt"/>
              <a:buAutoNum type="arabicPeriod"/>
            </a:pPr>
            <a:r>
              <a:rPr lang="en-US" u="sng" dirty="0" smtClean="0"/>
              <a:t>Pole 1/2 Control Communication is normal:</a:t>
            </a:r>
            <a:r>
              <a:rPr lang="en-US" dirty="0" smtClean="0"/>
              <a:t> IFC communication connected to DC Station Control and </a:t>
            </a:r>
            <a:r>
              <a:rPr lang="en-US" dirty="0"/>
              <a:t>LAN connected to an effective system control position.</a:t>
            </a:r>
            <a:r>
              <a:rPr lang="en-US" dirty="0" smtClean="0"/>
              <a:t> </a:t>
            </a:r>
          </a:p>
          <a:p>
            <a:r>
              <a:rPr lang="en-US" dirty="0" smtClean="0"/>
              <a:t>The DC station control receives switching orders from other station. The actual control level is sent to the pole control system for switching of settings and to the HMI system for display.</a:t>
            </a:r>
          </a:p>
          <a:p>
            <a:r>
              <a:rPr lang="en-US" dirty="0" smtClean="0"/>
              <a:t>Master/ Slave stations are allocated by station control software through request/ release logic. The slave station can request to act as master station at any time, but the master must release control within 1 minute of the request for the successful transfer of master station functions.  </a:t>
            </a:r>
          </a:p>
          <a:p>
            <a:endParaRPr lang="en-US" dirty="0" smtClean="0"/>
          </a:p>
        </p:txBody>
      </p:sp>
    </p:spTree>
    <p:extLst>
      <p:ext uri="{BB962C8B-B14F-4D97-AF65-F5344CB8AC3E}">
        <p14:creationId xmlns:p14="http://schemas.microsoft.com/office/powerpoint/2010/main" val="3330041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325</Words>
  <Application>Microsoft Office PowerPoint</Application>
  <PresentationFormat>Widescreen</PresentationFormat>
  <Paragraphs>15</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1.4.4. Selection and Switching of Control Position</vt:lpstr>
      <vt:lpstr>1.4.5. Selection and switching of Control Level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1.4.4. Selection and Switching of Control Position</dc:title>
  <dc:creator>Muhammad Amaar</dc:creator>
  <cp:lastModifiedBy>Muhammad Amaar</cp:lastModifiedBy>
  <cp:revision>31</cp:revision>
  <dcterms:created xsi:type="dcterms:W3CDTF">2021-01-19T12:05:13Z</dcterms:created>
  <dcterms:modified xsi:type="dcterms:W3CDTF">2021-01-19T20:37:58Z</dcterms:modified>
</cp:coreProperties>
</file>