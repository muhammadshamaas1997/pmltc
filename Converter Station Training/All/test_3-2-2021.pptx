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66" r:id="rId2"/>
    <p:sldId id="257" r:id="rId3"/>
    <p:sldId id="258" r:id="rId4"/>
    <p:sldId id="259" r:id="rId5"/>
    <p:sldId id="260" r:id="rId6"/>
    <p:sldId id="261" r:id="rId7"/>
    <p:sldId id="265" r:id="rId8"/>
    <p:sldId id="262" r:id="rId9"/>
    <p:sldId id="263" r:id="rId10"/>
    <p:sldId id="264"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4" autoAdjust="0"/>
    <p:restoredTop sz="94434" autoAdjust="0"/>
  </p:normalViewPr>
  <p:slideViewPr>
    <p:cSldViewPr snapToGrid="0">
      <p:cViewPr varScale="1">
        <p:scale>
          <a:sx n="70" d="100"/>
          <a:sy n="70" d="100"/>
        </p:scale>
        <p:origin x="73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1/30/2021</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1/30/2021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1/30/2021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1/30/2021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1/30/2021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1/30/2021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1/30/2021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1/30/2021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1/30/2021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1/30/2021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1/30/2021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1/30/2021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1/30/2021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1/30/2021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1/30/2021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1/30/2021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1/30/2021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1/30/2021</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002968" y="2852382"/>
            <a:ext cx="10338322" cy="3729251"/>
          </a:xfrm>
        </p:spPr>
        <p:txBody>
          <a:bodyPr/>
          <a:lstStyle/>
          <a:p>
            <a:r>
              <a:rPr lang="en-US" sz="8000" b="1" dirty="0" smtClean="0"/>
              <a:t>  </a:t>
            </a:r>
            <a:r>
              <a:rPr lang="en-US" sz="8000" b="1" dirty="0" smtClean="0">
                <a:solidFill>
                  <a:schemeClr val="tx1"/>
                </a:solidFill>
              </a:rPr>
              <a:t>Chapter </a:t>
            </a:r>
            <a:r>
              <a:rPr lang="en-US" sz="8000" b="1" dirty="0">
                <a:solidFill>
                  <a:schemeClr val="tx1"/>
                </a:solidFill>
              </a:rPr>
              <a:t>2  (part I)</a:t>
            </a:r>
            <a:endParaRPr lang="en-US" dirty="0">
              <a:solidFill>
                <a:schemeClr val="tx1"/>
              </a:solidFill>
            </a:endParaRPr>
          </a:p>
        </p:txBody>
      </p:sp>
    </p:spTree>
    <p:extLst>
      <p:ext uri="{BB962C8B-B14F-4D97-AF65-F5344CB8AC3E}">
        <p14:creationId xmlns:p14="http://schemas.microsoft.com/office/powerpoint/2010/main" val="16179504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3FF58864-01E1-4747-A1C2-AF7C430434A2}"/>
              </a:ext>
            </a:extLst>
          </p:cNvPr>
          <p:cNvSpPr>
            <a:spLocks noGrp="1"/>
          </p:cNvSpPr>
          <p:nvPr>
            <p:ph idx="1"/>
          </p:nvPr>
        </p:nvSpPr>
        <p:spPr>
          <a:xfrm>
            <a:off x="1180214" y="669852"/>
            <a:ext cx="10111562" cy="5962960"/>
          </a:xfrm>
        </p:spPr>
        <p:txBody>
          <a:bodyPr>
            <a:normAutofit lnSpcReduction="10000"/>
          </a:bodyPr>
          <a:lstStyle/>
          <a:p>
            <a:pPr>
              <a:buFont typeface="Wingdings" panose="05000000000000000000" pitchFamily="2" charset="2"/>
              <a:buChar char="Ø"/>
            </a:pPr>
            <a:r>
              <a:rPr lang="en-GB" sz="3200" b="1" dirty="0">
                <a:latin typeface="Times New Roman" panose="02020603050405020304" pitchFamily="18" charset="0"/>
                <a:cs typeface="Times New Roman" panose="02020603050405020304" pitchFamily="18" charset="0"/>
              </a:rPr>
              <a:t>Introduction</a:t>
            </a:r>
          </a:p>
          <a:p>
            <a:pPr marL="0" indent="0">
              <a:buNone/>
            </a:pPr>
            <a:r>
              <a:rPr lang="en-GB" sz="1800" dirty="0">
                <a:latin typeface="Times New Roman" panose="02020603050405020304" pitchFamily="18" charset="0"/>
                <a:cs typeface="Times New Roman" panose="02020603050405020304" pitchFamily="18" charset="0"/>
              </a:rPr>
              <a:t>Control and protection equipment is layered and distributed in three levels</a:t>
            </a:r>
          </a:p>
          <a:p>
            <a:pPr marL="342900" indent="-342900">
              <a:buAutoNum type="arabicPeriod"/>
            </a:pPr>
            <a:r>
              <a:rPr lang="en-GB" sz="1800" dirty="0">
                <a:latin typeface="Times New Roman" panose="02020603050405020304" pitchFamily="18" charset="0"/>
                <a:cs typeface="Times New Roman" panose="02020603050405020304" pitchFamily="18" charset="0"/>
              </a:rPr>
              <a:t>Operator level </a:t>
            </a:r>
          </a:p>
          <a:p>
            <a:pPr marL="342900" indent="-342900">
              <a:buAutoNum type="arabicPeriod"/>
            </a:pPr>
            <a:r>
              <a:rPr lang="en-GB" sz="1800" dirty="0">
                <a:latin typeface="Times New Roman" panose="02020603050405020304" pitchFamily="18" charset="0"/>
                <a:cs typeface="Times New Roman" panose="02020603050405020304" pitchFamily="18" charset="0"/>
              </a:rPr>
              <a:t>Control and protection equipment level</a:t>
            </a:r>
          </a:p>
          <a:p>
            <a:pPr marL="342900" indent="-342900">
              <a:buAutoNum type="arabicPeriod"/>
            </a:pPr>
            <a:r>
              <a:rPr lang="en-GB" sz="1800" dirty="0">
                <a:latin typeface="Times New Roman" panose="02020603050405020304" pitchFamily="18" charset="0"/>
                <a:cs typeface="Times New Roman" panose="02020603050405020304" pitchFamily="18" charset="0"/>
              </a:rPr>
              <a:t>Field measurement and control equipment level</a:t>
            </a:r>
          </a:p>
          <a:p>
            <a:pPr>
              <a:buFont typeface="Wingdings" panose="05000000000000000000" pitchFamily="2" charset="2"/>
              <a:buChar char="v"/>
            </a:pPr>
            <a:r>
              <a:rPr lang="en-GB" sz="1800" dirty="0">
                <a:latin typeface="Times New Roman" panose="02020603050405020304" pitchFamily="18" charset="0"/>
                <a:cs typeface="Times New Roman" panose="02020603050405020304" pitchFamily="18" charset="0"/>
              </a:rPr>
              <a:t>All the levels and control equipments are connected with each other through network busses and other interfaces, converter stations are connected through dual intercommunication channels to form a complete DC station control and protection system.</a:t>
            </a:r>
          </a:p>
          <a:p>
            <a:r>
              <a:rPr lang="en-GB" sz="1800" dirty="0">
                <a:latin typeface="Times New Roman" panose="02020603050405020304" pitchFamily="18" charset="0"/>
                <a:cs typeface="Times New Roman" panose="02020603050405020304" pitchFamily="18" charset="0"/>
              </a:rPr>
              <a:t>Pole control is at control level, exchange data with the operator through LAN, issue orders and display status through OWS.</a:t>
            </a:r>
          </a:p>
          <a:p>
            <a:r>
              <a:rPr lang="en-GB" sz="1800" dirty="0">
                <a:latin typeface="Times New Roman" panose="02020603050405020304" pitchFamily="18" charset="0"/>
                <a:cs typeface="Times New Roman" panose="02020603050405020304" pitchFamily="18" charset="0"/>
              </a:rPr>
              <a:t>Measurement board is used to collect and process the analog required by system, AC analog is obtained from hard wiring and DC is obtained partially from hard wiring and partially by optical fibres</a:t>
            </a:r>
          </a:p>
          <a:p>
            <a:r>
              <a:rPr lang="en-GB" sz="1800" dirty="0">
                <a:latin typeface="Times New Roman" panose="02020603050405020304" pitchFamily="18" charset="0"/>
                <a:cs typeface="Times New Roman" panose="02020603050405020304" pitchFamily="18" charset="0"/>
              </a:rPr>
              <a:t>Important data is transferred between pole control system and other systems like VCE at control level through hard wiring and optical fibres. </a:t>
            </a:r>
          </a:p>
          <a:p>
            <a:pPr marL="0" indent="0">
              <a:buNone/>
            </a:pPr>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566944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6411" y="0"/>
            <a:ext cx="9905998" cy="1287887"/>
          </a:xfrm>
        </p:spPr>
        <p:txBody>
          <a:bodyPr/>
          <a:lstStyle/>
          <a:p>
            <a:pPr marL="457200" indent="-457200">
              <a:buFont typeface="Wingdings" panose="05000000000000000000" pitchFamily="2" charset="2"/>
              <a:buChar char="Ø"/>
            </a:pPr>
            <a:r>
              <a:rPr lang="en-US" sz="3200" b="1" dirty="0">
                <a:latin typeface="Times New Roman" panose="02020603050405020304" pitchFamily="18" charset="0"/>
                <a:cs typeface="Times New Roman" panose="02020603050405020304" pitchFamily="18" charset="0"/>
              </a:rPr>
              <a:t>Important abbreviations:</a:t>
            </a:r>
            <a:r>
              <a:rPr lang="en-US" b="1" dirty="0">
                <a:latin typeface="Times New Roman" panose="02020603050405020304" pitchFamily="18" charset="0"/>
                <a:cs typeface="Times New Roman" panose="02020603050405020304" pitchFamily="18" charset="0"/>
              </a:rPr>
              <a:t/>
            </a:r>
            <a:br>
              <a:rPr lang="en-US" b="1" dirty="0">
                <a:latin typeface="Times New Roman" panose="02020603050405020304" pitchFamily="18" charset="0"/>
                <a:cs typeface="Times New Roman" panose="02020603050405020304" pitchFamily="18" charset="0"/>
              </a:rPr>
            </a:b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19977819"/>
              </p:ext>
            </p:extLst>
          </p:nvPr>
        </p:nvGraphicFramePr>
        <p:xfrm>
          <a:off x="857724" y="818864"/>
          <a:ext cx="7662930" cy="5943600"/>
        </p:xfrm>
        <a:graphic>
          <a:graphicData uri="http://schemas.openxmlformats.org/drawingml/2006/table">
            <a:tbl>
              <a:tblPr firstRow="1" bandRow="1">
                <a:tableStyleId>{5C22544A-7EE6-4342-B048-85BDC9FD1C3A}</a:tableStyleId>
              </a:tblPr>
              <a:tblGrid>
                <a:gridCol w="3789522"/>
                <a:gridCol w="3873408"/>
              </a:tblGrid>
              <a:tr h="344363">
                <a:tc>
                  <a:txBody>
                    <a:bodyPr/>
                    <a:lstStyle/>
                    <a:p>
                      <a:pPr algn="ctr"/>
                      <a:r>
                        <a:rPr lang="en-US" sz="2000" dirty="0" smtClean="0">
                          <a:latin typeface="Times New Roman" panose="02020603050405020304" pitchFamily="18" charset="0"/>
                          <a:cs typeface="Times New Roman" panose="02020603050405020304" pitchFamily="18" charset="0"/>
                        </a:rPr>
                        <a:t>Abbreviation</a:t>
                      </a:r>
                      <a:endParaRPr lang="en-US" sz="2000" dirty="0">
                        <a:latin typeface="Times New Roman" panose="02020603050405020304" pitchFamily="18" charset="0"/>
                        <a:cs typeface="Times New Roman" panose="02020603050405020304" pitchFamily="18" charset="0"/>
                      </a:endParaRPr>
                    </a:p>
                  </a:txBody>
                  <a:tcPr>
                    <a:solidFill>
                      <a:schemeClr val="bg2">
                        <a:lumMod val="60000"/>
                        <a:lumOff val="40000"/>
                      </a:schemeClr>
                    </a:solidFill>
                  </a:tcPr>
                </a:tc>
                <a:tc>
                  <a:txBody>
                    <a:bodyPr/>
                    <a:lstStyle/>
                    <a:p>
                      <a:pPr algn="ctr"/>
                      <a:r>
                        <a:rPr lang="en-US" sz="2000" dirty="0" smtClean="0">
                          <a:latin typeface="Times New Roman" panose="02020603050405020304" pitchFamily="18" charset="0"/>
                          <a:cs typeface="Times New Roman" panose="02020603050405020304" pitchFamily="18" charset="0"/>
                        </a:rPr>
                        <a:t>Detail</a:t>
                      </a:r>
                      <a:endParaRPr lang="en-US" sz="2000" dirty="0">
                        <a:latin typeface="Times New Roman" panose="02020603050405020304" pitchFamily="18" charset="0"/>
                        <a:cs typeface="Times New Roman" panose="02020603050405020304" pitchFamily="18" charset="0"/>
                      </a:endParaRPr>
                    </a:p>
                  </a:txBody>
                  <a:tcPr>
                    <a:solidFill>
                      <a:schemeClr val="bg2">
                        <a:lumMod val="60000"/>
                        <a:lumOff val="40000"/>
                      </a:schemeClr>
                    </a:solidFill>
                  </a:tcPr>
                </a:tc>
              </a:tr>
              <a:tr h="344363">
                <a:tc>
                  <a:txBody>
                    <a:bodyPr/>
                    <a:lstStyle/>
                    <a:p>
                      <a:r>
                        <a:rPr lang="en-US" sz="2000" dirty="0" smtClean="0">
                          <a:latin typeface="Times New Roman" panose="02020603050405020304" pitchFamily="18" charset="0"/>
                          <a:cs typeface="Times New Roman" panose="02020603050405020304" pitchFamily="18" charset="0"/>
                        </a:rPr>
                        <a:t>QPC</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smtClean="0">
                          <a:latin typeface="Times New Roman" panose="02020603050405020304" pitchFamily="18" charset="0"/>
                          <a:cs typeface="Times New Roman" panose="02020603050405020304" pitchFamily="18" charset="0"/>
                        </a:rPr>
                        <a:t>Converter Reactive Power control</a:t>
                      </a:r>
                      <a:endParaRPr lang="en-US" sz="2000" dirty="0">
                        <a:latin typeface="Times New Roman" panose="02020603050405020304" pitchFamily="18" charset="0"/>
                        <a:cs typeface="Times New Roman" panose="02020603050405020304" pitchFamily="18" charset="0"/>
                      </a:endParaRPr>
                    </a:p>
                  </a:txBody>
                  <a:tcPr/>
                </a:tc>
              </a:tr>
              <a:tr h="344363">
                <a:tc>
                  <a:txBody>
                    <a:bodyPr/>
                    <a:lstStyle/>
                    <a:p>
                      <a:r>
                        <a:rPr lang="en-US" sz="2000" dirty="0" smtClean="0">
                          <a:latin typeface="Times New Roman" panose="02020603050405020304" pitchFamily="18" charset="0"/>
                          <a:cs typeface="Times New Roman" panose="02020603050405020304" pitchFamily="18" charset="0"/>
                        </a:rPr>
                        <a:t>TCC</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smtClean="0">
                          <a:latin typeface="Times New Roman" panose="02020603050405020304" pitchFamily="18" charset="0"/>
                          <a:cs typeface="Times New Roman" panose="02020603050405020304" pitchFamily="18" charset="0"/>
                        </a:rPr>
                        <a:t>Tap Changer</a:t>
                      </a:r>
                      <a:r>
                        <a:rPr lang="en-US" sz="2000" baseline="0" dirty="0" smtClean="0">
                          <a:latin typeface="Times New Roman" panose="02020603050405020304" pitchFamily="18" charset="0"/>
                          <a:cs typeface="Times New Roman" panose="02020603050405020304" pitchFamily="18" charset="0"/>
                        </a:rPr>
                        <a:t> Control</a:t>
                      </a:r>
                      <a:endParaRPr lang="en-US" sz="2000" dirty="0">
                        <a:latin typeface="Times New Roman" panose="02020603050405020304" pitchFamily="18" charset="0"/>
                        <a:cs typeface="Times New Roman" panose="02020603050405020304" pitchFamily="18" charset="0"/>
                      </a:endParaRPr>
                    </a:p>
                  </a:txBody>
                  <a:tcPr/>
                </a:tc>
              </a:tr>
              <a:tr h="344363">
                <a:tc>
                  <a:txBody>
                    <a:bodyPr/>
                    <a:lstStyle/>
                    <a:p>
                      <a:r>
                        <a:rPr lang="en-US" sz="2000" dirty="0" smtClean="0">
                          <a:latin typeface="Times New Roman" panose="02020603050405020304" pitchFamily="18" charset="0"/>
                          <a:cs typeface="Times New Roman" panose="02020603050405020304" pitchFamily="18" charset="0"/>
                        </a:rPr>
                        <a:t>RVC</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smtClean="0">
                          <a:latin typeface="Times New Roman" panose="02020603050405020304" pitchFamily="18" charset="0"/>
                          <a:cs typeface="Times New Roman" panose="02020603050405020304" pitchFamily="18" charset="0"/>
                        </a:rPr>
                        <a:t>Rectifier Voltage Calculator  </a:t>
                      </a:r>
                      <a:endParaRPr lang="en-US" sz="2000" dirty="0">
                        <a:latin typeface="Times New Roman" panose="02020603050405020304" pitchFamily="18" charset="0"/>
                        <a:cs typeface="Times New Roman" panose="02020603050405020304" pitchFamily="18" charset="0"/>
                      </a:endParaRPr>
                    </a:p>
                  </a:txBody>
                  <a:tcPr/>
                </a:tc>
              </a:tr>
              <a:tr h="344363">
                <a:tc>
                  <a:txBody>
                    <a:bodyPr/>
                    <a:lstStyle/>
                    <a:p>
                      <a:r>
                        <a:rPr lang="en-US" sz="2000" dirty="0" smtClean="0">
                          <a:latin typeface="Times New Roman" panose="02020603050405020304" pitchFamily="18" charset="0"/>
                          <a:cs typeface="Times New Roman" panose="02020603050405020304" pitchFamily="18" charset="0"/>
                        </a:rPr>
                        <a:t>DVC</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smtClean="0">
                          <a:latin typeface="Times New Roman" panose="02020603050405020304" pitchFamily="18" charset="0"/>
                          <a:cs typeface="Times New Roman" panose="02020603050405020304" pitchFamily="18" charset="0"/>
                        </a:rPr>
                        <a:t>DC Voltage Control</a:t>
                      </a:r>
                      <a:endParaRPr lang="en-US" sz="2000" dirty="0">
                        <a:latin typeface="Times New Roman" panose="02020603050405020304" pitchFamily="18" charset="0"/>
                        <a:cs typeface="Times New Roman" panose="02020603050405020304" pitchFamily="18" charset="0"/>
                      </a:endParaRPr>
                    </a:p>
                  </a:txBody>
                  <a:tcPr/>
                </a:tc>
              </a:tr>
              <a:tr h="344363">
                <a:tc>
                  <a:txBody>
                    <a:bodyPr/>
                    <a:lstStyle/>
                    <a:p>
                      <a:r>
                        <a:rPr lang="en-US" sz="2000" dirty="0" smtClean="0">
                          <a:latin typeface="Times New Roman" panose="02020603050405020304" pitchFamily="18" charset="0"/>
                          <a:cs typeface="Times New Roman" panose="02020603050405020304" pitchFamily="18" charset="0"/>
                        </a:rPr>
                        <a:t>CBC</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smtClean="0">
                          <a:latin typeface="Times New Roman" panose="02020603050405020304" pitchFamily="18" charset="0"/>
                          <a:cs typeface="Times New Roman" panose="02020603050405020304" pitchFamily="18" charset="0"/>
                        </a:rPr>
                        <a:t>Current Balance Control</a:t>
                      </a:r>
                      <a:endParaRPr lang="en-US" sz="2000" dirty="0">
                        <a:latin typeface="Times New Roman" panose="02020603050405020304" pitchFamily="18" charset="0"/>
                        <a:cs typeface="Times New Roman" panose="02020603050405020304" pitchFamily="18" charset="0"/>
                      </a:endParaRPr>
                    </a:p>
                  </a:txBody>
                  <a:tcPr/>
                </a:tc>
              </a:tr>
              <a:tr h="344363">
                <a:tc>
                  <a:txBody>
                    <a:bodyPr/>
                    <a:lstStyle/>
                    <a:p>
                      <a:r>
                        <a:rPr lang="en-US" sz="2000" dirty="0" smtClean="0">
                          <a:latin typeface="Times New Roman" panose="02020603050405020304" pitchFamily="18" charset="0"/>
                          <a:cs typeface="Times New Roman" panose="02020603050405020304" pitchFamily="18" charset="0"/>
                        </a:rPr>
                        <a:t>SER</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smtClean="0">
                          <a:latin typeface="Times New Roman" panose="02020603050405020304" pitchFamily="18" charset="0"/>
                          <a:cs typeface="Times New Roman" panose="02020603050405020304" pitchFamily="18" charset="0"/>
                        </a:rPr>
                        <a:t>Sequence of Event recording</a:t>
                      </a:r>
                      <a:endParaRPr lang="en-US" sz="2000" dirty="0">
                        <a:latin typeface="Times New Roman" panose="02020603050405020304" pitchFamily="18" charset="0"/>
                        <a:cs typeface="Times New Roman" panose="02020603050405020304" pitchFamily="18" charset="0"/>
                      </a:endParaRPr>
                    </a:p>
                  </a:txBody>
                  <a:tcPr/>
                </a:tc>
              </a:tr>
              <a:tr h="344363">
                <a:tc>
                  <a:txBody>
                    <a:bodyPr/>
                    <a:lstStyle/>
                    <a:p>
                      <a:r>
                        <a:rPr lang="en-US" sz="2000" dirty="0" smtClean="0">
                          <a:latin typeface="Times New Roman" panose="02020603050405020304" pitchFamily="18" charset="0"/>
                          <a:cs typeface="Times New Roman" panose="02020603050405020304" pitchFamily="18" charset="0"/>
                        </a:rPr>
                        <a:t>TFR</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smtClean="0">
                          <a:latin typeface="Times New Roman" panose="02020603050405020304" pitchFamily="18" charset="0"/>
                          <a:cs typeface="Times New Roman" panose="02020603050405020304" pitchFamily="18" charset="0"/>
                        </a:rPr>
                        <a:t>Transient Fault Recording</a:t>
                      </a:r>
                      <a:endParaRPr lang="en-US" sz="2000" dirty="0">
                        <a:latin typeface="Times New Roman" panose="02020603050405020304" pitchFamily="18" charset="0"/>
                        <a:cs typeface="Times New Roman" panose="02020603050405020304" pitchFamily="18" charset="0"/>
                      </a:endParaRPr>
                    </a:p>
                  </a:txBody>
                  <a:tcPr/>
                </a:tc>
              </a:tr>
              <a:tr h="344363">
                <a:tc>
                  <a:txBody>
                    <a:bodyPr/>
                    <a:lstStyle/>
                    <a:p>
                      <a:r>
                        <a:rPr lang="en-US" sz="2000" dirty="0" smtClean="0">
                          <a:latin typeface="Times New Roman" panose="02020603050405020304" pitchFamily="18" charset="0"/>
                          <a:cs typeface="Times New Roman" panose="02020603050405020304" pitchFamily="18" charset="0"/>
                        </a:rPr>
                        <a:t>VCE</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smtClean="0">
                          <a:latin typeface="Times New Roman" panose="02020603050405020304" pitchFamily="18" charset="0"/>
                          <a:cs typeface="Times New Roman" panose="02020603050405020304" pitchFamily="18" charset="0"/>
                        </a:rPr>
                        <a:t>Valve Control Electronics</a:t>
                      </a:r>
                      <a:endParaRPr lang="en-US" sz="2000" dirty="0">
                        <a:latin typeface="Times New Roman" panose="02020603050405020304" pitchFamily="18" charset="0"/>
                        <a:cs typeface="Times New Roman" panose="02020603050405020304" pitchFamily="18" charset="0"/>
                      </a:endParaRPr>
                    </a:p>
                  </a:txBody>
                  <a:tcPr/>
                </a:tc>
              </a:tr>
              <a:tr h="344363">
                <a:tc>
                  <a:txBody>
                    <a:bodyPr/>
                    <a:lstStyle/>
                    <a:p>
                      <a:r>
                        <a:rPr lang="en-US" sz="2000" dirty="0" smtClean="0">
                          <a:latin typeface="Times New Roman" panose="02020603050405020304" pitchFamily="18" charset="0"/>
                          <a:cs typeface="Times New Roman" panose="02020603050405020304" pitchFamily="18" charset="0"/>
                        </a:rPr>
                        <a:t>ESOF</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smtClean="0">
                          <a:latin typeface="Times New Roman" panose="02020603050405020304" pitchFamily="18" charset="0"/>
                          <a:cs typeface="Times New Roman" panose="02020603050405020304" pitchFamily="18" charset="0"/>
                        </a:rPr>
                        <a:t>Emergency Shutdown</a:t>
                      </a:r>
                      <a:endParaRPr lang="en-US" sz="2000" dirty="0">
                        <a:latin typeface="Times New Roman" panose="02020603050405020304" pitchFamily="18" charset="0"/>
                        <a:cs typeface="Times New Roman" panose="02020603050405020304" pitchFamily="18" charset="0"/>
                      </a:endParaRPr>
                    </a:p>
                  </a:txBody>
                  <a:tcPr/>
                </a:tc>
              </a:tr>
              <a:tr h="344363">
                <a:tc>
                  <a:txBody>
                    <a:bodyPr/>
                    <a:lstStyle/>
                    <a:p>
                      <a:r>
                        <a:rPr lang="en-US" sz="2000" dirty="0" err="1" smtClean="0">
                          <a:latin typeface="Times New Roman" panose="02020603050405020304" pitchFamily="18" charset="0"/>
                          <a:cs typeface="Times New Roman" panose="02020603050405020304" pitchFamily="18" charset="0"/>
                        </a:rPr>
                        <a:t>Imin</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smtClean="0">
                          <a:latin typeface="Times New Roman" panose="02020603050405020304" pitchFamily="18" charset="0"/>
                          <a:cs typeface="Times New Roman" panose="02020603050405020304" pitchFamily="18" charset="0"/>
                        </a:rPr>
                        <a:t>Minimum Dc Current</a:t>
                      </a:r>
                      <a:endParaRPr lang="en-US" sz="2000" dirty="0">
                        <a:latin typeface="Times New Roman" panose="02020603050405020304" pitchFamily="18" charset="0"/>
                        <a:cs typeface="Times New Roman" panose="02020603050405020304" pitchFamily="18" charset="0"/>
                      </a:endParaRPr>
                    </a:p>
                  </a:txBody>
                  <a:tcPr/>
                </a:tc>
              </a:tr>
              <a:tr h="344363">
                <a:tc>
                  <a:txBody>
                    <a:bodyPr/>
                    <a:lstStyle/>
                    <a:p>
                      <a:r>
                        <a:rPr lang="en-US" sz="2000" dirty="0" smtClean="0">
                          <a:latin typeface="Times New Roman" panose="02020603050405020304" pitchFamily="18" charset="0"/>
                          <a:cs typeface="Times New Roman" panose="02020603050405020304" pitchFamily="18" charset="0"/>
                        </a:rPr>
                        <a:t>α</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smtClean="0">
                          <a:latin typeface="Times New Roman" panose="02020603050405020304" pitchFamily="18" charset="0"/>
                          <a:cs typeface="Times New Roman" panose="02020603050405020304" pitchFamily="18" charset="0"/>
                        </a:rPr>
                        <a:t>Firing Angle</a:t>
                      </a:r>
                      <a:endParaRPr lang="en-US" sz="2000" dirty="0">
                        <a:latin typeface="Times New Roman" panose="02020603050405020304" pitchFamily="18" charset="0"/>
                        <a:cs typeface="Times New Roman" panose="02020603050405020304" pitchFamily="18" charset="0"/>
                      </a:endParaRPr>
                    </a:p>
                  </a:txBody>
                  <a:tcPr/>
                </a:tc>
              </a:tr>
              <a:tr h="344363">
                <a:tc>
                  <a:txBody>
                    <a:bodyPr/>
                    <a:lstStyle/>
                    <a:p>
                      <a:r>
                        <a:rPr lang="el-GR" sz="2000" dirty="0" smtClean="0">
                          <a:latin typeface="Times New Roman" panose="02020603050405020304" pitchFamily="18" charset="0"/>
                          <a:cs typeface="Times New Roman" panose="02020603050405020304" pitchFamily="18" charset="0"/>
                        </a:rPr>
                        <a:t>γ</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smtClean="0">
                          <a:latin typeface="Times New Roman" panose="02020603050405020304" pitchFamily="18" charset="0"/>
                          <a:cs typeface="Times New Roman" panose="02020603050405020304" pitchFamily="18" charset="0"/>
                        </a:rPr>
                        <a:t>Extinction Angle</a:t>
                      </a:r>
                      <a:endParaRPr lang="en-US" sz="2000" dirty="0">
                        <a:latin typeface="Times New Roman" panose="02020603050405020304" pitchFamily="18" charset="0"/>
                        <a:cs typeface="Times New Roman" panose="02020603050405020304" pitchFamily="18" charset="0"/>
                      </a:endParaRPr>
                    </a:p>
                  </a:txBody>
                  <a:tcPr/>
                </a:tc>
              </a:tr>
              <a:tr h="344363">
                <a:tc>
                  <a:txBody>
                    <a:bodyPr/>
                    <a:lstStyle/>
                    <a:p>
                      <a:r>
                        <a:rPr lang="en-US" sz="2000" dirty="0" smtClean="0">
                          <a:latin typeface="Times New Roman" panose="02020603050405020304" pitchFamily="18" charset="0"/>
                          <a:cs typeface="Times New Roman" panose="02020603050405020304" pitchFamily="18" charset="0"/>
                        </a:rPr>
                        <a:t>UD</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smtClean="0">
                          <a:latin typeface="Times New Roman" panose="02020603050405020304" pitchFamily="18" charset="0"/>
                          <a:cs typeface="Times New Roman" panose="02020603050405020304" pitchFamily="18" charset="0"/>
                        </a:rPr>
                        <a:t>DC Voltage</a:t>
                      </a:r>
                      <a:endParaRPr lang="en-US" sz="2000" dirty="0">
                        <a:latin typeface="Times New Roman" panose="02020603050405020304" pitchFamily="18" charset="0"/>
                        <a:cs typeface="Times New Roman" panose="02020603050405020304" pitchFamily="18" charset="0"/>
                      </a:endParaRPr>
                    </a:p>
                  </a:txBody>
                  <a:tcPr/>
                </a:tc>
              </a:tr>
              <a:tr h="344363">
                <a:tc>
                  <a:txBody>
                    <a:bodyPr/>
                    <a:lstStyle/>
                    <a:p>
                      <a:r>
                        <a:rPr lang="en-US" sz="2000" dirty="0" smtClean="0">
                          <a:latin typeface="Times New Roman" panose="02020603050405020304" pitchFamily="18" charset="0"/>
                          <a:cs typeface="Times New Roman" panose="02020603050405020304" pitchFamily="18" charset="0"/>
                        </a:rPr>
                        <a:t>DC</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smtClean="0">
                          <a:latin typeface="Times New Roman" panose="02020603050405020304" pitchFamily="18" charset="0"/>
                          <a:cs typeface="Times New Roman" panose="02020603050405020304" pitchFamily="18" charset="0"/>
                        </a:rPr>
                        <a:t>Direct Current</a:t>
                      </a:r>
                      <a:endParaRPr lang="en-US" sz="2000" dirty="0">
                        <a:latin typeface="Times New Roman" panose="02020603050405020304" pitchFamily="18" charset="0"/>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103185246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555189"/>
          </a:xfrm>
        </p:spPr>
        <p:txBody>
          <a:bodyPr>
            <a:normAutofit fontScale="90000"/>
          </a:bodyPr>
          <a:lstStyle/>
          <a:p>
            <a:pPr marL="571500" indent="-571500">
              <a:buFont typeface="Wingdings" panose="05000000000000000000" pitchFamily="2" charset="2"/>
              <a:buChar char="Ø"/>
            </a:pPr>
            <a:r>
              <a:rPr lang="en-US" b="1" dirty="0" smtClean="0"/>
              <a:t>Functional scope</a:t>
            </a:r>
            <a:endParaRPr lang="en-US" b="1" dirty="0"/>
          </a:p>
        </p:txBody>
      </p:sp>
      <p:sp>
        <p:nvSpPr>
          <p:cNvPr id="3" name="Content Placeholder 2"/>
          <p:cNvSpPr>
            <a:spLocks noGrp="1"/>
          </p:cNvSpPr>
          <p:nvPr>
            <p:ph idx="1"/>
          </p:nvPr>
        </p:nvSpPr>
        <p:spPr>
          <a:xfrm>
            <a:off x="1141412" y="1173707"/>
            <a:ext cx="9905999" cy="5540992"/>
          </a:xfrm>
        </p:spPr>
        <p:txBody>
          <a:bodyPr>
            <a:normAutofit fontScale="92500" lnSpcReduction="10000"/>
          </a:bodyPr>
          <a:lstStyle/>
          <a:p>
            <a:pPr marL="0" indent="0">
              <a:buNone/>
            </a:pPr>
            <a:r>
              <a:rPr lang="en-US" dirty="0">
                <a:latin typeface="Times New Roman" panose="02020603050405020304" pitchFamily="18" charset="0"/>
                <a:cs typeface="Times New Roman" panose="02020603050405020304" pitchFamily="18" charset="0"/>
              </a:rPr>
              <a:t>The DC Control system of the project can be divided into 3 levels:</a:t>
            </a:r>
          </a:p>
          <a:p>
            <a:pPr marL="0" indent="0">
              <a:buNone/>
            </a:pPr>
            <a:r>
              <a:rPr lang="en-US" dirty="0">
                <a:latin typeface="Times New Roman" panose="02020603050405020304" pitchFamily="18" charset="0"/>
                <a:cs typeface="Times New Roman" panose="02020603050405020304" pitchFamily="18" charset="0"/>
              </a:rPr>
              <a:t>1- Bi-pole level          2- Pole level             3- Converter level</a:t>
            </a:r>
          </a:p>
          <a:p>
            <a:pPr marL="0" indent="0">
              <a:buNone/>
            </a:pPr>
            <a:r>
              <a:rPr lang="en-US" sz="3000" b="1" dirty="0" smtClean="0">
                <a:latin typeface="Times New Roman" panose="02020603050405020304" pitchFamily="18" charset="0"/>
                <a:cs typeface="Times New Roman" panose="02020603050405020304" pitchFamily="18" charset="0"/>
              </a:rPr>
              <a:t>Basic </a:t>
            </a:r>
            <a:r>
              <a:rPr lang="en-US" sz="3000" b="1" dirty="0">
                <a:latin typeface="Times New Roman" panose="02020603050405020304" pitchFamily="18" charset="0"/>
                <a:cs typeface="Times New Roman" panose="02020603050405020304" pitchFamily="18" charset="0"/>
              </a:rPr>
              <a:t>Functions</a:t>
            </a:r>
            <a:r>
              <a:rPr lang="en-US" sz="3600" b="1" dirty="0">
                <a:latin typeface="Times New Roman" panose="02020603050405020304" pitchFamily="18" charset="0"/>
                <a:cs typeface="Times New Roman" panose="02020603050405020304" pitchFamily="18" charset="0"/>
              </a:rPr>
              <a:t>:-</a:t>
            </a:r>
          </a:p>
          <a:p>
            <a:pPr marL="0" indent="0">
              <a:buNone/>
            </a:pPr>
            <a:r>
              <a:rPr lang="en-US" sz="2600" b="1" dirty="0">
                <a:latin typeface="Times New Roman" panose="02020603050405020304" pitchFamily="18" charset="0"/>
                <a:cs typeface="Times New Roman" panose="02020603050405020304" pitchFamily="18" charset="0"/>
              </a:rPr>
              <a:t>Communication function</a:t>
            </a:r>
          </a:p>
          <a:p>
            <a:pPr marL="0" indent="0">
              <a:buNone/>
            </a:pPr>
            <a:r>
              <a:rPr lang="en-US" dirty="0">
                <a:latin typeface="Times New Roman" panose="02020603050405020304" pitchFamily="18" charset="0"/>
                <a:cs typeface="Times New Roman" panose="02020603050405020304" pitchFamily="18" charset="0"/>
              </a:rPr>
              <a:t>The basic function includes communication function and the types of communication function can be defined as: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LAN communication</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Field communication</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Control bus communication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Fast interstation communication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Modulated wave optical fiber communication</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027715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568837"/>
          </a:xfrm>
        </p:spPr>
        <p:txBody>
          <a:bodyPr>
            <a:normAutofit fontScale="90000"/>
          </a:bodyPr>
          <a:lstStyle/>
          <a:p>
            <a:endParaRPr lang="en-US" b="1" dirty="0"/>
          </a:p>
        </p:txBody>
      </p:sp>
      <p:sp>
        <p:nvSpPr>
          <p:cNvPr id="3" name="Content Placeholder 2"/>
          <p:cNvSpPr>
            <a:spLocks noGrp="1"/>
          </p:cNvSpPr>
          <p:nvPr>
            <p:ph idx="1"/>
          </p:nvPr>
        </p:nvSpPr>
        <p:spPr>
          <a:xfrm>
            <a:off x="1141412" y="1187355"/>
            <a:ext cx="9905999" cy="4603846"/>
          </a:xfrm>
        </p:spPr>
        <p:txBody>
          <a:bodyPr>
            <a:normAutofit fontScale="92500" lnSpcReduction="10000"/>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IEC60044-8 bus communication</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GOOSE bus communication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TDM bus communication</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Hardware Monitoring</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Software Monitoring</a:t>
            </a:r>
          </a:p>
          <a:p>
            <a:pPr marL="0" indent="0">
              <a:buNone/>
            </a:pPr>
            <a:r>
              <a:rPr lang="en-US" sz="2600" b="1" dirty="0">
                <a:latin typeface="Times New Roman" panose="02020603050405020304" pitchFamily="18" charset="0"/>
                <a:cs typeface="Times New Roman" panose="02020603050405020304" pitchFamily="18" charset="0"/>
              </a:rPr>
              <a:t>Redundancy Function</a:t>
            </a:r>
          </a:p>
          <a:p>
            <a:r>
              <a:rPr lang="en-US" dirty="0">
                <a:latin typeface="Times New Roman" panose="02020603050405020304" pitchFamily="18" charset="0"/>
                <a:cs typeface="Times New Roman" panose="02020603050405020304" pitchFamily="18" charset="0"/>
              </a:rPr>
              <a:t>System selection control </a:t>
            </a:r>
          </a:p>
          <a:p>
            <a:r>
              <a:rPr lang="en-US" dirty="0">
                <a:latin typeface="Times New Roman" panose="02020603050405020304" pitchFamily="18" charset="0"/>
                <a:cs typeface="Times New Roman" panose="02020603050405020304" pitchFamily="18" charset="0"/>
              </a:rPr>
              <a:t>Signal switching logic</a:t>
            </a:r>
          </a:p>
          <a:p>
            <a:r>
              <a:rPr lang="en-US" dirty="0">
                <a:latin typeface="Times New Roman" panose="02020603050405020304" pitchFamily="18" charset="0"/>
                <a:cs typeface="Times New Roman" panose="02020603050405020304" pitchFamily="18" charset="0"/>
              </a:rPr>
              <a:t>Redundant real-time tracking</a:t>
            </a:r>
          </a:p>
        </p:txBody>
      </p:sp>
    </p:spTree>
    <p:extLst>
      <p:ext uri="{BB962C8B-B14F-4D97-AF65-F5344CB8AC3E}">
        <p14:creationId xmlns:p14="http://schemas.microsoft.com/office/powerpoint/2010/main" val="7429346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609781"/>
          </a:xfrm>
        </p:spPr>
        <p:txBody>
          <a:bodyPr>
            <a:normAutofit/>
          </a:bodyPr>
          <a:lstStyle/>
          <a:p>
            <a:r>
              <a:rPr lang="en-US" sz="3200" dirty="0" smtClean="0"/>
              <a:t>1-Function </a:t>
            </a:r>
            <a:r>
              <a:rPr lang="en-US" sz="3200" dirty="0"/>
              <a:t>of </a:t>
            </a:r>
            <a:r>
              <a:rPr lang="en-US" sz="3200" dirty="0" smtClean="0"/>
              <a:t>Bi-pole </a:t>
            </a:r>
            <a:r>
              <a:rPr lang="en-US" sz="3200" dirty="0"/>
              <a:t>Level</a:t>
            </a:r>
          </a:p>
        </p:txBody>
      </p:sp>
      <p:sp>
        <p:nvSpPr>
          <p:cNvPr id="3" name="Content Placeholder 2"/>
          <p:cNvSpPr>
            <a:spLocks noGrp="1"/>
          </p:cNvSpPr>
          <p:nvPr>
            <p:ph idx="1"/>
          </p:nvPr>
        </p:nvSpPr>
        <p:spPr>
          <a:xfrm>
            <a:off x="1141412" y="1228298"/>
            <a:ext cx="9905999" cy="5390866"/>
          </a:xfrm>
        </p:spPr>
        <p:txBody>
          <a:bodyPr>
            <a:normAutofit/>
          </a:bodyPr>
          <a:lstStyle/>
          <a:p>
            <a:r>
              <a:rPr lang="en-US" dirty="0">
                <a:latin typeface="Times New Roman" panose="02020603050405020304" pitchFamily="18" charset="0"/>
                <a:cs typeface="Times New Roman" panose="02020603050405020304" pitchFamily="18" charset="0"/>
              </a:rPr>
              <a:t>The functions of the </a:t>
            </a:r>
            <a:r>
              <a:rPr lang="en-US" dirty="0" smtClean="0">
                <a:latin typeface="Times New Roman" panose="02020603050405020304" pitchFamily="18" charset="0"/>
                <a:cs typeface="Times New Roman" panose="02020603050405020304" pitchFamily="18" charset="0"/>
              </a:rPr>
              <a:t>Bi-pole </a:t>
            </a:r>
            <a:r>
              <a:rPr lang="en-US" dirty="0">
                <a:latin typeface="Times New Roman" panose="02020603050405020304" pitchFamily="18" charset="0"/>
                <a:cs typeface="Times New Roman" panose="02020603050405020304" pitchFamily="18" charset="0"/>
              </a:rPr>
              <a:t>Level are implemented in the DC Station Control host to provide pole DC power orders to the pole control hosts of both poles.</a:t>
            </a:r>
          </a:p>
          <a:p>
            <a:r>
              <a:rPr lang="en-US" dirty="0">
                <a:latin typeface="Times New Roman" panose="02020603050405020304" pitchFamily="18" charset="0"/>
                <a:cs typeface="Times New Roman" panose="02020603050405020304" pitchFamily="18" charset="0"/>
              </a:rPr>
              <a:t>DC power orders are distributed to the pole control hosts of each pole according to the </a:t>
            </a:r>
            <a:r>
              <a:rPr lang="en-US" dirty="0" smtClean="0">
                <a:latin typeface="Times New Roman" panose="02020603050405020304" pitchFamily="18" charset="0"/>
                <a:cs typeface="Times New Roman" panose="02020603050405020304" pitchFamily="18" charset="0"/>
              </a:rPr>
              <a:t>Bi-pole </a:t>
            </a:r>
            <a:r>
              <a:rPr lang="en-US" dirty="0">
                <a:latin typeface="Times New Roman" panose="02020603050405020304" pitchFamily="18" charset="0"/>
                <a:cs typeface="Times New Roman" panose="02020603050405020304" pitchFamily="18" charset="0"/>
              </a:rPr>
              <a:t>DC power orders issued by the HMI system, additional control, current balance control of double poles, emergency pole-pole power transfer and other factors. </a:t>
            </a:r>
          </a:p>
          <a:p>
            <a:r>
              <a:rPr lang="en-US" dirty="0">
                <a:latin typeface="Times New Roman" panose="02020603050405020304" pitchFamily="18" charset="0"/>
                <a:cs typeface="Times New Roman" panose="02020603050405020304" pitchFamily="18" charset="0"/>
              </a:rPr>
              <a:t>The DC station control host is also responsible for relevant sequence controls, Reactive power control and AC bus voltage control of the whole system. </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845938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541542"/>
          </a:xfrm>
        </p:spPr>
        <p:txBody>
          <a:bodyPr>
            <a:normAutofit/>
          </a:bodyPr>
          <a:lstStyle/>
          <a:p>
            <a:r>
              <a:rPr lang="en-US" sz="3200" dirty="0" smtClean="0">
                <a:latin typeface="Times New Roman" panose="02020603050405020304" pitchFamily="18" charset="0"/>
                <a:cs typeface="Times New Roman" panose="02020603050405020304" pitchFamily="18" charset="0"/>
              </a:rPr>
              <a:t>2-Function of pole level</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141412" y="1160060"/>
            <a:ext cx="9905999" cy="4631141"/>
          </a:xfrm>
        </p:spPr>
        <p:txBody>
          <a:bodyPr/>
          <a:lstStyle/>
          <a:p>
            <a:r>
              <a:rPr lang="en-US" dirty="0" smtClean="0">
                <a:latin typeface="Times New Roman" panose="02020603050405020304" pitchFamily="18" charset="0"/>
                <a:cs typeface="Times New Roman" panose="02020603050405020304" pitchFamily="18" charset="0"/>
              </a:rPr>
              <a:t>This is implemented in pole control host</a:t>
            </a:r>
          </a:p>
          <a:p>
            <a:r>
              <a:rPr lang="en-US" dirty="0" smtClean="0">
                <a:latin typeface="Times New Roman" panose="02020603050405020304" pitchFamily="18" charset="0"/>
                <a:cs typeface="Times New Roman" panose="02020603050405020304" pitchFamily="18" charset="0"/>
              </a:rPr>
              <a:t>It calculates dc current and dc voltage reference according to the monopolar DC current/ monopolar DC power order from HMI ,thus converter level control is close loop</a:t>
            </a:r>
          </a:p>
          <a:p>
            <a:r>
              <a:rPr lang="en-US" dirty="0" smtClean="0">
                <a:latin typeface="Times New Roman" panose="02020603050405020304" pitchFamily="18" charset="0"/>
                <a:cs typeface="Times New Roman" panose="02020603050405020304" pitchFamily="18" charset="0"/>
              </a:rPr>
              <a:t>Pole control host of one station also communicates with pole control host of other station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130215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527894"/>
          </a:xfrm>
        </p:spPr>
        <p:txBody>
          <a:bodyPr>
            <a:noAutofit/>
          </a:bodyPr>
          <a:lstStyle/>
          <a:p>
            <a:r>
              <a:rPr lang="en-US" sz="3200" dirty="0" smtClean="0">
                <a:latin typeface="Times New Roman" panose="02020603050405020304" pitchFamily="18" charset="0"/>
                <a:cs typeface="Times New Roman" panose="02020603050405020304" pitchFamily="18" charset="0"/>
              </a:rPr>
              <a:t>3-Function </a:t>
            </a:r>
            <a:r>
              <a:rPr lang="en-US" sz="3200" dirty="0">
                <a:latin typeface="Times New Roman" panose="02020603050405020304" pitchFamily="18" charset="0"/>
                <a:cs typeface="Times New Roman" panose="02020603050405020304" pitchFamily="18" charset="0"/>
              </a:rPr>
              <a:t>of Converter Level</a:t>
            </a:r>
          </a:p>
        </p:txBody>
      </p:sp>
      <p:sp>
        <p:nvSpPr>
          <p:cNvPr id="3" name="Content Placeholder 2"/>
          <p:cNvSpPr>
            <a:spLocks noGrp="1"/>
          </p:cNvSpPr>
          <p:nvPr>
            <p:ph idx="1"/>
          </p:nvPr>
        </p:nvSpPr>
        <p:spPr>
          <a:xfrm>
            <a:off x="1141412" y="1146412"/>
            <a:ext cx="9905999" cy="5349922"/>
          </a:xfrm>
        </p:spPr>
        <p:txBody>
          <a:bodyPr>
            <a:normAutofit fontScale="92500" lnSpcReduction="20000"/>
          </a:bodyPr>
          <a:lstStyle/>
          <a:p>
            <a:pPr marL="0" indent="0">
              <a:buNone/>
            </a:pPr>
            <a:r>
              <a:rPr lang="en-US" dirty="0">
                <a:latin typeface="Times New Roman" panose="02020603050405020304" pitchFamily="18" charset="0"/>
                <a:cs typeface="Times New Roman" panose="02020603050405020304" pitchFamily="18" charset="0"/>
              </a:rPr>
              <a:t>Converter level with its functions realized by the pole control host is mainly used for following:</a:t>
            </a: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Closed Loop Control of DC Current Controllers.</a:t>
            </a:r>
          </a:p>
          <a:p>
            <a:r>
              <a:rPr lang="en-US" dirty="0" smtClean="0">
                <a:latin typeface="Times New Roman" panose="02020603050405020304" pitchFamily="18" charset="0"/>
                <a:cs typeface="Times New Roman" panose="02020603050405020304" pitchFamily="18" charset="0"/>
              </a:rPr>
              <a:t>Closed </a:t>
            </a:r>
            <a:r>
              <a:rPr lang="en-US" dirty="0">
                <a:latin typeface="Times New Roman" panose="02020603050405020304" pitchFamily="18" charset="0"/>
                <a:cs typeface="Times New Roman" panose="02020603050405020304" pitchFamily="18" charset="0"/>
              </a:rPr>
              <a:t>Loop Control of DC Voltage Controllers.</a:t>
            </a:r>
          </a:p>
          <a:p>
            <a:r>
              <a:rPr lang="en-US" dirty="0">
                <a:latin typeface="Times New Roman" panose="02020603050405020304" pitchFamily="18" charset="0"/>
                <a:cs typeface="Times New Roman" panose="02020603050405020304" pitchFamily="18" charset="0"/>
              </a:rPr>
              <a:t>Closed Loop Control of Extinction Angle controllers.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It does all of the above according to reference value of DC current and Voltage.</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This layer also converts firing angle instructions into firing pulses, Enabling/disabling sequence control, steady/transient operation control and emergency enabling/disabling sequence control in case of fault.</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657152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650724"/>
          </a:xfrm>
        </p:spPr>
        <p:txBody>
          <a:bodyPr>
            <a:normAutofit/>
          </a:bodyPr>
          <a:lstStyle/>
          <a:p>
            <a:pPr marL="457200" indent="-457200">
              <a:buFont typeface="Wingdings" panose="05000000000000000000" pitchFamily="2" charset="2"/>
              <a:buChar char="Ø"/>
            </a:pPr>
            <a:r>
              <a:rPr lang="en-US" sz="3200" b="1" dirty="0">
                <a:latin typeface="Times New Roman" panose="02020603050405020304" pitchFamily="18" charset="0"/>
                <a:cs typeface="Times New Roman" panose="02020603050405020304" pitchFamily="18" charset="0"/>
              </a:rPr>
              <a:t>Pole control system and </a:t>
            </a:r>
            <a:r>
              <a:rPr lang="en-US" sz="3200" b="1" dirty="0" smtClean="0">
                <a:latin typeface="Times New Roman" panose="02020603050405020304" pitchFamily="18" charset="0"/>
                <a:cs typeface="Times New Roman" panose="02020603050405020304" pitchFamily="18" charset="0"/>
              </a:rPr>
              <a:t> its cabinet</a:t>
            </a:r>
            <a:endParaRPr lang="en-US" sz="3200" b="1" dirty="0"/>
          </a:p>
        </p:txBody>
      </p:sp>
      <p:sp>
        <p:nvSpPr>
          <p:cNvPr id="3" name="Content Placeholder 2"/>
          <p:cNvSpPr>
            <a:spLocks noGrp="1"/>
          </p:cNvSpPr>
          <p:nvPr>
            <p:ph idx="1"/>
          </p:nvPr>
        </p:nvSpPr>
        <p:spPr>
          <a:xfrm>
            <a:off x="1141412" y="1269242"/>
            <a:ext cx="9905999" cy="5117910"/>
          </a:xfrm>
        </p:spPr>
        <p:txBody>
          <a:bodyPr/>
          <a:lstStyle/>
          <a:p>
            <a:pPr marL="285750" indent="-285750">
              <a:lnSpc>
                <a:spcPct val="200000"/>
              </a:lnSpc>
            </a:pPr>
            <a:r>
              <a:rPr lang="en-US" dirty="0">
                <a:latin typeface="Times New Roman" panose="02020603050405020304" pitchFamily="18" charset="0"/>
                <a:cs typeface="Times New Roman" panose="02020603050405020304" pitchFamily="18" charset="0"/>
              </a:rPr>
              <a:t>Each converter station (Matiari or Lahore) has 2 poles </a:t>
            </a:r>
          </a:p>
          <a:p>
            <a:pPr marL="285750" indent="-285750">
              <a:lnSpc>
                <a:spcPct val="200000"/>
              </a:lnSpc>
            </a:pPr>
            <a:r>
              <a:rPr lang="en-US" dirty="0">
                <a:latin typeface="Times New Roman" panose="02020603050405020304" pitchFamily="18" charset="0"/>
                <a:cs typeface="Times New Roman" panose="02020603050405020304" pitchFamily="18" charset="0"/>
              </a:rPr>
              <a:t>Each pole is equipped with 2 redundant pole control systems (A and B) and each system is installed in its own cabinet</a:t>
            </a:r>
          </a:p>
          <a:p>
            <a:pPr marL="285750" indent="-285750">
              <a:lnSpc>
                <a:spcPct val="200000"/>
              </a:lnSpc>
            </a:pPr>
            <a:r>
              <a:rPr lang="en-US" dirty="0">
                <a:latin typeface="Times New Roman" panose="02020603050405020304" pitchFamily="18" charset="0"/>
                <a:cs typeface="Times New Roman" panose="02020603050405020304" pitchFamily="18" charset="0"/>
              </a:rPr>
              <a:t>So there will be total 4 cabinets in each station</a:t>
            </a:r>
          </a:p>
          <a:p>
            <a:pPr marL="285750" indent="-285750">
              <a:lnSpc>
                <a:spcPct val="200000"/>
              </a:lnSpc>
            </a:pPr>
            <a:r>
              <a:rPr lang="en-US" dirty="0">
                <a:latin typeface="Times New Roman" panose="02020603050405020304" pitchFamily="18" charset="0"/>
                <a:cs typeface="Times New Roman" panose="02020603050405020304" pitchFamily="18" charset="0"/>
              </a:rPr>
              <a:t>So in total 8 cabinets including Matiari and Lahore stations </a:t>
            </a:r>
          </a:p>
          <a:p>
            <a:pPr marL="0" indent="0">
              <a:buNone/>
            </a:pPr>
            <a:endParaRPr lang="en-US" dirty="0"/>
          </a:p>
        </p:txBody>
      </p:sp>
    </p:spTree>
    <p:extLst>
      <p:ext uri="{BB962C8B-B14F-4D97-AF65-F5344CB8AC3E}">
        <p14:creationId xmlns:p14="http://schemas.microsoft.com/office/powerpoint/2010/main" val="266594851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9"/>
            <a:ext cx="9905998" cy="650724"/>
          </a:xfrm>
        </p:spPr>
        <p:txBody>
          <a:bodyPr>
            <a:normAutofit/>
          </a:bodyPr>
          <a:lstStyle/>
          <a:p>
            <a:pPr marL="457200" indent="-457200">
              <a:buFont typeface="Wingdings" panose="05000000000000000000" pitchFamily="2" charset="2"/>
              <a:buChar char="Ø"/>
            </a:pPr>
            <a:r>
              <a:rPr lang="en-US" sz="3200" b="1" dirty="0">
                <a:latin typeface="Times New Roman" panose="02020603050405020304" pitchFamily="18" charset="0"/>
                <a:cs typeface="Times New Roman" panose="02020603050405020304" pitchFamily="18" charset="0"/>
              </a:rPr>
              <a:t>Concept of Pole Control</a:t>
            </a:r>
          </a:p>
        </p:txBody>
      </p:sp>
      <p:sp>
        <p:nvSpPr>
          <p:cNvPr id="3" name="Content Placeholder 2"/>
          <p:cNvSpPr>
            <a:spLocks noGrp="1"/>
          </p:cNvSpPr>
          <p:nvPr>
            <p:ph idx="1"/>
          </p:nvPr>
        </p:nvSpPr>
        <p:spPr>
          <a:xfrm>
            <a:off x="1141412" y="1269243"/>
            <a:ext cx="9905999" cy="4967784"/>
          </a:xfrm>
        </p:spPr>
        <p:txBody>
          <a:bodyPr/>
          <a:lstStyle/>
          <a:p>
            <a:r>
              <a:rPr lang="en-US" dirty="0">
                <a:latin typeface="Times New Roman" panose="02020603050405020304" pitchFamily="18" charset="0"/>
                <a:cs typeface="Times New Roman" panose="02020603050405020304" pitchFamily="18" charset="0"/>
              </a:rPr>
              <a:t>The pole control system ensures the normal operation of DC transmission system.</a:t>
            </a:r>
          </a:p>
          <a:p>
            <a:r>
              <a:rPr lang="en-US" dirty="0">
                <a:latin typeface="Times New Roman" panose="02020603050405020304" pitchFamily="18" charset="0"/>
                <a:cs typeface="Times New Roman" panose="02020603050405020304" pitchFamily="18" charset="0"/>
              </a:rPr>
              <a:t>It is used to stabilize DC voltage and current by regulating firing angle at the rectifier and inverter station and tap changer of the converter transformer as required by operator or current operating conditions</a:t>
            </a:r>
          </a:p>
          <a:p>
            <a:r>
              <a:rPr lang="en-US" dirty="0">
                <a:latin typeface="Times New Roman" panose="02020603050405020304" pitchFamily="18" charset="0"/>
                <a:cs typeface="Times New Roman" panose="02020603050405020304" pitchFamily="18" charset="0"/>
              </a:rPr>
              <a:t>In addition, it also has control of </a:t>
            </a:r>
            <a:r>
              <a:rPr lang="en-US" dirty="0" smtClean="0">
                <a:latin typeface="Times New Roman" panose="02020603050405020304" pitchFamily="18" charset="0"/>
                <a:cs typeface="Times New Roman" panose="02020603050405020304" pitchFamily="18" charset="0"/>
              </a:rPr>
              <a:t>de-block/block </a:t>
            </a:r>
            <a:r>
              <a:rPr lang="en-US" dirty="0">
                <a:latin typeface="Times New Roman" panose="02020603050405020304" pitchFamily="18" charset="0"/>
                <a:cs typeface="Times New Roman" panose="02020603050405020304" pitchFamily="18" charset="0"/>
              </a:rPr>
              <a:t>sequence of converter valve, ensures smooth start/stop of the system and improve the additional controls of the whole system</a:t>
            </a:r>
            <a:endParaRPr lang="x-none"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631908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sz="16600" dirty="0" smtClean="0">
                <a:latin typeface="Times New Roman" panose="02020603050405020304" pitchFamily="18" charset="0"/>
                <a:cs typeface="Times New Roman" panose="02020603050405020304" pitchFamily="18" charset="0"/>
              </a:rPr>
              <a:t>Thank you</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572162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117</TotalTime>
  <Words>683</Words>
  <Application>Microsoft Office PowerPoint</Application>
  <PresentationFormat>Widescreen</PresentationFormat>
  <Paragraphs>91</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Times New Roman</vt:lpstr>
      <vt:lpstr>Trebuchet MS</vt:lpstr>
      <vt:lpstr>Tw Cen MT</vt:lpstr>
      <vt:lpstr>Wingdings</vt:lpstr>
      <vt:lpstr>Circuit</vt:lpstr>
      <vt:lpstr>PowerPoint Presentation</vt:lpstr>
      <vt:lpstr>PowerPoint Presentation</vt:lpstr>
      <vt:lpstr>Important abbreviations: </vt:lpstr>
      <vt:lpstr>Functional scope</vt:lpstr>
      <vt:lpstr>PowerPoint Presentation</vt:lpstr>
      <vt:lpstr>1-Function of Bi-pole Level</vt:lpstr>
      <vt:lpstr>2-Function of pole level</vt:lpstr>
      <vt:lpstr>3-Function of Converter Level</vt:lpstr>
      <vt:lpstr>Pole control system and  its cabinet</vt:lpstr>
      <vt:lpstr>Concept of Pole Control</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CET</dc:creator>
  <cp:lastModifiedBy>Microsoft account</cp:lastModifiedBy>
  <cp:revision>35</cp:revision>
  <dcterms:created xsi:type="dcterms:W3CDTF">2021-01-21T00:03:45Z</dcterms:created>
  <dcterms:modified xsi:type="dcterms:W3CDTF">2021-01-29T19:03:38Z</dcterms:modified>
</cp:coreProperties>
</file>