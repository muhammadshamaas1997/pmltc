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90" r:id="rId3"/>
    <p:sldId id="257" r:id="rId4"/>
    <p:sldId id="258" r:id="rId5"/>
    <p:sldId id="259" r:id="rId6"/>
    <p:sldId id="260" r:id="rId7"/>
    <p:sldId id="261" r:id="rId8"/>
    <p:sldId id="262" r:id="rId9"/>
    <p:sldId id="263" r:id="rId10"/>
    <p:sldId id="264" r:id="rId11"/>
    <p:sldId id="265" r:id="rId12"/>
    <p:sldId id="266" r:id="rId13"/>
    <p:sldId id="282" r:id="rId14"/>
    <p:sldId id="288" r:id="rId15"/>
    <p:sldId id="283" r:id="rId16"/>
    <p:sldId id="284" r:id="rId17"/>
    <p:sldId id="285" r:id="rId18"/>
    <p:sldId id="286" r:id="rId19"/>
    <p:sldId id="287" r:id="rId20"/>
    <p:sldId id="267" r:id="rId21"/>
    <p:sldId id="268" r:id="rId22"/>
    <p:sldId id="269" r:id="rId23"/>
    <p:sldId id="270" r:id="rId24"/>
    <p:sldId id="271" r:id="rId25"/>
    <p:sldId id="272" r:id="rId26"/>
    <p:sldId id="273" r:id="rId27"/>
    <p:sldId id="274" r:id="rId28"/>
    <p:sldId id="289" r:id="rId29"/>
    <p:sldId id="275" r:id="rId30"/>
    <p:sldId id="276" r:id="rId31"/>
    <p:sldId id="277" r:id="rId32"/>
    <p:sldId id="278" r:id="rId33"/>
    <p:sldId id="279" r:id="rId34"/>
    <p:sldId id="280" r:id="rId35"/>
    <p:sldId id="28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52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240483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214794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225384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D69070-8550-4E19-8DF7-CD8AC4E6EF6E}"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266807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9070-8550-4E19-8DF7-CD8AC4E6EF6E}" type="datetimeFigureOut">
              <a:rPr lang="en-US" smtClean="0"/>
              <a:t>12/10/2020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800607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428735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2638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297894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D69070-8550-4E19-8DF7-CD8AC4E6EF6E}"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43429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D69070-8550-4E19-8DF7-CD8AC4E6EF6E}" type="datetimeFigureOut">
              <a:rPr lang="en-US" smtClean="0"/>
              <a:t>12/10/2020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54161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2537095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37982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696514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2636098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4108384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629292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69070-8550-4E19-8DF7-CD8AC4E6EF6E}" type="datetimeFigureOut">
              <a:rPr lang="en-US" smtClean="0"/>
              <a:t>12/10/2020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50D8BB-D76E-4FEE-80D9-4ED61C208CD7}" type="slidenum">
              <a:rPr lang="en-US" smtClean="0"/>
              <a:t>‹#›</a:t>
            </a:fld>
            <a:endParaRPr lang="en-US"/>
          </a:p>
        </p:txBody>
      </p:sp>
    </p:spTree>
    <p:extLst>
      <p:ext uri="{BB962C8B-B14F-4D97-AF65-F5344CB8AC3E}">
        <p14:creationId xmlns:p14="http://schemas.microsoft.com/office/powerpoint/2010/main" val="33682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9D69070-8550-4E19-8DF7-CD8AC4E6EF6E}" type="datetimeFigureOut">
              <a:rPr lang="en-US" smtClean="0"/>
              <a:t>12/10/2020</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B50D8BB-D76E-4FEE-80D9-4ED61C208CD7}" type="slidenum">
              <a:rPr lang="en-US" smtClean="0"/>
              <a:t>‹#›</a:t>
            </a:fld>
            <a:endParaRPr lang="en-US"/>
          </a:p>
        </p:txBody>
      </p:sp>
    </p:spTree>
    <p:extLst>
      <p:ext uri="{BB962C8B-B14F-4D97-AF65-F5344CB8AC3E}">
        <p14:creationId xmlns:p14="http://schemas.microsoft.com/office/powerpoint/2010/main" val="200429207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6262" y="2185251"/>
            <a:ext cx="9670473" cy="2487498"/>
          </a:xfrm>
        </p:spPr>
        <p:txBody>
          <a:bodyPr>
            <a:noAutofit/>
          </a:bodyPr>
          <a:lstStyle/>
          <a:p>
            <a:pPr algn="ctr"/>
            <a:r>
              <a:rPr lang="en-GB" sz="6600" b="1" dirty="0"/>
              <a:t>PMLTC</a:t>
            </a:r>
            <a:br>
              <a:rPr lang="en-GB" sz="6600" b="1" dirty="0"/>
            </a:br>
            <a:r>
              <a:rPr lang="en-GB" sz="6600" b="1" dirty="0"/>
              <a:t>Converter Transformer Protection</a:t>
            </a:r>
            <a:endParaRPr lang="en-US" sz="6600" b="1" dirty="0"/>
          </a:p>
        </p:txBody>
      </p:sp>
    </p:spTree>
    <p:extLst>
      <p:ext uri="{BB962C8B-B14F-4D97-AF65-F5344CB8AC3E}">
        <p14:creationId xmlns:p14="http://schemas.microsoft.com/office/powerpoint/2010/main" val="3046244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41F89-8D45-40C6-A671-982BD2AF78A5}"/>
              </a:ext>
            </a:extLst>
          </p:cNvPr>
          <p:cNvSpPr>
            <a:spLocks noGrp="1"/>
          </p:cNvSpPr>
          <p:nvPr>
            <p:ph type="title"/>
          </p:nvPr>
        </p:nvSpPr>
        <p:spPr/>
        <p:txBody>
          <a:bodyPr/>
          <a:lstStyle/>
          <a:p>
            <a:r>
              <a:rPr lang="en-US" dirty="0"/>
              <a:t>Converter Transformer</a:t>
            </a:r>
          </a:p>
        </p:txBody>
      </p:sp>
      <p:sp>
        <p:nvSpPr>
          <p:cNvPr id="3" name="Content Placeholder 2">
            <a:extLst>
              <a:ext uri="{FF2B5EF4-FFF2-40B4-BE49-F238E27FC236}">
                <a16:creationId xmlns:a16="http://schemas.microsoft.com/office/drawing/2014/main" id="{AD609F22-8E80-4D30-A491-54E55D6122F9}"/>
              </a:ext>
            </a:extLst>
          </p:cNvPr>
          <p:cNvSpPr>
            <a:spLocks noGrp="1"/>
          </p:cNvSpPr>
          <p:nvPr>
            <p:ph idx="1"/>
          </p:nvPr>
        </p:nvSpPr>
        <p:spPr/>
        <p:txBody>
          <a:bodyPr>
            <a:normAutofit lnSpcReduction="10000"/>
          </a:bodyPr>
          <a:lstStyle/>
          <a:p>
            <a:r>
              <a:rPr lang="en-US" dirty="0"/>
              <a:t>The </a:t>
            </a:r>
            <a:r>
              <a:rPr lang="en-US" b="1" dirty="0"/>
              <a:t>converter transformers</a:t>
            </a:r>
            <a:r>
              <a:rPr lang="en-US" dirty="0"/>
              <a:t> step up the voltage of the AC supply network. Using a star-to-delta or "wye-delta" connection of the </a:t>
            </a:r>
            <a:r>
              <a:rPr lang="en-US" b="1" dirty="0"/>
              <a:t>transformer</a:t>
            </a:r>
            <a:r>
              <a:rPr lang="en-US" dirty="0"/>
              <a:t> windings, the </a:t>
            </a:r>
            <a:r>
              <a:rPr lang="en-US" b="1" dirty="0"/>
              <a:t>converter</a:t>
            </a:r>
            <a:r>
              <a:rPr lang="en-US" dirty="0"/>
              <a:t> can operate with 12 pulses for each cycle in the AC supply, which eliminates numerous harmonic current components.</a:t>
            </a:r>
          </a:p>
          <a:p>
            <a:r>
              <a:rPr lang="en-US" dirty="0"/>
              <a:t>TYPES:</a:t>
            </a:r>
          </a:p>
          <a:p>
            <a:r>
              <a:rPr lang="en-US" dirty="0"/>
              <a:t>The </a:t>
            </a:r>
            <a:r>
              <a:rPr lang="en-US" b="1" dirty="0"/>
              <a:t>converter transformer</a:t>
            </a:r>
            <a:r>
              <a:rPr lang="en-US" dirty="0"/>
              <a:t> is available in four designs, namely </a:t>
            </a:r>
          </a:p>
          <a:p>
            <a:r>
              <a:rPr lang="en-US" dirty="0"/>
              <a:t>Three-phase three-winding</a:t>
            </a:r>
          </a:p>
          <a:p>
            <a:r>
              <a:rPr lang="en-US" dirty="0"/>
              <a:t>Three-phase two-winding</a:t>
            </a:r>
          </a:p>
          <a:p>
            <a:r>
              <a:rPr lang="en-US" dirty="0"/>
              <a:t>Single-phase three-winding </a:t>
            </a:r>
          </a:p>
          <a:p>
            <a:r>
              <a:rPr lang="en-US" dirty="0"/>
              <a:t>Single-phase two-winding</a:t>
            </a:r>
          </a:p>
        </p:txBody>
      </p:sp>
    </p:spTree>
    <p:extLst>
      <p:ext uri="{BB962C8B-B14F-4D97-AF65-F5344CB8AC3E}">
        <p14:creationId xmlns:p14="http://schemas.microsoft.com/office/powerpoint/2010/main" val="1710747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Main Abbreviations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13686171"/>
              </p:ext>
            </p:extLst>
          </p:nvPr>
        </p:nvGraphicFramePr>
        <p:xfrm>
          <a:off x="1103313" y="2052638"/>
          <a:ext cx="8947150" cy="4079240"/>
        </p:xfrm>
        <a:graphic>
          <a:graphicData uri="http://schemas.openxmlformats.org/drawingml/2006/table">
            <a:tbl>
              <a:tblPr firstRow="1" bandRow="1">
                <a:tableStyleId>{5C22544A-7EE6-4342-B048-85BDC9FD1C3A}</a:tableStyleId>
              </a:tblPr>
              <a:tblGrid>
                <a:gridCol w="4473575">
                  <a:extLst>
                    <a:ext uri="{9D8B030D-6E8A-4147-A177-3AD203B41FA5}">
                      <a16:colId xmlns:a16="http://schemas.microsoft.com/office/drawing/2014/main" val="2862990353"/>
                    </a:ext>
                  </a:extLst>
                </a:gridCol>
                <a:gridCol w="4473575">
                  <a:extLst>
                    <a:ext uri="{9D8B030D-6E8A-4147-A177-3AD203B41FA5}">
                      <a16:colId xmlns:a16="http://schemas.microsoft.com/office/drawing/2014/main" val="3991589932"/>
                    </a:ext>
                  </a:extLst>
                </a:gridCol>
              </a:tblGrid>
              <a:tr h="370840">
                <a:tc>
                  <a:txBody>
                    <a:bodyPr/>
                    <a:lstStyle/>
                    <a:p>
                      <a:r>
                        <a:rPr lang="en-GB" dirty="0"/>
                        <a:t>Abbreviation</a:t>
                      </a:r>
                      <a:endParaRPr lang="en-US" dirty="0"/>
                    </a:p>
                  </a:txBody>
                  <a:tcPr marL="77801" marR="77801"/>
                </a:tc>
                <a:tc>
                  <a:txBody>
                    <a:bodyPr/>
                    <a:lstStyle/>
                    <a:p>
                      <a:r>
                        <a:rPr lang="en-GB" dirty="0"/>
                        <a:t>Detailed description</a:t>
                      </a:r>
                      <a:endParaRPr lang="en-US" dirty="0"/>
                    </a:p>
                  </a:txBody>
                  <a:tcPr marL="77801" marR="77801"/>
                </a:tc>
                <a:extLst>
                  <a:ext uri="{0D108BD9-81ED-4DB2-BD59-A6C34878D82A}">
                    <a16:rowId xmlns:a16="http://schemas.microsoft.com/office/drawing/2014/main" val="3535984007"/>
                  </a:ext>
                </a:extLst>
              </a:tr>
              <a:tr h="370840">
                <a:tc>
                  <a:txBody>
                    <a:bodyPr/>
                    <a:lstStyle/>
                    <a:p>
                      <a:r>
                        <a:rPr lang="en-GB" dirty="0"/>
                        <a:t>AC</a:t>
                      </a:r>
                      <a:endParaRPr lang="en-US" dirty="0"/>
                    </a:p>
                  </a:txBody>
                  <a:tcPr marL="77801" marR="77801"/>
                </a:tc>
                <a:tc>
                  <a:txBody>
                    <a:bodyPr/>
                    <a:lstStyle/>
                    <a:p>
                      <a:r>
                        <a:rPr lang="en-GB" dirty="0"/>
                        <a:t>Alternating</a:t>
                      </a:r>
                      <a:r>
                        <a:rPr lang="en-GB" baseline="0" dirty="0"/>
                        <a:t> </a:t>
                      </a:r>
                      <a:r>
                        <a:rPr lang="en-GB" dirty="0"/>
                        <a:t>Current</a:t>
                      </a:r>
                      <a:endParaRPr lang="en-US" dirty="0"/>
                    </a:p>
                  </a:txBody>
                  <a:tcPr marL="77801" marR="77801"/>
                </a:tc>
                <a:extLst>
                  <a:ext uri="{0D108BD9-81ED-4DB2-BD59-A6C34878D82A}">
                    <a16:rowId xmlns:a16="http://schemas.microsoft.com/office/drawing/2014/main" val="1085414392"/>
                  </a:ext>
                </a:extLst>
              </a:tr>
              <a:tr h="370840">
                <a:tc>
                  <a:txBody>
                    <a:bodyPr/>
                    <a:lstStyle/>
                    <a:p>
                      <a:r>
                        <a:rPr lang="en-GB" dirty="0"/>
                        <a:t>DC</a:t>
                      </a:r>
                      <a:endParaRPr lang="en-US" dirty="0"/>
                    </a:p>
                  </a:txBody>
                  <a:tcPr marL="77801" marR="77801"/>
                </a:tc>
                <a:tc>
                  <a:txBody>
                    <a:bodyPr/>
                    <a:lstStyle/>
                    <a:p>
                      <a:r>
                        <a:rPr lang="en-GB" dirty="0"/>
                        <a:t>Direct Current</a:t>
                      </a:r>
                      <a:endParaRPr lang="en-US" dirty="0"/>
                    </a:p>
                  </a:txBody>
                  <a:tcPr marL="77801" marR="77801"/>
                </a:tc>
                <a:extLst>
                  <a:ext uri="{0D108BD9-81ED-4DB2-BD59-A6C34878D82A}">
                    <a16:rowId xmlns:a16="http://schemas.microsoft.com/office/drawing/2014/main" val="1008298772"/>
                  </a:ext>
                </a:extLst>
              </a:tr>
              <a:tr h="370840">
                <a:tc>
                  <a:txBody>
                    <a:bodyPr/>
                    <a:lstStyle/>
                    <a:p>
                      <a:r>
                        <a:rPr lang="en-GB" dirty="0"/>
                        <a:t>BF</a:t>
                      </a:r>
                      <a:endParaRPr lang="en-US" dirty="0"/>
                    </a:p>
                  </a:txBody>
                  <a:tcPr marL="77801" marR="77801"/>
                </a:tc>
                <a:tc>
                  <a:txBody>
                    <a:bodyPr/>
                    <a:lstStyle/>
                    <a:p>
                      <a:r>
                        <a:rPr lang="en-GB" dirty="0"/>
                        <a:t>Circuit Breaker Failure</a:t>
                      </a:r>
                      <a:endParaRPr lang="en-US" dirty="0"/>
                    </a:p>
                  </a:txBody>
                  <a:tcPr marL="77801" marR="77801"/>
                </a:tc>
                <a:extLst>
                  <a:ext uri="{0D108BD9-81ED-4DB2-BD59-A6C34878D82A}">
                    <a16:rowId xmlns:a16="http://schemas.microsoft.com/office/drawing/2014/main" val="1242680076"/>
                  </a:ext>
                </a:extLst>
              </a:tr>
              <a:tr h="370840">
                <a:tc>
                  <a:txBody>
                    <a:bodyPr/>
                    <a:lstStyle/>
                    <a:p>
                      <a:r>
                        <a:rPr lang="en-GB" dirty="0"/>
                        <a:t>CB</a:t>
                      </a:r>
                      <a:endParaRPr lang="en-US" dirty="0"/>
                    </a:p>
                  </a:txBody>
                  <a:tcPr marL="77801" marR="77801"/>
                </a:tc>
                <a:tc>
                  <a:txBody>
                    <a:bodyPr/>
                    <a:lstStyle/>
                    <a:p>
                      <a:r>
                        <a:rPr lang="en-GB" dirty="0"/>
                        <a:t>Circuit Breaker</a:t>
                      </a:r>
                      <a:endParaRPr lang="en-US" dirty="0"/>
                    </a:p>
                  </a:txBody>
                  <a:tcPr marL="77801" marR="77801"/>
                </a:tc>
                <a:extLst>
                  <a:ext uri="{0D108BD9-81ED-4DB2-BD59-A6C34878D82A}">
                    <a16:rowId xmlns:a16="http://schemas.microsoft.com/office/drawing/2014/main" val="540808373"/>
                  </a:ext>
                </a:extLst>
              </a:tr>
              <a:tr h="370840">
                <a:tc>
                  <a:txBody>
                    <a:bodyPr/>
                    <a:lstStyle/>
                    <a:p>
                      <a:r>
                        <a:rPr lang="en-GB" dirty="0"/>
                        <a:t>TA</a:t>
                      </a:r>
                    </a:p>
                  </a:txBody>
                  <a:tcPr marL="77801" marR="77801"/>
                </a:tc>
                <a:tc>
                  <a:txBody>
                    <a:bodyPr/>
                    <a:lstStyle/>
                    <a:p>
                      <a:r>
                        <a:rPr lang="en-GB" dirty="0"/>
                        <a:t>Current Transformer</a:t>
                      </a:r>
                      <a:endParaRPr lang="en-US" dirty="0"/>
                    </a:p>
                  </a:txBody>
                  <a:tcPr marL="77801" marR="77801"/>
                </a:tc>
                <a:extLst>
                  <a:ext uri="{0D108BD9-81ED-4DB2-BD59-A6C34878D82A}">
                    <a16:rowId xmlns:a16="http://schemas.microsoft.com/office/drawing/2014/main" val="3280089354"/>
                  </a:ext>
                </a:extLst>
              </a:tr>
              <a:tr h="370840">
                <a:tc>
                  <a:txBody>
                    <a:bodyPr/>
                    <a:lstStyle/>
                    <a:p>
                      <a:r>
                        <a:rPr lang="en-GB" dirty="0"/>
                        <a:t>TV</a:t>
                      </a:r>
                      <a:endParaRPr lang="en-US" dirty="0"/>
                    </a:p>
                  </a:txBody>
                  <a:tcPr marL="77801" marR="77801"/>
                </a:tc>
                <a:tc>
                  <a:txBody>
                    <a:bodyPr/>
                    <a:lstStyle/>
                    <a:p>
                      <a:r>
                        <a:rPr lang="en-GB" dirty="0"/>
                        <a:t>Voltage Transformer</a:t>
                      </a:r>
                      <a:endParaRPr lang="en-US" dirty="0"/>
                    </a:p>
                  </a:txBody>
                  <a:tcPr marL="77801" marR="77801"/>
                </a:tc>
                <a:extLst>
                  <a:ext uri="{0D108BD9-81ED-4DB2-BD59-A6C34878D82A}">
                    <a16:rowId xmlns:a16="http://schemas.microsoft.com/office/drawing/2014/main" val="4277974261"/>
                  </a:ext>
                </a:extLst>
              </a:tr>
              <a:tr h="370840">
                <a:tc>
                  <a:txBody>
                    <a:bodyPr/>
                    <a:lstStyle/>
                    <a:p>
                      <a:r>
                        <a:rPr lang="en-GB" dirty="0"/>
                        <a:t>SER</a:t>
                      </a:r>
                      <a:endParaRPr lang="en-US" dirty="0"/>
                    </a:p>
                  </a:txBody>
                  <a:tcPr marL="77801" marR="77801"/>
                </a:tc>
                <a:tc>
                  <a:txBody>
                    <a:bodyPr/>
                    <a:lstStyle/>
                    <a:p>
                      <a:r>
                        <a:rPr lang="en-GB" dirty="0"/>
                        <a:t>Sequence of events recorder</a:t>
                      </a:r>
                      <a:endParaRPr lang="en-US" dirty="0"/>
                    </a:p>
                  </a:txBody>
                  <a:tcPr marL="77801" marR="77801"/>
                </a:tc>
                <a:extLst>
                  <a:ext uri="{0D108BD9-81ED-4DB2-BD59-A6C34878D82A}">
                    <a16:rowId xmlns:a16="http://schemas.microsoft.com/office/drawing/2014/main" val="347744884"/>
                  </a:ext>
                </a:extLst>
              </a:tr>
              <a:tr h="370840">
                <a:tc>
                  <a:txBody>
                    <a:bodyPr/>
                    <a:lstStyle/>
                    <a:p>
                      <a:r>
                        <a:rPr lang="en-GB" dirty="0"/>
                        <a:t>TFR</a:t>
                      </a:r>
                      <a:endParaRPr lang="en-US" dirty="0"/>
                    </a:p>
                  </a:txBody>
                  <a:tcPr marL="77801" marR="77801"/>
                </a:tc>
                <a:tc>
                  <a:txBody>
                    <a:bodyPr/>
                    <a:lstStyle/>
                    <a:p>
                      <a:r>
                        <a:rPr lang="en-GB" dirty="0"/>
                        <a:t>Transient Fault Record</a:t>
                      </a:r>
                      <a:endParaRPr lang="en-US" dirty="0"/>
                    </a:p>
                  </a:txBody>
                  <a:tcPr marL="77801" marR="77801"/>
                </a:tc>
                <a:extLst>
                  <a:ext uri="{0D108BD9-81ED-4DB2-BD59-A6C34878D82A}">
                    <a16:rowId xmlns:a16="http://schemas.microsoft.com/office/drawing/2014/main" val="911894664"/>
                  </a:ext>
                </a:extLst>
              </a:tr>
              <a:tr h="370840">
                <a:tc>
                  <a:txBody>
                    <a:bodyPr/>
                    <a:lstStyle/>
                    <a:p>
                      <a:r>
                        <a:rPr lang="en-GB" dirty="0"/>
                        <a:t>MMI</a:t>
                      </a:r>
                      <a:endParaRPr lang="en-US" dirty="0"/>
                    </a:p>
                  </a:txBody>
                  <a:tcPr marL="77801" marR="77801"/>
                </a:tc>
                <a:tc>
                  <a:txBody>
                    <a:bodyPr/>
                    <a:lstStyle/>
                    <a:p>
                      <a:r>
                        <a:rPr lang="en-GB" dirty="0"/>
                        <a:t>Man Machine</a:t>
                      </a:r>
                      <a:r>
                        <a:rPr lang="en-GB" baseline="0" dirty="0"/>
                        <a:t> Interface</a:t>
                      </a:r>
                      <a:endParaRPr lang="en-US" dirty="0"/>
                    </a:p>
                  </a:txBody>
                  <a:tcPr marL="77801" marR="77801"/>
                </a:tc>
                <a:extLst>
                  <a:ext uri="{0D108BD9-81ED-4DB2-BD59-A6C34878D82A}">
                    <a16:rowId xmlns:a16="http://schemas.microsoft.com/office/drawing/2014/main" val="3973717646"/>
                  </a:ext>
                </a:extLst>
              </a:tr>
              <a:tr h="370840">
                <a:tc>
                  <a:txBody>
                    <a:bodyPr/>
                    <a:lstStyle/>
                    <a:p>
                      <a:r>
                        <a:rPr lang="en-GB" dirty="0"/>
                        <a:t>HMI</a:t>
                      </a:r>
                      <a:endParaRPr lang="en-US" dirty="0"/>
                    </a:p>
                  </a:txBody>
                  <a:tcPr marL="77801" marR="77801"/>
                </a:tc>
                <a:tc>
                  <a:txBody>
                    <a:bodyPr/>
                    <a:lstStyle/>
                    <a:p>
                      <a:r>
                        <a:rPr lang="en-GB" dirty="0"/>
                        <a:t>Operator Control System </a:t>
                      </a:r>
                      <a:endParaRPr lang="en-US" dirty="0"/>
                    </a:p>
                  </a:txBody>
                  <a:tcPr marL="77801" marR="77801"/>
                </a:tc>
                <a:extLst>
                  <a:ext uri="{0D108BD9-81ED-4DB2-BD59-A6C34878D82A}">
                    <a16:rowId xmlns:a16="http://schemas.microsoft.com/office/drawing/2014/main" val="3886360696"/>
                  </a:ext>
                </a:extLst>
              </a:tr>
            </a:tbl>
          </a:graphicData>
        </a:graphic>
      </p:graphicFrame>
    </p:spTree>
    <p:extLst>
      <p:ext uri="{BB962C8B-B14F-4D97-AF65-F5344CB8AC3E}">
        <p14:creationId xmlns:p14="http://schemas.microsoft.com/office/powerpoint/2010/main" val="3790193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Scope</a:t>
            </a:r>
            <a:endParaRPr lang="en-US" dirty="0"/>
          </a:p>
        </p:txBody>
      </p:sp>
      <p:sp>
        <p:nvSpPr>
          <p:cNvPr id="3" name="Content Placeholder 2"/>
          <p:cNvSpPr>
            <a:spLocks noGrp="1"/>
          </p:cNvSpPr>
          <p:nvPr>
            <p:ph idx="1"/>
          </p:nvPr>
        </p:nvSpPr>
        <p:spPr>
          <a:xfrm>
            <a:off x="838200" y="1594884"/>
            <a:ext cx="10515600" cy="4582079"/>
          </a:xfrm>
        </p:spPr>
        <p:txBody>
          <a:bodyPr>
            <a:normAutofit fontScale="85000" lnSpcReduction="10000"/>
          </a:bodyPr>
          <a:lstStyle/>
          <a:p>
            <a:r>
              <a:rPr lang="en-GB" sz="3200" dirty="0"/>
              <a:t>Protection Scope:</a:t>
            </a:r>
          </a:p>
          <a:p>
            <a:pPr marL="0" indent="0">
              <a:buNone/>
            </a:pPr>
            <a:r>
              <a:rPr lang="en-GB" sz="3200" dirty="0"/>
              <a:t>    </a:t>
            </a:r>
            <a:r>
              <a:rPr lang="en-GB" sz="2000" dirty="0"/>
              <a:t>The zone of converter transformer compromises conductor and all equipment from the AC Circuit breaker 	connected to     the Grid side to the wall bushing on the valve side.</a:t>
            </a:r>
          </a:p>
          <a:p>
            <a:r>
              <a:rPr lang="en-GB" sz="3200" dirty="0"/>
              <a:t>Protection Function:</a:t>
            </a:r>
          </a:p>
          <a:p>
            <a:r>
              <a:rPr lang="en-GB" sz="2000" dirty="0"/>
              <a:t>Protection of Converter Transformer is threefold to ensure that the protected area is protected correctly, just in case if any single component failure occurs, it must not cause the wrong operation of the protection system. Hence, the reliability increases.</a:t>
            </a:r>
          </a:p>
          <a:p>
            <a:r>
              <a:rPr lang="en-GB" sz="2000" dirty="0"/>
              <a:t>Double device with the logic of (2 out of 3) are installed in the Converter Protection Panel A and B. There is no (2 out of 3) logic device on the panel C. When all the threefold converter transformer protection system working properly, at least two of the similar protection system will start tripping, a signal will be sent to Control system through optical fibre to clear fault. </a:t>
            </a:r>
          </a:p>
          <a:p>
            <a:r>
              <a:rPr lang="en-GB" sz="2000" dirty="0"/>
              <a:t>In case of an Internal Fault the “Two out of three” logic will be switched automatically to single redundant protection configuration.</a:t>
            </a:r>
          </a:p>
        </p:txBody>
      </p:sp>
    </p:spTree>
    <p:extLst>
      <p:ext uri="{BB962C8B-B14F-4D97-AF65-F5344CB8AC3E}">
        <p14:creationId xmlns:p14="http://schemas.microsoft.com/office/powerpoint/2010/main" val="311936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Scope</a:t>
            </a:r>
            <a:endParaRPr lang="en-US" dirty="0"/>
          </a:p>
        </p:txBody>
      </p:sp>
      <p:sp>
        <p:nvSpPr>
          <p:cNvPr id="3" name="Content Placeholder 2"/>
          <p:cNvSpPr>
            <a:spLocks noGrp="1"/>
          </p:cNvSpPr>
          <p:nvPr>
            <p:ph idx="1"/>
          </p:nvPr>
        </p:nvSpPr>
        <p:spPr>
          <a:xfrm>
            <a:off x="838200" y="1350334"/>
            <a:ext cx="10515600" cy="5273749"/>
          </a:xfrm>
        </p:spPr>
        <p:txBody>
          <a:bodyPr>
            <a:normAutofit lnSpcReduction="10000"/>
          </a:bodyPr>
          <a:lstStyle/>
          <a:p>
            <a:r>
              <a:rPr lang="en-GB" sz="1800" dirty="0"/>
              <a:t>Each protection is totally independent physically and electrically, has its own independent power supply. In case any protection is quitted due to failure, maintenance or other reason. The other protection is not effected and the Whole HVDC systems runs normally. Hence this makes our system more accurate and sensitive.</a:t>
            </a:r>
          </a:p>
          <a:p>
            <a:r>
              <a:rPr lang="en-GB" sz="1800" dirty="0"/>
              <a:t>PAC-886 is the main as well as backup protection that will operate if the Logic “2 out of 3” Operates.</a:t>
            </a:r>
            <a:r>
              <a:rPr lang="en-US" sz="1800" dirty="0"/>
              <a:t> This device is used in Converter station to meet the requirements of GOOSE tripping and analog sampling. </a:t>
            </a:r>
          </a:p>
          <a:p>
            <a:r>
              <a:rPr lang="en-GB" dirty="0"/>
              <a:t>Protection Configuration:</a:t>
            </a:r>
          </a:p>
          <a:p>
            <a:r>
              <a:rPr lang="en-US" sz="1800" dirty="0"/>
              <a:t>PAC-886 provides protection of all electrical quantities required by each valve group converter transformer.</a:t>
            </a:r>
          </a:p>
          <a:p>
            <a:pPr marL="0" indent="0">
              <a:buNone/>
            </a:pPr>
            <a:r>
              <a:rPr lang="en-GB" sz="2400" dirty="0"/>
              <a:t>         1. Main Protection:</a:t>
            </a:r>
          </a:p>
          <a:p>
            <a:r>
              <a:rPr lang="en-GB" sz="2400" dirty="0"/>
              <a:t>	</a:t>
            </a:r>
            <a:r>
              <a:rPr lang="en-GB" sz="1800" dirty="0"/>
              <a:t>Transformer Overall Differential Protection (87TC)</a:t>
            </a:r>
          </a:p>
          <a:p>
            <a:r>
              <a:rPr lang="en-GB" sz="1800" dirty="0"/>
              <a:t>	Connection Differential Protection (87C)</a:t>
            </a:r>
          </a:p>
          <a:p>
            <a:r>
              <a:rPr lang="en-GB" sz="1800" dirty="0"/>
              <a:t>               Transformer Differential Protection Y/Y (Y/Y 87 CN)</a:t>
            </a:r>
          </a:p>
          <a:p>
            <a:r>
              <a:rPr lang="en-GB" sz="1800" dirty="0"/>
              <a:t> 	Zero Sequence Transformer Differential Protection of Y/Y (Y/Y 87CN)</a:t>
            </a:r>
            <a:r>
              <a:rPr lang="en-GB" sz="2400" dirty="0"/>
              <a:t>	</a:t>
            </a:r>
            <a:endParaRPr lang="en-GB" sz="1800" dirty="0"/>
          </a:p>
        </p:txBody>
      </p:sp>
    </p:spTree>
    <p:extLst>
      <p:ext uri="{BB962C8B-B14F-4D97-AF65-F5344CB8AC3E}">
        <p14:creationId xmlns:p14="http://schemas.microsoft.com/office/powerpoint/2010/main" val="4053286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Scope</a:t>
            </a:r>
            <a:endParaRPr lang="en-US" dirty="0"/>
          </a:p>
        </p:txBody>
      </p:sp>
      <p:sp>
        <p:nvSpPr>
          <p:cNvPr id="3" name="Content Placeholder 2"/>
          <p:cNvSpPr>
            <a:spLocks noGrp="1"/>
          </p:cNvSpPr>
          <p:nvPr>
            <p:ph idx="1"/>
          </p:nvPr>
        </p:nvSpPr>
        <p:spPr>
          <a:xfrm>
            <a:off x="838200" y="1825625"/>
            <a:ext cx="10515600" cy="4907684"/>
          </a:xfrm>
        </p:spPr>
        <p:txBody>
          <a:bodyPr>
            <a:normAutofit/>
          </a:bodyPr>
          <a:lstStyle/>
          <a:p>
            <a:r>
              <a:rPr lang="en-GB" sz="2400" dirty="0"/>
              <a:t>Protection Configuration:</a:t>
            </a:r>
          </a:p>
          <a:p>
            <a:pPr marL="0" indent="0">
              <a:buNone/>
            </a:pPr>
            <a:r>
              <a:rPr lang="en-GB" sz="2000" dirty="0"/>
              <a:t>           2. Backup Protection:</a:t>
            </a:r>
          </a:p>
          <a:p>
            <a:r>
              <a:rPr lang="en-GB" sz="1600" dirty="0"/>
              <a:t>	Connection Overcurrent Protection (51) </a:t>
            </a:r>
          </a:p>
          <a:p>
            <a:r>
              <a:rPr lang="en-GB" sz="1600" dirty="0"/>
              <a:t>               Over Voltage Protection (59T)</a:t>
            </a:r>
          </a:p>
          <a:p>
            <a:r>
              <a:rPr lang="en-GB" sz="1600" dirty="0"/>
              <a:t>               Over-excited Protection (24T)       </a:t>
            </a:r>
          </a:p>
          <a:p>
            <a:r>
              <a:rPr lang="en-GB" sz="1600" dirty="0"/>
              <a:t>               Y/Y net overload Protection (Y/Y 49)</a:t>
            </a:r>
          </a:p>
          <a:p>
            <a:r>
              <a:rPr lang="en-GB" sz="2400" dirty="0"/>
              <a:t>Connection Differential Protection (87C)       </a:t>
            </a:r>
          </a:p>
          <a:p>
            <a:pPr marL="0" indent="0">
              <a:buNone/>
            </a:pPr>
            <a:r>
              <a:rPr lang="en-GB" sz="2000" dirty="0"/>
              <a:t>    Scope and Purpose of Protection:</a:t>
            </a:r>
          </a:p>
          <a:p>
            <a:pPr marL="0" indent="0">
              <a:buNone/>
            </a:pPr>
            <a:r>
              <a:rPr lang="en-GB" sz="2000" dirty="0"/>
              <a:t>	</a:t>
            </a:r>
            <a:r>
              <a:rPr lang="en-GB" sz="1600" dirty="0"/>
              <a:t>Covers the protection between the CT at connection and CT at original side of Converter 	Transformer.</a:t>
            </a:r>
          </a:p>
          <a:p>
            <a:pPr marL="0" indent="0">
              <a:buNone/>
            </a:pPr>
            <a:r>
              <a:rPr lang="en-GB" sz="2000" dirty="0"/>
              <a:t>    Principles and strategies of protection:</a:t>
            </a:r>
          </a:p>
          <a:p>
            <a:pPr marL="0" indent="0">
              <a:buNone/>
            </a:pPr>
            <a:r>
              <a:rPr lang="en-GB" sz="2000" dirty="0"/>
              <a:t>	</a:t>
            </a:r>
            <a:r>
              <a:rPr lang="en-GB" sz="1600" dirty="0"/>
              <a:t>The protection will operate if the differential current is greater than the setting.</a:t>
            </a:r>
            <a:endParaRPr lang="en-GB" sz="2000" dirty="0"/>
          </a:p>
          <a:p>
            <a:pPr marL="0" indent="0">
              <a:buNone/>
            </a:pPr>
            <a:endParaRPr lang="en-GB" sz="1400" dirty="0"/>
          </a:p>
        </p:txBody>
      </p:sp>
    </p:spTree>
    <p:extLst>
      <p:ext uri="{BB962C8B-B14F-4D97-AF65-F5344CB8AC3E}">
        <p14:creationId xmlns:p14="http://schemas.microsoft.com/office/powerpoint/2010/main" val="273669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5196" y="420773"/>
            <a:ext cx="10515600" cy="6196157"/>
          </a:xfrm>
        </p:spPr>
        <p:txBody>
          <a:bodyPr/>
          <a:lstStyle/>
          <a:p>
            <a:r>
              <a:rPr lang="en-GB" sz="1800" dirty="0"/>
              <a:t>Protection coordinate:</a:t>
            </a:r>
          </a:p>
          <a:p>
            <a:pPr marL="0" indent="0">
              <a:buNone/>
            </a:pPr>
            <a:r>
              <a:rPr lang="en-GB" sz="1600" dirty="0"/>
              <a:t>    Setting should be selected in such a way that the connection of converter can be protected. </a:t>
            </a:r>
          </a:p>
          <a:p>
            <a:r>
              <a:rPr lang="en-GB" sz="1800" dirty="0"/>
              <a:t>Logic and setting principle of setting</a:t>
            </a:r>
          </a:p>
          <a:p>
            <a:pPr>
              <a:buFont typeface="Wingdings" panose="05000000000000000000" pitchFamily="2" charset="2"/>
              <a:buChar char="v"/>
            </a:pPr>
            <a:r>
              <a:rPr lang="en-GB" sz="2000" dirty="0"/>
              <a:t>Instantaneous Differential Protection:</a:t>
            </a:r>
          </a:p>
          <a:p>
            <a:pPr marL="0" indent="0">
              <a:buNone/>
            </a:pPr>
            <a:r>
              <a:rPr lang="en-GB" sz="1800" dirty="0"/>
              <a:t>	</a:t>
            </a:r>
            <a:r>
              <a:rPr lang="en-GB" sz="1800" dirty="0" err="1"/>
              <a:t>Idiff</a:t>
            </a:r>
            <a:r>
              <a:rPr lang="en-GB" sz="1800" dirty="0"/>
              <a:t> = 5 * IN, Trip Immediately (typically 5ms)</a:t>
            </a:r>
          </a:p>
          <a:p>
            <a:pPr marL="0" indent="0">
              <a:buNone/>
            </a:pPr>
            <a:r>
              <a:rPr lang="en-GB" sz="1800" dirty="0"/>
              <a:t>	where, IN is the rated current flowing in the original side of the converter.</a:t>
            </a:r>
          </a:p>
          <a:p>
            <a:pPr>
              <a:buFont typeface="Wingdings" panose="05000000000000000000" pitchFamily="2" charset="2"/>
              <a:buChar char="v"/>
            </a:pPr>
            <a:r>
              <a:rPr lang="en-GB" sz="2000" dirty="0"/>
              <a:t>Biased Differential Protection</a:t>
            </a:r>
            <a:r>
              <a:rPr lang="en-GB" sz="1800" dirty="0"/>
              <a:t>:</a:t>
            </a:r>
            <a:endParaRPr lang="en-US" sz="1800" dirty="0"/>
          </a:p>
          <a:p>
            <a:pPr marL="0" indent="0">
              <a:buNone/>
            </a:pPr>
            <a:r>
              <a:rPr lang="en-GB" dirty="0"/>
              <a:t>	</a:t>
            </a:r>
            <a:r>
              <a:rPr lang="en-GB" sz="1600" dirty="0"/>
              <a:t>Immediate trip delay with restrictive conditions: Typical time 15ms.</a:t>
            </a:r>
          </a:p>
          <a:p>
            <a:pPr>
              <a:buFont typeface="Wingdings" panose="05000000000000000000" pitchFamily="2" charset="2"/>
              <a:buChar char="Ø"/>
            </a:pPr>
            <a:r>
              <a:rPr lang="en-GB" sz="2000" dirty="0"/>
              <a:t>Protective action sequence: </a:t>
            </a:r>
          </a:p>
          <a:p>
            <a:pPr lvl="1">
              <a:buFont typeface="Wingdings" panose="05000000000000000000" pitchFamily="2" charset="2"/>
              <a:buChar char="Ø"/>
            </a:pPr>
            <a:r>
              <a:rPr lang="en-GB" sz="1600" dirty="0"/>
              <a:t>Trip AC circuit breaker</a:t>
            </a:r>
          </a:p>
          <a:p>
            <a:pPr lvl="1">
              <a:buFont typeface="Wingdings" panose="05000000000000000000" pitchFamily="2" charset="2"/>
              <a:buChar char="Ø"/>
            </a:pPr>
            <a:r>
              <a:rPr lang="en-GB" sz="1600" dirty="0"/>
              <a:t>Lock Ac Circuit Breaker</a:t>
            </a:r>
          </a:p>
          <a:p>
            <a:pPr marL="457200" lvl="1" indent="0">
              <a:buNone/>
            </a:pPr>
            <a:endParaRPr lang="en-GB" sz="1600" dirty="0"/>
          </a:p>
          <a:p>
            <a:pPr>
              <a:buFont typeface="Wingdings" panose="05000000000000000000" pitchFamily="2" charset="2"/>
              <a:buChar char="Ø"/>
            </a:pPr>
            <a:r>
              <a:rPr lang="en-GB" sz="2000" dirty="0"/>
              <a:t>Backup protection:</a:t>
            </a:r>
          </a:p>
          <a:p>
            <a:pPr lvl="1">
              <a:buFont typeface="Wingdings" panose="05000000000000000000" pitchFamily="2" charset="2"/>
              <a:buChar char="Ø"/>
            </a:pPr>
            <a:r>
              <a:rPr lang="en-GB" sz="1600" dirty="0"/>
              <a:t>Connection and Transformer Differential Protection</a:t>
            </a:r>
          </a:p>
          <a:p>
            <a:pPr lvl="1">
              <a:buFont typeface="Wingdings" panose="05000000000000000000" pitchFamily="2" charset="2"/>
              <a:buChar char="Ø"/>
            </a:pPr>
            <a:r>
              <a:rPr lang="en-GB" sz="1600" dirty="0"/>
              <a:t>Connection Over-Current Protection</a:t>
            </a:r>
            <a:endParaRPr lang="en-US" sz="1600" dirty="0"/>
          </a:p>
        </p:txBody>
      </p:sp>
    </p:spTree>
    <p:extLst>
      <p:ext uri="{BB962C8B-B14F-4D97-AF65-F5344CB8AC3E}">
        <p14:creationId xmlns:p14="http://schemas.microsoft.com/office/powerpoint/2010/main" val="340470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AC6581-4DB7-46BD-8345-1BC7CBE97A52}"/>
              </a:ext>
            </a:extLst>
          </p:cNvPr>
          <p:cNvSpPr>
            <a:spLocks noGrp="1"/>
          </p:cNvSpPr>
          <p:nvPr>
            <p:ph idx="1"/>
          </p:nvPr>
        </p:nvSpPr>
        <p:spPr>
          <a:xfrm>
            <a:off x="838200" y="996285"/>
            <a:ext cx="10515600" cy="4351338"/>
          </a:xfrm>
        </p:spPr>
        <p:txBody>
          <a:bodyPr>
            <a:normAutofit fontScale="92500" lnSpcReduction="10000"/>
          </a:bodyPr>
          <a:lstStyle/>
          <a:p>
            <a:pPr marL="0" indent="0">
              <a:buNone/>
            </a:pPr>
            <a:r>
              <a:rPr lang="en-US" b="1" dirty="0"/>
              <a:t>1:Connection differential protection:(87C)</a:t>
            </a:r>
          </a:p>
          <a:p>
            <a:pPr marL="0" indent="0">
              <a:buNone/>
            </a:pPr>
            <a:r>
              <a:rPr lang="en-US" b="1" dirty="0"/>
              <a:t>Purpose:</a:t>
            </a:r>
          </a:p>
          <a:p>
            <a:r>
              <a:rPr lang="en-US" dirty="0"/>
              <a:t>The protection zone is between the CT at connection and the CT on the original side of the converter transformer.</a:t>
            </a:r>
          </a:p>
          <a:p>
            <a:r>
              <a:rPr lang="en-US" dirty="0"/>
              <a:t>To detect the ground fault on connection.</a:t>
            </a:r>
          </a:p>
          <a:p>
            <a:pPr marL="0" indent="0">
              <a:buNone/>
            </a:pPr>
            <a:r>
              <a:rPr lang="en-US" b="1" dirty="0"/>
              <a:t>Backup protection:</a:t>
            </a:r>
          </a:p>
          <a:p>
            <a:r>
              <a:rPr lang="en-US" dirty="0"/>
              <a:t>Connection and transformer differential protection.</a:t>
            </a:r>
          </a:p>
          <a:p>
            <a:r>
              <a:rPr lang="en-US" dirty="0"/>
              <a:t>Connection over current protection.</a:t>
            </a:r>
          </a:p>
          <a:p>
            <a:pPr marL="0" indent="0">
              <a:buNone/>
            </a:pPr>
            <a:r>
              <a:rPr lang="en-US" b="1" dirty="0"/>
              <a:t>2:Connection over current protection:</a:t>
            </a:r>
            <a:r>
              <a:rPr lang="en-US" b="1" dirty="0">
                <a:sym typeface="Wingdings" panose="05000000000000000000" pitchFamily="2" charset="2"/>
              </a:rPr>
              <a:t>(51)</a:t>
            </a:r>
            <a:endParaRPr lang="en-US" b="1" dirty="0"/>
          </a:p>
          <a:p>
            <a:pPr marL="0" indent="0">
              <a:buNone/>
            </a:pPr>
            <a:r>
              <a:rPr lang="en-US" b="1" dirty="0"/>
              <a:t>Purpose:</a:t>
            </a:r>
          </a:p>
          <a:p>
            <a:r>
              <a:rPr lang="en-US" dirty="0"/>
              <a:t>To protect and measure the over current on the converter connection.</a:t>
            </a:r>
          </a:p>
          <a:p>
            <a:endParaRPr lang="en-US" dirty="0"/>
          </a:p>
        </p:txBody>
      </p:sp>
    </p:spTree>
    <p:extLst>
      <p:ext uri="{BB962C8B-B14F-4D97-AF65-F5344CB8AC3E}">
        <p14:creationId xmlns:p14="http://schemas.microsoft.com/office/powerpoint/2010/main" val="137616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5CCA1-53D6-4C6E-8C18-6946E3ECA0B5}"/>
              </a:ext>
            </a:extLst>
          </p:cNvPr>
          <p:cNvSpPr>
            <a:spLocks noGrp="1"/>
          </p:cNvSpPr>
          <p:nvPr>
            <p:ph idx="1"/>
          </p:nvPr>
        </p:nvSpPr>
        <p:spPr>
          <a:xfrm>
            <a:off x="838200" y="733647"/>
            <a:ext cx="10515600" cy="5443316"/>
          </a:xfrm>
        </p:spPr>
        <p:txBody>
          <a:bodyPr>
            <a:normAutofit lnSpcReduction="10000"/>
          </a:bodyPr>
          <a:lstStyle/>
          <a:p>
            <a:pPr marL="0" indent="0">
              <a:buNone/>
            </a:pPr>
            <a:r>
              <a:rPr lang="en-US" b="1" dirty="0"/>
              <a:t>Backup protection:</a:t>
            </a:r>
          </a:p>
          <a:p>
            <a:r>
              <a:rPr lang="en-US" dirty="0"/>
              <a:t>Converter transformer body protection (</a:t>
            </a:r>
            <a:r>
              <a:rPr lang="en-US" dirty="0" err="1"/>
              <a:t>e.g</a:t>
            </a:r>
            <a:r>
              <a:rPr lang="en-US" dirty="0"/>
              <a:t>: oil, pressure relay).</a:t>
            </a:r>
          </a:p>
          <a:p>
            <a:r>
              <a:rPr lang="en-US" dirty="0"/>
              <a:t>Converter transformer zero sequence over current protection.</a:t>
            </a:r>
          </a:p>
          <a:p>
            <a:pPr marL="0" indent="0">
              <a:buNone/>
            </a:pPr>
            <a:r>
              <a:rPr lang="en-US" b="1" dirty="0"/>
              <a:t>3:Connection and transformer differential protection:(87TC)</a:t>
            </a:r>
          </a:p>
          <a:p>
            <a:pPr marL="0" indent="0">
              <a:buNone/>
            </a:pPr>
            <a:r>
              <a:rPr lang="en-US" b="1" dirty="0"/>
              <a:t>Purpose:</a:t>
            </a:r>
          </a:p>
          <a:p>
            <a:r>
              <a:rPr lang="en-US" dirty="0"/>
              <a:t>Use to detect the failure of both connection and converter transformer.</a:t>
            </a:r>
          </a:p>
          <a:p>
            <a:pPr marL="0" indent="0">
              <a:buNone/>
            </a:pPr>
            <a:r>
              <a:rPr lang="en-US" b="1" dirty="0"/>
              <a:t>Backup protection:</a:t>
            </a:r>
          </a:p>
          <a:p>
            <a:r>
              <a:rPr lang="en-US" dirty="0"/>
              <a:t>Connection over current protection.</a:t>
            </a:r>
          </a:p>
          <a:p>
            <a:r>
              <a:rPr lang="en-US" dirty="0"/>
              <a:t>Buchholz relay protection.</a:t>
            </a:r>
          </a:p>
          <a:p>
            <a:pPr marL="0" indent="0">
              <a:buNone/>
            </a:pPr>
            <a:r>
              <a:rPr lang="en-US" b="1" dirty="0"/>
              <a:t>4:Transformer differential protection:(87T)</a:t>
            </a:r>
          </a:p>
          <a:p>
            <a:pPr marL="0" indent="0">
              <a:buNone/>
            </a:pPr>
            <a:r>
              <a:rPr lang="en-US" b="1" dirty="0"/>
              <a:t>Purpose:</a:t>
            </a:r>
          </a:p>
          <a:p>
            <a:r>
              <a:rPr lang="en-US" dirty="0"/>
              <a:t>Use to detect the grounding and inter turn short circuit faults between the CTs on the converter transformer net and valve side.</a:t>
            </a:r>
          </a:p>
          <a:p>
            <a:pPr marL="0" indent="0">
              <a:buNone/>
            </a:pPr>
            <a:endParaRPr lang="en-US" u="sng" dirty="0"/>
          </a:p>
          <a:p>
            <a:pPr marL="0" indent="0">
              <a:buNone/>
            </a:pPr>
            <a:endParaRPr lang="en-US" u="sng" dirty="0"/>
          </a:p>
          <a:p>
            <a:endParaRPr lang="en-US" u="sng" dirty="0"/>
          </a:p>
          <a:p>
            <a:endParaRPr lang="en-US" u="sng" dirty="0"/>
          </a:p>
          <a:p>
            <a:endParaRPr lang="en-US" dirty="0"/>
          </a:p>
        </p:txBody>
      </p:sp>
    </p:spTree>
    <p:extLst>
      <p:ext uri="{BB962C8B-B14F-4D97-AF65-F5344CB8AC3E}">
        <p14:creationId xmlns:p14="http://schemas.microsoft.com/office/powerpoint/2010/main" val="3760893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D52256-DA43-4060-868A-6237D33B13F9}"/>
              </a:ext>
            </a:extLst>
          </p:cNvPr>
          <p:cNvSpPr>
            <a:spLocks noGrp="1"/>
          </p:cNvSpPr>
          <p:nvPr>
            <p:ph idx="1"/>
          </p:nvPr>
        </p:nvSpPr>
        <p:spPr>
          <a:xfrm>
            <a:off x="551121" y="773002"/>
            <a:ext cx="10515600" cy="5361984"/>
          </a:xfrm>
        </p:spPr>
        <p:txBody>
          <a:bodyPr>
            <a:normAutofit/>
          </a:bodyPr>
          <a:lstStyle/>
          <a:p>
            <a:pPr marL="0" indent="0">
              <a:buNone/>
            </a:pPr>
            <a:r>
              <a:rPr lang="en-US" b="1" dirty="0"/>
              <a:t>Backup protection:</a:t>
            </a:r>
          </a:p>
          <a:p>
            <a:r>
              <a:rPr lang="en-US" dirty="0"/>
              <a:t>Connection and transformer differential protection.</a:t>
            </a:r>
          </a:p>
          <a:p>
            <a:r>
              <a:rPr lang="en-US" dirty="0"/>
              <a:t>Connection over current protection.</a:t>
            </a:r>
          </a:p>
          <a:p>
            <a:r>
              <a:rPr lang="en-US" dirty="0"/>
              <a:t>Zero sequence over current protection.</a:t>
            </a:r>
          </a:p>
          <a:p>
            <a:r>
              <a:rPr lang="en-US" dirty="0"/>
              <a:t>Converter transformer body protection.</a:t>
            </a:r>
          </a:p>
          <a:p>
            <a:pPr marL="0" indent="0">
              <a:buNone/>
            </a:pPr>
            <a:r>
              <a:rPr lang="en-US" b="1" dirty="0"/>
              <a:t>5:Transformer over current protection:(50T)</a:t>
            </a:r>
          </a:p>
          <a:p>
            <a:pPr marL="0" indent="0">
              <a:buNone/>
            </a:pPr>
            <a:r>
              <a:rPr lang="en-US" b="1" dirty="0"/>
              <a:t>Purpose:</a:t>
            </a:r>
          </a:p>
          <a:p>
            <a:r>
              <a:rPr lang="en-US" dirty="0"/>
              <a:t>To detect short circuit faults in converter transformer.</a:t>
            </a:r>
          </a:p>
          <a:p>
            <a:pPr marL="0" indent="0">
              <a:buNone/>
            </a:pPr>
            <a:r>
              <a:rPr lang="en-US" b="1" dirty="0"/>
              <a:t>Backup protection:</a:t>
            </a:r>
          </a:p>
          <a:p>
            <a:r>
              <a:rPr lang="en-US" dirty="0"/>
              <a:t>Connection over current protection.</a:t>
            </a:r>
          </a:p>
          <a:p>
            <a:r>
              <a:rPr lang="en-US" dirty="0"/>
              <a:t>Zero sequence over current protection.</a:t>
            </a:r>
          </a:p>
          <a:p>
            <a:r>
              <a:rPr lang="en-US" dirty="0"/>
              <a:t>Converter transformer body protection.</a:t>
            </a:r>
          </a:p>
          <a:p>
            <a:pPr marL="0" indent="0">
              <a:buNone/>
            </a:pPr>
            <a:endParaRPr lang="en-US" dirty="0"/>
          </a:p>
          <a:p>
            <a:endParaRPr lang="en-US" dirty="0"/>
          </a:p>
        </p:txBody>
      </p:sp>
    </p:spTree>
    <p:extLst>
      <p:ext uri="{BB962C8B-B14F-4D97-AF65-F5344CB8AC3E}">
        <p14:creationId xmlns:p14="http://schemas.microsoft.com/office/powerpoint/2010/main" val="380562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5A09F-D8CD-44E1-844C-2E307C4F9895}"/>
              </a:ext>
            </a:extLst>
          </p:cNvPr>
          <p:cNvSpPr>
            <a:spLocks noGrp="1"/>
          </p:cNvSpPr>
          <p:nvPr>
            <p:ph idx="1"/>
          </p:nvPr>
        </p:nvSpPr>
        <p:spPr>
          <a:xfrm>
            <a:off x="838200" y="435935"/>
            <a:ext cx="10515600" cy="5741028"/>
          </a:xfrm>
        </p:spPr>
        <p:txBody>
          <a:bodyPr>
            <a:normAutofit/>
          </a:bodyPr>
          <a:lstStyle/>
          <a:p>
            <a:pPr marL="0" indent="0">
              <a:buNone/>
            </a:pPr>
            <a:r>
              <a:rPr lang="en-US" b="1" dirty="0"/>
              <a:t>6:Connection over voltage protection:(59T)</a:t>
            </a:r>
          </a:p>
          <a:p>
            <a:pPr marL="0" indent="0">
              <a:buNone/>
            </a:pPr>
            <a:r>
              <a:rPr lang="en-US" b="1" dirty="0"/>
              <a:t>Purpose:</a:t>
            </a:r>
          </a:p>
          <a:p>
            <a:r>
              <a:rPr lang="en-US" dirty="0"/>
              <a:t>To avoid serious continuous AC over voltage which will damage the converter transformer and bridges.</a:t>
            </a:r>
          </a:p>
          <a:p>
            <a:pPr marL="0" indent="0">
              <a:buNone/>
            </a:pPr>
            <a:r>
              <a:rPr lang="en-US" b="1" dirty="0"/>
              <a:t>Backup:</a:t>
            </a:r>
          </a:p>
          <a:p>
            <a:r>
              <a:rPr lang="en-US" dirty="0"/>
              <a:t>Backup protection for other protection.</a:t>
            </a:r>
          </a:p>
          <a:p>
            <a:pPr marL="0" indent="0">
              <a:buNone/>
            </a:pPr>
            <a:r>
              <a:rPr lang="en-US" b="1" dirty="0"/>
              <a:t>7:Transformer overload protection:(49)</a:t>
            </a:r>
          </a:p>
          <a:p>
            <a:pPr marL="0" indent="0">
              <a:buNone/>
            </a:pPr>
            <a:r>
              <a:rPr lang="en-US" b="1" dirty="0"/>
              <a:t>Purpose:</a:t>
            </a:r>
          </a:p>
          <a:p>
            <a:r>
              <a:rPr lang="en-US" dirty="0"/>
              <a:t>To test the net side overload capacity  of converter transformer.</a:t>
            </a:r>
          </a:p>
          <a:p>
            <a:pPr marL="0" indent="0">
              <a:buNone/>
            </a:pPr>
            <a:r>
              <a:rPr lang="en-US" b="1" dirty="0"/>
              <a:t>8:winding transformer differential protection:(87TW)</a:t>
            </a:r>
          </a:p>
          <a:p>
            <a:pPr marL="0" indent="0">
              <a:buNone/>
            </a:pPr>
            <a:r>
              <a:rPr lang="en-US" b="1" dirty="0"/>
              <a:t>Purpose:</a:t>
            </a:r>
          </a:p>
          <a:p>
            <a:r>
              <a:rPr lang="en-US" dirty="0"/>
              <a:t>To detect the grounding fault of the converter transformer winding to prevent winding damage.</a:t>
            </a:r>
          </a:p>
          <a:p>
            <a:pPr marL="0" indent="0">
              <a:buNone/>
            </a:pPr>
            <a:endParaRPr lang="en-US" dirty="0"/>
          </a:p>
          <a:p>
            <a:endParaRPr lang="en-US" dirty="0"/>
          </a:p>
        </p:txBody>
      </p:sp>
    </p:spTree>
    <p:extLst>
      <p:ext uri="{BB962C8B-B14F-4D97-AF65-F5344CB8AC3E}">
        <p14:creationId xmlns:p14="http://schemas.microsoft.com/office/powerpoint/2010/main" val="300765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087DF3-0C5C-472B-B62E-2783D6F1A46F}"/>
              </a:ext>
            </a:extLst>
          </p:cNvPr>
          <p:cNvSpPr>
            <a:spLocks noGrp="1"/>
          </p:cNvSpPr>
          <p:nvPr>
            <p:ph idx="1"/>
          </p:nvPr>
        </p:nvSpPr>
        <p:spPr>
          <a:xfrm>
            <a:off x="838200" y="648586"/>
            <a:ext cx="10515600" cy="5528377"/>
          </a:xfrm>
        </p:spPr>
        <p:txBody>
          <a:bodyPr>
            <a:normAutofit fontScale="92500" lnSpcReduction="20000"/>
          </a:bodyPr>
          <a:lstStyle/>
          <a:p>
            <a:pPr marL="0" indent="0">
              <a:buNone/>
            </a:pPr>
            <a:r>
              <a:rPr lang="en-US" b="1" dirty="0"/>
              <a:t>Backup:</a:t>
            </a:r>
          </a:p>
          <a:p>
            <a:r>
              <a:rPr lang="en-US" dirty="0"/>
              <a:t>Connection and transformer differential protection.</a:t>
            </a:r>
          </a:p>
          <a:p>
            <a:r>
              <a:rPr lang="en-US" dirty="0"/>
              <a:t>Zero sequence over current protection.</a:t>
            </a:r>
          </a:p>
          <a:p>
            <a:r>
              <a:rPr lang="en-US" dirty="0"/>
              <a:t>DC differential protection.</a:t>
            </a:r>
          </a:p>
          <a:p>
            <a:pPr marL="0" indent="0">
              <a:buNone/>
            </a:pPr>
            <a:r>
              <a:rPr lang="en-US" b="1" dirty="0"/>
              <a:t>9:zero sequence over current protection(50TN):</a:t>
            </a:r>
          </a:p>
          <a:p>
            <a:pPr marL="0" indent="0">
              <a:buNone/>
            </a:pPr>
            <a:r>
              <a:rPr lang="en-US" b="1" dirty="0"/>
              <a:t>Purpose:</a:t>
            </a:r>
          </a:p>
          <a:p>
            <a:r>
              <a:rPr lang="en-US" dirty="0"/>
              <a:t>Used for Y winding of converter transformer to detect single phase or phase to phase short circuit fault and protect transformer.</a:t>
            </a:r>
          </a:p>
          <a:p>
            <a:pPr marL="0" indent="0">
              <a:buNone/>
            </a:pPr>
            <a:r>
              <a:rPr lang="en-US" b="1" dirty="0"/>
              <a:t>Backup:</a:t>
            </a:r>
          </a:p>
          <a:p>
            <a:r>
              <a:rPr lang="en-US" dirty="0"/>
              <a:t>Backup for transformer differential protection.</a:t>
            </a:r>
          </a:p>
          <a:p>
            <a:pPr marL="0" indent="0">
              <a:buNone/>
            </a:pPr>
            <a:r>
              <a:rPr lang="en-US" b="1" dirty="0"/>
              <a:t>10:Over excitation protection:(24T)</a:t>
            </a:r>
          </a:p>
          <a:p>
            <a:pPr marL="0" indent="0">
              <a:buNone/>
            </a:pPr>
            <a:r>
              <a:rPr lang="en-US" b="1" dirty="0"/>
              <a:t>Purpose:</a:t>
            </a:r>
          </a:p>
          <a:p>
            <a:r>
              <a:rPr lang="en-US" dirty="0"/>
              <a:t>Detect over excitation of converter transformer.</a:t>
            </a:r>
          </a:p>
          <a:p>
            <a:pPr marL="0" indent="0">
              <a:buNone/>
            </a:pPr>
            <a:r>
              <a:rPr lang="en-US" b="1" dirty="0"/>
              <a:t>Backup:</a:t>
            </a:r>
          </a:p>
          <a:p>
            <a:pPr marL="0" indent="0">
              <a:buNone/>
            </a:pPr>
            <a:r>
              <a:rPr lang="en-US" dirty="0"/>
              <a:t>Voltage stress protection.</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632972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BE4F88-41F3-4590-933A-3C6B230E3554}"/>
              </a:ext>
            </a:extLst>
          </p:cNvPr>
          <p:cNvSpPr>
            <a:spLocks noGrp="1"/>
          </p:cNvSpPr>
          <p:nvPr>
            <p:ph idx="1"/>
          </p:nvPr>
        </p:nvSpPr>
        <p:spPr>
          <a:xfrm>
            <a:off x="763772" y="606056"/>
            <a:ext cx="10515600" cy="6921795"/>
          </a:xfrm>
        </p:spPr>
        <p:txBody>
          <a:bodyPr>
            <a:normAutofit/>
          </a:bodyPr>
          <a:lstStyle/>
          <a:p>
            <a:r>
              <a:rPr lang="en-US" b="1" dirty="0"/>
              <a:t> </a:t>
            </a:r>
            <a:r>
              <a:rPr lang="en-US" sz="3200" b="1" dirty="0"/>
              <a:t>Zero Sequence Differential Protection(87CN)</a:t>
            </a:r>
          </a:p>
          <a:p>
            <a:endParaRPr lang="en-US" sz="3200" dirty="0"/>
          </a:p>
          <a:p>
            <a:pPr marL="285750" indent="-285750"/>
            <a:r>
              <a:rPr lang="en-US" sz="1800" dirty="0"/>
              <a:t> It detects internal ground fault and winding fault of the original side winding of converter transformer.</a:t>
            </a:r>
          </a:p>
          <a:p>
            <a:pPr marL="342900" indent="-342900"/>
            <a:r>
              <a:rPr lang="en-US" sz="1800" dirty="0"/>
              <a:t>It compares zero sequence current of three phases of original winding at both end and if it exceeds ref. value then protection will be act. </a:t>
            </a:r>
          </a:p>
          <a:p>
            <a:pPr marL="342900" indent="-342900"/>
            <a:r>
              <a:rPr lang="en-US" sz="1800" dirty="0"/>
              <a:t>Its coordination is with converter differential protection.</a:t>
            </a:r>
          </a:p>
          <a:p>
            <a:pPr marL="342900" indent="-342900"/>
            <a:r>
              <a:rPr lang="en-US" sz="1800" dirty="0"/>
              <a:t>Its sequence of protection will be:</a:t>
            </a:r>
          </a:p>
          <a:p>
            <a:pPr marL="342900" indent="-342900">
              <a:buFont typeface="+mj-lt"/>
              <a:buAutoNum type="arabicPeriod"/>
            </a:pPr>
            <a:r>
              <a:rPr lang="en-US" sz="1800" dirty="0"/>
              <a:t>Exit of corresponding 12 pulse converter       </a:t>
            </a:r>
          </a:p>
          <a:p>
            <a:pPr marL="342900" indent="-342900">
              <a:buFont typeface="+mj-lt"/>
              <a:buAutoNum type="arabicPeriod"/>
            </a:pPr>
            <a:r>
              <a:rPr lang="en-US" sz="1800" dirty="0"/>
              <a:t>Trip of corresponding AC breaker</a:t>
            </a:r>
          </a:p>
          <a:p>
            <a:pPr marL="342900" indent="-342900">
              <a:buAutoNum type="arabicPeriod" startAt="3"/>
            </a:pPr>
            <a:r>
              <a:rPr lang="en-US" sz="1800" dirty="0"/>
              <a:t>Lock the corresponding A.C Circuit Breaker   </a:t>
            </a:r>
          </a:p>
          <a:p>
            <a:pPr marL="342900" indent="-342900">
              <a:buAutoNum type="arabicPeriod" startAt="3"/>
            </a:pPr>
            <a:r>
              <a:rPr lang="en-US" sz="1800" dirty="0"/>
              <a:t>Start the corresponding C.B failure protection</a:t>
            </a:r>
          </a:p>
          <a:p>
            <a:pPr marL="285750" indent="-285750"/>
            <a:r>
              <a:rPr lang="en-US" sz="1800" dirty="0"/>
              <a:t>Zero-sequence Over-Current protection acts as backup protection here.</a:t>
            </a:r>
          </a:p>
          <a:p>
            <a:endParaRPr lang="en-US" dirty="0"/>
          </a:p>
        </p:txBody>
      </p:sp>
    </p:spTree>
    <p:extLst>
      <p:ext uri="{BB962C8B-B14F-4D97-AF65-F5344CB8AC3E}">
        <p14:creationId xmlns:p14="http://schemas.microsoft.com/office/powerpoint/2010/main" val="1785826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32913-F97A-4409-9427-9BAE24ACD3FB}"/>
              </a:ext>
            </a:extLst>
          </p:cNvPr>
          <p:cNvSpPr>
            <a:spLocks noGrp="1"/>
          </p:cNvSpPr>
          <p:nvPr>
            <p:ph idx="1"/>
          </p:nvPr>
        </p:nvSpPr>
        <p:spPr>
          <a:xfrm>
            <a:off x="838200" y="382772"/>
            <a:ext cx="10515600" cy="5794191"/>
          </a:xfrm>
        </p:spPr>
        <p:txBody>
          <a:bodyPr>
            <a:normAutofit lnSpcReduction="10000"/>
          </a:bodyPr>
          <a:lstStyle/>
          <a:p>
            <a:r>
              <a:rPr lang="en-US" b="1" dirty="0"/>
              <a:t> DC saturation protection </a:t>
            </a:r>
          </a:p>
          <a:p>
            <a:pPr marL="285750" indent="-285750"/>
            <a:r>
              <a:rPr lang="en-US" sz="1800" dirty="0"/>
              <a:t>It protects converter transformer from DC saturation because of DC current entering through its neutral.</a:t>
            </a:r>
          </a:p>
          <a:p>
            <a:pPr marL="285750" indent="-285750"/>
            <a:r>
              <a:rPr lang="en-US" sz="1800" dirty="0"/>
              <a:t>Whenever transformer operates unbalance DC current enters its neutral that current is monitored. This DC current will distort the excitation current of transformer. </a:t>
            </a:r>
          </a:p>
          <a:p>
            <a:pPr marL="285750" indent="-285750"/>
            <a:r>
              <a:rPr lang="en-US" sz="1800" dirty="0"/>
              <a:t>Choice of setting is determined by DC current/magnetization peak that transformer can withstand continuously. And protection is in two stages: Alarming and Tripping.</a:t>
            </a:r>
          </a:p>
          <a:p>
            <a:pPr marL="285750" indent="-285750"/>
            <a:r>
              <a:rPr lang="en-US" sz="1800" dirty="0"/>
              <a:t>Y/Y transformer is equipped with this protection but Y/D is not equipped with this protection.</a:t>
            </a:r>
          </a:p>
          <a:p>
            <a:pPr marL="285750" indent="-285750"/>
            <a:r>
              <a:rPr lang="en-US" sz="1800" dirty="0"/>
              <a:t>Its sequence of protection will be:</a:t>
            </a:r>
          </a:p>
          <a:p>
            <a:pPr marL="342900" indent="-342900">
              <a:buFont typeface="+mj-lt"/>
              <a:buAutoNum type="arabicPeriod"/>
            </a:pPr>
            <a:r>
              <a:rPr lang="en-US" sz="1800" dirty="0"/>
              <a:t>Alarm     </a:t>
            </a:r>
          </a:p>
          <a:p>
            <a:pPr marL="342900" indent="-342900">
              <a:buFont typeface="+mj-lt"/>
              <a:buAutoNum type="arabicPeriod"/>
            </a:pPr>
            <a:r>
              <a:rPr lang="en-US" sz="1800" dirty="0"/>
              <a:t>Exit of corresponding 12 pulse converter   </a:t>
            </a:r>
          </a:p>
          <a:p>
            <a:pPr marL="342900" indent="-342900">
              <a:buFont typeface="+mj-lt"/>
              <a:buAutoNum type="arabicPeriod"/>
            </a:pPr>
            <a:r>
              <a:rPr lang="en-US" sz="1800" dirty="0"/>
              <a:t>Trip of corresponding A.C circuit breaker </a:t>
            </a:r>
          </a:p>
          <a:p>
            <a:pPr marL="342900" indent="-342900">
              <a:buAutoNum type="arabicPeriod" startAt="4"/>
            </a:pPr>
            <a:r>
              <a:rPr lang="en-US" sz="1800" dirty="0"/>
              <a:t>Start the corresponding C.B failure protection                 </a:t>
            </a:r>
          </a:p>
          <a:p>
            <a:pPr marL="342900" indent="-342900">
              <a:buAutoNum type="arabicPeriod" startAt="4"/>
            </a:pPr>
            <a:r>
              <a:rPr lang="en-US" sz="1800" dirty="0"/>
              <a:t>Lock the corresponding A.C circuit breaker</a:t>
            </a:r>
          </a:p>
          <a:p>
            <a:pPr marL="285750" indent="-285750"/>
            <a:r>
              <a:rPr lang="en-US" sz="1800" dirty="0"/>
              <a:t>DC harmonic protection acts as backup protection here.  </a:t>
            </a:r>
          </a:p>
        </p:txBody>
      </p:sp>
    </p:spTree>
    <p:extLst>
      <p:ext uri="{BB962C8B-B14F-4D97-AF65-F5344CB8AC3E}">
        <p14:creationId xmlns:p14="http://schemas.microsoft.com/office/powerpoint/2010/main" val="1355251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4C54F-872D-4709-8C64-CF44FAFFBF30}"/>
              </a:ext>
            </a:extLst>
          </p:cNvPr>
          <p:cNvSpPr>
            <a:spLocks noGrp="1"/>
          </p:cNvSpPr>
          <p:nvPr>
            <p:ph idx="1"/>
          </p:nvPr>
        </p:nvSpPr>
        <p:spPr>
          <a:xfrm>
            <a:off x="838200" y="584791"/>
            <a:ext cx="10515600" cy="5592172"/>
          </a:xfrm>
        </p:spPr>
        <p:txBody>
          <a:bodyPr>
            <a:normAutofit/>
          </a:bodyPr>
          <a:lstStyle/>
          <a:p>
            <a:pPr marL="0" indent="0">
              <a:buNone/>
            </a:pPr>
            <a:r>
              <a:rPr lang="en-US" b="1" dirty="0"/>
              <a:t> “Two out of three” Tripping Logic</a:t>
            </a:r>
          </a:p>
          <a:p>
            <a:r>
              <a:rPr lang="en-US" dirty="0"/>
              <a:t>The processing mode for three sets of completely independent protection for electrical quantity is:</a:t>
            </a:r>
          </a:p>
          <a:p>
            <a:pPr marL="0" indent="0">
              <a:buNone/>
            </a:pPr>
            <a:endParaRPr lang="en-US" dirty="0"/>
          </a:p>
          <a:p>
            <a:pPr marL="342900" indent="-342900">
              <a:buFont typeface="+mj-lt"/>
              <a:buAutoNum type="arabicPeriod"/>
            </a:pPr>
            <a:r>
              <a:rPr lang="en-US" dirty="0"/>
              <a:t>If any one group results 1 and other two 0 then protection will not act.</a:t>
            </a:r>
          </a:p>
          <a:p>
            <a:pPr marL="342900" indent="-342900">
              <a:buFont typeface="+mj-lt"/>
              <a:buAutoNum type="arabicPeriod"/>
            </a:pPr>
            <a:r>
              <a:rPr lang="en-US" dirty="0"/>
              <a:t>If any two groups are defined as 1 or all three results 1 the will act.</a:t>
            </a:r>
          </a:p>
          <a:p>
            <a:pPr marL="0" indent="0">
              <a:buNone/>
            </a:pPr>
            <a:r>
              <a:rPr lang="en-US" dirty="0"/>
              <a:t>   </a:t>
            </a:r>
          </a:p>
          <a:p>
            <a:pPr marL="0" indent="0">
              <a:buNone/>
            </a:pPr>
            <a:r>
              <a:rPr lang="en-US" b="1" dirty="0"/>
              <a:t> “One out of two” Tripping Logic</a:t>
            </a:r>
          </a:p>
          <a:p>
            <a:r>
              <a:rPr lang="en-US" dirty="0"/>
              <a:t>In case of “two out of three logic failure” the processing mode of GOOSE is:</a:t>
            </a:r>
          </a:p>
          <a:p>
            <a:pPr marL="0" indent="0">
              <a:buNone/>
            </a:pPr>
            <a:endParaRPr lang="en-US" dirty="0"/>
          </a:p>
          <a:p>
            <a:pPr marL="457200" indent="-457200">
              <a:buFont typeface="+mj-lt"/>
              <a:buAutoNum type="arabicPeriod"/>
            </a:pPr>
            <a:r>
              <a:rPr lang="en-US" dirty="0"/>
              <a:t>If all three groups results 0, the protection will not act.</a:t>
            </a:r>
          </a:p>
          <a:p>
            <a:pPr marL="457200" indent="-457200">
              <a:buFont typeface="+mj-lt"/>
              <a:buAutoNum type="arabicPeriod"/>
            </a:pPr>
            <a:r>
              <a:rPr lang="en-US" dirty="0"/>
              <a:t>If any one is defined as 1, protection will act.    </a:t>
            </a:r>
          </a:p>
          <a:p>
            <a:endParaRPr lang="en-US" dirty="0"/>
          </a:p>
        </p:txBody>
      </p:sp>
    </p:spTree>
    <p:extLst>
      <p:ext uri="{BB962C8B-B14F-4D97-AF65-F5344CB8AC3E}">
        <p14:creationId xmlns:p14="http://schemas.microsoft.com/office/powerpoint/2010/main" val="3845381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A998-9E3E-4ED1-98E3-BF949A12954F}"/>
              </a:ext>
            </a:extLst>
          </p:cNvPr>
          <p:cNvSpPr>
            <a:spLocks noGrp="1"/>
          </p:cNvSpPr>
          <p:nvPr>
            <p:ph type="title"/>
          </p:nvPr>
        </p:nvSpPr>
        <p:spPr/>
        <p:txBody>
          <a:bodyPr/>
          <a:lstStyle/>
          <a:p>
            <a:r>
              <a:rPr lang="en-US" b="1" dirty="0"/>
              <a:t>Hardware Description</a:t>
            </a:r>
            <a:endParaRPr lang="en-US" dirty="0"/>
          </a:p>
        </p:txBody>
      </p:sp>
      <p:sp>
        <p:nvSpPr>
          <p:cNvPr id="3" name="Content Placeholder 2">
            <a:extLst>
              <a:ext uri="{FF2B5EF4-FFF2-40B4-BE49-F238E27FC236}">
                <a16:creationId xmlns:a16="http://schemas.microsoft.com/office/drawing/2014/main" id="{7F6B1864-C0AE-4482-A154-E32CA737871D}"/>
              </a:ext>
            </a:extLst>
          </p:cNvPr>
          <p:cNvSpPr>
            <a:spLocks noGrp="1"/>
          </p:cNvSpPr>
          <p:nvPr>
            <p:ph idx="1"/>
          </p:nvPr>
        </p:nvSpPr>
        <p:spPr/>
        <p:txBody>
          <a:bodyPr>
            <a:normAutofit fontScale="92500"/>
          </a:bodyPr>
          <a:lstStyle/>
          <a:p>
            <a:pPr marL="0" indent="0">
              <a:buNone/>
            </a:pPr>
            <a:r>
              <a:rPr lang="en-US" u="sng" dirty="0"/>
              <a:t>CONFIGURATION:</a:t>
            </a:r>
          </a:p>
          <a:p>
            <a:r>
              <a:rPr lang="en-US" dirty="0"/>
              <a:t>There are 24 protection panels in </a:t>
            </a:r>
            <a:r>
              <a:rPr lang="en-US" dirty="0" err="1"/>
              <a:t>Matiari</a:t>
            </a:r>
            <a:r>
              <a:rPr lang="en-US" dirty="0"/>
              <a:t> and Lahore converter station </a:t>
            </a:r>
          </a:p>
          <a:p>
            <a:r>
              <a:rPr lang="en-US" dirty="0"/>
              <a:t>Each station has 12 panel </a:t>
            </a:r>
          </a:p>
          <a:p>
            <a:r>
              <a:rPr lang="en-US" dirty="0"/>
              <a:t>12 panels are divided as 6 electrical panels and 6 non electrical panels</a:t>
            </a:r>
          </a:p>
          <a:p>
            <a:r>
              <a:rPr lang="en-US" dirty="0"/>
              <a:t>There are 3 electrical protection system of which A and B are similar and independent also </a:t>
            </a:r>
          </a:p>
          <a:p>
            <a:r>
              <a:rPr lang="en-US" dirty="0"/>
              <a:t>System C has no “Two-out-of-Three” circuit and external signal output circuit</a:t>
            </a:r>
          </a:p>
          <a:p>
            <a:pPr marL="0" indent="0">
              <a:buNone/>
            </a:pPr>
            <a:r>
              <a:rPr lang="en-US" u="sng" dirty="0"/>
              <a:t>Hardware system:</a:t>
            </a:r>
          </a:p>
          <a:p>
            <a:pPr marL="0" indent="0">
              <a:buNone/>
            </a:pPr>
            <a:r>
              <a:rPr lang="en-US" dirty="0"/>
              <a:t>8MF panel is used in </a:t>
            </a:r>
            <a:r>
              <a:rPr lang="en-US" dirty="0" err="1"/>
              <a:t>Matiari</a:t>
            </a:r>
            <a:r>
              <a:rPr lang="en-US" dirty="0"/>
              <a:t>-Lahore ±660KV DC Transmission Project which has high strength of </a:t>
            </a:r>
            <a:r>
              <a:rPr lang="en-US" dirty="0" err="1"/>
              <a:t>structutral</a:t>
            </a:r>
            <a:r>
              <a:rPr lang="en-US" dirty="0"/>
              <a:t> parts and good sealing.</a:t>
            </a:r>
          </a:p>
          <a:p>
            <a:pPr marL="0" indent="0">
              <a:buNone/>
            </a:pPr>
            <a:endParaRPr lang="en-US" dirty="0"/>
          </a:p>
          <a:p>
            <a:endParaRPr lang="en-US" dirty="0"/>
          </a:p>
        </p:txBody>
      </p:sp>
    </p:spTree>
    <p:extLst>
      <p:ext uri="{BB962C8B-B14F-4D97-AF65-F5344CB8AC3E}">
        <p14:creationId xmlns:p14="http://schemas.microsoft.com/office/powerpoint/2010/main" val="1899552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C04DCA-5539-49B5-BBF4-CE800980FAAB}"/>
              </a:ext>
            </a:extLst>
          </p:cNvPr>
          <p:cNvSpPr>
            <a:spLocks noGrp="1"/>
          </p:cNvSpPr>
          <p:nvPr>
            <p:ph idx="1"/>
          </p:nvPr>
        </p:nvSpPr>
        <p:spPr>
          <a:xfrm>
            <a:off x="838200" y="350874"/>
            <a:ext cx="10515600" cy="5826089"/>
          </a:xfrm>
        </p:spPr>
        <p:txBody>
          <a:bodyPr>
            <a:normAutofit/>
          </a:bodyPr>
          <a:lstStyle/>
          <a:p>
            <a:pPr marL="0" indent="0">
              <a:buNone/>
            </a:pPr>
            <a:r>
              <a:rPr lang="en-US" sz="3500" b="1" dirty="0"/>
              <a:t>Working Power Supply:</a:t>
            </a:r>
          </a:p>
          <a:p>
            <a:r>
              <a:rPr lang="en-US" dirty="0"/>
              <a:t>Each Chassis is equipped with dual-channel power supply to ensure normal operation even if any one power supply fails.</a:t>
            </a:r>
          </a:p>
          <a:p>
            <a:r>
              <a:rPr lang="en-US" dirty="0"/>
              <a:t>Each converter transformer protection system is supplied by  two DC220V circle. If the load in the panel is overloaded or the power supply is short-circuited, the air switch will automatically cut off the power supply. And Red light on the panel Lights up and alarm information is uploaded to SER Panel.</a:t>
            </a:r>
          </a:p>
          <a:p>
            <a:r>
              <a:rPr lang="en-US" dirty="0"/>
              <a:t>The power supply of lighting system in the panel is AC220V.</a:t>
            </a:r>
          </a:p>
          <a:p>
            <a:pPr marL="0" indent="0">
              <a:buNone/>
            </a:pPr>
            <a:r>
              <a:rPr lang="en-US" sz="3200" b="1" dirty="0"/>
              <a:t>Software:</a:t>
            </a:r>
          </a:p>
          <a:p>
            <a:r>
              <a:rPr lang="en-US" dirty="0"/>
              <a:t>All protection software is implemented on the unified software platform using VLD visual logic programming tools. The protection source code is completely automatically generated by the software robot and the accuracy rate is 100%.</a:t>
            </a:r>
          </a:p>
          <a:p>
            <a:endParaRPr lang="en-001" dirty="0"/>
          </a:p>
          <a:p>
            <a:endParaRPr lang="en-US" dirty="0"/>
          </a:p>
        </p:txBody>
      </p:sp>
    </p:spTree>
    <p:extLst>
      <p:ext uri="{BB962C8B-B14F-4D97-AF65-F5344CB8AC3E}">
        <p14:creationId xmlns:p14="http://schemas.microsoft.com/office/powerpoint/2010/main" val="3550279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A5DD9F-E95E-44A0-BC49-E4830F152205}"/>
              </a:ext>
            </a:extLst>
          </p:cNvPr>
          <p:cNvSpPr>
            <a:spLocks noGrp="1"/>
          </p:cNvSpPr>
          <p:nvPr>
            <p:ph idx="1"/>
          </p:nvPr>
        </p:nvSpPr>
        <p:spPr>
          <a:xfrm>
            <a:off x="838200" y="287079"/>
            <a:ext cx="10515600" cy="5889884"/>
          </a:xfrm>
        </p:spPr>
        <p:txBody>
          <a:bodyPr>
            <a:normAutofit/>
          </a:bodyPr>
          <a:lstStyle/>
          <a:p>
            <a:pPr marL="0" indent="0">
              <a:buNone/>
            </a:pPr>
            <a:r>
              <a:rPr lang="en-US" sz="3200" b="1" dirty="0"/>
              <a:t>Interface and Signal of Protection System:</a:t>
            </a:r>
          </a:p>
          <a:p>
            <a:pPr marL="0" indent="0">
              <a:buNone/>
            </a:pPr>
            <a:r>
              <a:rPr lang="en-US" b="1" dirty="0"/>
              <a:t>Interface with primary measuring equipment: </a:t>
            </a:r>
            <a:r>
              <a:rPr lang="en-US" dirty="0"/>
              <a:t>It is on the local terminal box of the measuring device and includes 3 phase current and voltage on valve side of converter transformer, 3 phase current on grid side, neutral current on valve side and busbar voltage and current of incoming.</a:t>
            </a:r>
          </a:p>
          <a:p>
            <a:pPr marL="0" indent="0">
              <a:buNone/>
            </a:pPr>
            <a:r>
              <a:rPr lang="en-US" b="1" dirty="0"/>
              <a:t>Interface with synchronous clock source: </a:t>
            </a:r>
            <a:r>
              <a:rPr lang="en-US" dirty="0"/>
              <a:t>It is on the main clock system cabinet</a:t>
            </a:r>
          </a:p>
          <a:p>
            <a:pPr marL="0" indent="0">
              <a:buNone/>
            </a:pPr>
            <a:r>
              <a:rPr lang="en-US" b="1" dirty="0"/>
              <a:t>Interface with AC protection: </a:t>
            </a:r>
            <a:r>
              <a:rPr lang="en-US" dirty="0"/>
              <a:t>The output signal is used to start the CB failure protection. It is on the converter transformer protection cabinet. Dry contact, 220V, 5A</a:t>
            </a:r>
          </a:p>
          <a:p>
            <a:pPr marL="0" indent="0">
              <a:buNone/>
            </a:pPr>
            <a:r>
              <a:rPr lang="en-US" b="1" dirty="0"/>
              <a:t>Interface with transient fault recorder system: </a:t>
            </a:r>
            <a:r>
              <a:rPr lang="en-US" dirty="0"/>
              <a:t>The output signal includes Protection actions and instructions for self-monitoring faults to start the transient fault recorder system. It is on the converter transformer protection cabinet. Dry contact, 220V, 5A</a:t>
            </a:r>
            <a:endParaRPr lang="en-US" b="1" dirty="0"/>
          </a:p>
          <a:p>
            <a:endParaRPr lang="en-US" dirty="0"/>
          </a:p>
          <a:p>
            <a:endParaRPr lang="en-US" dirty="0"/>
          </a:p>
        </p:txBody>
      </p:sp>
    </p:spTree>
    <p:extLst>
      <p:ext uri="{BB962C8B-B14F-4D97-AF65-F5344CB8AC3E}">
        <p14:creationId xmlns:p14="http://schemas.microsoft.com/office/powerpoint/2010/main" val="3772445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2F489-C24B-45E6-9320-063768E83BC7}"/>
              </a:ext>
            </a:extLst>
          </p:cNvPr>
          <p:cNvSpPr>
            <a:spLocks noGrp="1"/>
          </p:cNvSpPr>
          <p:nvPr>
            <p:ph idx="1"/>
          </p:nvPr>
        </p:nvSpPr>
        <p:spPr>
          <a:xfrm>
            <a:off x="838200" y="606056"/>
            <a:ext cx="10515600" cy="5570907"/>
          </a:xfrm>
        </p:spPr>
        <p:txBody>
          <a:bodyPr>
            <a:normAutofit lnSpcReduction="10000"/>
          </a:bodyPr>
          <a:lstStyle/>
          <a:p>
            <a:pPr marL="0" indent="0">
              <a:buNone/>
            </a:pPr>
            <a:r>
              <a:rPr lang="en-US" sz="3200" b="1" dirty="0"/>
              <a:t>Panel Layout:</a:t>
            </a:r>
          </a:p>
          <a:p>
            <a:pPr marL="0" indent="0">
              <a:buNone/>
            </a:pPr>
            <a:r>
              <a:rPr lang="en-US" dirty="0"/>
              <a:t>The front panel has 7 signal lights with 2 lights for standby.</a:t>
            </a:r>
          </a:p>
          <a:p>
            <a:pPr>
              <a:buFont typeface="Wingdings" panose="05000000000000000000" pitchFamily="2" charset="2"/>
              <a:buChar char="Ø"/>
            </a:pPr>
            <a:r>
              <a:rPr lang="en-US" dirty="0"/>
              <a:t>RUN (Running) (Green)</a:t>
            </a:r>
          </a:p>
          <a:p>
            <a:pPr>
              <a:buFont typeface="Wingdings" panose="05000000000000000000" pitchFamily="2" charset="2"/>
              <a:buChar char="Ø"/>
            </a:pPr>
            <a:r>
              <a:rPr lang="en-US" dirty="0" err="1"/>
              <a:t>Abn</a:t>
            </a:r>
            <a:r>
              <a:rPr lang="en-US" dirty="0"/>
              <a:t> (Abnormal) (Red)</a:t>
            </a:r>
          </a:p>
          <a:p>
            <a:pPr>
              <a:buFont typeface="Wingdings" panose="05000000000000000000" pitchFamily="2" charset="2"/>
              <a:buChar char="Ø"/>
            </a:pPr>
            <a:r>
              <a:rPr lang="en-US" dirty="0"/>
              <a:t>Overhaul (Overhaul) (Red)</a:t>
            </a:r>
          </a:p>
          <a:p>
            <a:pPr>
              <a:buFont typeface="Wingdings" panose="05000000000000000000" pitchFamily="2" charset="2"/>
              <a:buChar char="Ø"/>
            </a:pPr>
            <a:r>
              <a:rPr lang="en-US" dirty="0"/>
              <a:t>87.Pro.Blk. (Differential protection lock) (Red)</a:t>
            </a:r>
          </a:p>
          <a:p>
            <a:pPr>
              <a:buFont typeface="Wingdings" panose="05000000000000000000" pitchFamily="2" charset="2"/>
              <a:buChar char="Ø"/>
            </a:pPr>
            <a:r>
              <a:rPr lang="en-US" dirty="0" err="1"/>
              <a:t>Pro.Trip</a:t>
            </a:r>
            <a:r>
              <a:rPr lang="en-US" dirty="0"/>
              <a:t>. (Protection tripping) (Red)</a:t>
            </a:r>
          </a:p>
          <a:p>
            <a:pPr marL="0" indent="0">
              <a:buNone/>
            </a:pPr>
            <a:r>
              <a:rPr lang="en-US" sz="3200" b="1" dirty="0"/>
              <a:t>Action and Exception handling:</a:t>
            </a:r>
          </a:p>
          <a:p>
            <a:pPr>
              <a:buFont typeface="Wingdings" panose="05000000000000000000" pitchFamily="2" charset="2"/>
              <a:buChar char="Ø"/>
            </a:pPr>
            <a:r>
              <a:rPr lang="en-US" dirty="0"/>
              <a:t>If an abnormality in CT or PT is reported, the corresponding protection is blocked.</a:t>
            </a:r>
          </a:p>
          <a:p>
            <a:pPr>
              <a:buFont typeface="Wingdings" panose="05000000000000000000" pitchFamily="2" charset="2"/>
              <a:buChar char="Ø"/>
            </a:pPr>
            <a:r>
              <a:rPr lang="en-US" dirty="0"/>
              <a:t>The overload warning means that the load current exceeds the alarm setting and we have to transfer the load</a:t>
            </a:r>
          </a:p>
          <a:p>
            <a:pPr>
              <a:buFont typeface="Wingdings" panose="05000000000000000000" pitchFamily="2" charset="2"/>
              <a:buChar char="Ø"/>
            </a:pPr>
            <a:r>
              <a:rPr lang="en-US" dirty="0"/>
              <a:t>Differential current out of limit action means that differential current value exceeds the limit setting and for handling this CT secondary circuit and setting is checked.</a:t>
            </a:r>
            <a:endParaRPr lang="en-001" dirty="0"/>
          </a:p>
          <a:p>
            <a:endParaRPr lang="en-US" dirty="0"/>
          </a:p>
        </p:txBody>
      </p:sp>
    </p:spTree>
    <p:extLst>
      <p:ext uri="{BB962C8B-B14F-4D97-AF65-F5344CB8AC3E}">
        <p14:creationId xmlns:p14="http://schemas.microsoft.com/office/powerpoint/2010/main" val="525614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3637-C6ED-4691-8D98-AC3D28D76C42}"/>
              </a:ext>
            </a:extLst>
          </p:cNvPr>
          <p:cNvSpPr>
            <a:spLocks noGrp="1"/>
          </p:cNvSpPr>
          <p:nvPr>
            <p:ph type="title"/>
          </p:nvPr>
        </p:nvSpPr>
        <p:spPr/>
        <p:txBody>
          <a:bodyPr/>
          <a:lstStyle/>
          <a:p>
            <a:r>
              <a:rPr lang="en-US" dirty="0"/>
              <a:t>Cabinet Appearance &amp; Fiber Inspection </a:t>
            </a:r>
          </a:p>
        </p:txBody>
      </p:sp>
      <p:sp>
        <p:nvSpPr>
          <p:cNvPr id="3" name="Content Placeholder 2">
            <a:extLst>
              <a:ext uri="{FF2B5EF4-FFF2-40B4-BE49-F238E27FC236}">
                <a16:creationId xmlns:a16="http://schemas.microsoft.com/office/drawing/2014/main" id="{6B178A61-BBD4-428A-95C0-E2B555E1A00E}"/>
              </a:ext>
            </a:extLst>
          </p:cNvPr>
          <p:cNvSpPr>
            <a:spLocks noGrp="1"/>
          </p:cNvSpPr>
          <p:nvPr>
            <p:ph idx="1"/>
          </p:nvPr>
        </p:nvSpPr>
        <p:spPr/>
        <p:txBody>
          <a:bodyPr>
            <a:normAutofit/>
          </a:bodyPr>
          <a:lstStyle/>
          <a:p>
            <a:r>
              <a:rPr lang="en-US" dirty="0"/>
              <a:t>All equipment sign, signal lights should be correct and connecting pieces ,cable numbers indicate correctly with drawing.</a:t>
            </a:r>
          </a:p>
          <a:p>
            <a:r>
              <a:rPr lang="en-US" dirty="0"/>
              <a:t>The plugs connection should be  tight and corrosion free. Circuit should be dust free environment parameters like temperature, humidity exist in their desire limit.</a:t>
            </a:r>
          </a:p>
          <a:p>
            <a:r>
              <a:rPr lang="en-US" dirty="0"/>
              <a:t>Device panel is flexible in Operation and panel is grounded too.</a:t>
            </a:r>
          </a:p>
          <a:p>
            <a:r>
              <a:rPr lang="en-US" dirty="0"/>
              <a:t>Fiber optic connection are in correct and reliable position.</a:t>
            </a:r>
          </a:p>
          <a:p>
            <a:r>
              <a:rPr lang="en-US" dirty="0"/>
              <a:t>Check the abnormal sound and vibration.</a:t>
            </a:r>
          </a:p>
          <a:p>
            <a:r>
              <a:rPr lang="en-US" dirty="0"/>
              <a:t>Use vacuum cleaner to clean .Print the control system fixed value setting. The values </a:t>
            </a:r>
            <a:r>
              <a:rPr lang="en-US" dirty="0" err="1"/>
              <a:t>shoud</a:t>
            </a:r>
            <a:r>
              <a:rPr lang="en-US" dirty="0"/>
              <a:t> be in described limits.</a:t>
            </a:r>
          </a:p>
          <a:p>
            <a:endParaRPr lang="en-US" dirty="0"/>
          </a:p>
        </p:txBody>
      </p:sp>
    </p:spTree>
    <p:extLst>
      <p:ext uri="{BB962C8B-B14F-4D97-AF65-F5344CB8AC3E}">
        <p14:creationId xmlns:p14="http://schemas.microsoft.com/office/powerpoint/2010/main" val="2529352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9FB0-41B7-421A-A6A4-55B371A39639}"/>
              </a:ext>
            </a:extLst>
          </p:cNvPr>
          <p:cNvSpPr>
            <a:spLocks noGrp="1"/>
          </p:cNvSpPr>
          <p:nvPr>
            <p:ph type="title"/>
          </p:nvPr>
        </p:nvSpPr>
        <p:spPr/>
        <p:txBody>
          <a:bodyPr/>
          <a:lstStyle/>
          <a:p>
            <a:r>
              <a:rPr lang="en-US" dirty="0"/>
              <a:t>Optical Fiber Visual Inspection</a:t>
            </a:r>
          </a:p>
        </p:txBody>
      </p:sp>
      <p:sp>
        <p:nvSpPr>
          <p:cNvPr id="3" name="Content Placeholder 2">
            <a:extLst>
              <a:ext uri="{FF2B5EF4-FFF2-40B4-BE49-F238E27FC236}">
                <a16:creationId xmlns:a16="http://schemas.microsoft.com/office/drawing/2014/main" id="{37B61A31-B9F1-453D-9C71-12FC9AEAA33C}"/>
              </a:ext>
            </a:extLst>
          </p:cNvPr>
          <p:cNvSpPr>
            <a:spLocks noGrp="1"/>
          </p:cNvSpPr>
          <p:nvPr>
            <p:ph idx="1"/>
          </p:nvPr>
        </p:nvSpPr>
        <p:spPr/>
        <p:txBody>
          <a:bodyPr/>
          <a:lstStyle/>
          <a:p>
            <a:r>
              <a:rPr lang="en-US" dirty="0"/>
              <a:t>Check bending radius fiber.it should be not less than 15 times the outer diameter of the fiber.</a:t>
            </a:r>
          </a:p>
          <a:p>
            <a:r>
              <a:rPr lang="en-US" dirty="0"/>
              <a:t>Use optical power meter to measure each fiber in the screen.</a:t>
            </a:r>
          </a:p>
          <a:p>
            <a:r>
              <a:rPr lang="en-US" dirty="0"/>
              <a:t>Select the specified wavelength on the optical power meter turn on the light source ,the optical power meter display value is the attenuation value of the fiber under test .</a:t>
            </a:r>
          </a:p>
          <a:p>
            <a:r>
              <a:rPr lang="en-US" dirty="0"/>
              <a:t>Electric-Optic Conversion module inspection, The model quantity and installation location of the device should be consistent with the design drawings.</a:t>
            </a:r>
          </a:p>
          <a:p>
            <a:endParaRPr lang="en-US" dirty="0"/>
          </a:p>
        </p:txBody>
      </p:sp>
    </p:spTree>
    <p:extLst>
      <p:ext uri="{BB962C8B-B14F-4D97-AF65-F5344CB8AC3E}">
        <p14:creationId xmlns:p14="http://schemas.microsoft.com/office/powerpoint/2010/main" val="4104797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4594-72AC-4E3E-802A-D2746426A294}"/>
              </a:ext>
            </a:extLst>
          </p:cNvPr>
          <p:cNvSpPr>
            <a:spLocks noGrp="1"/>
          </p:cNvSpPr>
          <p:nvPr>
            <p:ph type="title"/>
          </p:nvPr>
        </p:nvSpPr>
        <p:spPr/>
        <p:txBody>
          <a:bodyPr/>
          <a:lstStyle/>
          <a:p>
            <a:r>
              <a:rPr lang="en-US" dirty="0"/>
              <a:t>Secondary circuit and anti-interference check </a:t>
            </a:r>
          </a:p>
        </p:txBody>
      </p:sp>
      <p:sp>
        <p:nvSpPr>
          <p:cNvPr id="3" name="Content Placeholder 2">
            <a:extLst>
              <a:ext uri="{FF2B5EF4-FFF2-40B4-BE49-F238E27FC236}">
                <a16:creationId xmlns:a16="http://schemas.microsoft.com/office/drawing/2014/main" id="{9E946A9E-EE81-4042-AAAD-C4DF645A4B97}"/>
              </a:ext>
            </a:extLst>
          </p:cNvPr>
          <p:cNvSpPr>
            <a:spLocks noGrp="1"/>
          </p:cNvSpPr>
          <p:nvPr>
            <p:ph idx="1"/>
          </p:nvPr>
        </p:nvSpPr>
        <p:spPr/>
        <p:txBody>
          <a:bodyPr/>
          <a:lstStyle/>
          <a:p>
            <a:r>
              <a:rPr lang="en-US" dirty="0"/>
              <a:t>The Secondary wired of AC and DC should not share the cable.</a:t>
            </a:r>
          </a:p>
          <a:p>
            <a:r>
              <a:rPr lang="en-US" dirty="0"/>
              <a:t>The cable heads of all the outdoor cables such as CB,CT,PT should place in the Junction box. when the cable adopts multi-strand flexible wire .it must be connected to the terminal through crimping terminal.</a:t>
            </a:r>
          </a:p>
          <a:p>
            <a:r>
              <a:rPr lang="en-US" dirty="0"/>
              <a:t>Trip circuit insulation check before inspection it must be confirmed that CB is powers off before it is allowed to proceed.</a:t>
            </a:r>
          </a:p>
          <a:p>
            <a:r>
              <a:rPr lang="en-US" dirty="0"/>
              <a:t>Disconnect the external wiring of the measure trip terminal at the control panel </a:t>
            </a:r>
          </a:p>
          <a:p>
            <a:endParaRPr lang="en-US" dirty="0"/>
          </a:p>
        </p:txBody>
      </p:sp>
    </p:spTree>
    <p:extLst>
      <p:ext uri="{BB962C8B-B14F-4D97-AF65-F5344CB8AC3E}">
        <p14:creationId xmlns:p14="http://schemas.microsoft.com/office/powerpoint/2010/main" val="39338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365A8-7257-4BFE-AF36-CF9C4F8B6A46}"/>
              </a:ext>
            </a:extLst>
          </p:cNvPr>
          <p:cNvSpPr>
            <a:spLocks noGrp="1"/>
          </p:cNvSpPr>
          <p:nvPr>
            <p:ph type="title"/>
          </p:nvPr>
        </p:nvSpPr>
        <p:spPr/>
        <p:txBody>
          <a:bodyPr/>
          <a:lstStyle/>
          <a:p>
            <a:r>
              <a:rPr lang="en-US" dirty="0"/>
              <a:t>DC current check</a:t>
            </a:r>
          </a:p>
        </p:txBody>
      </p:sp>
      <p:sp>
        <p:nvSpPr>
          <p:cNvPr id="3" name="Content Placeholder 2">
            <a:extLst>
              <a:ext uri="{FF2B5EF4-FFF2-40B4-BE49-F238E27FC236}">
                <a16:creationId xmlns:a16="http://schemas.microsoft.com/office/drawing/2014/main" id="{6136B120-70AC-4C85-9EBD-88B527385539}"/>
              </a:ext>
            </a:extLst>
          </p:cNvPr>
          <p:cNvSpPr>
            <a:spLocks noGrp="1"/>
          </p:cNvSpPr>
          <p:nvPr>
            <p:ph idx="1"/>
          </p:nvPr>
        </p:nvSpPr>
        <p:spPr/>
        <p:txBody>
          <a:bodyPr>
            <a:normAutofit/>
          </a:bodyPr>
          <a:lstStyle/>
          <a:p>
            <a:r>
              <a:rPr lang="en-US" dirty="0"/>
              <a:t>DC air switch and DC fuse configured in the screen shall have name plate with equipment.</a:t>
            </a:r>
          </a:p>
          <a:p>
            <a:r>
              <a:rPr lang="en-US" dirty="0"/>
              <a:t>The fuse should not be connected to the next level of the DC air switch .</a:t>
            </a:r>
          </a:p>
          <a:p>
            <a:r>
              <a:rPr lang="en-US" dirty="0"/>
              <a:t>Put all AC and DC power supply air switches in the control system </a:t>
            </a:r>
          </a:p>
          <a:p>
            <a:r>
              <a:rPr lang="en-US" dirty="0"/>
              <a:t>Use 1000 v megohmmeter to measure </a:t>
            </a:r>
            <a:r>
              <a:rPr lang="en-US" dirty="0" err="1"/>
              <a:t>thte</a:t>
            </a:r>
            <a:r>
              <a:rPr lang="en-US" dirty="0"/>
              <a:t> insulation resistance of the device and resistance value is greater than 1Mohm .</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Insulation check (3 years):</a:t>
            </a:r>
          </a:p>
          <a:p>
            <a:pPr marL="0" indent="0">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Check the resistance of the devices by using 1000V mega ohmmeter.      Resistance should be more than 1M</a:t>
            </a:r>
            <a:r>
              <a:rPr lang="el-GR" dirty="0">
                <a:latin typeface="Times New Roman" panose="02020603050405020304" pitchFamily="18" charset="0"/>
                <a:cs typeface="Times New Roman" panose="02020603050405020304" pitchFamily="18" charset="0"/>
              </a:rPr>
              <a:t>Ω</a:t>
            </a:r>
            <a:r>
              <a:rPr lang="en-US" dirty="0">
                <a:latin typeface="Times New Roman" panose="02020603050405020304" pitchFamily="18" charset="0"/>
                <a:cs typeface="Times New Roman" panose="02020603050405020304" pitchFamily="18" charset="0"/>
              </a:rPr>
              <a:t>.</a:t>
            </a:r>
          </a:p>
          <a:p>
            <a:endParaRPr lang="en-US" dirty="0"/>
          </a:p>
          <a:p>
            <a:endParaRPr lang="en-US" dirty="0"/>
          </a:p>
        </p:txBody>
      </p:sp>
    </p:spTree>
    <p:extLst>
      <p:ext uri="{BB962C8B-B14F-4D97-AF65-F5344CB8AC3E}">
        <p14:creationId xmlns:p14="http://schemas.microsoft.com/office/powerpoint/2010/main" val="274738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0736F-76CF-4345-ACC2-EB8A068EABA9}"/>
              </a:ext>
            </a:extLst>
          </p:cNvPr>
          <p:cNvSpPr>
            <a:spLocks noGrp="1"/>
          </p:cNvSpPr>
          <p:nvPr>
            <p:ph idx="1"/>
          </p:nvPr>
        </p:nvSpPr>
        <p:spPr>
          <a:xfrm>
            <a:off x="838200" y="659219"/>
            <a:ext cx="10515600" cy="5517744"/>
          </a:xfrm>
        </p:spPr>
        <p:txBody>
          <a:bodyPr>
            <a:normAutofit/>
          </a:bodyPr>
          <a:lstStyle/>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DC conversion power check (3 Years):</a:t>
            </a:r>
          </a:p>
          <a:p>
            <a:r>
              <a:rPr lang="en-US" dirty="0">
                <a:latin typeface="Times New Roman" panose="02020603050405020304" pitchFamily="18" charset="0"/>
                <a:cs typeface="Times New Roman" panose="02020603050405020304" pitchFamily="18" charset="0"/>
              </a:rPr>
              <a:t>All plug-ins should meet the requirement. The device running lights should work normally and device operates normally.</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GPS/ </a:t>
            </a:r>
            <a:r>
              <a:rPr lang="en-US" b="1" dirty="0" err="1">
                <a:latin typeface="Times New Roman" panose="02020603050405020304" pitchFamily="18" charset="0"/>
                <a:cs typeface="Times New Roman" panose="02020603050405020304" pitchFamily="18" charset="0"/>
              </a:rPr>
              <a:t>Beiduo</a:t>
            </a:r>
            <a:r>
              <a:rPr lang="en-US" b="1" dirty="0">
                <a:latin typeface="Times New Roman" panose="02020603050405020304" pitchFamily="18" charset="0"/>
                <a:cs typeface="Times New Roman" panose="02020603050405020304" pitchFamily="18" charset="0"/>
              </a:rPr>
              <a:t> time(3 years):</a:t>
            </a:r>
          </a:p>
          <a:p>
            <a:r>
              <a:rPr lang="en-US" dirty="0">
                <a:latin typeface="Times New Roman" panose="02020603050405020304" pitchFamily="18" charset="0"/>
                <a:cs typeface="Times New Roman" panose="02020603050405020304" pitchFamily="18" charset="0"/>
              </a:rPr>
              <a:t>You can observe the monitoring background alarm by opening the timings terminal to detect whether the timing node is intact.</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Control system switching test (3 Years):</a:t>
            </a:r>
          </a:p>
          <a:p>
            <a:r>
              <a:rPr lang="en-US" dirty="0">
                <a:latin typeface="Times New Roman" panose="02020603050405020304" pitchFamily="18" charset="0"/>
                <a:cs typeface="Times New Roman" panose="02020603050405020304" pitchFamily="18" charset="0"/>
              </a:rPr>
              <a:t>Check the switching between system A and B and observe the running indicator on panel whether displayed correctly or not.</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Terminal inspection and tightening (3 Years): </a:t>
            </a:r>
          </a:p>
          <a:p>
            <a:r>
              <a:rPr lang="en-US" dirty="0">
                <a:latin typeface="Times New Roman" panose="02020603050405020304" pitchFamily="18" charset="0"/>
                <a:cs typeface="Times New Roman" panose="02020603050405020304" pitchFamily="18" charset="0"/>
              </a:rPr>
              <a:t>Tight the terminals of DC control system of the entire station so that no terminal left loose.</a:t>
            </a:r>
          </a:p>
          <a:p>
            <a:pPr marL="342900" indent="-3429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Control protection software check (3 Years):</a:t>
            </a:r>
          </a:p>
          <a:p>
            <a:r>
              <a:rPr lang="en-US" dirty="0">
                <a:latin typeface="Times New Roman" panose="02020603050405020304" pitchFamily="18" charset="0"/>
                <a:cs typeface="Times New Roman" panose="02020603050405020304" pitchFamily="18" charset="0"/>
              </a:rPr>
              <a:t>Check whether the control program is latest version, whether the application is upgrade, version number and other records.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56174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4FF096-BC9B-47B5-9356-793C526B8294}"/>
              </a:ext>
            </a:extLst>
          </p:cNvPr>
          <p:cNvSpPr>
            <a:spLocks noGrp="1"/>
          </p:cNvSpPr>
          <p:nvPr>
            <p:ph idx="1"/>
          </p:nvPr>
        </p:nvSpPr>
        <p:spPr>
          <a:xfrm>
            <a:off x="838200" y="754912"/>
            <a:ext cx="10515600" cy="5422051"/>
          </a:xfrm>
        </p:spPr>
        <p:txBody>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Control protection software check (3 Years):</a:t>
            </a:r>
          </a:p>
          <a:p>
            <a:pPr marL="0" indent="0">
              <a:buNone/>
            </a:pPr>
            <a:endParaRPr lang="en-US" dirty="0"/>
          </a:p>
          <a:p>
            <a:pPr marL="0" indent="0">
              <a:buNone/>
            </a:pPr>
            <a:r>
              <a:rPr lang="en-US" dirty="0"/>
              <a:t>LAN network communication check (3 Years):</a:t>
            </a:r>
          </a:p>
          <a:p>
            <a:pPr marL="0" indent="0">
              <a:buNone/>
            </a:pPr>
            <a:r>
              <a:rPr lang="en-US" dirty="0"/>
              <a:t>Specify the address of the LAN communication software. </a:t>
            </a:r>
          </a:p>
          <a:p>
            <a:pPr marL="0" indent="0">
              <a:buNone/>
            </a:pPr>
            <a:r>
              <a:rPr lang="en-US" dirty="0"/>
              <a:t>Fieldbus communication check (3 Years):</a:t>
            </a:r>
          </a:p>
          <a:p>
            <a:pPr marL="0" indent="0">
              <a:buNone/>
            </a:pPr>
            <a:r>
              <a:rPr lang="en-US" dirty="0"/>
              <a:t>Clear the address of the fieldbus communication software.</a:t>
            </a:r>
          </a:p>
          <a:p>
            <a:pPr marL="0" indent="0">
              <a:buNone/>
            </a:pPr>
            <a:r>
              <a:rPr lang="en-US" dirty="0"/>
              <a:t>Device power supply circuit inspection (3 Years):</a:t>
            </a:r>
          </a:p>
          <a:p>
            <a:pPr marL="0" indent="0">
              <a:buNone/>
            </a:pPr>
            <a:r>
              <a:rPr lang="en-US" dirty="0"/>
              <a:t>Check if there is another independent power supply after the device loses power to ensure that the system can operate normally. </a:t>
            </a:r>
          </a:p>
          <a:p>
            <a:endParaRPr lang="en-US" dirty="0"/>
          </a:p>
        </p:txBody>
      </p:sp>
    </p:spTree>
    <p:extLst>
      <p:ext uri="{BB962C8B-B14F-4D97-AF65-F5344CB8AC3E}">
        <p14:creationId xmlns:p14="http://schemas.microsoft.com/office/powerpoint/2010/main" val="1687379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C5146-D050-42E1-9E97-C716AB6486AD}"/>
              </a:ext>
            </a:extLst>
          </p:cNvPr>
          <p:cNvSpPr>
            <a:spLocks noGrp="1"/>
          </p:cNvSpPr>
          <p:nvPr>
            <p:ph type="title"/>
          </p:nvPr>
        </p:nvSpPr>
        <p:spPr>
          <a:xfrm>
            <a:off x="838200" y="365125"/>
            <a:ext cx="10515600" cy="921415"/>
          </a:xfrm>
        </p:spPr>
        <p:txBody>
          <a:bodyPr>
            <a:noAutofit/>
          </a:bodyPr>
          <a:lstStyle/>
          <a:p>
            <a:r>
              <a:rPr lang="en-US" sz="2800" b="1" dirty="0"/>
              <a:t>Non Electric Quantity System of converter Transformer</a:t>
            </a:r>
            <a:endParaRPr lang="en-US" sz="2800" dirty="0"/>
          </a:p>
        </p:txBody>
      </p:sp>
      <p:sp>
        <p:nvSpPr>
          <p:cNvPr id="3" name="Content Placeholder 2">
            <a:extLst>
              <a:ext uri="{FF2B5EF4-FFF2-40B4-BE49-F238E27FC236}">
                <a16:creationId xmlns:a16="http://schemas.microsoft.com/office/drawing/2014/main" id="{059B085F-1361-4EED-99E5-93EE54C5FF90}"/>
              </a:ext>
            </a:extLst>
          </p:cNvPr>
          <p:cNvSpPr>
            <a:spLocks noGrp="1"/>
          </p:cNvSpPr>
          <p:nvPr>
            <p:ph idx="1"/>
          </p:nvPr>
        </p:nvSpPr>
        <p:spPr>
          <a:xfrm>
            <a:off x="838200" y="903768"/>
            <a:ext cx="10515600" cy="5677786"/>
          </a:xfrm>
        </p:spPr>
        <p:txBody>
          <a:bodyPr>
            <a:normAutofit fontScale="70000" lnSpcReduction="20000"/>
          </a:bodyPr>
          <a:lstStyle/>
          <a:p>
            <a:r>
              <a:rPr lang="en-US" sz="3200" dirty="0"/>
              <a:t>The non-electric quantities of converter Transformer like Oil Temperature, Pressure , humidity level is very important and they need to be carefully monitored and if these values go beyond their preset level a protection must operate to avoid any further damages. For monitoring we have non electric quantity acquisition system of converter transformer.</a:t>
            </a:r>
          </a:p>
          <a:p>
            <a:r>
              <a:rPr lang="en-US" sz="3200" b="1" dirty="0"/>
              <a:t>Functional Scope:-</a:t>
            </a:r>
          </a:p>
          <a:p>
            <a:pPr marL="285750" indent="-285750">
              <a:buFont typeface="Wingdings" panose="05000000000000000000" pitchFamily="2" charset="2"/>
              <a:buChar char="Ø"/>
            </a:pPr>
            <a:r>
              <a:rPr lang="en-US" b="1" dirty="0"/>
              <a:t>Protection scope</a:t>
            </a:r>
          </a:p>
          <a:p>
            <a:r>
              <a:rPr lang="en-US" dirty="0"/>
              <a:t>The protection device provides the collection of all non-electric quantities required by converter transformer.</a:t>
            </a:r>
          </a:p>
          <a:p>
            <a:pPr marL="285750" indent="-285750">
              <a:buFont typeface="Wingdings" panose="05000000000000000000" pitchFamily="2" charset="2"/>
              <a:buChar char="Ø"/>
            </a:pPr>
            <a:r>
              <a:rPr lang="en-US" b="1" dirty="0"/>
              <a:t>Protection function</a:t>
            </a:r>
          </a:p>
          <a:p>
            <a:r>
              <a:rPr lang="en-US" dirty="0"/>
              <a:t>In order to insure the reliability of converter Transformer , the triple scheme is adopted to ensure its reliability to avoid mis operation. The triple scheme is basically to choose 2 out of 3 input to decide the output operation.</a:t>
            </a:r>
          </a:p>
          <a:p>
            <a:r>
              <a:rPr lang="en-US" sz="3200" b="1" dirty="0"/>
              <a:t>Function Describes:-</a:t>
            </a:r>
          </a:p>
          <a:p>
            <a:pPr marL="285750" indent="-285750">
              <a:buFont typeface="Wingdings" panose="05000000000000000000" pitchFamily="2" charset="2"/>
              <a:buChar char="Ø"/>
            </a:pPr>
            <a:r>
              <a:rPr lang="en-US" b="1" dirty="0"/>
              <a:t>Status acquisition</a:t>
            </a:r>
          </a:p>
          <a:p>
            <a:r>
              <a:rPr lang="en-US" dirty="0"/>
              <a:t>For the monitoring the continuous status of converter Transformer the device PAC-837 is used which has 105     photoelectric isolated idle contact DIs (Digital Inputs).</a:t>
            </a:r>
          </a:p>
          <a:p>
            <a:r>
              <a:rPr lang="en-US" dirty="0"/>
              <a:t>The digital input information is sent through GOOSE (Generic Object Oriented substation Events)</a:t>
            </a:r>
          </a:p>
          <a:p>
            <a:endParaRPr lang="en-US" dirty="0"/>
          </a:p>
          <a:p>
            <a:endParaRPr lang="en-US" dirty="0"/>
          </a:p>
        </p:txBody>
      </p:sp>
    </p:spTree>
    <p:extLst>
      <p:ext uri="{BB962C8B-B14F-4D97-AF65-F5344CB8AC3E}">
        <p14:creationId xmlns:p14="http://schemas.microsoft.com/office/powerpoint/2010/main" val="708799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317E8-93CF-4AE0-9734-B4348E2253AE}"/>
              </a:ext>
            </a:extLst>
          </p:cNvPr>
          <p:cNvSpPr>
            <a:spLocks noGrp="1"/>
          </p:cNvSpPr>
          <p:nvPr>
            <p:ph idx="1"/>
          </p:nvPr>
        </p:nvSpPr>
        <p:spPr>
          <a:xfrm>
            <a:off x="838200" y="372140"/>
            <a:ext cx="10515600" cy="6156251"/>
          </a:xfrm>
        </p:spPr>
        <p:txBody>
          <a:bodyPr>
            <a:normAutofit/>
          </a:bodyPr>
          <a:lstStyle/>
          <a:p>
            <a:pPr marL="285750" indent="-285750">
              <a:buFont typeface="Wingdings" panose="05000000000000000000" pitchFamily="2" charset="2"/>
              <a:buChar char="Ø"/>
            </a:pPr>
            <a:r>
              <a:rPr lang="en-US" b="1" dirty="0"/>
              <a:t>Maintenance Function</a:t>
            </a:r>
          </a:p>
          <a:p>
            <a:r>
              <a:rPr lang="en-US" dirty="0"/>
              <a:t>The device is provided with a “maintenance status” link. When the maintenance link is enabled the panel indicator indicates that the device is in a maintenance mode. In this Case , the device sends GOOSE (Generic Object Oriented substation Events)  message with corresponding maintenance position setting in the message</a:t>
            </a:r>
          </a:p>
          <a:p>
            <a:pPr marL="285750" indent="-285750">
              <a:buFont typeface="Wingdings" panose="05000000000000000000" pitchFamily="2" charset="2"/>
              <a:buChar char="Ø"/>
            </a:pPr>
            <a:r>
              <a:rPr lang="en-US" b="1" dirty="0"/>
              <a:t>Time Synchronization </a:t>
            </a:r>
          </a:p>
          <a:p>
            <a:r>
              <a:rPr lang="en-US" dirty="0"/>
              <a:t>The time synchronization is very important and this device has a synchronization interface with external standard time service source. The accuracy of synchronization is ≤ 1ms.</a:t>
            </a:r>
          </a:p>
          <a:p>
            <a:pPr marL="285750" indent="-285750">
              <a:buFont typeface="Wingdings" panose="05000000000000000000" pitchFamily="2" charset="2"/>
              <a:buChar char="Ø"/>
            </a:pPr>
            <a:r>
              <a:rPr lang="en-US" b="1" dirty="0"/>
              <a:t>Self Check and Alarm Function</a:t>
            </a:r>
          </a:p>
          <a:p>
            <a:r>
              <a:rPr lang="en-US" dirty="0"/>
              <a:t>The device PAC-837 has a self check function covering self check items such as Program, Power Voltage(5V/24V) and serial port interruption. The status of ‘device alarm “ is generated in any one of the device self check error.</a:t>
            </a:r>
          </a:p>
          <a:p>
            <a:endParaRPr lang="en-US" dirty="0"/>
          </a:p>
          <a:p>
            <a:endParaRPr lang="en-US" dirty="0"/>
          </a:p>
        </p:txBody>
      </p:sp>
    </p:spTree>
    <p:extLst>
      <p:ext uri="{BB962C8B-B14F-4D97-AF65-F5344CB8AC3E}">
        <p14:creationId xmlns:p14="http://schemas.microsoft.com/office/powerpoint/2010/main" val="1991790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696F7-5DB4-4D74-82EC-9C897148D9CF}"/>
              </a:ext>
            </a:extLst>
          </p:cNvPr>
          <p:cNvSpPr>
            <a:spLocks noGrp="1"/>
          </p:cNvSpPr>
          <p:nvPr>
            <p:ph type="title"/>
          </p:nvPr>
        </p:nvSpPr>
        <p:spPr/>
        <p:txBody>
          <a:bodyPr/>
          <a:lstStyle/>
          <a:p>
            <a:r>
              <a:rPr lang="en-US" b="1" dirty="0"/>
              <a:t>Hardware Structure:-</a:t>
            </a:r>
            <a:br>
              <a:rPr lang="en-US" b="1" dirty="0"/>
            </a:br>
            <a:endParaRPr lang="en-US" dirty="0"/>
          </a:p>
        </p:txBody>
      </p:sp>
      <p:sp>
        <p:nvSpPr>
          <p:cNvPr id="3" name="Content Placeholder 2">
            <a:extLst>
              <a:ext uri="{FF2B5EF4-FFF2-40B4-BE49-F238E27FC236}">
                <a16:creationId xmlns:a16="http://schemas.microsoft.com/office/drawing/2014/main" id="{890EF98E-E73D-4904-BD32-0D3350FC2B14}"/>
              </a:ext>
            </a:extLst>
          </p:cNvPr>
          <p:cNvSpPr>
            <a:spLocks noGrp="1"/>
          </p:cNvSpPr>
          <p:nvPr>
            <p:ph idx="1"/>
          </p:nvPr>
        </p:nvSpPr>
        <p:spPr>
          <a:xfrm>
            <a:off x="838200" y="1148316"/>
            <a:ext cx="10515600" cy="5465135"/>
          </a:xfrm>
        </p:spPr>
        <p:txBody>
          <a:bodyPr>
            <a:normAutofit fontScale="92500" lnSpcReduction="10000"/>
          </a:bodyPr>
          <a:lstStyle/>
          <a:p>
            <a:pPr marL="342900" indent="-342900">
              <a:buFont typeface="Wingdings" panose="05000000000000000000" pitchFamily="2" charset="2"/>
              <a:buChar char="Ø"/>
            </a:pPr>
            <a:r>
              <a:rPr lang="en-US" b="1" dirty="0"/>
              <a:t>Overall Configuration</a:t>
            </a:r>
          </a:p>
          <a:p>
            <a:r>
              <a:rPr lang="en-US" dirty="0"/>
              <a:t>There are 6 non electric quantity panels in </a:t>
            </a:r>
            <a:r>
              <a:rPr lang="en-US" dirty="0" err="1"/>
              <a:t>Matiari</a:t>
            </a:r>
            <a:r>
              <a:rPr lang="en-US" dirty="0"/>
              <a:t> and Lahore Converter Station. The overall technology used improve the reliability of device hardware.</a:t>
            </a:r>
          </a:p>
          <a:p>
            <a:pPr marL="285750" indent="-285750">
              <a:buFont typeface="Wingdings" panose="05000000000000000000" pitchFamily="2" charset="2"/>
              <a:buChar char="Ø"/>
            </a:pPr>
            <a:r>
              <a:rPr lang="en-US" b="1" dirty="0"/>
              <a:t>Hardware System</a:t>
            </a:r>
          </a:p>
          <a:p>
            <a:r>
              <a:rPr lang="en-US" dirty="0"/>
              <a:t>We have adopted 8 MF Panel in this project which has the advantages of high strength of structural parts, good sealing, and good adoptability to various complex environment.</a:t>
            </a:r>
          </a:p>
          <a:p>
            <a:pPr marL="285750" indent="-285750">
              <a:buFont typeface="Wingdings" panose="05000000000000000000" pitchFamily="2" charset="2"/>
              <a:buChar char="Ø"/>
            </a:pPr>
            <a:r>
              <a:rPr lang="en-US" sz="3200" b="1" dirty="0"/>
              <a:t>Working power</a:t>
            </a:r>
          </a:p>
          <a:p>
            <a:r>
              <a:rPr lang="en-US" sz="3200" dirty="0"/>
              <a:t>Each cabinet is equipped with independent two-way Power supply at he same time to ensure the normal operation of the device in case of loss of any Power supply. If any Power module fails, it will output the alarm contact and send the message to monitoring system.</a:t>
            </a:r>
          </a:p>
          <a:p>
            <a:endParaRPr lang="en-US" sz="3200" dirty="0"/>
          </a:p>
          <a:p>
            <a:endParaRPr lang="en-US" dirty="0"/>
          </a:p>
        </p:txBody>
      </p:sp>
    </p:spTree>
    <p:extLst>
      <p:ext uri="{BB962C8B-B14F-4D97-AF65-F5344CB8AC3E}">
        <p14:creationId xmlns:p14="http://schemas.microsoft.com/office/powerpoint/2010/main" val="3419056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54CA09-C32E-4814-AFC8-542FF5E83C2A}"/>
              </a:ext>
            </a:extLst>
          </p:cNvPr>
          <p:cNvSpPr>
            <a:spLocks noGrp="1"/>
          </p:cNvSpPr>
          <p:nvPr>
            <p:ph idx="1"/>
          </p:nvPr>
        </p:nvSpPr>
        <p:spPr>
          <a:xfrm>
            <a:off x="838200" y="191386"/>
            <a:ext cx="10515600" cy="6198781"/>
          </a:xfrm>
        </p:spPr>
        <p:txBody>
          <a:bodyPr>
            <a:normAutofit fontScale="92500" lnSpcReduction="20000"/>
          </a:bodyPr>
          <a:lstStyle/>
          <a:p>
            <a:endParaRPr lang="en-US" sz="3200" b="1" dirty="0"/>
          </a:p>
          <a:p>
            <a:pPr marL="0" indent="0">
              <a:buNone/>
            </a:pPr>
            <a:r>
              <a:rPr lang="en-US" sz="4700" b="1" dirty="0"/>
              <a:t>Software Description:-</a:t>
            </a:r>
          </a:p>
          <a:p>
            <a:pPr marL="0" indent="0">
              <a:buNone/>
            </a:pPr>
            <a:endParaRPr lang="en-US" sz="4200" b="1" dirty="0"/>
          </a:p>
          <a:p>
            <a:r>
              <a:rPr lang="en-US" dirty="0"/>
              <a:t>All the protection software is completed by independent development.in order to ensure the correctness of the protection function and reliability of system operation. The development process has experienced repeated and strict processes. </a:t>
            </a:r>
          </a:p>
          <a:p>
            <a:r>
              <a:rPr lang="en-US" sz="3200" b="1" dirty="0"/>
              <a:t>Interface and signal of converter Transformer non-electric system:-</a:t>
            </a:r>
          </a:p>
          <a:p>
            <a:r>
              <a:rPr lang="en-US" dirty="0"/>
              <a:t>The interface between the non-electric power system and the local control cabinet adopts the mode of idle contact. The signal includes the signal collected by the local control cabinet of converter transformer.</a:t>
            </a:r>
          </a:p>
          <a:p>
            <a:pPr marL="285750" indent="-285750">
              <a:buFont typeface="Wingdings" panose="05000000000000000000" pitchFamily="2" charset="2"/>
              <a:buChar char="Ø"/>
            </a:pPr>
            <a:r>
              <a:rPr lang="en-US" b="1" dirty="0"/>
              <a:t>Interface with Pole Control</a:t>
            </a:r>
          </a:p>
          <a:p>
            <a:r>
              <a:rPr lang="en-US" dirty="0"/>
              <a:t>Connect to Pole control with GOOSE (Generic Object Oriented substation Events) </a:t>
            </a:r>
          </a:p>
          <a:p>
            <a:pPr marL="285750" indent="-285750">
              <a:buFont typeface="Wingdings" panose="05000000000000000000" pitchFamily="2" charset="2"/>
              <a:buChar char="Ø"/>
            </a:pPr>
            <a:r>
              <a:rPr lang="en-US" b="1" dirty="0"/>
              <a:t>Interface with synchronous clock source</a:t>
            </a:r>
          </a:p>
          <a:p>
            <a:r>
              <a:rPr lang="en-US" dirty="0"/>
              <a:t>The interface signal between converter transformer non electric system and synchronous clock source is IRIG-B. The interface is on the main clock system panel </a:t>
            </a:r>
          </a:p>
          <a:p>
            <a:endParaRPr lang="en-US" dirty="0"/>
          </a:p>
        </p:txBody>
      </p:sp>
    </p:spTree>
    <p:extLst>
      <p:ext uri="{BB962C8B-B14F-4D97-AF65-F5344CB8AC3E}">
        <p14:creationId xmlns:p14="http://schemas.microsoft.com/office/powerpoint/2010/main" val="222034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C32B-86D5-4A00-A767-2AE56222EF1D}"/>
              </a:ext>
            </a:extLst>
          </p:cNvPr>
          <p:cNvSpPr>
            <a:spLocks noGrp="1"/>
          </p:cNvSpPr>
          <p:nvPr>
            <p:ph type="title"/>
          </p:nvPr>
        </p:nvSpPr>
        <p:spPr/>
        <p:txBody>
          <a:bodyPr/>
          <a:lstStyle/>
          <a:p>
            <a:r>
              <a:rPr lang="en-US" b="1" dirty="0"/>
              <a:t>PAC-837 Front Panel Layout </a:t>
            </a:r>
          </a:p>
        </p:txBody>
      </p:sp>
      <p:sp>
        <p:nvSpPr>
          <p:cNvPr id="3" name="Content Placeholder 2">
            <a:extLst>
              <a:ext uri="{FF2B5EF4-FFF2-40B4-BE49-F238E27FC236}">
                <a16:creationId xmlns:a16="http://schemas.microsoft.com/office/drawing/2014/main" id="{6DCDCE1E-6E7E-4FBC-B913-57D2E170FA84}"/>
              </a:ext>
            </a:extLst>
          </p:cNvPr>
          <p:cNvSpPr>
            <a:spLocks noGrp="1"/>
          </p:cNvSpPr>
          <p:nvPr>
            <p:ph idx="1"/>
          </p:nvPr>
        </p:nvSpPr>
        <p:spPr/>
        <p:txBody>
          <a:bodyPr>
            <a:normAutofit fontScale="92500"/>
          </a:bodyPr>
          <a:lstStyle/>
          <a:p>
            <a:pPr marL="0" indent="0">
              <a:buNone/>
            </a:pPr>
            <a:r>
              <a:rPr lang="en-US" dirty="0"/>
              <a:t>Seven signal lights</a:t>
            </a:r>
          </a:p>
          <a:p>
            <a:pPr marL="514350" indent="-514350">
              <a:buFont typeface="+mj-lt"/>
              <a:buAutoNum type="arabicPeriod"/>
            </a:pPr>
            <a:r>
              <a:rPr lang="en-US" dirty="0"/>
              <a:t>Running: Green (normal operation), off (no power or self check error)</a:t>
            </a:r>
          </a:p>
          <a:p>
            <a:pPr marL="514350" indent="-514350">
              <a:buFont typeface="+mj-lt"/>
              <a:buAutoNum type="arabicPeriod"/>
            </a:pPr>
            <a:r>
              <a:rPr lang="en-US" dirty="0"/>
              <a:t>Alarm: Red (Device Alarm detected), off (normal operation)</a:t>
            </a:r>
          </a:p>
          <a:p>
            <a:pPr marL="514350" indent="-514350">
              <a:buFont typeface="+mj-lt"/>
              <a:buAutoNum type="arabicPeriod"/>
            </a:pPr>
            <a:r>
              <a:rPr lang="en-US" dirty="0"/>
              <a:t>Maintenance: Red (Maintenance enabled), off (normal operation)</a:t>
            </a:r>
          </a:p>
          <a:p>
            <a:pPr marL="514350" indent="-514350">
              <a:buFont typeface="+mj-lt"/>
              <a:buAutoNum type="arabicPeriod"/>
            </a:pPr>
            <a:r>
              <a:rPr lang="en-US" dirty="0"/>
              <a:t>Time Synchronization Abnormal: Red (Time Synchronization Abnormal), off(normal operation)</a:t>
            </a:r>
          </a:p>
          <a:p>
            <a:pPr marL="514350" indent="-514350">
              <a:buFont typeface="+mj-lt"/>
              <a:buAutoNum type="arabicPeriod"/>
            </a:pPr>
            <a:r>
              <a:rPr lang="en-US" dirty="0"/>
              <a:t>Action of DI/ DO: Red (Dithering/ noise Elimination performed for any of 102 Digital Inputs: 7# board has 1-18 DIs, 8/9/C/D# boards have 1-21 DIs each), off (normal operation)</a:t>
            </a:r>
          </a:p>
          <a:p>
            <a:pPr marL="514350" indent="-514350">
              <a:buFont typeface="+mj-lt"/>
              <a:buAutoNum type="arabicPeriod"/>
            </a:pPr>
            <a:r>
              <a:rPr lang="en-US" dirty="0"/>
              <a:t>Standby: Spare</a:t>
            </a:r>
          </a:p>
          <a:p>
            <a:pPr marL="514350" indent="-514350">
              <a:buFont typeface="+mj-lt"/>
              <a:buAutoNum type="arabicPeriod"/>
            </a:pPr>
            <a:r>
              <a:rPr lang="en-US" dirty="0"/>
              <a:t>Standby: Spare</a:t>
            </a:r>
          </a:p>
          <a:p>
            <a:endParaRPr lang="en-US" dirty="0"/>
          </a:p>
        </p:txBody>
      </p:sp>
    </p:spTree>
    <p:extLst>
      <p:ext uri="{BB962C8B-B14F-4D97-AF65-F5344CB8AC3E}">
        <p14:creationId xmlns:p14="http://schemas.microsoft.com/office/powerpoint/2010/main" val="4288043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87D8-3A72-4DE8-BC5B-7C5B683AED73}"/>
              </a:ext>
            </a:extLst>
          </p:cNvPr>
          <p:cNvSpPr>
            <a:spLocks noGrp="1"/>
          </p:cNvSpPr>
          <p:nvPr>
            <p:ph type="title"/>
          </p:nvPr>
        </p:nvSpPr>
        <p:spPr>
          <a:xfrm>
            <a:off x="838200" y="365126"/>
            <a:ext cx="10515600" cy="602437"/>
          </a:xfrm>
        </p:spPr>
        <p:txBody>
          <a:bodyPr>
            <a:normAutofit fontScale="90000"/>
          </a:bodyPr>
          <a:lstStyle/>
          <a:p>
            <a:r>
              <a:rPr lang="en-US" dirty="0"/>
              <a:t>PAC-837 Maintenance items, cycle and requirements of action</a:t>
            </a:r>
          </a:p>
        </p:txBody>
      </p:sp>
      <p:sp>
        <p:nvSpPr>
          <p:cNvPr id="3" name="Content Placeholder 2">
            <a:extLst>
              <a:ext uri="{FF2B5EF4-FFF2-40B4-BE49-F238E27FC236}">
                <a16:creationId xmlns:a16="http://schemas.microsoft.com/office/drawing/2014/main" id="{7E6A3042-FDE1-4EC1-8BB8-B044F2591962}"/>
              </a:ext>
            </a:extLst>
          </p:cNvPr>
          <p:cNvSpPr>
            <a:spLocks noGrp="1"/>
          </p:cNvSpPr>
          <p:nvPr>
            <p:ph idx="1"/>
          </p:nvPr>
        </p:nvSpPr>
        <p:spPr>
          <a:xfrm>
            <a:off x="668079" y="1573617"/>
            <a:ext cx="10515600" cy="5103627"/>
          </a:xfrm>
        </p:spPr>
        <p:txBody>
          <a:bodyPr>
            <a:normAutofit/>
          </a:bodyPr>
          <a:lstStyle/>
          <a:p>
            <a:pPr marL="0" indent="0" algn="just">
              <a:buNone/>
            </a:pPr>
            <a:r>
              <a:rPr lang="en-US" dirty="0"/>
              <a:t>DC Operation and Protection System Operation and Maintenance rules:</a:t>
            </a:r>
          </a:p>
          <a:p>
            <a:pPr marL="514350" indent="-514350" algn="just">
              <a:buFont typeface="+mj-lt"/>
              <a:buAutoNum type="arabicPeriod"/>
            </a:pPr>
            <a:r>
              <a:rPr lang="en-US" dirty="0"/>
              <a:t>Cabinet Appearance Inspection: Every year check screen cabinet, wiring, signs, signal lights, connections, plugs, buttons, fiber optic terminal box and spare fiber reels</a:t>
            </a:r>
          </a:p>
          <a:p>
            <a:pPr marL="514350" indent="-514350" algn="just">
              <a:buFont typeface="+mj-lt"/>
              <a:buAutoNum type="arabicPeriod"/>
            </a:pPr>
            <a:r>
              <a:rPr lang="en-US" dirty="0"/>
              <a:t>Setting Check: Every year, print control system fixed value order and compare each value with reference fixed value sheet for approval. </a:t>
            </a:r>
          </a:p>
          <a:p>
            <a:pPr marL="514350" indent="-514350" algn="just">
              <a:buFont typeface="+mj-lt"/>
              <a:buAutoNum type="arabicPeriod"/>
            </a:pPr>
            <a:r>
              <a:rPr lang="en-US" dirty="0"/>
              <a:t>Fiber Optic Loop Inspection: Every three years, check fiber optic terminal box, multi-strand wire crimping terminals and connectors.</a:t>
            </a:r>
          </a:p>
          <a:p>
            <a:pPr marL="514350" indent="-514350" algn="just">
              <a:buFont typeface="+mj-lt"/>
              <a:buAutoNum type="arabicPeriod"/>
            </a:pPr>
            <a:r>
              <a:rPr lang="en-US" dirty="0"/>
              <a:t>Electro-optic Conversion Module Inspection: Every three years, check wiring connections and compare with design drawings. The wires must not cross.</a:t>
            </a:r>
          </a:p>
          <a:p>
            <a:pPr marL="514350" indent="-514350" algn="just">
              <a:buFont typeface="+mj-lt"/>
              <a:buAutoNum type="arabicPeriod"/>
            </a:pPr>
            <a:r>
              <a:rPr lang="en-US" dirty="0"/>
              <a:t>Secondary Circuit and anti-interference check: Every three years, check the cable heads/ numbers/ labels/ Insulation/ models/ connections. </a:t>
            </a:r>
          </a:p>
          <a:p>
            <a:endParaRPr lang="en-US" dirty="0"/>
          </a:p>
        </p:txBody>
      </p:sp>
    </p:spTree>
    <p:extLst>
      <p:ext uri="{BB962C8B-B14F-4D97-AF65-F5344CB8AC3E}">
        <p14:creationId xmlns:p14="http://schemas.microsoft.com/office/powerpoint/2010/main" val="2841116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1944-3713-4A40-9B34-DE78443019F1}"/>
              </a:ext>
            </a:extLst>
          </p:cNvPr>
          <p:cNvSpPr>
            <a:spLocks noGrp="1"/>
          </p:cNvSpPr>
          <p:nvPr>
            <p:ph type="title"/>
          </p:nvPr>
        </p:nvSpPr>
        <p:spPr/>
        <p:txBody>
          <a:bodyPr/>
          <a:lstStyle/>
          <a:p>
            <a:r>
              <a:rPr lang="en-GB" b="1" dirty="0"/>
              <a:t>Maintenance Items </a:t>
            </a:r>
            <a:endParaRPr lang="en-US" dirty="0"/>
          </a:p>
        </p:txBody>
      </p:sp>
      <p:sp>
        <p:nvSpPr>
          <p:cNvPr id="3" name="Content Placeholder 2">
            <a:extLst>
              <a:ext uri="{FF2B5EF4-FFF2-40B4-BE49-F238E27FC236}">
                <a16:creationId xmlns:a16="http://schemas.microsoft.com/office/drawing/2014/main" id="{2FCA810B-5C5E-4038-A5D8-8DC4B063872B}"/>
              </a:ext>
            </a:extLst>
          </p:cNvPr>
          <p:cNvSpPr>
            <a:spLocks noGrp="1"/>
          </p:cNvSpPr>
          <p:nvPr>
            <p:ph idx="1"/>
          </p:nvPr>
        </p:nvSpPr>
        <p:spPr/>
        <p:txBody>
          <a:bodyPr>
            <a:normAutofit fontScale="92500" lnSpcReduction="20000"/>
          </a:bodyPr>
          <a:lstStyle/>
          <a:p>
            <a:pPr marL="342900" indent="-342900" algn="just"/>
            <a:r>
              <a:rPr lang="en-GB" b="1" dirty="0"/>
              <a:t>Trip Circuit Relay Verification: </a:t>
            </a:r>
            <a:r>
              <a:rPr lang="en-GB" sz="2000" dirty="0"/>
              <a:t>06 Years, Operate 55%-70% of the rated voltage.</a:t>
            </a:r>
          </a:p>
          <a:p>
            <a:pPr marL="342900" indent="-342900" algn="just"/>
            <a:r>
              <a:rPr lang="en-GB" b="1" dirty="0"/>
              <a:t>Anti-interference Grounding Check: </a:t>
            </a:r>
            <a:r>
              <a:rPr lang="en-GB" sz="2000" dirty="0"/>
              <a:t>03 Years, Cross-sectional of screen should not be less than </a:t>
            </a:r>
            <a:r>
              <a:rPr lang="en-GB" sz="2000" b="1" dirty="0"/>
              <a:t>100mm2. </a:t>
            </a:r>
            <a:r>
              <a:rPr lang="en-GB" sz="2000" dirty="0"/>
              <a:t>Lower part of the cabinet should be equipped with copper bar (Grounding cable </a:t>
            </a:r>
            <a:r>
              <a:rPr lang="en-GB" sz="2000" b="1" dirty="0"/>
              <a:t>500mm2</a:t>
            </a:r>
            <a:r>
              <a:rPr lang="en-GB" sz="2000" dirty="0"/>
              <a:t>). Panel shelf should be grounded.</a:t>
            </a:r>
          </a:p>
          <a:p>
            <a:pPr marL="342900" indent="-342900" algn="just"/>
            <a:r>
              <a:rPr lang="en-GB" b="1" dirty="0"/>
              <a:t>DC Current Check: </a:t>
            </a:r>
          </a:p>
          <a:p>
            <a:pPr marL="914400" lvl="1" indent="-457200" algn="just">
              <a:buFont typeface="+mj-lt"/>
              <a:buAutoNum type="arabicPeriod"/>
            </a:pPr>
            <a:r>
              <a:rPr lang="en-GB" b="1" dirty="0"/>
              <a:t>DC Air Switch and Fuse check: </a:t>
            </a:r>
            <a:r>
              <a:rPr lang="en-GB" dirty="0"/>
              <a:t>03 Years, Not used AC air switch instead of DC, should have name plate with name and No. DC air switch and fuse must be match with other.</a:t>
            </a:r>
          </a:p>
          <a:p>
            <a:pPr marL="914400" lvl="1" indent="-457200" algn="just">
              <a:buFont typeface="+mj-lt"/>
              <a:buAutoNum type="arabicPeriod"/>
            </a:pPr>
            <a:r>
              <a:rPr lang="en-GB" b="1" dirty="0"/>
              <a:t>Parasitic loop inspection: </a:t>
            </a:r>
            <a:r>
              <a:rPr lang="en-GB" dirty="0"/>
              <a:t>Measure AC and DC voltages on load side after pulling all AC, DC power supplies in air switches and confirms there is no parasitic loop.</a:t>
            </a:r>
            <a:endParaRPr lang="en-US" dirty="0"/>
          </a:p>
          <a:p>
            <a:pPr marL="457200" indent="-457200" algn="just"/>
            <a:r>
              <a:rPr lang="en-GB" b="1" dirty="0"/>
              <a:t>Insulation Check: </a:t>
            </a:r>
            <a:r>
              <a:rPr lang="en-GB" sz="2000" dirty="0"/>
              <a:t>03 Years, Use 1000V M </a:t>
            </a:r>
            <a:r>
              <a:rPr lang="el-GR" sz="2000" b="1" dirty="0"/>
              <a:t>Ω</a:t>
            </a:r>
            <a:r>
              <a:rPr lang="en-GB" sz="2000" dirty="0">
                <a:latin typeface="Old English Text MT" panose="03040902040508030806" pitchFamily="66" charset="0"/>
              </a:rPr>
              <a:t> </a:t>
            </a:r>
            <a:r>
              <a:rPr lang="en-GB" sz="2000" dirty="0"/>
              <a:t>meter for resistance measurement value should greater than 1M</a:t>
            </a:r>
            <a:r>
              <a:rPr lang="el-GR" sz="2000" b="1" dirty="0"/>
              <a:t>Ω</a:t>
            </a:r>
            <a:r>
              <a:rPr lang="en-GB" sz="2000" dirty="0">
                <a:latin typeface="Old English Text MT" panose="03040902040508030806" pitchFamily="66" charset="0"/>
              </a:rPr>
              <a:t>.</a:t>
            </a:r>
            <a:r>
              <a:rPr lang="el-GR" sz="2000" b="1" dirty="0"/>
              <a:t> </a:t>
            </a:r>
            <a:endParaRPr lang="en-GB" sz="2000" b="1" dirty="0"/>
          </a:p>
          <a:p>
            <a:endParaRPr lang="en-US" dirty="0"/>
          </a:p>
        </p:txBody>
      </p:sp>
    </p:spTree>
    <p:extLst>
      <p:ext uri="{BB962C8B-B14F-4D97-AF65-F5344CB8AC3E}">
        <p14:creationId xmlns:p14="http://schemas.microsoft.com/office/powerpoint/2010/main" val="986645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2F2C0C-F435-4FF2-A277-D69EF9AB88FC}"/>
              </a:ext>
            </a:extLst>
          </p:cNvPr>
          <p:cNvSpPr>
            <a:spLocks noGrp="1"/>
          </p:cNvSpPr>
          <p:nvPr>
            <p:ph idx="1"/>
          </p:nvPr>
        </p:nvSpPr>
        <p:spPr>
          <a:xfrm>
            <a:off x="838200" y="563526"/>
            <a:ext cx="10515600" cy="5613437"/>
          </a:xfrm>
        </p:spPr>
        <p:txBody>
          <a:bodyPr/>
          <a:lstStyle/>
          <a:p>
            <a:pPr marL="342900" indent="-342900" algn="just"/>
            <a:r>
              <a:rPr lang="en-GB" sz="2400" b="1" dirty="0"/>
              <a:t>DC Conversion Power Check: </a:t>
            </a:r>
            <a:r>
              <a:rPr lang="en-GB" sz="2000" dirty="0"/>
              <a:t>03 Years, Check all plug are plugged in , Turn Off and On, Check running lights.</a:t>
            </a:r>
          </a:p>
          <a:p>
            <a:pPr marL="342900" indent="-342900" algn="just"/>
            <a:r>
              <a:rPr lang="en-GB" sz="2400" b="1" dirty="0"/>
              <a:t>Input / Output Check: </a:t>
            </a:r>
          </a:p>
          <a:p>
            <a:pPr marL="914400" lvl="1" indent="-457200" algn="just">
              <a:buFont typeface="+mj-lt"/>
              <a:buAutoNum type="arabicPeriod"/>
            </a:pPr>
            <a:r>
              <a:rPr lang="en-GB" sz="2000" b="1" dirty="0"/>
              <a:t>Binary Output: </a:t>
            </a:r>
            <a:r>
              <a:rPr lang="en-GB" sz="2000" dirty="0"/>
              <a:t>Check all inputs on terminal box. Use Short and open circuit test to test the circuit. </a:t>
            </a:r>
          </a:p>
          <a:p>
            <a:pPr marL="914400" lvl="1" indent="-457200" algn="just">
              <a:buFont typeface="+mj-lt"/>
              <a:buAutoNum type="arabicPeriod"/>
            </a:pPr>
            <a:r>
              <a:rPr lang="en-GB" sz="2000" b="1" dirty="0"/>
              <a:t>Output: </a:t>
            </a:r>
            <a:r>
              <a:rPr lang="en-GB" sz="2000" dirty="0"/>
              <a:t>Check circuit by looping and by software with drawings.</a:t>
            </a:r>
          </a:p>
          <a:p>
            <a:pPr algn="just"/>
            <a:r>
              <a:rPr lang="en-GB" sz="2400" b="1" dirty="0"/>
              <a:t>GPS/</a:t>
            </a:r>
            <a:r>
              <a:rPr lang="en-GB" sz="2400" b="1" dirty="0" err="1"/>
              <a:t>Beidou</a:t>
            </a:r>
            <a:r>
              <a:rPr lang="en-GB" sz="2400" b="1" dirty="0"/>
              <a:t> time: </a:t>
            </a:r>
            <a:r>
              <a:rPr lang="en-GB" sz="2000" dirty="0"/>
              <a:t>Monitoring Alarm by opening time terminal.</a:t>
            </a:r>
            <a:endParaRPr lang="en-GB" dirty="0"/>
          </a:p>
          <a:p>
            <a:pPr algn="just"/>
            <a:r>
              <a:rPr lang="en-GB" sz="2400" b="1" dirty="0"/>
              <a:t>Control System Switching: </a:t>
            </a:r>
            <a:r>
              <a:rPr lang="en-GB" sz="2000" dirty="0"/>
              <a:t>Check system A and B and indicators on panel, work normally.</a:t>
            </a:r>
          </a:p>
          <a:p>
            <a:pPr algn="just"/>
            <a:r>
              <a:rPr lang="en-GB" sz="2400" b="1" dirty="0"/>
              <a:t>Whole Group Transmission Test: </a:t>
            </a:r>
            <a:r>
              <a:rPr lang="en-GB" sz="2000" dirty="0"/>
              <a:t>Check logic of trip switch and loop wiring test. Start fault recorder and send information to DC control system to observe AC inlet switch tripped. Check CB trip normally.</a:t>
            </a:r>
          </a:p>
          <a:p>
            <a:pPr marL="0" indent="0">
              <a:buNone/>
            </a:pPr>
            <a:endParaRPr lang="en-GB" sz="2400" dirty="0"/>
          </a:p>
          <a:p>
            <a:endParaRPr lang="en-US" dirty="0"/>
          </a:p>
        </p:txBody>
      </p:sp>
    </p:spTree>
    <p:extLst>
      <p:ext uri="{BB962C8B-B14F-4D97-AF65-F5344CB8AC3E}">
        <p14:creationId xmlns:p14="http://schemas.microsoft.com/office/powerpoint/2010/main" val="578955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2F75EE-CE32-4578-8FE3-3BAEE9194FB5}"/>
              </a:ext>
            </a:extLst>
          </p:cNvPr>
          <p:cNvSpPr>
            <a:spLocks noGrp="1"/>
          </p:cNvSpPr>
          <p:nvPr>
            <p:ph idx="1"/>
          </p:nvPr>
        </p:nvSpPr>
        <p:spPr>
          <a:xfrm>
            <a:off x="838200" y="1116419"/>
            <a:ext cx="10515600" cy="5060544"/>
          </a:xfrm>
        </p:spPr>
        <p:txBody>
          <a:bodyPr>
            <a:normAutofit/>
          </a:bodyPr>
          <a:lstStyle/>
          <a:p>
            <a:pPr algn="just"/>
            <a:r>
              <a:rPr lang="en-GB" sz="3200" b="1" dirty="0"/>
              <a:t>Terminal Inspection and Tightening: </a:t>
            </a:r>
            <a:r>
              <a:rPr lang="en-GB" dirty="0"/>
              <a:t>Ensure the terminal of DC Control system are not loose.</a:t>
            </a:r>
          </a:p>
          <a:p>
            <a:pPr algn="just"/>
            <a:r>
              <a:rPr lang="en-GB" sz="3200" b="1" dirty="0"/>
              <a:t>Control Protection Software Check: </a:t>
            </a:r>
            <a:r>
              <a:rPr lang="en-GB" dirty="0"/>
              <a:t>1 Year, make sure the software is upgraded and latest version and its backup is available.</a:t>
            </a:r>
            <a:endParaRPr lang="en-GB" b="1" dirty="0"/>
          </a:p>
          <a:p>
            <a:pPr marL="342900" indent="-342900" algn="just"/>
            <a:r>
              <a:rPr lang="en-GB" b="1" dirty="0"/>
              <a:t>LAN network communication check: </a:t>
            </a:r>
            <a:r>
              <a:rPr lang="en-GB" sz="2400" dirty="0"/>
              <a:t>Specify address of LAN communication S/W. In engineer’s workstation find the S/W address for communication checking.</a:t>
            </a:r>
          </a:p>
          <a:p>
            <a:pPr marL="342900" indent="-342900" algn="just"/>
            <a:r>
              <a:rPr lang="en-GB" b="1" dirty="0"/>
              <a:t>Device Power Supply circuit inspection: </a:t>
            </a:r>
            <a:r>
              <a:rPr lang="en-GB" sz="2400" dirty="0"/>
              <a:t>Check another power supply so that system may run normally after device power loose.</a:t>
            </a:r>
            <a:r>
              <a:rPr lang="en-GB" b="1" dirty="0"/>
              <a:t> </a:t>
            </a:r>
          </a:p>
          <a:p>
            <a:endParaRPr lang="en-US" dirty="0"/>
          </a:p>
        </p:txBody>
      </p:sp>
    </p:spTree>
    <p:extLst>
      <p:ext uri="{BB962C8B-B14F-4D97-AF65-F5344CB8AC3E}">
        <p14:creationId xmlns:p14="http://schemas.microsoft.com/office/powerpoint/2010/main" val="1519128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7E9C-CD8D-4B94-970E-BE4095A969EE}"/>
              </a:ext>
            </a:extLst>
          </p:cNvPr>
          <p:cNvSpPr>
            <a:spLocks noGrp="1"/>
          </p:cNvSpPr>
          <p:nvPr>
            <p:ph type="title"/>
          </p:nvPr>
        </p:nvSpPr>
        <p:spPr>
          <a:xfrm>
            <a:off x="678712" y="2597962"/>
            <a:ext cx="10515600" cy="1325563"/>
          </a:xfrm>
        </p:spPr>
        <p:txBody>
          <a:bodyPr>
            <a:normAutofit/>
          </a:bodyPr>
          <a:lstStyle/>
          <a:p>
            <a:pPr algn="ctr"/>
            <a:r>
              <a:rPr lang="en-US" sz="8000" b="1" dirty="0"/>
              <a:t>Thank You</a:t>
            </a:r>
          </a:p>
        </p:txBody>
      </p:sp>
    </p:spTree>
    <p:extLst>
      <p:ext uri="{BB962C8B-B14F-4D97-AF65-F5344CB8AC3E}">
        <p14:creationId xmlns:p14="http://schemas.microsoft.com/office/powerpoint/2010/main" val="17936837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140</TotalTime>
  <Words>3252</Words>
  <Application>Microsoft Office PowerPoint</Application>
  <PresentationFormat>Widescreen</PresentationFormat>
  <Paragraphs>317</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Century Gothic</vt:lpstr>
      <vt:lpstr>Old English Text MT</vt:lpstr>
      <vt:lpstr>Times New Roman</vt:lpstr>
      <vt:lpstr>Wingdings</vt:lpstr>
      <vt:lpstr>Wingdings 3</vt:lpstr>
      <vt:lpstr>Ion</vt:lpstr>
      <vt:lpstr>PMLTC Converter Transformer Protection</vt:lpstr>
      <vt:lpstr>Converter Transformer</vt:lpstr>
      <vt:lpstr>Main Abbreviations</vt:lpstr>
      <vt:lpstr>Functional Scope</vt:lpstr>
      <vt:lpstr>Functional Scope</vt:lpstr>
      <vt:lpstr>Functional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Hardware Description</vt:lpstr>
      <vt:lpstr>PowerPoint Presentation</vt:lpstr>
      <vt:lpstr>PowerPoint Presentation</vt:lpstr>
      <vt:lpstr>PowerPoint Presentation</vt:lpstr>
      <vt:lpstr>Cabinet Appearance &amp; Fiber Inspection </vt:lpstr>
      <vt:lpstr>Optical Fiber Visual Inspection</vt:lpstr>
      <vt:lpstr>Secondary circuit and anti-interference check </vt:lpstr>
      <vt:lpstr>DC current check</vt:lpstr>
      <vt:lpstr>PowerPoint Presentation</vt:lpstr>
      <vt:lpstr>PowerPoint Presentation</vt:lpstr>
      <vt:lpstr>Non Electric Quantity System of converter Transformer</vt:lpstr>
      <vt:lpstr>PowerPoint Presentation</vt:lpstr>
      <vt:lpstr>Hardware Structure:- </vt:lpstr>
      <vt:lpstr>PowerPoint Presentation</vt:lpstr>
      <vt:lpstr>PAC-837 Front Panel Layout </vt:lpstr>
      <vt:lpstr>PAC-837 Maintenance items, cycle and requirements of action</vt:lpstr>
      <vt:lpstr>Maintenance Items </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PMLTC Converter Transformer Protection</dc:title>
  <dc:creator>CET</dc:creator>
  <cp:lastModifiedBy>Rana Abdul Rehman</cp:lastModifiedBy>
  <cp:revision>17</cp:revision>
  <dcterms:created xsi:type="dcterms:W3CDTF">2020-12-09T11:33:33Z</dcterms:created>
  <dcterms:modified xsi:type="dcterms:W3CDTF">2020-12-10T15:57:06Z</dcterms:modified>
</cp:coreProperties>
</file>