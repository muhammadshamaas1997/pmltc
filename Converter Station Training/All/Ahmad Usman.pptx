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1" r:id="rId1"/>
  </p:sldMasterIdLst>
  <p:sldIdLst>
    <p:sldId id="256" r:id="rId2"/>
    <p:sldId id="275" r:id="rId3"/>
    <p:sldId id="259" r:id="rId4"/>
    <p:sldId id="257" r:id="rId5"/>
    <p:sldId id="258" r:id="rId6"/>
    <p:sldId id="260" r:id="rId7"/>
    <p:sldId id="262" r:id="rId8"/>
    <p:sldId id="283" r:id="rId9"/>
    <p:sldId id="273" r:id="rId10"/>
    <p:sldId id="277" r:id="rId11"/>
    <p:sldId id="270" r:id="rId12"/>
    <p:sldId id="263" r:id="rId13"/>
    <p:sldId id="264" r:id="rId14"/>
    <p:sldId id="265" r:id="rId15"/>
    <p:sldId id="274" r:id="rId16"/>
    <p:sldId id="271" r:id="rId17"/>
    <p:sldId id="266" r:id="rId18"/>
    <p:sldId id="27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hmad Usman Sheikh" initials="AUS" lastIdx="1" clrIdx="0">
    <p:extLst>
      <p:ext uri="{19B8F6BF-5375-455C-9EA6-DF929625EA0E}">
        <p15:presenceInfo xmlns:p15="http://schemas.microsoft.com/office/powerpoint/2012/main" userId="da199923757adc5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8180B8E5-86EE-4C79-ABB3-DA5B3993D3D1}" type="datetimeFigureOut">
              <a:rPr lang="en-US" smtClean="0"/>
              <a:t>1/8/2021</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1967F43-9B0D-47A3-AAFD-BBF2B4F45798}"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5275308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80B8E5-86EE-4C79-ABB3-DA5B3993D3D1}" type="datetimeFigureOut">
              <a:rPr lang="en-US" smtClean="0"/>
              <a:t>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1994135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80B8E5-86EE-4C79-ABB3-DA5B3993D3D1}" type="datetimeFigureOut">
              <a:rPr lang="en-US" smtClean="0"/>
              <a:t>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36976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80B8E5-86EE-4C79-ABB3-DA5B3993D3D1}" type="datetimeFigureOut">
              <a:rPr lang="en-US" smtClean="0"/>
              <a:t>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821359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80B8E5-86EE-4C79-ABB3-DA5B3993D3D1}" type="datetimeFigureOut">
              <a:rPr lang="en-US" smtClean="0"/>
              <a:t>1/8/2021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3678561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80B8E5-86EE-4C79-ABB3-DA5B3993D3D1}" type="datetimeFigureOut">
              <a:rPr lang="en-US" smtClean="0"/>
              <a:t>1/8/2021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1307148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80B8E5-86EE-4C79-ABB3-DA5B3993D3D1}" type="datetimeFigureOut">
              <a:rPr lang="en-US" smtClean="0"/>
              <a:t>1/8/2021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766050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80B8E5-86EE-4C79-ABB3-DA5B3993D3D1}" type="datetimeFigureOut">
              <a:rPr lang="en-US" smtClean="0"/>
              <a:t>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3658173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80B8E5-86EE-4C79-ABB3-DA5B3993D3D1}" type="datetimeFigureOut">
              <a:rPr lang="en-US" smtClean="0"/>
              <a:t>1/8/2021</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1869175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80B8E5-86EE-4C79-ABB3-DA5B3993D3D1}" type="datetimeFigureOut">
              <a:rPr lang="en-US" smtClean="0"/>
              <a:t>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1721681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80B8E5-86EE-4C79-ABB3-DA5B3993D3D1}" type="datetimeFigureOut">
              <a:rPr lang="en-US" smtClean="0"/>
              <a:t>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1824712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8180B8E5-86EE-4C79-ABB3-DA5B3993D3D1}" type="datetimeFigureOut">
              <a:rPr lang="en-US" smtClean="0"/>
              <a:t>1/8/2021</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D1967F43-9B0D-47A3-AAFD-BBF2B4F45798}" type="slidenum">
              <a:rPr lang="en-US" smtClean="0"/>
              <a:t>‹#›</a:t>
            </a:fld>
            <a:endParaRPr lang="en-US"/>
          </a:p>
        </p:txBody>
      </p:sp>
    </p:spTree>
    <p:extLst>
      <p:ext uri="{BB962C8B-B14F-4D97-AF65-F5344CB8AC3E}">
        <p14:creationId xmlns:p14="http://schemas.microsoft.com/office/powerpoint/2010/main" val="4077486046"/>
      </p:ext>
    </p:extLst>
  </p:cSld>
  <p:clrMap bg1="lt1" tx1="dk1" bg2="lt2" tx2="dk2" accent1="accent1" accent2="accent2" accent3="accent3" accent4="accent4" accent5="accent5" accent6="accent6" hlink="hlink" folHlink="folHlink"/>
  <p:sldLayoutIdLst>
    <p:sldLayoutId id="2147484002" r:id="rId1"/>
    <p:sldLayoutId id="2147484003" r:id="rId2"/>
    <p:sldLayoutId id="2147484004" r:id="rId3"/>
    <p:sldLayoutId id="2147484005" r:id="rId4"/>
    <p:sldLayoutId id="2147484006" r:id="rId5"/>
    <p:sldLayoutId id="2147484007" r:id="rId6"/>
    <p:sldLayoutId id="2147484008" r:id="rId7"/>
    <p:sldLayoutId id="2147484009" r:id="rId8"/>
    <p:sldLayoutId id="2147484010" r:id="rId9"/>
    <p:sldLayoutId id="2147484011" r:id="rId10"/>
    <p:sldLayoutId id="2147484012"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7A260-D5E1-44D9-A6C1-29F672231D16}"/>
              </a:ext>
            </a:extLst>
          </p:cNvPr>
          <p:cNvSpPr>
            <a:spLocks noGrp="1"/>
          </p:cNvSpPr>
          <p:nvPr>
            <p:ph type="ctrTitle"/>
          </p:nvPr>
        </p:nvSpPr>
        <p:spPr>
          <a:xfrm>
            <a:off x="862089" y="695592"/>
            <a:ext cx="10844637" cy="1169303"/>
          </a:xfrm>
        </p:spPr>
        <p:txBody>
          <a:bodyPr/>
          <a:lstStyle/>
          <a:p>
            <a:r>
              <a:rPr lang="en-US" dirty="0"/>
              <a:t>Introduction</a:t>
            </a:r>
          </a:p>
        </p:txBody>
      </p:sp>
      <p:sp>
        <p:nvSpPr>
          <p:cNvPr id="3" name="Title 1">
            <a:extLst>
              <a:ext uri="{FF2B5EF4-FFF2-40B4-BE49-F238E27FC236}">
                <a16:creationId xmlns:a16="http://schemas.microsoft.com/office/drawing/2014/main" id="{A6CEDF60-E6C7-4713-8666-B96234B83284}"/>
              </a:ext>
            </a:extLst>
          </p:cNvPr>
          <p:cNvSpPr txBox="1">
            <a:spLocks/>
          </p:cNvSpPr>
          <p:nvPr/>
        </p:nvSpPr>
        <p:spPr>
          <a:xfrm>
            <a:off x="862089" y="1393423"/>
            <a:ext cx="11181523" cy="2733409"/>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en-US" sz="4800" dirty="0"/>
              <a:t>Name:- </a:t>
            </a:r>
          </a:p>
          <a:p>
            <a:r>
              <a:rPr lang="en-US" sz="6000" dirty="0"/>
              <a:t>               </a:t>
            </a:r>
            <a:r>
              <a:rPr lang="en-US" sz="4400" dirty="0"/>
              <a:t>Ahmad Usman</a:t>
            </a:r>
            <a:endParaRPr lang="en-US" sz="6000" dirty="0"/>
          </a:p>
        </p:txBody>
      </p:sp>
      <p:sp>
        <p:nvSpPr>
          <p:cNvPr id="4" name="Title 1">
            <a:extLst>
              <a:ext uri="{FF2B5EF4-FFF2-40B4-BE49-F238E27FC236}">
                <a16:creationId xmlns:a16="http://schemas.microsoft.com/office/drawing/2014/main" id="{072A49C9-E06F-40A8-B713-ECC63EF172FF}"/>
              </a:ext>
            </a:extLst>
          </p:cNvPr>
          <p:cNvSpPr txBox="1">
            <a:spLocks/>
          </p:cNvSpPr>
          <p:nvPr/>
        </p:nvSpPr>
        <p:spPr>
          <a:xfrm>
            <a:off x="862090" y="4319337"/>
            <a:ext cx="10447594" cy="1518219"/>
          </a:xfrm>
          <a:prstGeom prst="rect">
            <a:avLst/>
          </a:prstGeom>
        </p:spPr>
        <p:txBody>
          <a:bodyPr vert="horz" lIns="91440" tIns="45720" rIns="91440" bIns="45720" rtlCol="0" anchor="b">
            <a:normAutofit fontScale="62500" lnSpcReduction="20000"/>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en-US" dirty="0"/>
              <a:t>Master Name:-</a:t>
            </a:r>
          </a:p>
          <a:p>
            <a:endParaRPr lang="en-US" dirty="0"/>
          </a:p>
          <a:p>
            <a:r>
              <a:rPr lang="en-US" dirty="0"/>
              <a:t>                    </a:t>
            </a:r>
            <a:r>
              <a:rPr lang="en-US" sz="8000" dirty="0"/>
              <a:t>Mr. Chen Kanging</a:t>
            </a:r>
            <a:endParaRPr lang="en-US" dirty="0"/>
          </a:p>
        </p:txBody>
      </p:sp>
    </p:spTree>
    <p:extLst>
      <p:ext uri="{BB962C8B-B14F-4D97-AF65-F5344CB8AC3E}">
        <p14:creationId xmlns:p14="http://schemas.microsoft.com/office/powerpoint/2010/main" val="3553286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7A260-D5E1-44D9-A6C1-29F672231D16}"/>
              </a:ext>
            </a:extLst>
          </p:cNvPr>
          <p:cNvSpPr>
            <a:spLocks noGrp="1"/>
          </p:cNvSpPr>
          <p:nvPr>
            <p:ph type="ctrTitle"/>
          </p:nvPr>
        </p:nvSpPr>
        <p:spPr>
          <a:xfrm>
            <a:off x="381544" y="1451014"/>
            <a:ext cx="12324521" cy="3094355"/>
          </a:xfrm>
        </p:spPr>
        <p:txBody>
          <a:bodyPr>
            <a:normAutofit fontScale="90000"/>
          </a:bodyPr>
          <a:lstStyle/>
          <a:p>
            <a:br>
              <a:rPr lang="en-US" dirty="0"/>
            </a:br>
            <a:br>
              <a:rPr lang="en-US" dirty="0"/>
            </a:br>
            <a:br>
              <a:rPr lang="en-US" dirty="0"/>
            </a:br>
            <a:br>
              <a:rPr lang="en-US" dirty="0"/>
            </a:br>
            <a:r>
              <a:rPr lang="en-US" dirty="0"/>
              <a:t>DC Measuring Equipments</a:t>
            </a:r>
            <a:br>
              <a:rPr lang="en-US" dirty="0"/>
            </a:br>
            <a:r>
              <a:rPr lang="en-US" dirty="0"/>
              <a:t>           </a:t>
            </a:r>
            <a:br>
              <a:rPr lang="zh-CN" altLang="en-US" dirty="0"/>
            </a:br>
            <a:r>
              <a:rPr lang="zh-CN" altLang="en-US" b="0" i="0" dirty="0">
                <a:effectLst/>
                <a:latin typeface="Google Sans"/>
              </a:rPr>
              <a:t>直流测量设备</a:t>
            </a:r>
            <a:br>
              <a:rPr kumimoji="0" lang="zh-CN" altLang="en-US" sz="7200" b="0" i="0" u="none" strike="noStrike" cap="none" normalizeH="0" baseline="0" dirty="0">
                <a:ln>
                  <a:noFill/>
                </a:ln>
                <a:solidFill>
                  <a:schemeClr val="tx1"/>
                </a:solidFill>
                <a:effectLst/>
                <a:latin typeface="Arial" panose="020B0604020202020204" pitchFamily="34" charset="0"/>
              </a:rPr>
            </a:br>
            <a:endParaRPr lang="en-US" dirty="0"/>
          </a:p>
        </p:txBody>
      </p:sp>
    </p:spTree>
    <p:extLst>
      <p:ext uri="{BB962C8B-B14F-4D97-AF65-F5344CB8AC3E}">
        <p14:creationId xmlns:p14="http://schemas.microsoft.com/office/powerpoint/2010/main" val="3733599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AE94A-48B4-4365-9996-A7BCB5E69E64}"/>
              </a:ext>
            </a:extLst>
          </p:cNvPr>
          <p:cNvSpPr>
            <a:spLocks noGrp="1"/>
          </p:cNvSpPr>
          <p:nvPr>
            <p:ph type="title"/>
          </p:nvPr>
        </p:nvSpPr>
        <p:spPr/>
        <p:txBody>
          <a:bodyPr/>
          <a:lstStyle/>
          <a:p>
            <a:r>
              <a:rPr lang="en-US" dirty="0"/>
              <a:t>Overview(</a:t>
            </a:r>
            <a:r>
              <a:rPr kumimoji="0" lang="zh-CN" altLang="en-US" sz="4400" b="0" i="0" u="none" strike="noStrike" cap="none" normalizeH="0" baseline="0" dirty="0">
                <a:ln>
                  <a:noFill/>
                </a:ln>
                <a:solidFill>
                  <a:srgbClr val="202124"/>
                </a:solidFill>
                <a:effectLst/>
                <a:latin typeface="Google Sans"/>
              </a:rPr>
              <a:t>概观</a:t>
            </a:r>
            <a:r>
              <a:rPr kumimoji="0" lang="zh-CN" altLang="en-US" sz="2800" b="0" i="0" u="none" strike="noStrike" cap="none" normalizeH="0" baseline="0" dirty="0">
                <a:ln>
                  <a:noFill/>
                </a:ln>
                <a:solidFill>
                  <a:schemeClr val="tx1"/>
                </a:solidFill>
                <a:effectLst/>
              </a:rPr>
              <a:t> </a:t>
            </a:r>
            <a:r>
              <a:rPr lang="en-US" altLang="zh-CN" dirty="0">
                <a:latin typeface="Arial" panose="020B0604020202020204" pitchFamily="34" charset="0"/>
              </a:rPr>
              <a:t>)</a:t>
            </a:r>
            <a:endParaRPr lang="en-US" dirty="0"/>
          </a:p>
        </p:txBody>
      </p:sp>
      <p:sp>
        <p:nvSpPr>
          <p:cNvPr id="3" name="Content Placeholder 2">
            <a:extLst>
              <a:ext uri="{FF2B5EF4-FFF2-40B4-BE49-F238E27FC236}">
                <a16:creationId xmlns:a16="http://schemas.microsoft.com/office/drawing/2014/main" id="{15C9822A-8210-456B-9045-5FFE134D0FDD}"/>
              </a:ext>
            </a:extLst>
          </p:cNvPr>
          <p:cNvSpPr>
            <a:spLocks noGrp="1"/>
          </p:cNvSpPr>
          <p:nvPr>
            <p:ph idx="1"/>
          </p:nvPr>
        </p:nvSpPr>
        <p:spPr/>
        <p:txBody>
          <a:bodyPr/>
          <a:lstStyle/>
          <a:p>
            <a:pPr marL="0" indent="0">
              <a:buNone/>
            </a:pPr>
            <a:r>
              <a:rPr lang="en-US" sz="2000" dirty="0"/>
              <a:t>DC measuring equipment are very important part of HVDC system. We need to measure the DC electrical quantities like DC voltage and DC current for monitoring and protection purposes which are done by these equipments. </a:t>
            </a:r>
          </a:p>
          <a:p>
            <a:pPr marL="0" indent="0">
              <a:buNone/>
            </a:pPr>
            <a:endParaRPr lang="en-US" dirty="0"/>
          </a:p>
          <a:p>
            <a:r>
              <a:rPr lang="en-US" sz="2000" b="1" dirty="0"/>
              <a:t>DC Electronic CT ( Optical CT)</a:t>
            </a:r>
          </a:p>
          <a:p>
            <a:pPr marL="0" indent="0">
              <a:buNone/>
            </a:pPr>
            <a:r>
              <a:rPr lang="en-US" sz="2000" dirty="0"/>
              <a:t>          Used for measuring DC current.</a:t>
            </a:r>
          </a:p>
          <a:p>
            <a:r>
              <a:rPr lang="en-US" sz="2000" b="1" dirty="0"/>
              <a:t>DC Electronic VT</a:t>
            </a:r>
          </a:p>
          <a:p>
            <a:pPr marL="0" indent="0">
              <a:buNone/>
            </a:pPr>
            <a:r>
              <a:rPr lang="en-US" sz="2000" dirty="0"/>
              <a:t>           Used for measuring DC Voltage.</a:t>
            </a:r>
          </a:p>
        </p:txBody>
      </p:sp>
    </p:spTree>
    <p:extLst>
      <p:ext uri="{BB962C8B-B14F-4D97-AF65-F5344CB8AC3E}">
        <p14:creationId xmlns:p14="http://schemas.microsoft.com/office/powerpoint/2010/main" val="1391841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782E9-BDC5-4A5E-B92C-172F96CB0EF0}"/>
              </a:ext>
            </a:extLst>
          </p:cNvPr>
          <p:cNvSpPr>
            <a:spLocks noGrp="1"/>
          </p:cNvSpPr>
          <p:nvPr>
            <p:ph type="title"/>
          </p:nvPr>
        </p:nvSpPr>
        <p:spPr>
          <a:xfrm>
            <a:off x="663400" y="782423"/>
            <a:ext cx="10402957" cy="1191608"/>
          </a:xfrm>
        </p:spPr>
        <p:txBody>
          <a:bodyPr>
            <a:normAutofit fontScale="90000"/>
          </a:bodyPr>
          <a:lstStyle/>
          <a:p>
            <a:r>
              <a:rPr lang="en-US" sz="4000" b="1" dirty="0"/>
              <a:t>Function of DC Measuring Equipments</a:t>
            </a:r>
            <a:br>
              <a:rPr lang="en-US" sz="4000" b="1" dirty="0"/>
            </a:br>
            <a:r>
              <a:rPr lang="en-US" sz="4000" b="1" dirty="0"/>
              <a:t>               (</a:t>
            </a:r>
            <a:r>
              <a:rPr kumimoji="0" lang="zh-CN" altLang="en-US" sz="4000" b="0" i="0" u="none" strike="noStrike" cap="none" normalizeH="0" baseline="0" dirty="0">
                <a:ln>
                  <a:noFill/>
                </a:ln>
                <a:solidFill>
                  <a:srgbClr val="202124"/>
                </a:solidFill>
                <a:effectLst/>
                <a:latin typeface="Google Sans"/>
              </a:rPr>
              <a:t>直流测量设备的功能</a:t>
            </a:r>
            <a:r>
              <a:rPr kumimoji="0" lang="en-US" altLang="zh-CN" sz="4000" b="0" i="0" u="none" strike="noStrike" cap="none" normalizeH="0" baseline="0" dirty="0">
                <a:ln>
                  <a:noFill/>
                </a:ln>
                <a:solidFill>
                  <a:srgbClr val="202124"/>
                </a:solidFill>
                <a:effectLst/>
                <a:latin typeface="Google Sans"/>
              </a:rPr>
              <a:t>)</a:t>
            </a:r>
            <a:r>
              <a:rPr kumimoji="0" lang="zh-CN" altLang="en-US" sz="2400" b="0" i="0" u="none" strike="noStrike" cap="none" normalizeH="0" baseline="0" dirty="0">
                <a:ln>
                  <a:noFill/>
                </a:ln>
                <a:solidFill>
                  <a:schemeClr val="tx1"/>
                </a:solidFill>
                <a:effectLst/>
              </a:rPr>
              <a:t> </a:t>
            </a:r>
            <a:br>
              <a:rPr kumimoji="0" lang="zh-CN" altLang="en-US" sz="4000" b="0" i="0" u="none" strike="noStrike" cap="none" normalizeH="0" baseline="0" dirty="0">
                <a:ln>
                  <a:noFill/>
                </a:ln>
                <a:solidFill>
                  <a:schemeClr val="tx1"/>
                </a:solidFill>
                <a:effectLst/>
                <a:latin typeface="Arial" panose="020B0604020202020204" pitchFamily="34" charset="0"/>
              </a:rPr>
            </a:br>
            <a:endParaRPr lang="en-US" sz="4000" b="1" dirty="0"/>
          </a:p>
        </p:txBody>
      </p:sp>
      <p:sp>
        <p:nvSpPr>
          <p:cNvPr id="3" name="Content Placeholder 2">
            <a:extLst>
              <a:ext uri="{FF2B5EF4-FFF2-40B4-BE49-F238E27FC236}">
                <a16:creationId xmlns:a16="http://schemas.microsoft.com/office/drawing/2014/main" id="{46985F07-0674-493C-BB4A-E5570A5E8FA7}"/>
              </a:ext>
            </a:extLst>
          </p:cNvPr>
          <p:cNvSpPr>
            <a:spLocks noGrp="1"/>
          </p:cNvSpPr>
          <p:nvPr>
            <p:ph idx="1"/>
          </p:nvPr>
        </p:nvSpPr>
        <p:spPr>
          <a:xfrm>
            <a:off x="848139" y="1378227"/>
            <a:ext cx="9594574" cy="5247860"/>
          </a:xfrm>
        </p:spPr>
        <p:txBody>
          <a:bodyPr>
            <a:normAutofit/>
          </a:bodyPr>
          <a:lstStyle/>
          <a:p>
            <a:endParaRPr lang="en-US" sz="2000" dirty="0"/>
          </a:p>
          <a:p>
            <a:r>
              <a:rPr lang="en-US" sz="2400" b="1" dirty="0"/>
              <a:t>High Voltage Isolation.</a:t>
            </a:r>
          </a:p>
          <a:p>
            <a:pPr marL="0" indent="0">
              <a:buNone/>
            </a:pPr>
            <a:r>
              <a:rPr lang="en-US" sz="2000" dirty="0"/>
              <a:t>Provides the isolation between high voltage side and low voltage circuit.</a:t>
            </a:r>
          </a:p>
          <a:p>
            <a:r>
              <a:rPr lang="en-US" sz="2400" b="1" dirty="0"/>
              <a:t>Proportional Transformation: </a:t>
            </a:r>
          </a:p>
          <a:p>
            <a:pPr marL="0" indent="0">
              <a:buNone/>
            </a:pPr>
            <a:r>
              <a:rPr lang="en-US" sz="2000" dirty="0"/>
              <a:t>Transfer the primary high voltage and current to DC control and protection system in proportion.</a:t>
            </a:r>
          </a:p>
          <a:p>
            <a:pPr marL="0" indent="0">
              <a:buNone/>
            </a:pPr>
            <a:endParaRPr lang="en-US" sz="2000" dirty="0"/>
          </a:p>
        </p:txBody>
      </p:sp>
      <p:pic>
        <p:nvPicPr>
          <p:cNvPr id="5" name="Picture 4">
            <a:extLst>
              <a:ext uri="{FF2B5EF4-FFF2-40B4-BE49-F238E27FC236}">
                <a16:creationId xmlns:a16="http://schemas.microsoft.com/office/drawing/2014/main" id="{46D7ACB5-6C34-41C9-BD5C-877E9AFCC1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6069" y="3969027"/>
            <a:ext cx="2001079" cy="2657060"/>
          </a:xfrm>
          <a:prstGeom prst="rect">
            <a:avLst/>
          </a:prstGeom>
        </p:spPr>
      </p:pic>
      <p:pic>
        <p:nvPicPr>
          <p:cNvPr id="7" name="Picture 6">
            <a:extLst>
              <a:ext uri="{FF2B5EF4-FFF2-40B4-BE49-F238E27FC236}">
                <a16:creationId xmlns:a16="http://schemas.microsoft.com/office/drawing/2014/main" id="{620C1853-698A-4FA2-9A2E-A7C5880A17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17760" y="3969027"/>
            <a:ext cx="2121175" cy="2657060"/>
          </a:xfrm>
          <a:prstGeom prst="rect">
            <a:avLst/>
          </a:prstGeom>
        </p:spPr>
      </p:pic>
    </p:spTree>
    <p:extLst>
      <p:ext uri="{BB962C8B-B14F-4D97-AF65-F5344CB8AC3E}">
        <p14:creationId xmlns:p14="http://schemas.microsoft.com/office/powerpoint/2010/main" val="787982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BBA4F-EDFB-4F6A-8AD8-F5DEF4270EF2}"/>
              </a:ext>
            </a:extLst>
          </p:cNvPr>
          <p:cNvSpPr>
            <a:spLocks noGrp="1"/>
          </p:cNvSpPr>
          <p:nvPr>
            <p:ph type="title"/>
          </p:nvPr>
        </p:nvSpPr>
        <p:spPr>
          <a:xfrm>
            <a:off x="1169106" y="0"/>
            <a:ext cx="9631415" cy="1020762"/>
          </a:xfrm>
        </p:spPr>
        <p:txBody>
          <a:bodyPr/>
          <a:lstStyle/>
          <a:p>
            <a:r>
              <a:rPr lang="en-US" dirty="0"/>
              <a:t>DC Electronic CT (Optical CT)</a:t>
            </a:r>
          </a:p>
        </p:txBody>
      </p:sp>
      <p:sp>
        <p:nvSpPr>
          <p:cNvPr id="3" name="Content Placeholder 2">
            <a:extLst>
              <a:ext uri="{FF2B5EF4-FFF2-40B4-BE49-F238E27FC236}">
                <a16:creationId xmlns:a16="http://schemas.microsoft.com/office/drawing/2014/main" id="{8D4E4F66-2C19-4BFB-ACCE-80630E1B26D8}"/>
              </a:ext>
            </a:extLst>
          </p:cNvPr>
          <p:cNvSpPr>
            <a:spLocks noGrp="1"/>
          </p:cNvSpPr>
          <p:nvPr>
            <p:ph idx="1"/>
          </p:nvPr>
        </p:nvSpPr>
        <p:spPr>
          <a:xfrm>
            <a:off x="1023333" y="1020762"/>
            <a:ext cx="8595360" cy="4351337"/>
          </a:xfrm>
        </p:spPr>
        <p:txBody>
          <a:bodyPr>
            <a:normAutofit/>
          </a:bodyPr>
          <a:lstStyle/>
          <a:p>
            <a:pPr marL="0" indent="0">
              <a:buNone/>
            </a:pPr>
            <a:r>
              <a:rPr lang="en-US" sz="2000" dirty="0"/>
              <a:t>Optical CTs are intended for applications in HVDC converter stations. They measure DC current, harmonic current, and output digital signals for the protection and control devices in the converter station.</a:t>
            </a:r>
          </a:p>
          <a:p>
            <a:pPr marL="0" indent="0">
              <a:buNone/>
            </a:pPr>
            <a:r>
              <a:rPr lang="en-US" sz="2400" b="1" dirty="0"/>
              <a:t>Working Principle:- </a:t>
            </a:r>
          </a:p>
          <a:p>
            <a:pPr marL="0" indent="0">
              <a:buNone/>
            </a:pPr>
            <a:r>
              <a:rPr lang="en-US" sz="2000" dirty="0"/>
              <a:t>. </a:t>
            </a:r>
            <a:endParaRPr lang="en-US" dirty="0"/>
          </a:p>
        </p:txBody>
      </p:sp>
      <p:pic>
        <p:nvPicPr>
          <p:cNvPr id="5" name="Picture 4">
            <a:extLst>
              <a:ext uri="{FF2B5EF4-FFF2-40B4-BE49-F238E27FC236}">
                <a16:creationId xmlns:a16="http://schemas.microsoft.com/office/drawing/2014/main" id="{C19B02B2-C0FC-4202-A7D2-65F171E31E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4526" y="1921565"/>
            <a:ext cx="4779232" cy="4936435"/>
          </a:xfrm>
          <a:prstGeom prst="rect">
            <a:avLst/>
          </a:prstGeom>
        </p:spPr>
      </p:pic>
    </p:spTree>
    <p:extLst>
      <p:ext uri="{BB962C8B-B14F-4D97-AF65-F5344CB8AC3E}">
        <p14:creationId xmlns:p14="http://schemas.microsoft.com/office/powerpoint/2010/main" val="2050245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A83E7-1A13-4579-86B3-24C0642BF550}"/>
              </a:ext>
            </a:extLst>
          </p:cNvPr>
          <p:cNvSpPr>
            <a:spLocks noGrp="1"/>
          </p:cNvSpPr>
          <p:nvPr>
            <p:ph type="title"/>
          </p:nvPr>
        </p:nvSpPr>
        <p:spPr>
          <a:xfrm>
            <a:off x="1367889" y="0"/>
            <a:ext cx="9692640" cy="1325562"/>
          </a:xfrm>
        </p:spPr>
        <p:txBody>
          <a:bodyPr/>
          <a:lstStyle/>
          <a:p>
            <a:r>
              <a:rPr lang="en-US" dirty="0"/>
              <a:t>Structure of Optical CT</a:t>
            </a:r>
          </a:p>
        </p:txBody>
      </p:sp>
      <p:sp>
        <p:nvSpPr>
          <p:cNvPr id="3" name="Content Placeholder 2">
            <a:extLst>
              <a:ext uri="{FF2B5EF4-FFF2-40B4-BE49-F238E27FC236}">
                <a16:creationId xmlns:a16="http://schemas.microsoft.com/office/drawing/2014/main" id="{113D51AB-7705-4AA1-8EAE-5EAFD91AD300}"/>
              </a:ext>
            </a:extLst>
          </p:cNvPr>
          <p:cNvSpPr>
            <a:spLocks noGrp="1"/>
          </p:cNvSpPr>
          <p:nvPr>
            <p:ph idx="1"/>
          </p:nvPr>
        </p:nvSpPr>
        <p:spPr>
          <a:xfrm>
            <a:off x="1131470" y="1325562"/>
            <a:ext cx="8939629" cy="5126038"/>
          </a:xfrm>
        </p:spPr>
        <p:txBody>
          <a:bodyPr>
            <a:noAutofit/>
          </a:bodyPr>
          <a:lstStyle/>
          <a:p>
            <a:pPr marL="0" indent="0">
              <a:buNone/>
            </a:pPr>
            <a:r>
              <a:rPr lang="en-US" sz="2000" dirty="0"/>
              <a:t>The DC electronic CTs are composed of the following parts:</a:t>
            </a:r>
          </a:p>
          <a:p>
            <a:pPr marL="0" indent="0">
              <a:buNone/>
            </a:pPr>
            <a:r>
              <a:rPr lang="en-US" sz="2000" dirty="0"/>
              <a:t> • </a:t>
            </a:r>
            <a:r>
              <a:rPr lang="en-US" sz="2000" b="1" dirty="0"/>
              <a:t>Primary Sensor: - </a:t>
            </a:r>
          </a:p>
          <a:p>
            <a:pPr marL="0" indent="0">
              <a:buNone/>
            </a:pPr>
            <a:r>
              <a:rPr lang="en-US" sz="2000" dirty="0"/>
              <a:t>The primary sensor includes one current divider and one air core coil. The current divider is used to measure DC current and the air core coil is used to measure harmonic current. • </a:t>
            </a:r>
          </a:p>
          <a:p>
            <a:pPr marL="0" indent="0">
              <a:buNone/>
            </a:pPr>
            <a:r>
              <a:rPr lang="en-US" sz="2000" dirty="0"/>
              <a:t>     </a:t>
            </a:r>
            <a:r>
              <a:rPr lang="en-US" sz="2000" b="1" dirty="0"/>
              <a:t>Resistor Board:-</a:t>
            </a:r>
          </a:p>
          <a:p>
            <a:pPr marL="0" indent="0">
              <a:buNone/>
            </a:pPr>
            <a:r>
              <a:rPr lang="en-US" sz="2000" dirty="0"/>
              <a:t>It functions as signal distribution, converts one analogue signal to multiple signal outputs physically. </a:t>
            </a:r>
          </a:p>
          <a:p>
            <a:pPr marL="0" indent="0">
              <a:buNone/>
            </a:pPr>
            <a:r>
              <a:rPr lang="en-US" sz="2000" dirty="0"/>
              <a:t>    </a:t>
            </a:r>
            <a:r>
              <a:rPr lang="en-US" sz="2000" b="1" dirty="0"/>
              <a:t>Remote Terminal Unit (RTU) :-</a:t>
            </a:r>
          </a:p>
          <a:p>
            <a:pPr marL="0" indent="0">
              <a:buNone/>
            </a:pPr>
            <a:r>
              <a:rPr lang="en-US" sz="2000" dirty="0"/>
              <a:t>DC electronic CTs have multiple identical remote end modules, which can backup each other to guarantee high reliability. The remote module receives and processes the output signals from the current divider and the air core coil. It outputs serial digital optical signals. • </a:t>
            </a:r>
          </a:p>
        </p:txBody>
      </p:sp>
    </p:spTree>
    <p:extLst>
      <p:ext uri="{BB962C8B-B14F-4D97-AF65-F5344CB8AC3E}">
        <p14:creationId xmlns:p14="http://schemas.microsoft.com/office/powerpoint/2010/main" val="243200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50280-5AF4-4FE2-B1C7-00B08FA3F8FE}"/>
              </a:ext>
            </a:extLst>
          </p:cNvPr>
          <p:cNvSpPr>
            <a:spLocks noGrp="1"/>
          </p:cNvSpPr>
          <p:nvPr>
            <p:ph type="title"/>
          </p:nvPr>
        </p:nvSpPr>
        <p:spPr/>
        <p:txBody>
          <a:bodyPr/>
          <a:lstStyle/>
          <a:p>
            <a:r>
              <a:rPr lang="en-US" dirty="0"/>
              <a:t>Structure of Optical CT</a:t>
            </a:r>
          </a:p>
        </p:txBody>
      </p:sp>
      <p:sp>
        <p:nvSpPr>
          <p:cNvPr id="3" name="Content Placeholder 2">
            <a:extLst>
              <a:ext uri="{FF2B5EF4-FFF2-40B4-BE49-F238E27FC236}">
                <a16:creationId xmlns:a16="http://schemas.microsoft.com/office/drawing/2014/main" id="{5DF347BA-58BE-4D1A-8915-0F15ACB44B46}"/>
              </a:ext>
            </a:extLst>
          </p:cNvPr>
          <p:cNvSpPr>
            <a:spLocks noGrp="1"/>
          </p:cNvSpPr>
          <p:nvPr>
            <p:ph idx="1"/>
          </p:nvPr>
        </p:nvSpPr>
        <p:spPr/>
        <p:txBody>
          <a:bodyPr>
            <a:normAutofit/>
          </a:bodyPr>
          <a:lstStyle/>
          <a:p>
            <a:pPr marL="0" indent="0">
              <a:buNone/>
            </a:pPr>
            <a:r>
              <a:rPr lang="en-US" sz="2000" b="1" dirty="0"/>
              <a:t>Composite Insulator:-</a:t>
            </a:r>
          </a:p>
          <a:p>
            <a:pPr marL="0" indent="0">
              <a:buNone/>
            </a:pPr>
            <a:r>
              <a:rPr lang="en-US" sz="2000" dirty="0"/>
              <a:t>It is Embedded Optical Fiber This insulator adopts the composite material, while several multimode optical fibers are embedded inside as signal transmission media. •</a:t>
            </a:r>
          </a:p>
          <a:p>
            <a:pPr marL="0" indent="0">
              <a:buNone/>
            </a:pPr>
            <a:r>
              <a:rPr lang="en-US" sz="2000" dirty="0"/>
              <a:t> </a:t>
            </a:r>
            <a:r>
              <a:rPr lang="en-US" sz="2000" b="1" dirty="0"/>
              <a:t>Merging Unit:-</a:t>
            </a:r>
          </a:p>
          <a:p>
            <a:pPr marL="0" indent="0">
              <a:buNone/>
            </a:pPr>
            <a:r>
              <a:rPr lang="en-US" sz="2000" dirty="0"/>
              <a:t> The merging unit is placed in control room. In one hand, it works as power supply for remote module by laser sending, in the other hand, it receives data from remote module. The output of merging units is sent to the protection and control according to protocol IEC 60044-8.</a:t>
            </a:r>
          </a:p>
          <a:p>
            <a:endParaRPr lang="en-US" sz="2000" dirty="0"/>
          </a:p>
          <a:p>
            <a:pPr marL="0" indent="0">
              <a:buNone/>
            </a:pPr>
            <a:endParaRPr lang="en-US" sz="2000" dirty="0"/>
          </a:p>
          <a:p>
            <a:endParaRPr lang="en-US" sz="2000" dirty="0"/>
          </a:p>
        </p:txBody>
      </p:sp>
    </p:spTree>
    <p:extLst>
      <p:ext uri="{BB962C8B-B14F-4D97-AF65-F5344CB8AC3E}">
        <p14:creationId xmlns:p14="http://schemas.microsoft.com/office/powerpoint/2010/main" val="3186032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Content Placeholder 28">
            <a:extLst>
              <a:ext uri="{FF2B5EF4-FFF2-40B4-BE49-F238E27FC236}">
                <a16:creationId xmlns:a16="http://schemas.microsoft.com/office/drawing/2014/main" id="{45A5A759-7459-4D36-90A5-DE316F9EF358}"/>
              </a:ext>
            </a:extLst>
          </p:cNvPr>
          <p:cNvSpPr>
            <a:spLocks noGrp="1"/>
          </p:cNvSpPr>
          <p:nvPr>
            <p:ph idx="1"/>
          </p:nvPr>
        </p:nvSpPr>
        <p:spPr>
          <a:xfrm>
            <a:off x="4147929" y="530087"/>
            <a:ext cx="2876205" cy="728870"/>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indent="0" algn="ctr">
              <a:lnSpc>
                <a:spcPct val="107000"/>
              </a:lnSpc>
              <a:spcBef>
                <a:spcPts val="0"/>
              </a:spcBef>
              <a:spcAft>
                <a:spcPts val="800"/>
              </a:spcAft>
              <a:buNone/>
            </a:pPr>
            <a:r>
              <a:rPr lang="en-US" sz="1400" b="1" dirty="0">
                <a:effectLst/>
                <a:ea typeface="Calibri" panose="020F0502020204030204" pitchFamily="34" charset="0"/>
                <a:cs typeface="Times New Roman" panose="02020603050405020304" pitchFamily="18" charset="0"/>
              </a:rPr>
              <a:t>CT in Converter Station</a:t>
            </a:r>
            <a:endParaRPr lang="en-US" sz="1100" dirty="0">
              <a:effectLst/>
              <a:ea typeface="Calibri" panose="020F0502020204030204" pitchFamily="34" charset="0"/>
              <a:cs typeface="Times New Roman" panose="02020603050405020304" pitchFamily="18" charset="0"/>
            </a:endParaRPr>
          </a:p>
        </p:txBody>
      </p:sp>
      <p:sp>
        <p:nvSpPr>
          <p:cNvPr id="30" name="Content Placeholder 28">
            <a:extLst>
              <a:ext uri="{FF2B5EF4-FFF2-40B4-BE49-F238E27FC236}">
                <a16:creationId xmlns:a16="http://schemas.microsoft.com/office/drawing/2014/main" id="{8D85F16C-4257-46C4-A794-30A5C565DBB2}"/>
              </a:ext>
            </a:extLst>
          </p:cNvPr>
          <p:cNvSpPr txBox="1">
            <a:spLocks/>
          </p:cNvSpPr>
          <p:nvPr/>
        </p:nvSpPr>
        <p:spPr>
          <a:xfrm>
            <a:off x="1271724" y="3604591"/>
            <a:ext cx="2876205" cy="728870"/>
          </a:xfrm>
          <a:prstGeom prst="rect">
            <a:avLst/>
          </a:prstGeom>
          <a:ln w="28575" cap="flat" cmpd="sng" algn="ctr">
            <a:solidFill>
              <a:schemeClr val="tx1"/>
            </a:solidFill>
            <a:prstDash val="solid"/>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dk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dk1"/>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9pPr>
          </a:lstStyle>
          <a:p>
            <a:pPr marL="0" indent="0" algn="ctr">
              <a:lnSpc>
                <a:spcPct val="107000"/>
              </a:lnSpc>
              <a:spcBef>
                <a:spcPts val="0"/>
              </a:spcBef>
              <a:spcAft>
                <a:spcPts val="800"/>
              </a:spcAft>
              <a:buFont typeface="Arial" pitchFamily="34" charset="0"/>
              <a:buNone/>
            </a:pPr>
            <a:r>
              <a:rPr lang="en-US" sz="1400" b="1" dirty="0">
                <a:ea typeface="Calibri" panose="020F0502020204030204" pitchFamily="34" charset="0"/>
                <a:cs typeface="Times New Roman" panose="02020603050405020304" pitchFamily="18" charset="0"/>
              </a:rPr>
              <a:t>OPTICAL CT</a:t>
            </a:r>
            <a:endParaRPr lang="en-US" sz="1100" dirty="0">
              <a:ea typeface="Calibri" panose="020F0502020204030204" pitchFamily="34" charset="0"/>
              <a:cs typeface="Times New Roman" panose="02020603050405020304" pitchFamily="18" charset="0"/>
            </a:endParaRPr>
          </a:p>
        </p:txBody>
      </p:sp>
      <p:sp>
        <p:nvSpPr>
          <p:cNvPr id="31" name="Content Placeholder 28">
            <a:extLst>
              <a:ext uri="{FF2B5EF4-FFF2-40B4-BE49-F238E27FC236}">
                <a16:creationId xmlns:a16="http://schemas.microsoft.com/office/drawing/2014/main" id="{2B2FD8FF-00EA-44BB-8936-BAF9AD8AA084}"/>
              </a:ext>
            </a:extLst>
          </p:cNvPr>
          <p:cNvSpPr txBox="1">
            <a:spLocks/>
          </p:cNvSpPr>
          <p:nvPr/>
        </p:nvSpPr>
        <p:spPr>
          <a:xfrm>
            <a:off x="7024134" y="2060712"/>
            <a:ext cx="3207021" cy="1066801"/>
          </a:xfrm>
          <a:prstGeom prst="rect">
            <a:avLst/>
          </a:prstGeom>
          <a:ln w="28575" cap="flat" cmpd="sng" algn="ctr">
            <a:solidFill>
              <a:schemeClr val="tx1"/>
            </a:solidFill>
            <a:prstDash val="solid"/>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dk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dk1"/>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9pPr>
          </a:lstStyle>
          <a:p>
            <a:pPr marL="0" indent="0" algn="ctr">
              <a:lnSpc>
                <a:spcPct val="107000"/>
              </a:lnSpc>
              <a:spcBef>
                <a:spcPts val="0"/>
              </a:spcBef>
              <a:spcAft>
                <a:spcPts val="800"/>
              </a:spcAft>
              <a:buFont typeface="Arial" pitchFamily="34" charset="0"/>
              <a:buNone/>
            </a:pPr>
            <a:r>
              <a:rPr lang="en-US" sz="1400" b="1" dirty="0">
                <a:ea typeface="Calibri" panose="020F0502020204030204" pitchFamily="34" charset="0"/>
                <a:cs typeface="Times New Roman" panose="02020603050405020304" pitchFamily="18" charset="0"/>
              </a:rPr>
              <a:t>Electromagnetic CT</a:t>
            </a:r>
          </a:p>
          <a:p>
            <a:pPr marL="0" indent="0" algn="ctr">
              <a:lnSpc>
                <a:spcPct val="107000"/>
              </a:lnSpc>
              <a:spcBef>
                <a:spcPts val="0"/>
              </a:spcBef>
              <a:spcAft>
                <a:spcPts val="800"/>
              </a:spcAft>
              <a:buFont typeface="Arial" pitchFamily="34" charset="0"/>
              <a:buNone/>
            </a:pPr>
            <a:r>
              <a:rPr lang="en-US" sz="1400" b="1" dirty="0">
                <a:ea typeface="Calibri" panose="020F0502020204030204" pitchFamily="34" charset="0"/>
                <a:cs typeface="Times New Roman" panose="02020603050405020304" pitchFamily="18" charset="0"/>
              </a:rPr>
              <a:t>(Used in resistance and inductance branch of DC filter) </a:t>
            </a:r>
            <a:endParaRPr lang="en-US" sz="1100" dirty="0">
              <a:ea typeface="Calibri" panose="020F0502020204030204" pitchFamily="34" charset="0"/>
              <a:cs typeface="Times New Roman" panose="02020603050405020304" pitchFamily="18" charset="0"/>
            </a:endParaRPr>
          </a:p>
        </p:txBody>
      </p:sp>
      <p:sp>
        <p:nvSpPr>
          <p:cNvPr id="32" name="Content Placeholder 28">
            <a:extLst>
              <a:ext uri="{FF2B5EF4-FFF2-40B4-BE49-F238E27FC236}">
                <a16:creationId xmlns:a16="http://schemas.microsoft.com/office/drawing/2014/main" id="{2C4014A5-7EB2-403F-86C7-A0BECB933EAA}"/>
              </a:ext>
            </a:extLst>
          </p:cNvPr>
          <p:cNvSpPr txBox="1">
            <a:spLocks/>
          </p:cNvSpPr>
          <p:nvPr/>
        </p:nvSpPr>
        <p:spPr>
          <a:xfrm>
            <a:off x="380877" y="5340627"/>
            <a:ext cx="3011679" cy="728870"/>
          </a:xfrm>
          <a:prstGeom prst="rect">
            <a:avLst/>
          </a:prstGeom>
          <a:ln w="28575" cap="flat" cmpd="sng" algn="ctr">
            <a:solidFill>
              <a:schemeClr val="tx1"/>
            </a:solidFill>
            <a:prstDash val="solid"/>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dk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dk1"/>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9pPr>
          </a:lstStyle>
          <a:p>
            <a:pPr marL="0" indent="0" algn="ctr">
              <a:lnSpc>
                <a:spcPct val="107000"/>
              </a:lnSpc>
              <a:spcBef>
                <a:spcPts val="0"/>
              </a:spcBef>
              <a:spcAft>
                <a:spcPts val="800"/>
              </a:spcAft>
              <a:buFont typeface="Arial" pitchFamily="34" charset="0"/>
              <a:buNone/>
            </a:pPr>
            <a:r>
              <a:rPr lang="en-US" sz="1100" b="1" dirty="0">
                <a:ea typeface="Calibri" panose="020F0502020204030204" pitchFamily="34" charset="0"/>
                <a:cs typeface="Times New Roman" panose="02020603050405020304" pitchFamily="18" charset="0"/>
              </a:rPr>
              <a:t>Air Core</a:t>
            </a:r>
          </a:p>
          <a:p>
            <a:pPr marL="0" indent="0" algn="ctr">
              <a:lnSpc>
                <a:spcPct val="107000"/>
              </a:lnSpc>
              <a:spcBef>
                <a:spcPts val="0"/>
              </a:spcBef>
              <a:spcAft>
                <a:spcPts val="800"/>
              </a:spcAft>
              <a:buFont typeface="Arial" pitchFamily="34" charset="0"/>
              <a:buNone/>
            </a:pPr>
            <a:r>
              <a:rPr lang="en-US" sz="1100" b="1" dirty="0">
                <a:ea typeface="Calibri" panose="020F0502020204030204" pitchFamily="34" charset="0"/>
                <a:cs typeface="Times New Roman" panose="02020603050405020304" pitchFamily="18" charset="0"/>
              </a:rPr>
              <a:t>(Only used for harmonic current only</a:t>
            </a:r>
            <a:r>
              <a:rPr lang="en-US" sz="1100" dirty="0">
                <a:ea typeface="Calibri" panose="020F0502020204030204" pitchFamily="34" charset="0"/>
                <a:cs typeface="Times New Roman" panose="02020603050405020304" pitchFamily="18" charset="0"/>
              </a:rPr>
              <a:t>) </a:t>
            </a:r>
          </a:p>
        </p:txBody>
      </p:sp>
      <p:sp>
        <p:nvSpPr>
          <p:cNvPr id="33" name="Content Placeholder 28">
            <a:extLst>
              <a:ext uri="{FF2B5EF4-FFF2-40B4-BE49-F238E27FC236}">
                <a16:creationId xmlns:a16="http://schemas.microsoft.com/office/drawing/2014/main" id="{8CB5D93A-AB7D-417B-9073-ABB5DF0A647A}"/>
              </a:ext>
            </a:extLst>
          </p:cNvPr>
          <p:cNvSpPr txBox="1">
            <a:spLocks/>
          </p:cNvSpPr>
          <p:nvPr/>
        </p:nvSpPr>
        <p:spPr>
          <a:xfrm>
            <a:off x="1271724" y="2067339"/>
            <a:ext cx="2876205" cy="728870"/>
          </a:xfrm>
          <a:prstGeom prst="rect">
            <a:avLst/>
          </a:prstGeom>
          <a:ln w="28575" cap="flat" cmpd="sng" algn="ctr">
            <a:solidFill>
              <a:schemeClr val="tx1"/>
            </a:solidFill>
            <a:prstDash val="solid"/>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dk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dk1"/>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9pPr>
          </a:lstStyle>
          <a:p>
            <a:pPr marL="0" indent="0" algn="ctr">
              <a:lnSpc>
                <a:spcPct val="107000"/>
              </a:lnSpc>
              <a:spcBef>
                <a:spcPts val="0"/>
              </a:spcBef>
              <a:spcAft>
                <a:spcPts val="800"/>
              </a:spcAft>
              <a:buFont typeface="Arial" pitchFamily="34" charset="0"/>
              <a:buNone/>
            </a:pPr>
            <a:r>
              <a:rPr lang="en-US" sz="1400" b="1" dirty="0">
                <a:ea typeface="Calibri" panose="020F0502020204030204" pitchFamily="34" charset="0"/>
                <a:cs typeface="Times New Roman" panose="02020603050405020304" pitchFamily="18" charset="0"/>
              </a:rPr>
              <a:t>Electronic CT</a:t>
            </a:r>
            <a:endParaRPr lang="en-US" sz="1100" dirty="0">
              <a:ea typeface="Calibri" panose="020F0502020204030204" pitchFamily="34" charset="0"/>
              <a:cs typeface="Times New Roman" panose="02020603050405020304" pitchFamily="18" charset="0"/>
            </a:endParaRPr>
          </a:p>
        </p:txBody>
      </p:sp>
      <p:sp>
        <p:nvSpPr>
          <p:cNvPr id="34" name="Content Placeholder 28">
            <a:extLst>
              <a:ext uri="{FF2B5EF4-FFF2-40B4-BE49-F238E27FC236}">
                <a16:creationId xmlns:a16="http://schemas.microsoft.com/office/drawing/2014/main" id="{A086F13D-325D-4121-8728-63F3CE242777}"/>
              </a:ext>
            </a:extLst>
          </p:cNvPr>
          <p:cNvSpPr txBox="1">
            <a:spLocks/>
          </p:cNvSpPr>
          <p:nvPr/>
        </p:nvSpPr>
        <p:spPr>
          <a:xfrm>
            <a:off x="3618324" y="5340628"/>
            <a:ext cx="3405810" cy="728870"/>
          </a:xfrm>
          <a:prstGeom prst="rect">
            <a:avLst/>
          </a:prstGeom>
          <a:ln w="28575" cap="flat" cmpd="sng" algn="ctr">
            <a:solidFill>
              <a:schemeClr val="tx1"/>
            </a:solidFill>
            <a:prstDash val="solid"/>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dk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dk1"/>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9pPr>
          </a:lstStyle>
          <a:p>
            <a:pPr marL="0" indent="0" algn="ctr">
              <a:lnSpc>
                <a:spcPct val="107000"/>
              </a:lnSpc>
              <a:spcBef>
                <a:spcPts val="0"/>
              </a:spcBef>
              <a:spcAft>
                <a:spcPts val="800"/>
              </a:spcAft>
              <a:buFont typeface="Arial" pitchFamily="34" charset="0"/>
              <a:buNone/>
            </a:pPr>
            <a:r>
              <a:rPr lang="en-US" sz="1400" b="1" dirty="0">
                <a:ea typeface="Calibri" panose="020F0502020204030204" pitchFamily="34" charset="0"/>
                <a:cs typeface="Times New Roman" panose="02020603050405020304" pitchFamily="18" charset="0"/>
              </a:rPr>
              <a:t>Shunt</a:t>
            </a:r>
          </a:p>
          <a:p>
            <a:pPr marL="0" indent="0" algn="ctr">
              <a:lnSpc>
                <a:spcPct val="107000"/>
              </a:lnSpc>
              <a:spcBef>
                <a:spcPts val="0"/>
              </a:spcBef>
              <a:spcAft>
                <a:spcPts val="800"/>
              </a:spcAft>
              <a:buFont typeface="Arial" pitchFamily="34" charset="0"/>
              <a:buNone/>
            </a:pPr>
            <a:r>
              <a:rPr lang="en-US" sz="1400" b="1" dirty="0">
                <a:ea typeface="Calibri" panose="020F0502020204030204" pitchFamily="34" charset="0"/>
                <a:cs typeface="Times New Roman" panose="02020603050405020304" pitchFamily="18" charset="0"/>
              </a:rPr>
              <a:t>(Used for measuring DC Current) </a:t>
            </a:r>
            <a:endParaRPr lang="en-US" sz="1100" dirty="0">
              <a:ea typeface="Calibri" panose="020F0502020204030204" pitchFamily="34" charset="0"/>
              <a:cs typeface="Times New Roman" panose="02020603050405020304" pitchFamily="18" charset="0"/>
            </a:endParaRPr>
          </a:p>
        </p:txBody>
      </p:sp>
      <p:sp>
        <p:nvSpPr>
          <p:cNvPr id="35" name="Content Placeholder 28">
            <a:extLst>
              <a:ext uri="{FF2B5EF4-FFF2-40B4-BE49-F238E27FC236}">
                <a16:creationId xmlns:a16="http://schemas.microsoft.com/office/drawing/2014/main" id="{C37DC4CE-2819-4131-830D-9D3384AA5A49}"/>
              </a:ext>
            </a:extLst>
          </p:cNvPr>
          <p:cNvSpPr txBox="1">
            <a:spLocks/>
          </p:cNvSpPr>
          <p:nvPr/>
        </p:nvSpPr>
        <p:spPr>
          <a:xfrm>
            <a:off x="7249902" y="5340626"/>
            <a:ext cx="3987941" cy="728871"/>
          </a:xfrm>
          <a:prstGeom prst="rect">
            <a:avLst/>
          </a:prstGeom>
          <a:ln w="28575" cap="flat" cmpd="sng" algn="ctr">
            <a:solidFill>
              <a:schemeClr val="tx1"/>
            </a:solidFill>
            <a:prstDash val="solid"/>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dk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dk1"/>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dk1"/>
                </a:solidFill>
                <a:latin typeface="+mn-lt"/>
                <a:ea typeface="+mn-ea"/>
                <a:cs typeface="+mn-cs"/>
              </a:defRPr>
            </a:lvl9pPr>
          </a:lstStyle>
          <a:p>
            <a:pPr marL="0" indent="0" algn="ctr">
              <a:lnSpc>
                <a:spcPct val="100000"/>
              </a:lnSpc>
              <a:spcBef>
                <a:spcPts val="0"/>
              </a:spcBef>
              <a:spcAft>
                <a:spcPts val="800"/>
              </a:spcAft>
              <a:buFont typeface="Arial" pitchFamily="34" charset="0"/>
              <a:buNone/>
            </a:pPr>
            <a:r>
              <a:rPr lang="en-US" sz="1400" b="1" dirty="0">
                <a:ea typeface="Calibri" panose="020F0502020204030204" pitchFamily="34" charset="0"/>
                <a:cs typeface="Times New Roman" panose="02020603050405020304" pitchFamily="18" charset="0"/>
              </a:rPr>
              <a:t>LPCT</a:t>
            </a:r>
          </a:p>
          <a:p>
            <a:pPr marL="0" indent="0" algn="ctr">
              <a:lnSpc>
                <a:spcPct val="100000"/>
              </a:lnSpc>
              <a:spcBef>
                <a:spcPts val="0"/>
              </a:spcBef>
              <a:spcAft>
                <a:spcPts val="800"/>
              </a:spcAft>
              <a:buFont typeface="Arial" pitchFamily="34" charset="0"/>
              <a:buNone/>
            </a:pPr>
            <a:r>
              <a:rPr lang="en-US" sz="1400" b="1" dirty="0">
                <a:ea typeface="Calibri" panose="020F0502020204030204" pitchFamily="34" charset="0"/>
                <a:cs typeface="Times New Roman" panose="02020603050405020304" pitchFamily="18" charset="0"/>
              </a:rPr>
              <a:t>(Used for measuring unbalance current)</a:t>
            </a:r>
            <a:br>
              <a:rPr lang="en-US" sz="1400" b="1" dirty="0">
                <a:ea typeface="Calibri" panose="020F0502020204030204" pitchFamily="34" charset="0"/>
                <a:cs typeface="Times New Roman" panose="02020603050405020304" pitchFamily="18" charset="0"/>
              </a:rPr>
            </a:br>
            <a:endParaRPr lang="en-US" sz="1100" dirty="0">
              <a:ea typeface="Calibri" panose="020F0502020204030204" pitchFamily="34" charset="0"/>
              <a:cs typeface="Times New Roman" panose="02020603050405020304" pitchFamily="18" charset="0"/>
            </a:endParaRPr>
          </a:p>
        </p:txBody>
      </p:sp>
      <p:cxnSp>
        <p:nvCxnSpPr>
          <p:cNvPr id="37" name="Straight Arrow Connector 36">
            <a:extLst>
              <a:ext uri="{FF2B5EF4-FFF2-40B4-BE49-F238E27FC236}">
                <a16:creationId xmlns:a16="http://schemas.microsoft.com/office/drawing/2014/main" id="{CC2F2C40-7C51-470E-BEBD-1F827128DC02}"/>
              </a:ext>
            </a:extLst>
          </p:cNvPr>
          <p:cNvCxnSpPr>
            <a:stCxn id="29" idx="2"/>
          </p:cNvCxnSpPr>
          <p:nvPr/>
        </p:nvCxnSpPr>
        <p:spPr>
          <a:xfrm>
            <a:off x="5586032" y="1258957"/>
            <a:ext cx="19638" cy="437321"/>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0A61A99A-B73E-406D-BE4D-041D001F1C04}"/>
              </a:ext>
            </a:extLst>
          </p:cNvPr>
          <p:cNvCxnSpPr>
            <a:cxnSpLocks/>
          </p:cNvCxnSpPr>
          <p:nvPr/>
        </p:nvCxnSpPr>
        <p:spPr>
          <a:xfrm>
            <a:off x="2729948" y="1696278"/>
            <a:ext cx="5724939" cy="0"/>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C2D3B439-8C95-46E8-A8D5-D2671657F325}"/>
              </a:ext>
            </a:extLst>
          </p:cNvPr>
          <p:cNvCxnSpPr>
            <a:cxnSpLocks/>
          </p:cNvCxnSpPr>
          <p:nvPr/>
        </p:nvCxnSpPr>
        <p:spPr>
          <a:xfrm>
            <a:off x="2729948" y="1696278"/>
            <a:ext cx="0" cy="371061"/>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8FAEE656-F47C-4178-8375-127B74333134}"/>
              </a:ext>
            </a:extLst>
          </p:cNvPr>
          <p:cNvCxnSpPr>
            <a:cxnSpLocks/>
          </p:cNvCxnSpPr>
          <p:nvPr/>
        </p:nvCxnSpPr>
        <p:spPr>
          <a:xfrm>
            <a:off x="8454887" y="1696278"/>
            <a:ext cx="6386" cy="334617"/>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B79D902E-A5E5-4B50-A4BD-98C4668D36FF}"/>
              </a:ext>
            </a:extLst>
          </p:cNvPr>
          <p:cNvCxnSpPr>
            <a:cxnSpLocks/>
            <a:endCxn id="30" idx="0"/>
          </p:cNvCxnSpPr>
          <p:nvPr/>
        </p:nvCxnSpPr>
        <p:spPr>
          <a:xfrm>
            <a:off x="2709826" y="2796209"/>
            <a:ext cx="1" cy="808382"/>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D1CF9FE7-3E1B-436A-AED6-78F0B63B51D0}"/>
              </a:ext>
            </a:extLst>
          </p:cNvPr>
          <p:cNvCxnSpPr>
            <a:cxnSpLocks/>
          </p:cNvCxnSpPr>
          <p:nvPr/>
        </p:nvCxnSpPr>
        <p:spPr>
          <a:xfrm>
            <a:off x="1504362" y="4777407"/>
            <a:ext cx="7149547" cy="0"/>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4BA372EF-5A7A-4759-9F0C-767E992C0560}"/>
              </a:ext>
            </a:extLst>
          </p:cNvPr>
          <p:cNvCxnSpPr>
            <a:cxnSpLocks/>
          </p:cNvCxnSpPr>
          <p:nvPr/>
        </p:nvCxnSpPr>
        <p:spPr>
          <a:xfrm>
            <a:off x="2577548" y="4333461"/>
            <a:ext cx="0" cy="443946"/>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AA6D3E2D-DF2F-4C42-9E38-0234AB4EFBC5}"/>
              </a:ext>
            </a:extLst>
          </p:cNvPr>
          <p:cNvCxnSpPr>
            <a:cxnSpLocks/>
          </p:cNvCxnSpPr>
          <p:nvPr/>
        </p:nvCxnSpPr>
        <p:spPr>
          <a:xfrm>
            <a:off x="8653909" y="4777407"/>
            <a:ext cx="0" cy="563219"/>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AFB96129-46B8-43B9-9AB9-903057BF7721}"/>
              </a:ext>
            </a:extLst>
          </p:cNvPr>
          <p:cNvCxnSpPr>
            <a:cxnSpLocks/>
          </p:cNvCxnSpPr>
          <p:nvPr/>
        </p:nvCxnSpPr>
        <p:spPr>
          <a:xfrm>
            <a:off x="5052631" y="4777407"/>
            <a:ext cx="0" cy="563219"/>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34A769D4-9F8E-4CDD-99DF-3A402C9C66AF}"/>
              </a:ext>
            </a:extLst>
          </p:cNvPr>
          <p:cNvCxnSpPr>
            <a:cxnSpLocks/>
          </p:cNvCxnSpPr>
          <p:nvPr/>
        </p:nvCxnSpPr>
        <p:spPr>
          <a:xfrm>
            <a:off x="1504362" y="4777407"/>
            <a:ext cx="0" cy="563219"/>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56113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69304-DF91-4C5D-AA29-336E4C8E476E}"/>
              </a:ext>
            </a:extLst>
          </p:cNvPr>
          <p:cNvSpPr>
            <a:spLocks noGrp="1"/>
          </p:cNvSpPr>
          <p:nvPr>
            <p:ph type="title"/>
          </p:nvPr>
        </p:nvSpPr>
        <p:spPr>
          <a:xfrm>
            <a:off x="1261872" y="365760"/>
            <a:ext cx="9692640" cy="825366"/>
          </a:xfrm>
        </p:spPr>
        <p:txBody>
          <a:bodyPr>
            <a:noAutofit/>
          </a:bodyPr>
          <a:lstStyle/>
          <a:p>
            <a:r>
              <a:rPr lang="en-US" sz="3200" dirty="0"/>
              <a:t>Place of Installation on Lahore Converter Station </a:t>
            </a:r>
          </a:p>
        </p:txBody>
      </p:sp>
      <p:graphicFrame>
        <p:nvGraphicFramePr>
          <p:cNvPr id="4" name="Table 4">
            <a:extLst>
              <a:ext uri="{FF2B5EF4-FFF2-40B4-BE49-F238E27FC236}">
                <a16:creationId xmlns:a16="http://schemas.microsoft.com/office/drawing/2014/main" id="{F813DDDE-BD0D-4041-8800-00107DDE3A27}"/>
              </a:ext>
            </a:extLst>
          </p:cNvPr>
          <p:cNvGraphicFramePr>
            <a:graphicFrameLocks noGrp="1"/>
          </p:cNvGraphicFramePr>
          <p:nvPr>
            <p:ph idx="1"/>
            <p:extLst>
              <p:ext uri="{D42A27DB-BD31-4B8C-83A1-F6EECF244321}">
                <p14:modId xmlns:p14="http://schemas.microsoft.com/office/powerpoint/2010/main" val="2254993857"/>
              </p:ext>
            </p:extLst>
          </p:nvPr>
        </p:nvGraphicFramePr>
        <p:xfrm>
          <a:off x="1129715" y="1374274"/>
          <a:ext cx="9385885" cy="5117964"/>
        </p:xfrm>
        <a:graphic>
          <a:graphicData uri="http://schemas.openxmlformats.org/drawingml/2006/table">
            <a:tbl>
              <a:tblPr firstRow="1" bandRow="1">
                <a:tableStyleId>{5C22544A-7EE6-4342-B048-85BDC9FD1C3A}</a:tableStyleId>
              </a:tblPr>
              <a:tblGrid>
                <a:gridCol w="710880">
                  <a:extLst>
                    <a:ext uri="{9D8B030D-6E8A-4147-A177-3AD203B41FA5}">
                      <a16:colId xmlns:a16="http://schemas.microsoft.com/office/drawing/2014/main" val="366212568"/>
                    </a:ext>
                  </a:extLst>
                </a:gridCol>
                <a:gridCol w="2246788">
                  <a:extLst>
                    <a:ext uri="{9D8B030D-6E8A-4147-A177-3AD203B41FA5}">
                      <a16:colId xmlns:a16="http://schemas.microsoft.com/office/drawing/2014/main" val="2555115321"/>
                    </a:ext>
                  </a:extLst>
                </a:gridCol>
                <a:gridCol w="4822052">
                  <a:extLst>
                    <a:ext uri="{9D8B030D-6E8A-4147-A177-3AD203B41FA5}">
                      <a16:colId xmlns:a16="http://schemas.microsoft.com/office/drawing/2014/main" val="1248257225"/>
                    </a:ext>
                  </a:extLst>
                </a:gridCol>
                <a:gridCol w="1606165">
                  <a:extLst>
                    <a:ext uri="{9D8B030D-6E8A-4147-A177-3AD203B41FA5}">
                      <a16:colId xmlns:a16="http://schemas.microsoft.com/office/drawing/2014/main" val="788317934"/>
                    </a:ext>
                  </a:extLst>
                </a:gridCol>
              </a:tblGrid>
              <a:tr h="471136">
                <a:tc>
                  <a:txBody>
                    <a:bodyPr/>
                    <a:lstStyle/>
                    <a:p>
                      <a:r>
                        <a:rPr lang="en-US" dirty="0"/>
                        <a:t>Sr#</a:t>
                      </a:r>
                    </a:p>
                  </a:txBody>
                  <a:tcPr/>
                </a:tc>
                <a:tc>
                  <a:txBody>
                    <a:bodyPr/>
                    <a:lstStyle/>
                    <a:p>
                      <a:r>
                        <a:rPr lang="en-US" dirty="0"/>
                        <a:t>Rating</a:t>
                      </a:r>
                    </a:p>
                  </a:txBody>
                  <a:tcPr/>
                </a:tc>
                <a:tc>
                  <a:txBody>
                    <a:bodyPr/>
                    <a:lstStyle/>
                    <a:p>
                      <a:r>
                        <a:rPr lang="en-US" dirty="0"/>
                        <a:t>Installation point</a:t>
                      </a:r>
                    </a:p>
                  </a:txBody>
                  <a:tcPr/>
                </a:tc>
                <a:tc>
                  <a:txBody>
                    <a:bodyPr/>
                    <a:lstStyle/>
                    <a:p>
                      <a:r>
                        <a:rPr lang="en-US" dirty="0"/>
                        <a:t>Qty</a:t>
                      </a:r>
                    </a:p>
                  </a:txBody>
                  <a:tcPr/>
                </a:tc>
                <a:extLst>
                  <a:ext uri="{0D108BD9-81ED-4DB2-BD59-A6C34878D82A}">
                    <a16:rowId xmlns:a16="http://schemas.microsoft.com/office/drawing/2014/main" val="1322583201"/>
                  </a:ext>
                </a:extLst>
              </a:tr>
              <a:tr h="1161707">
                <a:tc>
                  <a:txBody>
                    <a:bodyPr/>
                    <a:lstStyle/>
                    <a:p>
                      <a:r>
                        <a:rPr lang="en-US" dirty="0"/>
                        <a:t>1</a:t>
                      </a:r>
                    </a:p>
                  </a:txBody>
                  <a:tcPr/>
                </a:tc>
                <a:tc>
                  <a:txBody>
                    <a:bodyPr/>
                    <a:lstStyle/>
                    <a:p>
                      <a:r>
                        <a:rPr lang="en-US" dirty="0"/>
                        <a:t>±660KV, 3030.3A</a:t>
                      </a:r>
                    </a:p>
                  </a:txBody>
                  <a:tcPr/>
                </a:tc>
                <a:tc>
                  <a:txBody>
                    <a:bodyPr/>
                    <a:lstStyle/>
                    <a:p>
                      <a:r>
                        <a:rPr lang="en-US" dirty="0"/>
                        <a:t>For the DC current measurement of 660KV pole line current at outdoor valve top.</a:t>
                      </a:r>
                    </a:p>
                  </a:txBody>
                  <a:tcPr/>
                </a:tc>
                <a:tc>
                  <a:txBody>
                    <a:bodyPr/>
                    <a:lstStyle/>
                    <a:p>
                      <a:r>
                        <a:rPr lang="en-US" dirty="0"/>
                        <a:t>  02</a:t>
                      </a:r>
                    </a:p>
                  </a:txBody>
                  <a:tcPr/>
                </a:tc>
                <a:extLst>
                  <a:ext uri="{0D108BD9-81ED-4DB2-BD59-A6C34878D82A}">
                    <a16:rowId xmlns:a16="http://schemas.microsoft.com/office/drawing/2014/main" val="3277325557"/>
                  </a:ext>
                </a:extLst>
              </a:tr>
              <a:tr h="1161707">
                <a:tc>
                  <a:txBody>
                    <a:bodyPr/>
                    <a:lstStyle/>
                    <a:p>
                      <a:r>
                        <a:rPr lang="en-US" dirty="0"/>
                        <a:t>2</a:t>
                      </a:r>
                    </a:p>
                  </a:txBody>
                  <a:tcPr/>
                </a:tc>
                <a:tc>
                  <a:txBody>
                    <a:bodyPr/>
                    <a:lstStyle/>
                    <a:p>
                      <a:r>
                        <a:rPr lang="en-US" dirty="0"/>
                        <a:t>±660KV, 3030.3A</a:t>
                      </a:r>
                    </a:p>
                  </a:txBody>
                  <a:tcPr/>
                </a:tc>
                <a:tc>
                  <a:txBody>
                    <a:bodyPr/>
                    <a:lstStyle/>
                    <a:p>
                      <a:r>
                        <a:rPr lang="en-US" dirty="0"/>
                        <a:t>For the DC current measurement of 660KV pole line current at outdoor DC field.</a:t>
                      </a:r>
                    </a:p>
                  </a:txBody>
                  <a:tcPr/>
                </a:tc>
                <a:tc>
                  <a:txBody>
                    <a:bodyPr/>
                    <a:lstStyle/>
                    <a:p>
                      <a:r>
                        <a:rPr lang="en-US" dirty="0"/>
                        <a:t>  02</a:t>
                      </a:r>
                    </a:p>
                  </a:txBody>
                  <a:tcPr/>
                </a:tc>
                <a:extLst>
                  <a:ext uri="{0D108BD9-81ED-4DB2-BD59-A6C34878D82A}">
                    <a16:rowId xmlns:a16="http://schemas.microsoft.com/office/drawing/2014/main" val="3859877880"/>
                  </a:ext>
                </a:extLst>
              </a:tr>
              <a:tr h="1161707">
                <a:tc>
                  <a:txBody>
                    <a:bodyPr/>
                    <a:lstStyle/>
                    <a:p>
                      <a:r>
                        <a:rPr lang="en-US" dirty="0"/>
                        <a:t>3</a:t>
                      </a:r>
                    </a:p>
                  </a:txBody>
                  <a:tcPr/>
                </a:tc>
                <a:tc>
                  <a:txBody>
                    <a:bodyPr/>
                    <a:lstStyle/>
                    <a:p>
                      <a:r>
                        <a:rPr lang="en-US" dirty="0"/>
                        <a:t>±660KV, 3030.3A</a:t>
                      </a:r>
                    </a:p>
                  </a:txBody>
                  <a:tcPr/>
                </a:tc>
                <a:tc>
                  <a:txBody>
                    <a:bodyPr/>
                    <a:lstStyle/>
                    <a:p>
                      <a:r>
                        <a:rPr lang="en-US" dirty="0"/>
                        <a:t>For the DC current measurement of outdoor DC filter high voltage circuit current.</a:t>
                      </a:r>
                    </a:p>
                  </a:txBody>
                  <a:tcPr/>
                </a:tc>
                <a:tc>
                  <a:txBody>
                    <a:bodyPr/>
                    <a:lstStyle/>
                    <a:p>
                      <a:r>
                        <a:rPr lang="en-US" dirty="0"/>
                        <a:t>  04</a:t>
                      </a:r>
                    </a:p>
                  </a:txBody>
                  <a:tcPr/>
                </a:tc>
                <a:extLst>
                  <a:ext uri="{0D108BD9-81ED-4DB2-BD59-A6C34878D82A}">
                    <a16:rowId xmlns:a16="http://schemas.microsoft.com/office/drawing/2014/main" val="3204803836"/>
                  </a:ext>
                </a:extLst>
              </a:tr>
              <a:tr h="1161707">
                <a:tc>
                  <a:txBody>
                    <a:bodyPr/>
                    <a:lstStyle/>
                    <a:p>
                      <a:r>
                        <a:rPr lang="en-US" dirty="0"/>
                        <a:t>4</a:t>
                      </a:r>
                    </a:p>
                  </a:txBody>
                  <a:tcPr/>
                </a:tc>
                <a:tc>
                  <a:txBody>
                    <a:bodyPr/>
                    <a:lstStyle/>
                    <a:p>
                      <a:r>
                        <a:rPr lang="en-US" dirty="0"/>
                        <a:t>±150KV, 3030.3A</a:t>
                      </a:r>
                    </a:p>
                  </a:txBody>
                  <a:tcPr/>
                </a:tc>
                <a:tc>
                  <a:txBody>
                    <a:bodyPr/>
                    <a:lstStyle/>
                    <a:p>
                      <a:r>
                        <a:rPr lang="en-US" dirty="0"/>
                        <a:t>For the DC current measurement of outdoor DC filter low voltage circuit current.</a:t>
                      </a:r>
                    </a:p>
                  </a:txBody>
                  <a:tcPr/>
                </a:tc>
                <a:tc>
                  <a:txBody>
                    <a:bodyPr/>
                    <a:lstStyle/>
                    <a:p>
                      <a:r>
                        <a:rPr lang="en-US" dirty="0"/>
                        <a:t>  04</a:t>
                      </a:r>
                    </a:p>
                  </a:txBody>
                  <a:tcPr/>
                </a:tc>
                <a:extLst>
                  <a:ext uri="{0D108BD9-81ED-4DB2-BD59-A6C34878D82A}">
                    <a16:rowId xmlns:a16="http://schemas.microsoft.com/office/drawing/2014/main" val="400170733"/>
                  </a:ext>
                </a:extLst>
              </a:tr>
            </a:tbl>
          </a:graphicData>
        </a:graphic>
      </p:graphicFrame>
    </p:spTree>
    <p:extLst>
      <p:ext uri="{BB962C8B-B14F-4D97-AF65-F5344CB8AC3E}">
        <p14:creationId xmlns:p14="http://schemas.microsoft.com/office/powerpoint/2010/main" val="3882797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33106-E7A1-4D3B-85CE-A8AAE9B5C695}"/>
              </a:ext>
            </a:extLst>
          </p:cNvPr>
          <p:cNvSpPr>
            <a:spLocks noGrp="1"/>
          </p:cNvSpPr>
          <p:nvPr>
            <p:ph type="title"/>
          </p:nvPr>
        </p:nvSpPr>
        <p:spPr>
          <a:xfrm>
            <a:off x="529389" y="0"/>
            <a:ext cx="10389028" cy="1325562"/>
          </a:xfrm>
        </p:spPr>
        <p:txBody>
          <a:bodyPr>
            <a:normAutofit/>
          </a:bodyPr>
          <a:lstStyle/>
          <a:p>
            <a:r>
              <a:rPr lang="en-US" sz="3600" dirty="0"/>
              <a:t>Place of Installation on Lahore Converter Station </a:t>
            </a:r>
          </a:p>
        </p:txBody>
      </p:sp>
      <p:pic>
        <p:nvPicPr>
          <p:cNvPr id="4" name="Content Placeholder 3">
            <a:extLst>
              <a:ext uri="{FF2B5EF4-FFF2-40B4-BE49-F238E27FC236}">
                <a16:creationId xmlns:a16="http://schemas.microsoft.com/office/drawing/2014/main" id="{DCF30B7B-D39C-4105-ACE3-BB78B6E988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flipH="1" flipV="1">
            <a:off x="1624261" y="1624263"/>
            <a:ext cx="8193505" cy="4644189"/>
          </a:xfrm>
          <a:prstGeom prst="rect">
            <a:avLst/>
          </a:prstGeom>
        </p:spPr>
      </p:pic>
      <p:sp>
        <p:nvSpPr>
          <p:cNvPr id="6" name="TextBox 5">
            <a:extLst>
              <a:ext uri="{FF2B5EF4-FFF2-40B4-BE49-F238E27FC236}">
                <a16:creationId xmlns:a16="http://schemas.microsoft.com/office/drawing/2014/main" id="{15777828-2D3B-4253-809D-77690ECEEB2E}"/>
              </a:ext>
            </a:extLst>
          </p:cNvPr>
          <p:cNvSpPr txBox="1"/>
          <p:nvPr/>
        </p:nvSpPr>
        <p:spPr>
          <a:xfrm>
            <a:off x="6918150" y="1776662"/>
            <a:ext cx="649707" cy="453553"/>
          </a:xfrm>
          <a:prstGeom prst="rect">
            <a:avLst/>
          </a:prstGeom>
          <a:noFill/>
          <a:ln w="38100">
            <a:solidFill>
              <a:schemeClr val="tx1"/>
            </a:solidFill>
          </a:ln>
        </p:spPr>
        <p:txBody>
          <a:bodyPr wrap="square" rtlCol="0">
            <a:spAutoFit/>
          </a:bodyPr>
          <a:lstStyle/>
          <a:p>
            <a:endParaRPr lang="en-US" dirty="0"/>
          </a:p>
        </p:txBody>
      </p:sp>
      <p:sp>
        <p:nvSpPr>
          <p:cNvPr id="7" name="TextBox 6">
            <a:extLst>
              <a:ext uri="{FF2B5EF4-FFF2-40B4-BE49-F238E27FC236}">
                <a16:creationId xmlns:a16="http://schemas.microsoft.com/office/drawing/2014/main" id="{9C13B3CD-1B9D-4F2F-A6A7-C8F1D29C4C36}"/>
              </a:ext>
            </a:extLst>
          </p:cNvPr>
          <p:cNvSpPr txBox="1"/>
          <p:nvPr/>
        </p:nvSpPr>
        <p:spPr>
          <a:xfrm>
            <a:off x="6978314" y="5426241"/>
            <a:ext cx="649707" cy="453553"/>
          </a:xfrm>
          <a:prstGeom prst="rect">
            <a:avLst/>
          </a:prstGeom>
          <a:noFill/>
          <a:ln w="38100">
            <a:solidFill>
              <a:schemeClr val="tx1"/>
            </a:solidFill>
          </a:ln>
        </p:spPr>
        <p:txBody>
          <a:bodyPr wrap="square" rtlCol="0">
            <a:spAutoFit/>
          </a:bodyPr>
          <a:lstStyle/>
          <a:p>
            <a:endParaRPr lang="en-US" dirty="0"/>
          </a:p>
        </p:txBody>
      </p:sp>
      <p:sp>
        <p:nvSpPr>
          <p:cNvPr id="8" name="TextBox 7">
            <a:extLst>
              <a:ext uri="{FF2B5EF4-FFF2-40B4-BE49-F238E27FC236}">
                <a16:creationId xmlns:a16="http://schemas.microsoft.com/office/drawing/2014/main" id="{A2765472-ED26-4433-804C-843FCA34B12F}"/>
              </a:ext>
            </a:extLst>
          </p:cNvPr>
          <p:cNvSpPr txBox="1"/>
          <p:nvPr/>
        </p:nvSpPr>
        <p:spPr>
          <a:xfrm>
            <a:off x="2803354" y="5426242"/>
            <a:ext cx="649707" cy="453553"/>
          </a:xfrm>
          <a:prstGeom prst="rect">
            <a:avLst/>
          </a:prstGeom>
          <a:noFill/>
          <a:ln w="38100">
            <a:solidFill>
              <a:schemeClr val="tx1"/>
            </a:solidFill>
          </a:ln>
        </p:spPr>
        <p:txBody>
          <a:bodyPr wrap="square" rtlCol="0">
            <a:spAutoFit/>
          </a:bodyPr>
          <a:lstStyle/>
          <a:p>
            <a:endParaRPr lang="en-US" dirty="0"/>
          </a:p>
        </p:txBody>
      </p:sp>
      <p:sp>
        <p:nvSpPr>
          <p:cNvPr id="9" name="TextBox 8">
            <a:extLst>
              <a:ext uri="{FF2B5EF4-FFF2-40B4-BE49-F238E27FC236}">
                <a16:creationId xmlns:a16="http://schemas.microsoft.com/office/drawing/2014/main" id="{434926AA-9DB8-49F9-975B-19BEEA164B4A}"/>
              </a:ext>
            </a:extLst>
          </p:cNvPr>
          <p:cNvSpPr txBox="1"/>
          <p:nvPr/>
        </p:nvSpPr>
        <p:spPr>
          <a:xfrm>
            <a:off x="2875545" y="1776662"/>
            <a:ext cx="649707" cy="453553"/>
          </a:xfrm>
          <a:prstGeom prst="rect">
            <a:avLst/>
          </a:prstGeom>
          <a:noFill/>
          <a:ln w="38100">
            <a:solidFill>
              <a:schemeClr val="tx1"/>
            </a:solidFill>
          </a:ln>
        </p:spPr>
        <p:txBody>
          <a:bodyPr wrap="square" rtlCol="0">
            <a:spAutoFit/>
          </a:bodyPr>
          <a:lstStyle/>
          <a:p>
            <a:endParaRPr lang="en-US" dirty="0"/>
          </a:p>
        </p:txBody>
      </p:sp>
      <p:sp>
        <p:nvSpPr>
          <p:cNvPr id="10" name="TextBox 9">
            <a:extLst>
              <a:ext uri="{FF2B5EF4-FFF2-40B4-BE49-F238E27FC236}">
                <a16:creationId xmlns:a16="http://schemas.microsoft.com/office/drawing/2014/main" id="{32027C86-1017-4E8A-A4B7-68F07BCFB936}"/>
              </a:ext>
            </a:extLst>
          </p:cNvPr>
          <p:cNvSpPr txBox="1"/>
          <p:nvPr/>
        </p:nvSpPr>
        <p:spPr>
          <a:xfrm>
            <a:off x="4672263" y="5426241"/>
            <a:ext cx="649707" cy="453553"/>
          </a:xfrm>
          <a:prstGeom prst="rect">
            <a:avLst/>
          </a:prstGeom>
          <a:noFill/>
          <a:ln w="38100">
            <a:solidFill>
              <a:schemeClr val="tx1"/>
            </a:solidFill>
          </a:ln>
        </p:spPr>
        <p:txBody>
          <a:bodyPr wrap="square" rtlCol="0">
            <a:spAutoFit/>
          </a:bodyPr>
          <a:lstStyle/>
          <a:p>
            <a:endParaRPr lang="en-US" dirty="0"/>
          </a:p>
        </p:txBody>
      </p:sp>
      <p:sp>
        <p:nvSpPr>
          <p:cNvPr id="11" name="TextBox 10">
            <a:extLst>
              <a:ext uri="{FF2B5EF4-FFF2-40B4-BE49-F238E27FC236}">
                <a16:creationId xmlns:a16="http://schemas.microsoft.com/office/drawing/2014/main" id="{952960DB-A9F7-4857-88D7-86A6EF7B9C7C}"/>
              </a:ext>
            </a:extLst>
          </p:cNvPr>
          <p:cNvSpPr txBox="1"/>
          <p:nvPr/>
        </p:nvSpPr>
        <p:spPr>
          <a:xfrm>
            <a:off x="5767135" y="5426241"/>
            <a:ext cx="649707" cy="453553"/>
          </a:xfrm>
          <a:prstGeom prst="rect">
            <a:avLst/>
          </a:prstGeom>
          <a:noFill/>
          <a:ln w="38100">
            <a:solidFill>
              <a:schemeClr val="tx1"/>
            </a:solidFill>
          </a:ln>
        </p:spPr>
        <p:txBody>
          <a:bodyPr wrap="square" rtlCol="0">
            <a:spAutoFit/>
          </a:bodyPr>
          <a:lstStyle/>
          <a:p>
            <a:endParaRPr lang="en-US" dirty="0"/>
          </a:p>
        </p:txBody>
      </p:sp>
      <p:sp>
        <p:nvSpPr>
          <p:cNvPr id="12" name="TextBox 11">
            <a:extLst>
              <a:ext uri="{FF2B5EF4-FFF2-40B4-BE49-F238E27FC236}">
                <a16:creationId xmlns:a16="http://schemas.microsoft.com/office/drawing/2014/main" id="{308C556E-CB09-4491-9B8C-70398D2DBB87}"/>
              </a:ext>
            </a:extLst>
          </p:cNvPr>
          <p:cNvSpPr txBox="1"/>
          <p:nvPr/>
        </p:nvSpPr>
        <p:spPr>
          <a:xfrm>
            <a:off x="4672263" y="4081624"/>
            <a:ext cx="649707" cy="453553"/>
          </a:xfrm>
          <a:prstGeom prst="rect">
            <a:avLst/>
          </a:prstGeom>
          <a:noFill/>
          <a:ln w="38100">
            <a:solidFill>
              <a:schemeClr val="tx1"/>
            </a:solidFill>
          </a:ln>
        </p:spPr>
        <p:txBody>
          <a:bodyPr wrap="square" rtlCol="0">
            <a:spAutoFit/>
          </a:bodyPr>
          <a:lstStyle/>
          <a:p>
            <a:endParaRPr lang="en-US" dirty="0"/>
          </a:p>
        </p:txBody>
      </p:sp>
      <p:sp>
        <p:nvSpPr>
          <p:cNvPr id="13" name="TextBox 12">
            <a:extLst>
              <a:ext uri="{FF2B5EF4-FFF2-40B4-BE49-F238E27FC236}">
                <a16:creationId xmlns:a16="http://schemas.microsoft.com/office/drawing/2014/main" id="{242D8129-28FC-4896-BBF8-62C1BA9D2B20}"/>
              </a:ext>
            </a:extLst>
          </p:cNvPr>
          <p:cNvSpPr txBox="1"/>
          <p:nvPr/>
        </p:nvSpPr>
        <p:spPr>
          <a:xfrm>
            <a:off x="5721013" y="4068133"/>
            <a:ext cx="649707" cy="453553"/>
          </a:xfrm>
          <a:prstGeom prst="rect">
            <a:avLst/>
          </a:prstGeom>
          <a:noFill/>
          <a:ln w="38100">
            <a:solidFill>
              <a:schemeClr val="tx1"/>
            </a:solidFill>
          </a:ln>
        </p:spPr>
        <p:txBody>
          <a:bodyPr wrap="square" rtlCol="0">
            <a:spAutoFit/>
          </a:bodyPr>
          <a:lstStyle/>
          <a:p>
            <a:endParaRPr lang="en-US" dirty="0"/>
          </a:p>
        </p:txBody>
      </p:sp>
      <p:sp>
        <p:nvSpPr>
          <p:cNvPr id="14" name="TextBox 13">
            <a:extLst>
              <a:ext uri="{FF2B5EF4-FFF2-40B4-BE49-F238E27FC236}">
                <a16:creationId xmlns:a16="http://schemas.microsoft.com/office/drawing/2014/main" id="{BDB0F367-B371-41A8-90F3-6315DEE2C130}"/>
              </a:ext>
            </a:extLst>
          </p:cNvPr>
          <p:cNvSpPr txBox="1"/>
          <p:nvPr/>
        </p:nvSpPr>
        <p:spPr>
          <a:xfrm>
            <a:off x="4716378" y="3202223"/>
            <a:ext cx="649707" cy="453553"/>
          </a:xfrm>
          <a:prstGeom prst="rect">
            <a:avLst/>
          </a:prstGeom>
          <a:noFill/>
          <a:ln w="38100">
            <a:solidFill>
              <a:schemeClr val="tx1"/>
            </a:solidFill>
          </a:ln>
        </p:spPr>
        <p:txBody>
          <a:bodyPr wrap="square" rtlCol="0">
            <a:spAutoFit/>
          </a:bodyPr>
          <a:lstStyle/>
          <a:p>
            <a:endParaRPr lang="en-US" dirty="0"/>
          </a:p>
        </p:txBody>
      </p:sp>
      <p:sp>
        <p:nvSpPr>
          <p:cNvPr id="15" name="TextBox 14">
            <a:extLst>
              <a:ext uri="{FF2B5EF4-FFF2-40B4-BE49-F238E27FC236}">
                <a16:creationId xmlns:a16="http://schemas.microsoft.com/office/drawing/2014/main" id="{696FC836-D187-484B-9F95-9D87AE0F6593}"/>
              </a:ext>
            </a:extLst>
          </p:cNvPr>
          <p:cNvSpPr txBox="1"/>
          <p:nvPr/>
        </p:nvSpPr>
        <p:spPr>
          <a:xfrm>
            <a:off x="5843333" y="3202223"/>
            <a:ext cx="649707" cy="453553"/>
          </a:xfrm>
          <a:prstGeom prst="rect">
            <a:avLst/>
          </a:prstGeom>
          <a:noFill/>
          <a:ln w="38100">
            <a:solidFill>
              <a:schemeClr val="tx1"/>
            </a:solidFill>
          </a:ln>
        </p:spPr>
        <p:txBody>
          <a:bodyPr wrap="square" rtlCol="0">
            <a:spAutoFit/>
          </a:bodyPr>
          <a:lstStyle/>
          <a:p>
            <a:endParaRPr lang="en-US" dirty="0"/>
          </a:p>
        </p:txBody>
      </p:sp>
      <p:sp>
        <p:nvSpPr>
          <p:cNvPr id="16" name="TextBox 15">
            <a:extLst>
              <a:ext uri="{FF2B5EF4-FFF2-40B4-BE49-F238E27FC236}">
                <a16:creationId xmlns:a16="http://schemas.microsoft.com/office/drawing/2014/main" id="{79A3A404-E33D-446B-84FB-4385A664E2F8}"/>
              </a:ext>
            </a:extLst>
          </p:cNvPr>
          <p:cNvSpPr txBox="1"/>
          <p:nvPr/>
        </p:nvSpPr>
        <p:spPr>
          <a:xfrm>
            <a:off x="4732420" y="1929063"/>
            <a:ext cx="649707" cy="453553"/>
          </a:xfrm>
          <a:prstGeom prst="rect">
            <a:avLst/>
          </a:prstGeom>
          <a:noFill/>
          <a:ln w="38100">
            <a:solidFill>
              <a:schemeClr val="tx1"/>
            </a:solidFill>
          </a:ln>
        </p:spPr>
        <p:txBody>
          <a:bodyPr wrap="square" rtlCol="0">
            <a:spAutoFit/>
          </a:bodyPr>
          <a:lstStyle/>
          <a:p>
            <a:endParaRPr lang="en-US" dirty="0"/>
          </a:p>
        </p:txBody>
      </p:sp>
      <p:sp>
        <p:nvSpPr>
          <p:cNvPr id="17" name="TextBox 16">
            <a:extLst>
              <a:ext uri="{FF2B5EF4-FFF2-40B4-BE49-F238E27FC236}">
                <a16:creationId xmlns:a16="http://schemas.microsoft.com/office/drawing/2014/main" id="{A577900B-A6AA-44C5-A727-302D57CE1D69}"/>
              </a:ext>
            </a:extLst>
          </p:cNvPr>
          <p:cNvSpPr txBox="1"/>
          <p:nvPr/>
        </p:nvSpPr>
        <p:spPr>
          <a:xfrm>
            <a:off x="5843333" y="1935260"/>
            <a:ext cx="649707" cy="453553"/>
          </a:xfrm>
          <a:prstGeom prst="rect">
            <a:avLst/>
          </a:prstGeom>
          <a:noFill/>
          <a:ln w="38100">
            <a:solidFill>
              <a:schemeClr val="tx1"/>
            </a:solidFill>
          </a:ln>
        </p:spPr>
        <p:txBody>
          <a:bodyPr wrap="square" rtlCol="0">
            <a:spAutoFit/>
          </a:bodyPr>
          <a:lstStyle/>
          <a:p>
            <a:endParaRPr lang="en-US" dirty="0"/>
          </a:p>
        </p:txBody>
      </p:sp>
    </p:spTree>
    <p:extLst>
      <p:ext uri="{BB962C8B-B14F-4D97-AF65-F5344CB8AC3E}">
        <p14:creationId xmlns:p14="http://schemas.microsoft.com/office/powerpoint/2010/main" val="2282868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45A12-5659-4C19-BBA0-10149F7EF474}"/>
              </a:ext>
            </a:extLst>
          </p:cNvPr>
          <p:cNvSpPr>
            <a:spLocks noGrp="1"/>
          </p:cNvSpPr>
          <p:nvPr>
            <p:ph type="title"/>
          </p:nvPr>
        </p:nvSpPr>
        <p:spPr>
          <a:xfrm>
            <a:off x="1261872" y="365761"/>
            <a:ext cx="8423549" cy="1158240"/>
          </a:xfrm>
        </p:spPr>
        <p:txBody>
          <a:bodyPr>
            <a:normAutofit fontScale="90000"/>
          </a:bodyPr>
          <a:lstStyle/>
          <a:p>
            <a:r>
              <a:rPr lang="en-US" dirty="0"/>
              <a:t>Technical Parameters of Optical CT</a:t>
            </a:r>
          </a:p>
        </p:txBody>
      </p:sp>
      <p:graphicFrame>
        <p:nvGraphicFramePr>
          <p:cNvPr id="4" name="Content Placeholder 3">
            <a:extLst>
              <a:ext uri="{FF2B5EF4-FFF2-40B4-BE49-F238E27FC236}">
                <a16:creationId xmlns:a16="http://schemas.microsoft.com/office/drawing/2014/main" id="{12A35DD5-0A4F-4A11-BBB4-F13B1260294D}"/>
              </a:ext>
            </a:extLst>
          </p:cNvPr>
          <p:cNvGraphicFramePr>
            <a:graphicFrameLocks noGrp="1"/>
          </p:cNvGraphicFramePr>
          <p:nvPr>
            <p:ph idx="1"/>
            <p:extLst>
              <p:ext uri="{D42A27DB-BD31-4B8C-83A1-F6EECF244321}">
                <p14:modId xmlns:p14="http://schemas.microsoft.com/office/powerpoint/2010/main" val="3764631984"/>
              </p:ext>
            </p:extLst>
          </p:nvPr>
        </p:nvGraphicFramePr>
        <p:xfrm>
          <a:off x="1709532" y="1909438"/>
          <a:ext cx="8083825" cy="4582802"/>
        </p:xfrm>
        <a:graphic>
          <a:graphicData uri="http://schemas.openxmlformats.org/drawingml/2006/table">
            <a:tbl>
              <a:tblPr firstRow="1" firstCol="1" bandRow="1">
                <a:tableStyleId>{5C22544A-7EE6-4342-B048-85BDC9FD1C3A}</a:tableStyleId>
              </a:tblPr>
              <a:tblGrid>
                <a:gridCol w="3833334">
                  <a:extLst>
                    <a:ext uri="{9D8B030D-6E8A-4147-A177-3AD203B41FA5}">
                      <a16:colId xmlns:a16="http://schemas.microsoft.com/office/drawing/2014/main" val="91963679"/>
                    </a:ext>
                  </a:extLst>
                </a:gridCol>
                <a:gridCol w="4250491">
                  <a:extLst>
                    <a:ext uri="{9D8B030D-6E8A-4147-A177-3AD203B41FA5}">
                      <a16:colId xmlns:a16="http://schemas.microsoft.com/office/drawing/2014/main" val="142556400"/>
                    </a:ext>
                  </a:extLst>
                </a:gridCol>
              </a:tblGrid>
              <a:tr h="382255">
                <a:tc>
                  <a:txBody>
                    <a:bodyPr/>
                    <a:lstStyle/>
                    <a:p>
                      <a:pPr marL="0" marR="0">
                        <a:lnSpc>
                          <a:spcPct val="107000"/>
                        </a:lnSpc>
                        <a:spcBef>
                          <a:spcPts val="0"/>
                        </a:spcBef>
                        <a:spcAft>
                          <a:spcPts val="0"/>
                        </a:spcAft>
                        <a:tabLst>
                          <a:tab pos="381000" algn="l"/>
                          <a:tab pos="5943600" algn="r"/>
                        </a:tabLst>
                      </a:pPr>
                      <a:r>
                        <a:rPr lang="en-US" sz="1600" dirty="0">
                          <a:effectLst/>
                        </a:rPr>
                        <a:t>Voltage level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dirty="0">
                          <a:effectLst/>
                        </a:rPr>
                        <a:t>660KV &amp; 150KV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13639705"/>
                  </a:ext>
                </a:extLst>
              </a:tr>
              <a:tr h="382255">
                <a:tc>
                  <a:txBody>
                    <a:bodyPr/>
                    <a:lstStyle/>
                    <a:p>
                      <a:pPr marL="0" marR="0">
                        <a:lnSpc>
                          <a:spcPct val="107000"/>
                        </a:lnSpc>
                        <a:spcBef>
                          <a:spcPts val="0"/>
                        </a:spcBef>
                        <a:spcAft>
                          <a:spcPts val="0"/>
                        </a:spcAft>
                        <a:tabLst>
                          <a:tab pos="381000" algn="l"/>
                          <a:tab pos="5943600" algn="r"/>
                        </a:tabLst>
                      </a:pPr>
                      <a:r>
                        <a:rPr lang="en-US" sz="1600">
                          <a:effectLst/>
                        </a:rPr>
                        <a:t>DC withstand voltage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dirty="0">
                          <a:effectLst/>
                        </a:rPr>
                        <a:t>1020KV &amp; 225KV, 60 min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39775456"/>
                  </a:ext>
                </a:extLst>
              </a:tr>
              <a:tr h="382255">
                <a:tc>
                  <a:txBody>
                    <a:bodyPr/>
                    <a:lstStyle/>
                    <a:p>
                      <a:pPr marL="0" marR="0">
                        <a:lnSpc>
                          <a:spcPct val="107000"/>
                        </a:lnSpc>
                        <a:spcBef>
                          <a:spcPts val="0"/>
                        </a:spcBef>
                        <a:spcAft>
                          <a:spcPts val="0"/>
                        </a:spcAft>
                        <a:tabLst>
                          <a:tab pos="381000" algn="l"/>
                          <a:tab pos="5943600" algn="r"/>
                        </a:tabLst>
                      </a:pPr>
                      <a:r>
                        <a:rPr lang="en-US" sz="1600">
                          <a:effectLst/>
                        </a:rPr>
                        <a:t>Lightening Impulse withstand voltage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dirty="0">
                          <a:effectLst/>
                        </a:rPr>
                        <a:t>1800KV&amp; 600KV</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64807627"/>
                  </a:ext>
                </a:extLst>
              </a:tr>
              <a:tr h="382255">
                <a:tc>
                  <a:txBody>
                    <a:bodyPr/>
                    <a:lstStyle/>
                    <a:p>
                      <a:pPr marL="0" marR="0">
                        <a:lnSpc>
                          <a:spcPct val="107000"/>
                        </a:lnSpc>
                        <a:spcBef>
                          <a:spcPts val="0"/>
                        </a:spcBef>
                        <a:spcAft>
                          <a:spcPts val="0"/>
                        </a:spcAft>
                        <a:tabLst>
                          <a:tab pos="381000" algn="l"/>
                          <a:tab pos="5943600" algn="r"/>
                        </a:tabLst>
                      </a:pPr>
                      <a:r>
                        <a:rPr lang="en-US" sz="1600">
                          <a:effectLst/>
                        </a:rPr>
                        <a:t>Operation Impulse withstand voltage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a:effectLst/>
                        </a:rPr>
                        <a:t>1600KV&amp;550KV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32366449"/>
                  </a:ext>
                </a:extLst>
              </a:tr>
              <a:tr h="382255">
                <a:tc>
                  <a:txBody>
                    <a:bodyPr/>
                    <a:lstStyle/>
                    <a:p>
                      <a:pPr marL="0" marR="0">
                        <a:lnSpc>
                          <a:spcPct val="107000"/>
                        </a:lnSpc>
                        <a:spcBef>
                          <a:spcPts val="0"/>
                        </a:spcBef>
                        <a:spcAft>
                          <a:spcPts val="0"/>
                        </a:spcAft>
                        <a:tabLst>
                          <a:tab pos="381000" algn="l"/>
                          <a:tab pos="5943600" algn="r"/>
                        </a:tabLst>
                      </a:pPr>
                      <a:r>
                        <a:rPr lang="en-US" sz="1600">
                          <a:effectLst/>
                        </a:rPr>
                        <a:t>Rated Primary current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dirty="0">
                          <a:effectLst/>
                        </a:rPr>
                        <a:t>3030.3A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1640553"/>
                  </a:ext>
                </a:extLst>
              </a:tr>
              <a:tr h="382255">
                <a:tc>
                  <a:txBody>
                    <a:bodyPr/>
                    <a:lstStyle/>
                    <a:p>
                      <a:pPr marL="0" marR="0">
                        <a:lnSpc>
                          <a:spcPct val="107000"/>
                        </a:lnSpc>
                        <a:spcBef>
                          <a:spcPts val="0"/>
                        </a:spcBef>
                        <a:spcAft>
                          <a:spcPts val="0"/>
                        </a:spcAft>
                        <a:tabLst>
                          <a:tab pos="381000" algn="l"/>
                          <a:tab pos="5943600" algn="r"/>
                        </a:tabLst>
                      </a:pPr>
                      <a:r>
                        <a:rPr lang="en-US" sz="1600">
                          <a:effectLst/>
                        </a:rPr>
                        <a:t>Current Measurement Accuracy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a:effectLst/>
                        </a:rPr>
                        <a:t>0.5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85633920"/>
                  </a:ext>
                </a:extLst>
              </a:tr>
              <a:tr h="382255">
                <a:tc>
                  <a:txBody>
                    <a:bodyPr/>
                    <a:lstStyle/>
                    <a:p>
                      <a:pPr marL="0" marR="0">
                        <a:lnSpc>
                          <a:spcPct val="107000"/>
                        </a:lnSpc>
                        <a:spcBef>
                          <a:spcPts val="0"/>
                        </a:spcBef>
                        <a:spcAft>
                          <a:spcPts val="0"/>
                        </a:spcAft>
                        <a:tabLst>
                          <a:tab pos="381000" algn="l"/>
                          <a:tab pos="5943600" algn="r"/>
                        </a:tabLst>
                      </a:pPr>
                      <a:r>
                        <a:rPr lang="en-US" sz="1600" dirty="0">
                          <a:effectLst/>
                        </a:rPr>
                        <a:t>Rated secondary output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a:effectLst/>
                        </a:rPr>
                        <a:t>1388H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10363070"/>
                  </a:ext>
                </a:extLst>
              </a:tr>
              <a:tr h="382255">
                <a:tc>
                  <a:txBody>
                    <a:bodyPr/>
                    <a:lstStyle/>
                    <a:p>
                      <a:pPr marL="0" marR="0">
                        <a:lnSpc>
                          <a:spcPct val="107000"/>
                        </a:lnSpc>
                        <a:spcBef>
                          <a:spcPts val="0"/>
                        </a:spcBef>
                        <a:spcAft>
                          <a:spcPts val="0"/>
                        </a:spcAft>
                        <a:tabLst>
                          <a:tab pos="381000" algn="l"/>
                          <a:tab pos="5943600" algn="r"/>
                        </a:tabLst>
                      </a:pPr>
                      <a:r>
                        <a:rPr lang="en-US" sz="1600">
                          <a:effectLst/>
                        </a:rPr>
                        <a:t>Working Environment temperature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a:effectLst/>
                        </a:rPr>
                        <a:t>-40 to +70 degree centigrade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98738959"/>
                  </a:ext>
                </a:extLst>
              </a:tr>
              <a:tr h="382255">
                <a:tc>
                  <a:txBody>
                    <a:bodyPr/>
                    <a:lstStyle/>
                    <a:p>
                      <a:pPr marL="0" marR="0">
                        <a:lnSpc>
                          <a:spcPct val="107000"/>
                        </a:lnSpc>
                        <a:spcBef>
                          <a:spcPts val="0"/>
                        </a:spcBef>
                        <a:spcAft>
                          <a:spcPts val="0"/>
                        </a:spcAft>
                        <a:tabLst>
                          <a:tab pos="381000" algn="l"/>
                          <a:tab pos="5943600" algn="r"/>
                        </a:tabLst>
                      </a:pPr>
                      <a:r>
                        <a:rPr lang="en-US" sz="1600">
                          <a:effectLst/>
                        </a:rPr>
                        <a:t>Rated short time thermocurrent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a:effectLst/>
                        </a:rPr>
                        <a:t>24KA/ 3s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19416198"/>
                  </a:ext>
                </a:extLst>
              </a:tr>
              <a:tr h="382255">
                <a:tc>
                  <a:txBody>
                    <a:bodyPr/>
                    <a:lstStyle/>
                    <a:p>
                      <a:pPr marL="0" marR="0">
                        <a:lnSpc>
                          <a:spcPct val="107000"/>
                        </a:lnSpc>
                        <a:spcBef>
                          <a:spcPts val="0"/>
                        </a:spcBef>
                        <a:spcAft>
                          <a:spcPts val="0"/>
                        </a:spcAft>
                        <a:tabLst>
                          <a:tab pos="381000" algn="l"/>
                          <a:tab pos="5943600" algn="r"/>
                        </a:tabLst>
                      </a:pPr>
                      <a:r>
                        <a:rPr lang="en-US" sz="1600">
                          <a:effectLst/>
                        </a:rPr>
                        <a:t>Rated Dynamic current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a:effectLst/>
                        </a:rPr>
                        <a:t>60KA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5992863"/>
                  </a:ext>
                </a:extLst>
              </a:tr>
              <a:tr h="382255">
                <a:tc>
                  <a:txBody>
                    <a:bodyPr/>
                    <a:lstStyle/>
                    <a:p>
                      <a:pPr marL="0" marR="0">
                        <a:lnSpc>
                          <a:spcPct val="107000"/>
                        </a:lnSpc>
                        <a:spcBef>
                          <a:spcPts val="0"/>
                        </a:spcBef>
                        <a:spcAft>
                          <a:spcPts val="0"/>
                        </a:spcAft>
                        <a:tabLst>
                          <a:tab pos="381000" algn="l"/>
                          <a:tab pos="5943600" algn="r"/>
                        </a:tabLst>
                      </a:pPr>
                      <a:r>
                        <a:rPr lang="en-US" sz="1600">
                          <a:effectLst/>
                        </a:rPr>
                        <a:t>Weight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dirty="0">
                          <a:effectLst/>
                        </a:rPr>
                        <a:t>650Kg &amp; 350Kg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18208496"/>
                  </a:ext>
                </a:extLst>
              </a:tr>
            </a:tbl>
          </a:graphicData>
        </a:graphic>
      </p:graphicFrame>
    </p:spTree>
    <p:extLst>
      <p:ext uri="{BB962C8B-B14F-4D97-AF65-F5344CB8AC3E}">
        <p14:creationId xmlns:p14="http://schemas.microsoft.com/office/powerpoint/2010/main" val="3444479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2D2CB-B9EF-4770-8251-074E22D5989D}"/>
              </a:ext>
            </a:extLst>
          </p:cNvPr>
          <p:cNvSpPr>
            <a:spLocks noGrp="1"/>
          </p:cNvSpPr>
          <p:nvPr>
            <p:ph type="title"/>
          </p:nvPr>
        </p:nvSpPr>
        <p:spPr>
          <a:xfrm>
            <a:off x="581406" y="272994"/>
            <a:ext cx="9418828" cy="815340"/>
          </a:xfrm>
        </p:spPr>
        <p:txBody>
          <a:bodyPr/>
          <a:lstStyle/>
          <a:p>
            <a:r>
              <a:rPr lang="en-US" dirty="0"/>
              <a:t>Maintenance Instruction:</a:t>
            </a:r>
          </a:p>
        </p:txBody>
      </p:sp>
      <p:graphicFrame>
        <p:nvGraphicFramePr>
          <p:cNvPr id="4" name="Content Placeholder 3">
            <a:extLst>
              <a:ext uri="{FF2B5EF4-FFF2-40B4-BE49-F238E27FC236}">
                <a16:creationId xmlns:a16="http://schemas.microsoft.com/office/drawing/2014/main" id="{5FE0A55E-692A-4819-A9BF-F8BB43ACA3B1}"/>
              </a:ext>
            </a:extLst>
          </p:cNvPr>
          <p:cNvGraphicFramePr>
            <a:graphicFrameLocks noGrp="1"/>
          </p:cNvGraphicFramePr>
          <p:nvPr>
            <p:ph idx="1"/>
            <p:extLst>
              <p:ext uri="{D42A27DB-BD31-4B8C-83A1-F6EECF244321}">
                <p14:modId xmlns:p14="http://schemas.microsoft.com/office/powerpoint/2010/main" val="610739143"/>
              </p:ext>
            </p:extLst>
          </p:nvPr>
        </p:nvGraphicFramePr>
        <p:xfrm>
          <a:off x="605028" y="1287117"/>
          <a:ext cx="10325100" cy="5047421"/>
        </p:xfrm>
        <a:graphic>
          <a:graphicData uri="http://schemas.openxmlformats.org/drawingml/2006/table">
            <a:tbl>
              <a:tblPr firstRow="1" firstCol="1" bandRow="1">
                <a:tableStyleId>{5C22544A-7EE6-4342-B048-85BDC9FD1C3A}</a:tableStyleId>
              </a:tblPr>
              <a:tblGrid>
                <a:gridCol w="355600">
                  <a:extLst>
                    <a:ext uri="{9D8B030D-6E8A-4147-A177-3AD203B41FA5}">
                      <a16:colId xmlns:a16="http://schemas.microsoft.com/office/drawing/2014/main" val="1748756329"/>
                    </a:ext>
                  </a:extLst>
                </a:gridCol>
                <a:gridCol w="3412604">
                  <a:extLst>
                    <a:ext uri="{9D8B030D-6E8A-4147-A177-3AD203B41FA5}">
                      <a16:colId xmlns:a16="http://schemas.microsoft.com/office/drawing/2014/main" val="103622495"/>
                    </a:ext>
                  </a:extLst>
                </a:gridCol>
                <a:gridCol w="2367336">
                  <a:extLst>
                    <a:ext uri="{9D8B030D-6E8A-4147-A177-3AD203B41FA5}">
                      <a16:colId xmlns:a16="http://schemas.microsoft.com/office/drawing/2014/main" val="3063869572"/>
                    </a:ext>
                  </a:extLst>
                </a:gridCol>
                <a:gridCol w="4189560">
                  <a:extLst>
                    <a:ext uri="{9D8B030D-6E8A-4147-A177-3AD203B41FA5}">
                      <a16:colId xmlns:a16="http://schemas.microsoft.com/office/drawing/2014/main" val="1920155715"/>
                    </a:ext>
                  </a:extLst>
                </a:gridCol>
              </a:tblGrid>
              <a:tr h="387055">
                <a:tc>
                  <a:txBody>
                    <a:bodyPr/>
                    <a:lstStyle/>
                    <a:p>
                      <a:pPr marL="0" marR="0">
                        <a:lnSpc>
                          <a:spcPct val="107000"/>
                        </a:lnSpc>
                        <a:spcBef>
                          <a:spcPts val="0"/>
                        </a:spcBef>
                        <a:spcAft>
                          <a:spcPts val="0"/>
                        </a:spcAft>
                        <a:tabLst>
                          <a:tab pos="4619625" algn="l"/>
                        </a:tabLst>
                      </a:pPr>
                      <a:r>
                        <a:rPr lang="en-US" sz="1200" dirty="0">
                          <a:effectLst/>
                        </a:rPr>
                        <a:t>Sr#</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nSpc>
                          <a:spcPct val="107000"/>
                        </a:lnSpc>
                        <a:spcBef>
                          <a:spcPts val="0"/>
                        </a:spcBef>
                        <a:spcAft>
                          <a:spcPts val="0"/>
                        </a:spcAft>
                        <a:tabLst>
                          <a:tab pos="4619625" algn="l"/>
                        </a:tabLst>
                      </a:pPr>
                      <a:r>
                        <a:rPr lang="en-US" sz="2000">
                          <a:effectLst/>
                        </a:rPr>
                        <a:t>Name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nSpc>
                          <a:spcPct val="107000"/>
                        </a:lnSpc>
                        <a:spcBef>
                          <a:spcPts val="0"/>
                        </a:spcBef>
                        <a:spcAft>
                          <a:spcPts val="0"/>
                        </a:spcAft>
                        <a:tabLst>
                          <a:tab pos="4619625" algn="l"/>
                        </a:tabLst>
                      </a:pPr>
                      <a:r>
                        <a:rPr lang="en-US" sz="2000">
                          <a:effectLst/>
                        </a:rPr>
                        <a:t>Period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nSpc>
                          <a:spcPct val="107000"/>
                        </a:lnSpc>
                        <a:spcBef>
                          <a:spcPts val="0"/>
                        </a:spcBef>
                        <a:spcAft>
                          <a:spcPts val="0"/>
                        </a:spcAft>
                        <a:tabLst>
                          <a:tab pos="4619625" algn="l"/>
                        </a:tabLst>
                      </a:pPr>
                      <a:r>
                        <a:rPr lang="en-US" sz="2000" dirty="0">
                          <a:effectLst/>
                        </a:rPr>
                        <a:t>Requirement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extLst>
                  <a:ext uri="{0D108BD9-81ED-4DB2-BD59-A6C34878D82A}">
                    <a16:rowId xmlns:a16="http://schemas.microsoft.com/office/drawing/2014/main" val="3867588918"/>
                  </a:ext>
                </a:extLst>
              </a:tr>
              <a:tr h="931458">
                <a:tc>
                  <a:txBody>
                    <a:bodyPr/>
                    <a:lstStyle/>
                    <a:p>
                      <a:pPr marL="0" marR="0">
                        <a:lnSpc>
                          <a:spcPct val="107000"/>
                        </a:lnSpc>
                        <a:spcBef>
                          <a:spcPts val="0"/>
                        </a:spcBef>
                        <a:spcAft>
                          <a:spcPts val="0"/>
                        </a:spcAft>
                        <a:tabLst>
                          <a:tab pos="4619625" algn="l"/>
                        </a:tabLst>
                      </a:pPr>
                      <a:r>
                        <a:rPr lang="en-US" sz="1200">
                          <a:effectLst/>
                        </a:rPr>
                        <a:t> </a:t>
                      </a:r>
                      <a:endParaRPr lang="en-US" sz="1050">
                        <a:effectLst/>
                      </a:endParaRPr>
                    </a:p>
                    <a:p>
                      <a:pPr marL="0" marR="0">
                        <a:lnSpc>
                          <a:spcPct val="107000"/>
                        </a:lnSpc>
                        <a:spcBef>
                          <a:spcPts val="0"/>
                        </a:spcBef>
                        <a:spcAft>
                          <a:spcPts val="0"/>
                        </a:spcAft>
                        <a:tabLst>
                          <a:tab pos="4619625" algn="l"/>
                        </a:tabLst>
                      </a:pPr>
                      <a:r>
                        <a:rPr lang="en-US" sz="1200">
                          <a:effectLst/>
                        </a:rPr>
                        <a:t> </a:t>
                      </a:r>
                      <a:endParaRPr lang="en-US" sz="1050">
                        <a:effectLst/>
                      </a:endParaRPr>
                    </a:p>
                    <a:p>
                      <a:pPr marL="0" marR="0">
                        <a:lnSpc>
                          <a:spcPct val="107000"/>
                        </a:lnSpc>
                        <a:spcBef>
                          <a:spcPts val="0"/>
                        </a:spcBef>
                        <a:spcAft>
                          <a:spcPts val="0"/>
                        </a:spcAft>
                        <a:tabLst>
                          <a:tab pos="4619625" algn="l"/>
                        </a:tabLst>
                      </a:pPr>
                      <a:r>
                        <a:rPr lang="en-US" sz="1200">
                          <a:effectLst/>
                        </a:rPr>
                        <a:t>1</a:t>
                      </a:r>
                      <a:endParaRPr lang="en-US" sz="105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gn="ctr">
                        <a:lnSpc>
                          <a:spcPct val="107000"/>
                        </a:lnSpc>
                        <a:spcBef>
                          <a:spcPts val="0"/>
                        </a:spcBef>
                        <a:spcAft>
                          <a:spcPts val="0"/>
                        </a:spcAft>
                        <a:tabLst>
                          <a:tab pos="4619625" algn="l"/>
                        </a:tabLst>
                      </a:pPr>
                      <a:r>
                        <a:rPr lang="en-US" sz="1400" dirty="0">
                          <a:effectLst/>
                        </a:rPr>
                        <a:t> </a:t>
                      </a:r>
                      <a:endParaRPr lang="en-US" sz="1100" dirty="0">
                        <a:effectLst/>
                      </a:endParaRPr>
                    </a:p>
                    <a:p>
                      <a:pPr marL="0" marR="0" algn="ctr">
                        <a:lnSpc>
                          <a:spcPct val="107000"/>
                        </a:lnSpc>
                        <a:spcBef>
                          <a:spcPts val="0"/>
                        </a:spcBef>
                        <a:spcAft>
                          <a:spcPts val="0"/>
                        </a:spcAft>
                        <a:tabLst>
                          <a:tab pos="4619625" algn="l"/>
                        </a:tabLst>
                      </a:pPr>
                      <a:r>
                        <a:rPr lang="en-US" sz="1400" dirty="0">
                          <a:effectLst/>
                        </a:rPr>
                        <a:t> </a:t>
                      </a:r>
                      <a:endParaRPr lang="en-US" sz="1100" dirty="0">
                        <a:effectLst/>
                      </a:endParaRPr>
                    </a:p>
                    <a:p>
                      <a:pPr marL="0" marR="0" algn="ctr">
                        <a:lnSpc>
                          <a:spcPct val="107000"/>
                        </a:lnSpc>
                        <a:spcBef>
                          <a:spcPts val="0"/>
                        </a:spcBef>
                        <a:spcAft>
                          <a:spcPts val="0"/>
                        </a:spcAft>
                        <a:tabLst>
                          <a:tab pos="4619625" algn="l"/>
                        </a:tabLst>
                      </a:pPr>
                      <a:r>
                        <a:rPr lang="en-US" sz="1400" dirty="0">
                          <a:effectLst/>
                        </a:rPr>
                        <a:t>Infrared Temperature Measurement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gn="ctr">
                        <a:lnSpc>
                          <a:spcPct val="107000"/>
                        </a:lnSpc>
                        <a:spcBef>
                          <a:spcPts val="0"/>
                        </a:spcBef>
                        <a:spcAft>
                          <a:spcPts val="0"/>
                        </a:spcAft>
                        <a:tabLst>
                          <a:tab pos="4619625" algn="l"/>
                        </a:tabLst>
                      </a:pPr>
                      <a:r>
                        <a:rPr lang="en-US" sz="1400" dirty="0">
                          <a:effectLst/>
                        </a:rPr>
                        <a:t>  </a:t>
                      </a:r>
                      <a:endParaRPr lang="en-US" sz="1100" dirty="0">
                        <a:effectLst/>
                      </a:endParaRPr>
                    </a:p>
                    <a:p>
                      <a:pPr marL="0" marR="0" algn="ctr">
                        <a:lnSpc>
                          <a:spcPct val="107000"/>
                        </a:lnSpc>
                        <a:spcBef>
                          <a:spcPts val="0"/>
                        </a:spcBef>
                        <a:spcAft>
                          <a:spcPts val="0"/>
                        </a:spcAft>
                        <a:tabLst>
                          <a:tab pos="4619625" algn="l"/>
                        </a:tabLst>
                      </a:pPr>
                      <a:r>
                        <a:rPr lang="en-US" sz="1400" dirty="0">
                          <a:effectLst/>
                        </a:rPr>
                        <a:t>1 Month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nSpc>
                          <a:spcPct val="107000"/>
                        </a:lnSpc>
                        <a:spcBef>
                          <a:spcPts val="0"/>
                        </a:spcBef>
                        <a:spcAft>
                          <a:spcPts val="0"/>
                        </a:spcAft>
                        <a:tabLst>
                          <a:tab pos="4619625" algn="l"/>
                        </a:tabLst>
                      </a:pPr>
                      <a:r>
                        <a:rPr lang="en-US" sz="1400" dirty="0">
                          <a:effectLst/>
                        </a:rPr>
                        <a:t>There shall be no obvious temperature difference between similar equipment’s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extLst>
                  <a:ext uri="{0D108BD9-81ED-4DB2-BD59-A6C34878D82A}">
                    <a16:rowId xmlns:a16="http://schemas.microsoft.com/office/drawing/2014/main" val="186431518"/>
                  </a:ext>
                </a:extLst>
              </a:tr>
              <a:tr h="685222">
                <a:tc>
                  <a:txBody>
                    <a:bodyPr/>
                    <a:lstStyle/>
                    <a:p>
                      <a:pPr marL="0" marR="0">
                        <a:lnSpc>
                          <a:spcPct val="107000"/>
                        </a:lnSpc>
                        <a:spcBef>
                          <a:spcPts val="0"/>
                        </a:spcBef>
                        <a:spcAft>
                          <a:spcPts val="0"/>
                        </a:spcAft>
                        <a:tabLst>
                          <a:tab pos="4619625" algn="l"/>
                        </a:tabLst>
                      </a:pPr>
                      <a:r>
                        <a:rPr lang="en-US" sz="1200" dirty="0">
                          <a:effectLst/>
                        </a:rPr>
                        <a:t> </a:t>
                      </a:r>
                      <a:endParaRPr lang="en-US" sz="1050" dirty="0">
                        <a:effectLst/>
                      </a:endParaRPr>
                    </a:p>
                    <a:p>
                      <a:pPr marL="0" marR="0">
                        <a:lnSpc>
                          <a:spcPct val="107000"/>
                        </a:lnSpc>
                        <a:spcBef>
                          <a:spcPts val="0"/>
                        </a:spcBef>
                        <a:spcAft>
                          <a:spcPts val="0"/>
                        </a:spcAft>
                        <a:tabLst>
                          <a:tab pos="4619625" algn="l"/>
                        </a:tabLst>
                      </a:pPr>
                      <a:r>
                        <a:rPr lang="en-US" sz="1200" dirty="0">
                          <a:effectLst/>
                        </a:rPr>
                        <a:t>2</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gn="ctr">
                        <a:lnSpc>
                          <a:spcPct val="107000"/>
                        </a:lnSpc>
                        <a:spcBef>
                          <a:spcPts val="0"/>
                        </a:spcBef>
                        <a:spcAft>
                          <a:spcPts val="0"/>
                        </a:spcAft>
                        <a:tabLst>
                          <a:tab pos="4619625" algn="l"/>
                        </a:tabLst>
                      </a:pPr>
                      <a:r>
                        <a:rPr lang="en-US" sz="1400" dirty="0">
                          <a:effectLst/>
                        </a:rPr>
                        <a:t> </a:t>
                      </a:r>
                      <a:endParaRPr lang="en-US" sz="1100" dirty="0">
                        <a:effectLst/>
                      </a:endParaRPr>
                    </a:p>
                    <a:p>
                      <a:pPr marL="0" marR="0" algn="ctr">
                        <a:lnSpc>
                          <a:spcPct val="107000"/>
                        </a:lnSpc>
                        <a:spcBef>
                          <a:spcPts val="0"/>
                        </a:spcBef>
                        <a:spcAft>
                          <a:spcPts val="0"/>
                        </a:spcAft>
                        <a:tabLst>
                          <a:tab pos="4619625" algn="l"/>
                        </a:tabLst>
                      </a:pPr>
                      <a:r>
                        <a:rPr lang="en-US" sz="1400" dirty="0">
                          <a:effectLst/>
                        </a:rPr>
                        <a:t>       Ultraviolet patrol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gn="ctr">
                        <a:lnSpc>
                          <a:spcPct val="107000"/>
                        </a:lnSpc>
                        <a:spcBef>
                          <a:spcPts val="0"/>
                        </a:spcBef>
                        <a:spcAft>
                          <a:spcPts val="0"/>
                        </a:spcAft>
                        <a:tabLst>
                          <a:tab pos="4619625" algn="l"/>
                        </a:tabLst>
                      </a:pPr>
                      <a:r>
                        <a:rPr lang="en-US" sz="1400" dirty="0">
                          <a:effectLst/>
                        </a:rPr>
                        <a:t>  </a:t>
                      </a:r>
                    </a:p>
                    <a:p>
                      <a:pPr marL="0" marR="0" algn="ctr">
                        <a:lnSpc>
                          <a:spcPct val="107000"/>
                        </a:lnSpc>
                        <a:spcBef>
                          <a:spcPts val="0"/>
                        </a:spcBef>
                        <a:spcAft>
                          <a:spcPts val="0"/>
                        </a:spcAft>
                        <a:tabLst>
                          <a:tab pos="4619625" algn="l"/>
                        </a:tabLst>
                      </a:pPr>
                      <a:r>
                        <a:rPr lang="en-US" sz="1400" dirty="0">
                          <a:effectLst/>
                        </a:rPr>
                        <a:t>1 year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nSpc>
                          <a:spcPct val="107000"/>
                        </a:lnSpc>
                        <a:spcBef>
                          <a:spcPts val="0"/>
                        </a:spcBef>
                        <a:spcAft>
                          <a:spcPts val="0"/>
                        </a:spcAft>
                        <a:tabLst>
                          <a:tab pos="4619625" algn="l"/>
                        </a:tabLst>
                      </a:pPr>
                      <a:r>
                        <a:rPr lang="en-US" sz="1400" dirty="0">
                          <a:effectLst/>
                        </a:rPr>
                        <a:t>Ultraviolet control equipment and conductor connection, no obvious discharge point</a:t>
                      </a:r>
                    </a:p>
                    <a:p>
                      <a:pPr marL="0" marR="0">
                        <a:lnSpc>
                          <a:spcPct val="107000"/>
                        </a:lnSpc>
                        <a:spcBef>
                          <a:spcPts val="0"/>
                        </a:spcBef>
                        <a:spcAft>
                          <a:spcPts val="0"/>
                        </a:spcAft>
                        <a:tabLst>
                          <a:tab pos="4619625" algn="l"/>
                        </a:tabLs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extLst>
                  <a:ext uri="{0D108BD9-81ED-4DB2-BD59-A6C34878D82A}">
                    <a16:rowId xmlns:a16="http://schemas.microsoft.com/office/drawing/2014/main" val="1347619528"/>
                  </a:ext>
                </a:extLst>
              </a:tr>
              <a:tr h="597382">
                <a:tc>
                  <a:txBody>
                    <a:bodyPr/>
                    <a:lstStyle/>
                    <a:p>
                      <a:pPr marL="0" marR="0">
                        <a:lnSpc>
                          <a:spcPct val="107000"/>
                        </a:lnSpc>
                        <a:spcBef>
                          <a:spcPts val="0"/>
                        </a:spcBef>
                        <a:spcAft>
                          <a:spcPts val="0"/>
                        </a:spcAft>
                        <a:tabLst>
                          <a:tab pos="4619625" algn="l"/>
                        </a:tabLst>
                      </a:pPr>
                      <a:r>
                        <a:rPr lang="en-US" sz="1200">
                          <a:effectLst/>
                        </a:rPr>
                        <a:t> </a:t>
                      </a:r>
                      <a:endParaRPr lang="en-US" sz="1050">
                        <a:effectLst/>
                      </a:endParaRPr>
                    </a:p>
                    <a:p>
                      <a:pPr marL="0" marR="0">
                        <a:lnSpc>
                          <a:spcPct val="107000"/>
                        </a:lnSpc>
                        <a:spcBef>
                          <a:spcPts val="0"/>
                        </a:spcBef>
                        <a:spcAft>
                          <a:spcPts val="0"/>
                        </a:spcAft>
                        <a:tabLst>
                          <a:tab pos="4619625" algn="l"/>
                        </a:tabLst>
                      </a:pPr>
                      <a:r>
                        <a:rPr lang="en-US" sz="1200">
                          <a:effectLst/>
                        </a:rPr>
                        <a:t>3</a:t>
                      </a:r>
                      <a:endParaRPr lang="en-US" sz="105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gn="ctr">
                        <a:lnSpc>
                          <a:spcPct val="107000"/>
                        </a:lnSpc>
                        <a:spcBef>
                          <a:spcPts val="0"/>
                        </a:spcBef>
                        <a:spcAft>
                          <a:spcPts val="0"/>
                        </a:spcAft>
                        <a:tabLst>
                          <a:tab pos="4619625" algn="l"/>
                        </a:tabLst>
                      </a:pPr>
                      <a:r>
                        <a:rPr lang="en-US" sz="1400">
                          <a:effectLst/>
                        </a:rPr>
                        <a:t> </a:t>
                      </a:r>
                      <a:endParaRPr lang="en-US" sz="1100">
                        <a:effectLst/>
                      </a:endParaRPr>
                    </a:p>
                    <a:p>
                      <a:pPr marL="0" marR="0" algn="ctr">
                        <a:lnSpc>
                          <a:spcPct val="107000"/>
                        </a:lnSpc>
                        <a:spcBef>
                          <a:spcPts val="0"/>
                        </a:spcBef>
                        <a:spcAft>
                          <a:spcPts val="0"/>
                        </a:spcAft>
                        <a:tabLst>
                          <a:tab pos="4619625" algn="l"/>
                        </a:tabLst>
                      </a:pPr>
                      <a:r>
                        <a:rPr lang="en-US" sz="1400">
                          <a:effectLst/>
                        </a:rPr>
                        <a:t>Metal Component Inspection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gn="ctr">
                        <a:lnSpc>
                          <a:spcPct val="107000"/>
                        </a:lnSpc>
                        <a:spcBef>
                          <a:spcPts val="0"/>
                        </a:spcBef>
                        <a:spcAft>
                          <a:spcPts val="0"/>
                        </a:spcAft>
                        <a:tabLst>
                          <a:tab pos="4619625" algn="l"/>
                        </a:tabLst>
                      </a:pPr>
                      <a:r>
                        <a:rPr lang="en-US" sz="1400">
                          <a:effectLst/>
                        </a:rPr>
                        <a:t> </a:t>
                      </a:r>
                      <a:endParaRPr lang="en-US" sz="1100">
                        <a:effectLst/>
                      </a:endParaRPr>
                    </a:p>
                    <a:p>
                      <a:pPr marL="0" marR="0" algn="ctr">
                        <a:lnSpc>
                          <a:spcPct val="107000"/>
                        </a:lnSpc>
                        <a:spcBef>
                          <a:spcPts val="0"/>
                        </a:spcBef>
                        <a:spcAft>
                          <a:spcPts val="0"/>
                        </a:spcAft>
                        <a:tabLst>
                          <a:tab pos="4619625" algn="l"/>
                        </a:tabLst>
                      </a:pPr>
                      <a:r>
                        <a:rPr lang="en-US" sz="1400">
                          <a:effectLst/>
                        </a:rPr>
                        <a:t>   1 Month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nSpc>
                          <a:spcPct val="107000"/>
                        </a:lnSpc>
                        <a:spcBef>
                          <a:spcPts val="0"/>
                        </a:spcBef>
                        <a:spcAft>
                          <a:spcPts val="0"/>
                        </a:spcAft>
                        <a:tabLst>
                          <a:tab pos="4619625" algn="l"/>
                        </a:tabLst>
                      </a:pPr>
                      <a:r>
                        <a:rPr lang="en-US" sz="1400">
                          <a:effectLst/>
                        </a:rPr>
                        <a:t>All the metal components are not rusted, no heat discoloration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extLst>
                  <a:ext uri="{0D108BD9-81ED-4DB2-BD59-A6C34878D82A}">
                    <a16:rowId xmlns:a16="http://schemas.microsoft.com/office/drawing/2014/main" val="3821495074"/>
                  </a:ext>
                </a:extLst>
              </a:tr>
              <a:tr h="629587">
                <a:tc>
                  <a:txBody>
                    <a:bodyPr/>
                    <a:lstStyle/>
                    <a:p>
                      <a:pPr marL="0" marR="0">
                        <a:lnSpc>
                          <a:spcPct val="107000"/>
                        </a:lnSpc>
                        <a:spcBef>
                          <a:spcPts val="0"/>
                        </a:spcBef>
                        <a:spcAft>
                          <a:spcPts val="0"/>
                        </a:spcAft>
                        <a:tabLst>
                          <a:tab pos="4619625" algn="l"/>
                        </a:tabLst>
                      </a:pPr>
                      <a:r>
                        <a:rPr lang="en-US" sz="1200">
                          <a:effectLst/>
                        </a:rPr>
                        <a:t> </a:t>
                      </a:r>
                      <a:endParaRPr lang="en-US" sz="1050">
                        <a:effectLst/>
                      </a:endParaRPr>
                    </a:p>
                    <a:p>
                      <a:pPr marL="0" marR="0">
                        <a:lnSpc>
                          <a:spcPct val="107000"/>
                        </a:lnSpc>
                        <a:spcBef>
                          <a:spcPts val="0"/>
                        </a:spcBef>
                        <a:spcAft>
                          <a:spcPts val="0"/>
                        </a:spcAft>
                        <a:tabLst>
                          <a:tab pos="4619625" algn="l"/>
                        </a:tabLst>
                      </a:pPr>
                      <a:r>
                        <a:rPr lang="en-US" sz="1200">
                          <a:effectLst/>
                        </a:rPr>
                        <a:t>4</a:t>
                      </a:r>
                      <a:endParaRPr lang="en-US" sz="1050">
                        <a:effectLst/>
                      </a:endParaRPr>
                    </a:p>
                    <a:p>
                      <a:pPr marL="0" marR="0">
                        <a:lnSpc>
                          <a:spcPct val="107000"/>
                        </a:lnSpc>
                        <a:spcBef>
                          <a:spcPts val="0"/>
                        </a:spcBef>
                        <a:spcAft>
                          <a:spcPts val="0"/>
                        </a:spcAft>
                        <a:tabLst>
                          <a:tab pos="4619625" algn="l"/>
                        </a:tabLst>
                      </a:pPr>
                      <a:r>
                        <a:rPr lang="en-US" sz="1200">
                          <a:effectLst/>
                        </a:rPr>
                        <a:t> </a:t>
                      </a:r>
                      <a:endParaRPr lang="en-US" sz="105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gn="ctr">
                        <a:lnSpc>
                          <a:spcPct val="107000"/>
                        </a:lnSpc>
                        <a:spcBef>
                          <a:spcPts val="0"/>
                        </a:spcBef>
                        <a:spcAft>
                          <a:spcPts val="0"/>
                        </a:spcAft>
                        <a:tabLst>
                          <a:tab pos="4619625" algn="l"/>
                        </a:tabLst>
                      </a:pPr>
                      <a:r>
                        <a:rPr lang="en-US" sz="1400">
                          <a:effectLst/>
                        </a:rPr>
                        <a:t> </a:t>
                      </a:r>
                      <a:endParaRPr lang="en-US" sz="1100">
                        <a:effectLst/>
                      </a:endParaRPr>
                    </a:p>
                    <a:p>
                      <a:pPr marL="0" marR="0" algn="ctr">
                        <a:lnSpc>
                          <a:spcPct val="107000"/>
                        </a:lnSpc>
                        <a:spcBef>
                          <a:spcPts val="0"/>
                        </a:spcBef>
                        <a:spcAft>
                          <a:spcPts val="0"/>
                        </a:spcAft>
                        <a:tabLst>
                          <a:tab pos="4619625" algn="l"/>
                        </a:tabLst>
                      </a:pPr>
                      <a:r>
                        <a:rPr lang="en-US" sz="1400">
                          <a:effectLst/>
                        </a:rPr>
                        <a:t>    Earthing flat iron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gn="ctr">
                        <a:lnSpc>
                          <a:spcPct val="107000"/>
                        </a:lnSpc>
                        <a:spcBef>
                          <a:spcPts val="0"/>
                        </a:spcBef>
                        <a:spcAft>
                          <a:spcPts val="0"/>
                        </a:spcAft>
                        <a:tabLst>
                          <a:tab pos="4619625" algn="l"/>
                        </a:tabLst>
                      </a:pPr>
                      <a:r>
                        <a:rPr lang="en-US" sz="1400">
                          <a:effectLst/>
                        </a:rPr>
                        <a:t> </a:t>
                      </a:r>
                      <a:endParaRPr lang="en-US" sz="1100">
                        <a:effectLst/>
                      </a:endParaRPr>
                    </a:p>
                    <a:p>
                      <a:pPr marL="0" marR="0" algn="ctr">
                        <a:lnSpc>
                          <a:spcPct val="107000"/>
                        </a:lnSpc>
                        <a:spcBef>
                          <a:spcPts val="0"/>
                        </a:spcBef>
                        <a:spcAft>
                          <a:spcPts val="0"/>
                        </a:spcAft>
                        <a:tabLst>
                          <a:tab pos="4619625" algn="l"/>
                        </a:tabLst>
                      </a:pPr>
                      <a:r>
                        <a:rPr lang="en-US" sz="1400">
                          <a:effectLst/>
                        </a:rPr>
                        <a:t>  1 Month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nSpc>
                          <a:spcPct val="107000"/>
                        </a:lnSpc>
                        <a:spcBef>
                          <a:spcPts val="0"/>
                        </a:spcBef>
                        <a:spcAft>
                          <a:spcPts val="0"/>
                        </a:spcAft>
                        <a:tabLst>
                          <a:tab pos="4619625" algn="l"/>
                        </a:tabLst>
                      </a:pPr>
                      <a:r>
                        <a:rPr lang="en-US" sz="1400">
                          <a:effectLst/>
                        </a:rPr>
                        <a:t>The earthing metal is well earthed, no corrosion.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extLst>
                  <a:ext uri="{0D108BD9-81ED-4DB2-BD59-A6C34878D82A}">
                    <a16:rowId xmlns:a16="http://schemas.microsoft.com/office/drawing/2014/main" val="4014100258"/>
                  </a:ext>
                </a:extLst>
              </a:tr>
              <a:tr h="485129">
                <a:tc>
                  <a:txBody>
                    <a:bodyPr/>
                    <a:lstStyle/>
                    <a:p>
                      <a:pPr marL="0" marR="0">
                        <a:lnSpc>
                          <a:spcPct val="107000"/>
                        </a:lnSpc>
                        <a:spcBef>
                          <a:spcPts val="0"/>
                        </a:spcBef>
                        <a:spcAft>
                          <a:spcPts val="0"/>
                        </a:spcAft>
                        <a:tabLst>
                          <a:tab pos="4619625" algn="l"/>
                        </a:tabLst>
                      </a:pPr>
                      <a:r>
                        <a:rPr lang="en-US" sz="1200">
                          <a:effectLst/>
                        </a:rPr>
                        <a:t> </a:t>
                      </a:r>
                      <a:endParaRPr lang="en-US" sz="1050">
                        <a:effectLst/>
                      </a:endParaRPr>
                    </a:p>
                    <a:p>
                      <a:pPr marL="0" marR="0">
                        <a:lnSpc>
                          <a:spcPct val="107000"/>
                        </a:lnSpc>
                        <a:spcBef>
                          <a:spcPts val="0"/>
                        </a:spcBef>
                        <a:spcAft>
                          <a:spcPts val="0"/>
                        </a:spcAft>
                        <a:tabLst>
                          <a:tab pos="4619625" algn="l"/>
                        </a:tabLst>
                      </a:pPr>
                      <a:r>
                        <a:rPr lang="en-US" sz="1200">
                          <a:effectLst/>
                        </a:rPr>
                        <a:t>5</a:t>
                      </a:r>
                      <a:endParaRPr lang="en-US" sz="105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gn="ctr">
                        <a:lnSpc>
                          <a:spcPct val="107000"/>
                        </a:lnSpc>
                        <a:spcBef>
                          <a:spcPts val="0"/>
                        </a:spcBef>
                        <a:spcAft>
                          <a:spcPts val="0"/>
                        </a:spcAft>
                        <a:tabLst>
                          <a:tab pos="4619625" algn="l"/>
                        </a:tabLst>
                      </a:pPr>
                      <a:r>
                        <a:rPr lang="en-US" sz="1400">
                          <a:effectLst/>
                        </a:rPr>
                        <a:t> </a:t>
                      </a:r>
                      <a:endParaRPr lang="en-US" sz="1100">
                        <a:effectLst/>
                      </a:endParaRPr>
                    </a:p>
                    <a:p>
                      <a:pPr marL="0" marR="0" algn="ctr">
                        <a:lnSpc>
                          <a:spcPct val="107000"/>
                        </a:lnSpc>
                        <a:spcBef>
                          <a:spcPts val="0"/>
                        </a:spcBef>
                        <a:spcAft>
                          <a:spcPts val="0"/>
                        </a:spcAft>
                        <a:tabLst>
                          <a:tab pos="4619625" algn="l"/>
                        </a:tabLst>
                      </a:pPr>
                      <a:r>
                        <a:rPr lang="en-US" sz="1400">
                          <a:effectLst/>
                        </a:rPr>
                        <a:t>      Insulator Inspection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gn="ctr">
                        <a:lnSpc>
                          <a:spcPct val="107000"/>
                        </a:lnSpc>
                        <a:spcBef>
                          <a:spcPts val="0"/>
                        </a:spcBef>
                        <a:spcAft>
                          <a:spcPts val="0"/>
                        </a:spcAft>
                        <a:tabLst>
                          <a:tab pos="4619625" algn="l"/>
                        </a:tabLst>
                      </a:pPr>
                      <a:r>
                        <a:rPr lang="en-US" sz="1400">
                          <a:effectLst/>
                        </a:rPr>
                        <a:t> </a:t>
                      </a:r>
                      <a:endParaRPr lang="en-US" sz="1100">
                        <a:effectLst/>
                      </a:endParaRPr>
                    </a:p>
                    <a:p>
                      <a:pPr marL="0" marR="0" algn="ctr">
                        <a:lnSpc>
                          <a:spcPct val="107000"/>
                        </a:lnSpc>
                        <a:spcBef>
                          <a:spcPts val="0"/>
                        </a:spcBef>
                        <a:spcAft>
                          <a:spcPts val="0"/>
                        </a:spcAft>
                        <a:tabLst>
                          <a:tab pos="4619625" algn="l"/>
                        </a:tabLst>
                      </a:pPr>
                      <a:r>
                        <a:rPr lang="en-US" sz="1400">
                          <a:effectLst/>
                        </a:rPr>
                        <a:t>  1 Month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nSpc>
                          <a:spcPct val="107000"/>
                        </a:lnSpc>
                        <a:spcBef>
                          <a:spcPts val="0"/>
                        </a:spcBef>
                        <a:spcAft>
                          <a:spcPts val="0"/>
                        </a:spcAft>
                        <a:tabLst>
                          <a:tab pos="4619625" algn="l"/>
                        </a:tabLst>
                      </a:pPr>
                      <a:r>
                        <a:rPr lang="en-US" sz="1400">
                          <a:effectLst/>
                        </a:rPr>
                        <a:t>No obvious dirt, no trace of discharging flashover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extLst>
                  <a:ext uri="{0D108BD9-81ED-4DB2-BD59-A6C34878D82A}">
                    <a16:rowId xmlns:a16="http://schemas.microsoft.com/office/drawing/2014/main" val="2291051881"/>
                  </a:ext>
                </a:extLst>
              </a:tr>
              <a:tr h="734206">
                <a:tc>
                  <a:txBody>
                    <a:bodyPr/>
                    <a:lstStyle/>
                    <a:p>
                      <a:pPr marL="0" marR="0">
                        <a:lnSpc>
                          <a:spcPct val="107000"/>
                        </a:lnSpc>
                        <a:spcBef>
                          <a:spcPts val="0"/>
                        </a:spcBef>
                        <a:spcAft>
                          <a:spcPts val="0"/>
                        </a:spcAft>
                        <a:tabLst>
                          <a:tab pos="4619625" algn="l"/>
                        </a:tabLst>
                      </a:pPr>
                      <a:r>
                        <a:rPr lang="en-US" sz="1200">
                          <a:effectLst/>
                        </a:rPr>
                        <a:t> </a:t>
                      </a:r>
                      <a:endParaRPr lang="en-US" sz="1050">
                        <a:effectLst/>
                      </a:endParaRPr>
                    </a:p>
                    <a:p>
                      <a:pPr marL="0" marR="0">
                        <a:lnSpc>
                          <a:spcPct val="107000"/>
                        </a:lnSpc>
                        <a:spcBef>
                          <a:spcPts val="0"/>
                        </a:spcBef>
                        <a:spcAft>
                          <a:spcPts val="0"/>
                        </a:spcAft>
                        <a:tabLst>
                          <a:tab pos="4619625" algn="l"/>
                        </a:tabLst>
                      </a:pPr>
                      <a:r>
                        <a:rPr lang="en-US" sz="1200">
                          <a:effectLst/>
                        </a:rPr>
                        <a:t> </a:t>
                      </a:r>
                      <a:endParaRPr lang="en-US" sz="1050">
                        <a:effectLst/>
                      </a:endParaRPr>
                    </a:p>
                    <a:p>
                      <a:pPr marL="0" marR="0">
                        <a:lnSpc>
                          <a:spcPct val="107000"/>
                        </a:lnSpc>
                        <a:spcBef>
                          <a:spcPts val="0"/>
                        </a:spcBef>
                        <a:spcAft>
                          <a:spcPts val="0"/>
                        </a:spcAft>
                        <a:tabLst>
                          <a:tab pos="4619625" algn="l"/>
                        </a:tabLst>
                      </a:pPr>
                      <a:r>
                        <a:rPr lang="en-US" sz="1200">
                          <a:effectLst/>
                        </a:rPr>
                        <a:t>6</a:t>
                      </a:r>
                      <a:endParaRPr lang="en-US" sz="105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gn="ctr">
                        <a:lnSpc>
                          <a:spcPct val="107000"/>
                        </a:lnSpc>
                        <a:spcBef>
                          <a:spcPts val="0"/>
                        </a:spcBef>
                        <a:spcAft>
                          <a:spcPts val="0"/>
                        </a:spcAft>
                        <a:tabLst>
                          <a:tab pos="4619625" algn="l"/>
                        </a:tabLst>
                      </a:pPr>
                      <a:r>
                        <a:rPr lang="en-US" sz="1400" dirty="0">
                          <a:effectLst/>
                        </a:rPr>
                        <a:t> </a:t>
                      </a:r>
                      <a:endParaRPr lang="en-US" sz="1100" dirty="0">
                        <a:effectLst/>
                      </a:endParaRPr>
                    </a:p>
                    <a:p>
                      <a:pPr marL="0" marR="0" algn="ctr">
                        <a:lnSpc>
                          <a:spcPct val="107000"/>
                        </a:lnSpc>
                        <a:spcBef>
                          <a:spcPts val="0"/>
                        </a:spcBef>
                        <a:spcAft>
                          <a:spcPts val="0"/>
                        </a:spcAft>
                        <a:tabLst>
                          <a:tab pos="4619625" algn="l"/>
                        </a:tabLst>
                      </a:pPr>
                      <a:r>
                        <a:rPr lang="en-US" sz="1400" dirty="0">
                          <a:effectLst/>
                        </a:rPr>
                        <a:t> </a:t>
                      </a:r>
                      <a:endParaRPr lang="en-US" sz="1100" dirty="0">
                        <a:effectLst/>
                      </a:endParaRPr>
                    </a:p>
                    <a:p>
                      <a:pPr marL="0" marR="0" algn="ctr">
                        <a:lnSpc>
                          <a:spcPct val="107000"/>
                        </a:lnSpc>
                        <a:spcBef>
                          <a:spcPts val="0"/>
                        </a:spcBef>
                        <a:spcAft>
                          <a:spcPts val="0"/>
                        </a:spcAft>
                        <a:tabLst>
                          <a:tab pos="4619625" algn="l"/>
                        </a:tabLst>
                      </a:pPr>
                      <a:r>
                        <a:rPr lang="en-US" sz="1400" dirty="0">
                          <a:effectLst/>
                        </a:rPr>
                        <a:t>Operation sound Inspection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gn="ctr">
                        <a:lnSpc>
                          <a:spcPct val="107000"/>
                        </a:lnSpc>
                        <a:spcBef>
                          <a:spcPts val="0"/>
                        </a:spcBef>
                        <a:spcAft>
                          <a:spcPts val="0"/>
                        </a:spcAft>
                        <a:tabLst>
                          <a:tab pos="4619625" algn="l"/>
                        </a:tabLst>
                      </a:pPr>
                      <a:r>
                        <a:rPr lang="en-US" sz="1400" dirty="0">
                          <a:effectLst/>
                        </a:rPr>
                        <a:t>  </a:t>
                      </a:r>
                      <a:endParaRPr lang="en-US" sz="1100" dirty="0">
                        <a:effectLst/>
                      </a:endParaRPr>
                    </a:p>
                    <a:p>
                      <a:pPr marL="0" marR="0" algn="ctr">
                        <a:lnSpc>
                          <a:spcPct val="107000"/>
                        </a:lnSpc>
                        <a:spcBef>
                          <a:spcPts val="0"/>
                        </a:spcBef>
                        <a:spcAft>
                          <a:spcPts val="0"/>
                        </a:spcAft>
                        <a:tabLst>
                          <a:tab pos="4619625" algn="l"/>
                        </a:tabLst>
                      </a:pPr>
                      <a:r>
                        <a:rPr lang="en-US" sz="1400" dirty="0">
                          <a:effectLst/>
                        </a:rPr>
                        <a:t>  1 Month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nSpc>
                          <a:spcPct val="107000"/>
                        </a:lnSpc>
                        <a:spcBef>
                          <a:spcPts val="0"/>
                        </a:spcBef>
                        <a:spcAft>
                          <a:spcPts val="0"/>
                        </a:spcAft>
                        <a:tabLst>
                          <a:tab pos="4619625" algn="l"/>
                        </a:tabLst>
                      </a:pPr>
                      <a:r>
                        <a:rPr lang="en-US" sz="1400">
                          <a:effectLst/>
                        </a:rPr>
                        <a:t>There is no discharging sound or other sound inside, no abnormal smell.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extLst>
                  <a:ext uri="{0D108BD9-81ED-4DB2-BD59-A6C34878D82A}">
                    <a16:rowId xmlns:a16="http://schemas.microsoft.com/office/drawing/2014/main" val="4158489417"/>
                  </a:ext>
                </a:extLst>
              </a:tr>
              <a:tr h="597382">
                <a:tc>
                  <a:txBody>
                    <a:bodyPr/>
                    <a:lstStyle/>
                    <a:p>
                      <a:pPr marL="0" marR="0">
                        <a:lnSpc>
                          <a:spcPct val="107000"/>
                        </a:lnSpc>
                        <a:spcBef>
                          <a:spcPts val="0"/>
                        </a:spcBef>
                        <a:spcAft>
                          <a:spcPts val="0"/>
                        </a:spcAft>
                        <a:tabLst>
                          <a:tab pos="4619625" algn="l"/>
                        </a:tabLst>
                      </a:pPr>
                      <a:r>
                        <a:rPr lang="en-US" sz="1200" dirty="0">
                          <a:effectLst/>
                        </a:rPr>
                        <a:t> </a:t>
                      </a:r>
                      <a:endParaRPr lang="en-US" sz="1050" dirty="0">
                        <a:effectLst/>
                      </a:endParaRPr>
                    </a:p>
                    <a:p>
                      <a:pPr marL="0" marR="0">
                        <a:lnSpc>
                          <a:spcPct val="107000"/>
                        </a:lnSpc>
                        <a:spcBef>
                          <a:spcPts val="0"/>
                        </a:spcBef>
                        <a:spcAft>
                          <a:spcPts val="0"/>
                        </a:spcAft>
                        <a:tabLst>
                          <a:tab pos="4619625" algn="l"/>
                        </a:tabLst>
                      </a:pPr>
                      <a:r>
                        <a:rPr lang="en-US" sz="1200" dirty="0">
                          <a:effectLst/>
                          <a:latin typeface="Calibri" panose="020F0502020204030204" pitchFamily="34" charset="0"/>
                          <a:ea typeface="Calibri" panose="020F0502020204030204" pitchFamily="34" charset="0"/>
                          <a:cs typeface="Times New Roman" panose="02020603050405020304" pitchFamily="18" charset="0"/>
                        </a:rPr>
                        <a:t>7</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gn="ctr">
                        <a:lnSpc>
                          <a:spcPct val="107000"/>
                        </a:lnSpc>
                        <a:spcBef>
                          <a:spcPts val="0"/>
                        </a:spcBef>
                        <a:spcAft>
                          <a:spcPts val="0"/>
                        </a:spcAft>
                        <a:tabLst>
                          <a:tab pos="4619625" algn="l"/>
                        </a:tabLst>
                      </a:pPr>
                      <a:r>
                        <a:rPr lang="en-US" sz="1400" dirty="0">
                          <a:effectLst/>
                        </a:rPr>
                        <a:t> 4-Core double shielded armored cable earthing inspection.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gn="ctr">
                        <a:lnSpc>
                          <a:spcPct val="107000"/>
                        </a:lnSpc>
                        <a:spcBef>
                          <a:spcPts val="0"/>
                        </a:spcBef>
                        <a:spcAft>
                          <a:spcPts val="0"/>
                        </a:spcAft>
                        <a:tabLst>
                          <a:tab pos="4619625" algn="l"/>
                        </a:tabLst>
                      </a:pPr>
                      <a:r>
                        <a:rPr lang="en-US" sz="1400" dirty="0">
                          <a:effectLst/>
                        </a:rPr>
                        <a:t> </a:t>
                      </a:r>
                      <a:endParaRPr lang="en-US" sz="1100" dirty="0">
                        <a:effectLst/>
                      </a:endParaRPr>
                    </a:p>
                    <a:p>
                      <a:pPr marL="0" marR="0" algn="ctr">
                        <a:lnSpc>
                          <a:spcPct val="107000"/>
                        </a:lnSpc>
                        <a:spcBef>
                          <a:spcPts val="0"/>
                        </a:spcBef>
                        <a:spcAft>
                          <a:spcPts val="0"/>
                        </a:spcAft>
                        <a:tabLst>
                          <a:tab pos="4619625" algn="l"/>
                        </a:tabLst>
                      </a:pPr>
                      <a:r>
                        <a:rPr lang="en-US" sz="1400" dirty="0">
                          <a:effectLst/>
                        </a:rPr>
                        <a:t>  1 Month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tc>
                  <a:txBody>
                    <a:bodyPr/>
                    <a:lstStyle/>
                    <a:p>
                      <a:pPr marL="0" marR="0">
                        <a:lnSpc>
                          <a:spcPct val="107000"/>
                        </a:lnSpc>
                        <a:spcBef>
                          <a:spcPts val="0"/>
                        </a:spcBef>
                        <a:spcAft>
                          <a:spcPts val="0"/>
                        </a:spcAft>
                        <a:tabLst>
                          <a:tab pos="4619625" algn="l"/>
                        </a:tabLst>
                      </a:pPr>
                      <a:r>
                        <a:rPr lang="en-US" sz="1400" dirty="0">
                          <a:effectLst/>
                        </a:rPr>
                        <a:t>Check if the grounding Cable is not loose and not rusted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630" marR="37630" marT="0" marB="0"/>
                </a:tc>
                <a:extLst>
                  <a:ext uri="{0D108BD9-81ED-4DB2-BD59-A6C34878D82A}">
                    <a16:rowId xmlns:a16="http://schemas.microsoft.com/office/drawing/2014/main" val="4086971668"/>
                  </a:ext>
                </a:extLst>
              </a:tr>
            </a:tbl>
          </a:graphicData>
        </a:graphic>
      </p:graphicFrame>
    </p:spTree>
    <p:extLst>
      <p:ext uri="{BB962C8B-B14F-4D97-AF65-F5344CB8AC3E}">
        <p14:creationId xmlns:p14="http://schemas.microsoft.com/office/powerpoint/2010/main" val="949880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C7F86-40D9-43A4-AF7A-4B7AA3DB6D5E}"/>
              </a:ext>
            </a:extLst>
          </p:cNvPr>
          <p:cNvSpPr>
            <a:spLocks noGrp="1"/>
          </p:cNvSpPr>
          <p:nvPr>
            <p:ph type="title"/>
          </p:nvPr>
        </p:nvSpPr>
        <p:spPr>
          <a:xfrm>
            <a:off x="1261872" y="365760"/>
            <a:ext cx="9241028" cy="916940"/>
          </a:xfrm>
        </p:spPr>
        <p:txBody>
          <a:bodyPr>
            <a:normAutofit/>
          </a:bodyPr>
          <a:lstStyle/>
          <a:p>
            <a:r>
              <a:rPr lang="en-US" sz="4000" dirty="0"/>
              <a:t>DC Electronic VT (PCS-9250 EAVD)</a:t>
            </a:r>
          </a:p>
        </p:txBody>
      </p:sp>
      <p:sp>
        <p:nvSpPr>
          <p:cNvPr id="3" name="Content Placeholder 2">
            <a:extLst>
              <a:ext uri="{FF2B5EF4-FFF2-40B4-BE49-F238E27FC236}">
                <a16:creationId xmlns:a16="http://schemas.microsoft.com/office/drawing/2014/main" id="{418336AD-AB2D-4495-8CCA-8BA6F0C22A35}"/>
              </a:ext>
            </a:extLst>
          </p:cNvPr>
          <p:cNvSpPr>
            <a:spLocks noGrp="1"/>
          </p:cNvSpPr>
          <p:nvPr>
            <p:ph idx="1"/>
          </p:nvPr>
        </p:nvSpPr>
        <p:spPr/>
        <p:txBody>
          <a:bodyPr>
            <a:normAutofit/>
          </a:bodyPr>
          <a:lstStyle/>
          <a:p>
            <a:pPr marL="0" indent="0">
              <a:buNone/>
            </a:pPr>
            <a:r>
              <a:rPr lang="en-US" sz="2000" dirty="0"/>
              <a:t>PCS-9250-EAVD DC Electronic VT is mainly applied the DC voltage measurement in HVDC Converter Station and outputs signal for the protection and control equipment. This project uses ±660KV, ±100KV Products.</a:t>
            </a:r>
          </a:p>
          <a:p>
            <a:pPr marL="0" indent="0">
              <a:buNone/>
            </a:pPr>
            <a:r>
              <a:rPr lang="en-US" sz="2000" b="1" dirty="0"/>
              <a:t>Working Principle:-</a:t>
            </a:r>
          </a:p>
          <a:p>
            <a:pPr marL="0" indent="0">
              <a:buNone/>
            </a:pPr>
            <a:r>
              <a:rPr lang="en-US" sz="2000" dirty="0"/>
              <a:t>It senses the DC voltage with precision resistor voltage divider, make sure frequency feature with shunt capacitor voltage divider, make sure insulation with optical composite insulator. This product has features like simple and reliable insulation design. </a:t>
            </a:r>
            <a:endParaRPr lang="en-US" sz="2000" b="1" dirty="0"/>
          </a:p>
        </p:txBody>
      </p:sp>
      <p:pic>
        <p:nvPicPr>
          <p:cNvPr id="5" name="Picture 4">
            <a:extLst>
              <a:ext uri="{FF2B5EF4-FFF2-40B4-BE49-F238E27FC236}">
                <a16:creationId xmlns:a16="http://schemas.microsoft.com/office/drawing/2014/main" id="{37ADD4F2-3C6C-40E2-9F4C-8D8B4954C6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87339" y="2358887"/>
            <a:ext cx="1616765" cy="4499113"/>
          </a:xfrm>
          <a:prstGeom prst="rect">
            <a:avLst/>
          </a:prstGeom>
        </p:spPr>
      </p:pic>
    </p:spTree>
    <p:extLst>
      <p:ext uri="{BB962C8B-B14F-4D97-AF65-F5344CB8AC3E}">
        <p14:creationId xmlns:p14="http://schemas.microsoft.com/office/powerpoint/2010/main" val="28742536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CDB7A-68AA-4052-A620-5A90DA660560}"/>
              </a:ext>
            </a:extLst>
          </p:cNvPr>
          <p:cNvSpPr>
            <a:spLocks noGrp="1"/>
          </p:cNvSpPr>
          <p:nvPr>
            <p:ph type="title"/>
          </p:nvPr>
        </p:nvSpPr>
        <p:spPr>
          <a:xfrm>
            <a:off x="1261872" y="236394"/>
            <a:ext cx="5456980" cy="882938"/>
          </a:xfrm>
        </p:spPr>
        <p:txBody>
          <a:bodyPr/>
          <a:lstStyle/>
          <a:p>
            <a:r>
              <a:rPr lang="en-US" dirty="0"/>
              <a:t>Structure of DCVT</a:t>
            </a:r>
          </a:p>
        </p:txBody>
      </p:sp>
      <p:sp>
        <p:nvSpPr>
          <p:cNvPr id="3" name="Content Placeholder 2">
            <a:extLst>
              <a:ext uri="{FF2B5EF4-FFF2-40B4-BE49-F238E27FC236}">
                <a16:creationId xmlns:a16="http://schemas.microsoft.com/office/drawing/2014/main" id="{4F9158B7-0CBB-49A6-AFBC-1781C107E8BA}"/>
              </a:ext>
            </a:extLst>
          </p:cNvPr>
          <p:cNvSpPr>
            <a:spLocks noGrp="1"/>
          </p:cNvSpPr>
          <p:nvPr>
            <p:ph idx="1"/>
          </p:nvPr>
        </p:nvSpPr>
        <p:spPr>
          <a:xfrm>
            <a:off x="1261872" y="1119332"/>
            <a:ext cx="8595360" cy="4351337"/>
          </a:xfrm>
        </p:spPr>
        <p:txBody>
          <a:bodyPr/>
          <a:lstStyle/>
          <a:p>
            <a:pPr marL="0" indent="0">
              <a:buNone/>
            </a:pPr>
            <a:r>
              <a:rPr lang="en-US" sz="2000" dirty="0"/>
              <a:t>The DC electronic VTs are composed of the following parts: </a:t>
            </a:r>
          </a:p>
          <a:p>
            <a:pPr marL="0" indent="0">
              <a:buNone/>
            </a:pPr>
            <a:r>
              <a:rPr lang="en-US" sz="2000" b="1" dirty="0"/>
              <a:t>DC Voltage Divider: </a:t>
            </a:r>
          </a:p>
          <a:p>
            <a:pPr marL="0" indent="0">
              <a:buNone/>
            </a:pPr>
            <a:r>
              <a:rPr lang="en-US" dirty="0"/>
              <a:t>It adopts resistor voltage divider with capacitor compensation, the resistor and capacitors are located in a silicon rubber composite-insulation cylinder, and the inside is filled with SF6 Gas. </a:t>
            </a:r>
          </a:p>
          <a:p>
            <a:pPr marL="0" indent="0">
              <a:buNone/>
            </a:pPr>
            <a:r>
              <a:rPr lang="en-US" sz="2000" b="1" dirty="0"/>
              <a:t>PCS-9559 IO unit: </a:t>
            </a:r>
          </a:p>
          <a:p>
            <a:pPr marL="0" indent="0">
              <a:buNone/>
            </a:pPr>
            <a:r>
              <a:rPr lang="en-US" dirty="0"/>
              <a:t>It is used for analogue quantity isolation, installed in the cabinet at the control room. The device is connected with DC voltage divider through four-core double-layer shielded cable. Each DC voltage divider is equipped with three sets of PCS-9559-IO unit. The rated output signal of PCS-9559 is 5V</a:t>
            </a:r>
          </a:p>
        </p:txBody>
      </p:sp>
      <p:pic>
        <p:nvPicPr>
          <p:cNvPr id="5" name="Picture 4">
            <a:extLst>
              <a:ext uri="{FF2B5EF4-FFF2-40B4-BE49-F238E27FC236}">
                <a16:creationId xmlns:a16="http://schemas.microsoft.com/office/drawing/2014/main" id="{CE472C65-FFEB-4A87-987C-22B93DA993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4769" y="4678017"/>
            <a:ext cx="5841822" cy="1943589"/>
          </a:xfrm>
          <a:prstGeom prst="rect">
            <a:avLst/>
          </a:prstGeom>
        </p:spPr>
      </p:pic>
    </p:spTree>
    <p:extLst>
      <p:ext uri="{BB962C8B-B14F-4D97-AF65-F5344CB8AC3E}">
        <p14:creationId xmlns:p14="http://schemas.microsoft.com/office/powerpoint/2010/main" val="1928809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A6714-DF44-4E9D-9549-169C22BB2A85}"/>
              </a:ext>
            </a:extLst>
          </p:cNvPr>
          <p:cNvSpPr>
            <a:spLocks noGrp="1"/>
          </p:cNvSpPr>
          <p:nvPr>
            <p:ph type="title"/>
          </p:nvPr>
        </p:nvSpPr>
        <p:spPr>
          <a:xfrm>
            <a:off x="1162887" y="120314"/>
            <a:ext cx="9181539" cy="572385"/>
          </a:xfrm>
        </p:spPr>
        <p:txBody>
          <a:bodyPr>
            <a:normAutofit/>
          </a:bodyPr>
          <a:lstStyle/>
          <a:p>
            <a:r>
              <a:rPr lang="en-US" sz="3200" dirty="0"/>
              <a:t>Place of Installation on Lahore Converter Station </a:t>
            </a:r>
          </a:p>
        </p:txBody>
      </p:sp>
      <p:graphicFrame>
        <p:nvGraphicFramePr>
          <p:cNvPr id="4" name="Table 4">
            <a:extLst>
              <a:ext uri="{FF2B5EF4-FFF2-40B4-BE49-F238E27FC236}">
                <a16:creationId xmlns:a16="http://schemas.microsoft.com/office/drawing/2014/main" id="{0EFAFD7E-2B08-43C8-8092-FA1AC8C1C846}"/>
              </a:ext>
            </a:extLst>
          </p:cNvPr>
          <p:cNvGraphicFramePr>
            <a:graphicFrameLocks noGrp="1"/>
          </p:cNvGraphicFramePr>
          <p:nvPr>
            <p:ph idx="1"/>
            <p:extLst>
              <p:ext uri="{D42A27DB-BD31-4B8C-83A1-F6EECF244321}">
                <p14:modId xmlns:p14="http://schemas.microsoft.com/office/powerpoint/2010/main" val="3391470777"/>
              </p:ext>
            </p:extLst>
          </p:nvPr>
        </p:nvGraphicFramePr>
        <p:xfrm>
          <a:off x="1162887" y="876941"/>
          <a:ext cx="9489710" cy="1645920"/>
        </p:xfrm>
        <a:graphic>
          <a:graphicData uri="http://schemas.openxmlformats.org/drawingml/2006/table">
            <a:tbl>
              <a:tblPr firstRow="1" bandRow="1">
                <a:tableStyleId>{5C22544A-7EE6-4342-B048-85BDC9FD1C3A}</a:tableStyleId>
              </a:tblPr>
              <a:tblGrid>
                <a:gridCol w="867526">
                  <a:extLst>
                    <a:ext uri="{9D8B030D-6E8A-4147-A177-3AD203B41FA5}">
                      <a16:colId xmlns:a16="http://schemas.microsoft.com/office/drawing/2014/main" val="2361915951"/>
                    </a:ext>
                  </a:extLst>
                </a:gridCol>
                <a:gridCol w="1511521">
                  <a:extLst>
                    <a:ext uri="{9D8B030D-6E8A-4147-A177-3AD203B41FA5}">
                      <a16:colId xmlns:a16="http://schemas.microsoft.com/office/drawing/2014/main" val="1285123355"/>
                    </a:ext>
                  </a:extLst>
                </a:gridCol>
                <a:gridCol w="5594684">
                  <a:extLst>
                    <a:ext uri="{9D8B030D-6E8A-4147-A177-3AD203B41FA5}">
                      <a16:colId xmlns:a16="http://schemas.microsoft.com/office/drawing/2014/main" val="2975063766"/>
                    </a:ext>
                  </a:extLst>
                </a:gridCol>
                <a:gridCol w="1515979">
                  <a:extLst>
                    <a:ext uri="{9D8B030D-6E8A-4147-A177-3AD203B41FA5}">
                      <a16:colId xmlns:a16="http://schemas.microsoft.com/office/drawing/2014/main" val="1621125889"/>
                    </a:ext>
                  </a:extLst>
                </a:gridCol>
              </a:tblGrid>
              <a:tr h="312625">
                <a:tc>
                  <a:txBody>
                    <a:bodyPr/>
                    <a:lstStyle/>
                    <a:p>
                      <a:r>
                        <a:rPr lang="en-US" dirty="0"/>
                        <a:t>Sr#</a:t>
                      </a:r>
                    </a:p>
                  </a:txBody>
                  <a:tcPr/>
                </a:tc>
                <a:tc>
                  <a:txBody>
                    <a:bodyPr/>
                    <a:lstStyle/>
                    <a:p>
                      <a:r>
                        <a:rPr lang="en-US" dirty="0"/>
                        <a:t>Rating</a:t>
                      </a:r>
                    </a:p>
                  </a:txBody>
                  <a:tcPr/>
                </a:tc>
                <a:tc>
                  <a:txBody>
                    <a:bodyPr/>
                    <a:lstStyle/>
                    <a:p>
                      <a:r>
                        <a:rPr lang="en-US" dirty="0"/>
                        <a:t>Point of Installation</a:t>
                      </a:r>
                    </a:p>
                  </a:txBody>
                  <a:tcPr/>
                </a:tc>
                <a:tc>
                  <a:txBody>
                    <a:bodyPr/>
                    <a:lstStyle/>
                    <a:p>
                      <a:r>
                        <a:rPr lang="en-US" dirty="0"/>
                        <a:t>Qty</a:t>
                      </a:r>
                    </a:p>
                  </a:txBody>
                  <a:tcPr/>
                </a:tc>
                <a:extLst>
                  <a:ext uri="{0D108BD9-81ED-4DB2-BD59-A6C34878D82A}">
                    <a16:rowId xmlns:a16="http://schemas.microsoft.com/office/drawing/2014/main" val="2054993593"/>
                  </a:ext>
                </a:extLst>
              </a:tr>
              <a:tr h="547093">
                <a:tc>
                  <a:txBody>
                    <a:bodyPr/>
                    <a:lstStyle/>
                    <a:p>
                      <a:r>
                        <a:rPr lang="en-US" dirty="0"/>
                        <a:t>1</a:t>
                      </a:r>
                    </a:p>
                  </a:txBody>
                  <a:tcPr/>
                </a:tc>
                <a:tc>
                  <a:txBody>
                    <a:bodyPr/>
                    <a:lstStyle/>
                    <a:p>
                      <a:r>
                        <a:rPr lang="en-US" dirty="0"/>
                        <a:t>±660KV</a:t>
                      </a:r>
                    </a:p>
                  </a:txBody>
                  <a:tcPr/>
                </a:tc>
                <a:tc>
                  <a:txBody>
                    <a:bodyPr/>
                    <a:lstStyle/>
                    <a:p>
                      <a:r>
                        <a:rPr lang="en-US" dirty="0"/>
                        <a:t>For the measurement of Pole line voltage at outdoor DC field</a:t>
                      </a:r>
                    </a:p>
                  </a:txBody>
                  <a:tcPr/>
                </a:tc>
                <a:tc>
                  <a:txBody>
                    <a:bodyPr/>
                    <a:lstStyle/>
                    <a:p>
                      <a:r>
                        <a:rPr lang="en-US" dirty="0"/>
                        <a:t>  02</a:t>
                      </a:r>
                    </a:p>
                  </a:txBody>
                  <a:tcPr/>
                </a:tc>
                <a:extLst>
                  <a:ext uri="{0D108BD9-81ED-4DB2-BD59-A6C34878D82A}">
                    <a16:rowId xmlns:a16="http://schemas.microsoft.com/office/drawing/2014/main" val="1524542562"/>
                  </a:ext>
                </a:extLst>
              </a:tr>
              <a:tr h="547093">
                <a:tc>
                  <a:txBody>
                    <a:bodyPr/>
                    <a:lstStyle/>
                    <a:p>
                      <a:r>
                        <a:rPr lang="en-US" dirty="0"/>
                        <a:t>2</a:t>
                      </a:r>
                    </a:p>
                  </a:txBody>
                  <a:tcPr/>
                </a:tc>
                <a:tc>
                  <a:txBody>
                    <a:bodyPr/>
                    <a:lstStyle/>
                    <a:p>
                      <a:r>
                        <a:rPr lang="en-US" dirty="0"/>
                        <a:t>±100KV</a:t>
                      </a:r>
                    </a:p>
                  </a:txBody>
                  <a:tcPr/>
                </a:tc>
                <a:tc>
                  <a:txBody>
                    <a:bodyPr/>
                    <a:lstStyle/>
                    <a:p>
                      <a:r>
                        <a:rPr lang="en-US" dirty="0"/>
                        <a:t>For the measurement of neutral bus bar voltage at outdoor DC field</a:t>
                      </a:r>
                    </a:p>
                  </a:txBody>
                  <a:tcPr/>
                </a:tc>
                <a:tc>
                  <a:txBody>
                    <a:bodyPr/>
                    <a:lstStyle/>
                    <a:p>
                      <a:r>
                        <a:rPr lang="en-US" dirty="0"/>
                        <a:t>  02</a:t>
                      </a:r>
                    </a:p>
                  </a:txBody>
                  <a:tcPr/>
                </a:tc>
                <a:extLst>
                  <a:ext uri="{0D108BD9-81ED-4DB2-BD59-A6C34878D82A}">
                    <a16:rowId xmlns:a16="http://schemas.microsoft.com/office/drawing/2014/main" val="2687742156"/>
                  </a:ext>
                </a:extLst>
              </a:tr>
            </a:tbl>
          </a:graphicData>
        </a:graphic>
      </p:graphicFrame>
      <p:pic>
        <p:nvPicPr>
          <p:cNvPr id="7" name="Picture 6">
            <a:extLst>
              <a:ext uri="{FF2B5EF4-FFF2-40B4-BE49-F238E27FC236}">
                <a16:creationId xmlns:a16="http://schemas.microsoft.com/office/drawing/2014/main" id="{1D24CE70-FD58-44CD-A818-6C47B63526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flipV="1">
            <a:off x="1162887" y="2707103"/>
            <a:ext cx="9352717" cy="3801981"/>
          </a:xfrm>
          <a:prstGeom prst="rect">
            <a:avLst/>
          </a:prstGeom>
        </p:spPr>
      </p:pic>
      <p:sp>
        <p:nvSpPr>
          <p:cNvPr id="11" name="TextBox 10">
            <a:extLst>
              <a:ext uri="{FF2B5EF4-FFF2-40B4-BE49-F238E27FC236}">
                <a16:creationId xmlns:a16="http://schemas.microsoft.com/office/drawing/2014/main" id="{2F70B4BC-EFE2-46C4-8289-7EE29E05868F}"/>
              </a:ext>
            </a:extLst>
          </p:cNvPr>
          <p:cNvSpPr txBox="1"/>
          <p:nvPr/>
        </p:nvSpPr>
        <p:spPr>
          <a:xfrm>
            <a:off x="5305926" y="2707103"/>
            <a:ext cx="790074" cy="309052"/>
          </a:xfrm>
          <a:prstGeom prst="rect">
            <a:avLst/>
          </a:prstGeom>
          <a:noFill/>
          <a:ln w="38100">
            <a:solidFill>
              <a:schemeClr val="tx1"/>
            </a:solidFill>
          </a:ln>
        </p:spPr>
        <p:txBody>
          <a:bodyPr wrap="square" rtlCol="0">
            <a:spAutoFit/>
          </a:bodyPr>
          <a:lstStyle/>
          <a:p>
            <a:endParaRPr lang="en-US" dirty="0"/>
          </a:p>
        </p:txBody>
      </p:sp>
      <p:sp>
        <p:nvSpPr>
          <p:cNvPr id="13" name="TextBox 12">
            <a:extLst>
              <a:ext uri="{FF2B5EF4-FFF2-40B4-BE49-F238E27FC236}">
                <a16:creationId xmlns:a16="http://schemas.microsoft.com/office/drawing/2014/main" id="{B6A03A68-A5A9-466C-85E4-D0B06CD339A7}"/>
              </a:ext>
            </a:extLst>
          </p:cNvPr>
          <p:cNvSpPr txBox="1"/>
          <p:nvPr/>
        </p:nvSpPr>
        <p:spPr>
          <a:xfrm>
            <a:off x="5305926" y="6112042"/>
            <a:ext cx="782053" cy="366832"/>
          </a:xfrm>
          <a:prstGeom prst="rect">
            <a:avLst/>
          </a:prstGeom>
          <a:noFill/>
          <a:ln w="38100">
            <a:solidFill>
              <a:schemeClr val="tx1"/>
            </a:solidFill>
          </a:ln>
        </p:spPr>
        <p:txBody>
          <a:bodyPr wrap="square" rtlCol="0">
            <a:spAutoFit/>
          </a:bodyPr>
          <a:lstStyle/>
          <a:p>
            <a:endParaRPr lang="en-US" dirty="0"/>
          </a:p>
        </p:txBody>
      </p:sp>
      <p:sp>
        <p:nvSpPr>
          <p:cNvPr id="14" name="TextBox 13">
            <a:extLst>
              <a:ext uri="{FF2B5EF4-FFF2-40B4-BE49-F238E27FC236}">
                <a16:creationId xmlns:a16="http://schemas.microsoft.com/office/drawing/2014/main" id="{DEC29738-B08C-46E9-AA88-BA3412B6F4B0}"/>
              </a:ext>
            </a:extLst>
          </p:cNvPr>
          <p:cNvSpPr txBox="1"/>
          <p:nvPr/>
        </p:nvSpPr>
        <p:spPr>
          <a:xfrm>
            <a:off x="5358619" y="4445544"/>
            <a:ext cx="790074" cy="309052"/>
          </a:xfrm>
          <a:prstGeom prst="rect">
            <a:avLst/>
          </a:prstGeom>
          <a:noFill/>
          <a:ln w="38100">
            <a:solidFill>
              <a:schemeClr val="tx1"/>
            </a:solidFill>
          </a:ln>
        </p:spPr>
        <p:txBody>
          <a:bodyPr wrap="square" rtlCol="0">
            <a:spAutoFit/>
          </a:bodyPr>
          <a:lstStyle/>
          <a:p>
            <a:endParaRPr lang="en-US" dirty="0"/>
          </a:p>
        </p:txBody>
      </p:sp>
    </p:spTree>
    <p:extLst>
      <p:ext uri="{BB962C8B-B14F-4D97-AF65-F5344CB8AC3E}">
        <p14:creationId xmlns:p14="http://schemas.microsoft.com/office/powerpoint/2010/main" val="40905563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30D9B-4B01-446E-A96E-DCFE67949CD6}"/>
              </a:ext>
            </a:extLst>
          </p:cNvPr>
          <p:cNvSpPr>
            <a:spLocks noGrp="1"/>
          </p:cNvSpPr>
          <p:nvPr>
            <p:ph type="title"/>
          </p:nvPr>
        </p:nvSpPr>
        <p:spPr>
          <a:xfrm>
            <a:off x="1261872" y="365760"/>
            <a:ext cx="7444806" cy="1105231"/>
          </a:xfrm>
        </p:spPr>
        <p:txBody>
          <a:bodyPr>
            <a:normAutofit fontScale="90000"/>
          </a:bodyPr>
          <a:lstStyle/>
          <a:p>
            <a:r>
              <a:rPr lang="en-US" dirty="0"/>
              <a:t>Technical Parameters of DCVT</a:t>
            </a:r>
          </a:p>
        </p:txBody>
      </p:sp>
      <p:graphicFrame>
        <p:nvGraphicFramePr>
          <p:cNvPr id="4" name="Content Placeholder 3">
            <a:extLst>
              <a:ext uri="{FF2B5EF4-FFF2-40B4-BE49-F238E27FC236}">
                <a16:creationId xmlns:a16="http://schemas.microsoft.com/office/drawing/2014/main" id="{8DA803EE-A76C-48CF-9824-24715613A512}"/>
              </a:ext>
            </a:extLst>
          </p:cNvPr>
          <p:cNvGraphicFramePr>
            <a:graphicFrameLocks noGrp="1"/>
          </p:cNvGraphicFramePr>
          <p:nvPr>
            <p:ph idx="1"/>
            <p:extLst>
              <p:ext uri="{D42A27DB-BD31-4B8C-83A1-F6EECF244321}">
                <p14:modId xmlns:p14="http://schemas.microsoft.com/office/powerpoint/2010/main" val="185914422"/>
              </p:ext>
            </p:extLst>
          </p:nvPr>
        </p:nvGraphicFramePr>
        <p:xfrm>
          <a:off x="1378226" y="1819549"/>
          <a:ext cx="8971722" cy="4369212"/>
        </p:xfrm>
        <a:graphic>
          <a:graphicData uri="http://schemas.openxmlformats.org/drawingml/2006/table">
            <a:tbl>
              <a:tblPr firstRow="1" firstCol="1" bandRow="1">
                <a:tableStyleId>{5C22544A-7EE6-4342-B048-85BDC9FD1C3A}</a:tableStyleId>
              </a:tblPr>
              <a:tblGrid>
                <a:gridCol w="4309451">
                  <a:extLst>
                    <a:ext uri="{9D8B030D-6E8A-4147-A177-3AD203B41FA5}">
                      <a16:colId xmlns:a16="http://schemas.microsoft.com/office/drawing/2014/main" val="3342811688"/>
                    </a:ext>
                  </a:extLst>
                </a:gridCol>
                <a:gridCol w="4662271">
                  <a:extLst>
                    <a:ext uri="{9D8B030D-6E8A-4147-A177-3AD203B41FA5}">
                      <a16:colId xmlns:a16="http://schemas.microsoft.com/office/drawing/2014/main" val="4096274985"/>
                    </a:ext>
                  </a:extLst>
                </a:gridCol>
              </a:tblGrid>
              <a:tr h="364101">
                <a:tc>
                  <a:txBody>
                    <a:bodyPr/>
                    <a:lstStyle/>
                    <a:p>
                      <a:pPr marL="0" marR="0">
                        <a:lnSpc>
                          <a:spcPct val="107000"/>
                        </a:lnSpc>
                        <a:spcBef>
                          <a:spcPts val="0"/>
                        </a:spcBef>
                        <a:spcAft>
                          <a:spcPts val="0"/>
                        </a:spcAft>
                        <a:tabLst>
                          <a:tab pos="381000" algn="l"/>
                          <a:tab pos="5943600" algn="r"/>
                        </a:tabLst>
                      </a:pPr>
                      <a:r>
                        <a:rPr lang="en-US" sz="1600">
                          <a:effectLst/>
                        </a:rPr>
                        <a:t>Voltage level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dirty="0">
                          <a:effectLst/>
                        </a:rPr>
                        <a:t>660KV &amp; 100KV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90162519"/>
                  </a:ext>
                </a:extLst>
              </a:tr>
              <a:tr h="364101">
                <a:tc>
                  <a:txBody>
                    <a:bodyPr/>
                    <a:lstStyle/>
                    <a:p>
                      <a:pPr marL="0" marR="0">
                        <a:lnSpc>
                          <a:spcPct val="107000"/>
                        </a:lnSpc>
                        <a:spcBef>
                          <a:spcPts val="0"/>
                        </a:spcBef>
                        <a:spcAft>
                          <a:spcPts val="0"/>
                        </a:spcAft>
                        <a:tabLst>
                          <a:tab pos="381000" algn="l"/>
                          <a:tab pos="5943600" algn="r"/>
                        </a:tabLst>
                      </a:pPr>
                      <a:r>
                        <a:rPr lang="en-US" sz="1600">
                          <a:effectLst/>
                        </a:rPr>
                        <a:t>DC withstand voltage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dirty="0">
                          <a:effectLst/>
                        </a:rPr>
                        <a:t>1020KV &amp; 225KV, 60 min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23427602"/>
                  </a:ext>
                </a:extLst>
              </a:tr>
              <a:tr h="364101">
                <a:tc>
                  <a:txBody>
                    <a:bodyPr/>
                    <a:lstStyle/>
                    <a:p>
                      <a:pPr marL="0" marR="0">
                        <a:lnSpc>
                          <a:spcPct val="107000"/>
                        </a:lnSpc>
                        <a:spcBef>
                          <a:spcPts val="0"/>
                        </a:spcBef>
                        <a:spcAft>
                          <a:spcPts val="0"/>
                        </a:spcAft>
                        <a:tabLst>
                          <a:tab pos="381000" algn="l"/>
                          <a:tab pos="5943600" algn="r"/>
                        </a:tabLst>
                      </a:pPr>
                      <a:r>
                        <a:rPr lang="en-US" sz="1600">
                          <a:effectLst/>
                        </a:rPr>
                        <a:t>Lightening Impulse withstand voltage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a:effectLst/>
                        </a:rPr>
                        <a:t>1800KV&amp; 600KV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29813694"/>
                  </a:ext>
                </a:extLst>
              </a:tr>
              <a:tr h="364101">
                <a:tc>
                  <a:txBody>
                    <a:bodyPr/>
                    <a:lstStyle/>
                    <a:p>
                      <a:pPr marL="0" marR="0">
                        <a:lnSpc>
                          <a:spcPct val="107000"/>
                        </a:lnSpc>
                        <a:spcBef>
                          <a:spcPts val="0"/>
                        </a:spcBef>
                        <a:spcAft>
                          <a:spcPts val="0"/>
                        </a:spcAft>
                        <a:tabLst>
                          <a:tab pos="381000" algn="l"/>
                          <a:tab pos="5943600" algn="r"/>
                        </a:tabLst>
                      </a:pPr>
                      <a:r>
                        <a:rPr lang="en-US" sz="1600">
                          <a:effectLst/>
                        </a:rPr>
                        <a:t>Operation Impulse withstand voltage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a:effectLst/>
                        </a:rPr>
                        <a:t>1600KV&amp;550KV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45978016"/>
                  </a:ext>
                </a:extLst>
              </a:tr>
              <a:tr h="364101">
                <a:tc>
                  <a:txBody>
                    <a:bodyPr/>
                    <a:lstStyle/>
                    <a:p>
                      <a:pPr marL="0" marR="0">
                        <a:lnSpc>
                          <a:spcPct val="107000"/>
                        </a:lnSpc>
                        <a:spcBef>
                          <a:spcPts val="0"/>
                        </a:spcBef>
                        <a:spcAft>
                          <a:spcPts val="0"/>
                        </a:spcAft>
                        <a:tabLst>
                          <a:tab pos="381000" algn="l"/>
                          <a:tab pos="5943600" algn="r"/>
                        </a:tabLst>
                      </a:pPr>
                      <a:r>
                        <a:rPr lang="en-US" sz="1600" dirty="0">
                          <a:effectLst/>
                        </a:rPr>
                        <a:t>Rated Secondary output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a:effectLst/>
                        </a:rPr>
                        <a:t>5V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9952661"/>
                  </a:ext>
                </a:extLst>
              </a:tr>
              <a:tr h="364101">
                <a:tc>
                  <a:txBody>
                    <a:bodyPr/>
                    <a:lstStyle/>
                    <a:p>
                      <a:pPr marL="0" marR="0">
                        <a:lnSpc>
                          <a:spcPct val="107000"/>
                        </a:lnSpc>
                        <a:spcBef>
                          <a:spcPts val="0"/>
                        </a:spcBef>
                        <a:spcAft>
                          <a:spcPts val="0"/>
                        </a:spcAft>
                        <a:tabLst>
                          <a:tab pos="381000" algn="l"/>
                          <a:tab pos="5943600" algn="r"/>
                        </a:tabLst>
                      </a:pPr>
                      <a:r>
                        <a:rPr lang="en-US" sz="1600">
                          <a:effectLst/>
                        </a:rPr>
                        <a:t>Voltage Measurement Accuracy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a:effectLst/>
                        </a:rPr>
                        <a:t>0.2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62004498"/>
                  </a:ext>
                </a:extLst>
              </a:tr>
              <a:tr h="364101">
                <a:tc>
                  <a:txBody>
                    <a:bodyPr/>
                    <a:lstStyle/>
                    <a:p>
                      <a:pPr marL="0" marR="0">
                        <a:lnSpc>
                          <a:spcPct val="107000"/>
                        </a:lnSpc>
                        <a:spcBef>
                          <a:spcPts val="0"/>
                        </a:spcBef>
                        <a:spcAft>
                          <a:spcPts val="0"/>
                        </a:spcAft>
                        <a:tabLst>
                          <a:tab pos="381000" algn="l"/>
                          <a:tab pos="5943600" algn="r"/>
                        </a:tabLst>
                      </a:pPr>
                      <a:r>
                        <a:rPr lang="en-US" sz="1600">
                          <a:effectLst/>
                        </a:rPr>
                        <a:t>Rated Gas Pressure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a:effectLst/>
                        </a:rPr>
                        <a:t>0.35 Mpa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98478910"/>
                  </a:ext>
                </a:extLst>
              </a:tr>
              <a:tr h="364101">
                <a:tc>
                  <a:txBody>
                    <a:bodyPr/>
                    <a:lstStyle/>
                    <a:p>
                      <a:pPr marL="0" marR="0">
                        <a:lnSpc>
                          <a:spcPct val="107000"/>
                        </a:lnSpc>
                        <a:spcBef>
                          <a:spcPts val="0"/>
                        </a:spcBef>
                        <a:spcAft>
                          <a:spcPts val="0"/>
                        </a:spcAft>
                        <a:tabLst>
                          <a:tab pos="381000" algn="l"/>
                          <a:tab pos="5943600" algn="r"/>
                        </a:tabLst>
                      </a:pPr>
                      <a:r>
                        <a:rPr lang="en-US" sz="1600">
                          <a:effectLst/>
                        </a:rPr>
                        <a:t>Working Environment temperature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a:effectLst/>
                        </a:rPr>
                        <a:t>-40 to +70 degree centigrade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75767477"/>
                  </a:ext>
                </a:extLst>
              </a:tr>
              <a:tr h="364101">
                <a:tc>
                  <a:txBody>
                    <a:bodyPr/>
                    <a:lstStyle/>
                    <a:p>
                      <a:pPr marL="0" marR="0">
                        <a:lnSpc>
                          <a:spcPct val="107000"/>
                        </a:lnSpc>
                        <a:spcBef>
                          <a:spcPts val="0"/>
                        </a:spcBef>
                        <a:spcAft>
                          <a:spcPts val="0"/>
                        </a:spcAft>
                        <a:tabLst>
                          <a:tab pos="381000" algn="l"/>
                          <a:tab pos="5943600" algn="r"/>
                        </a:tabLst>
                      </a:pPr>
                      <a:r>
                        <a:rPr lang="en-US" sz="1600">
                          <a:effectLst/>
                        </a:rPr>
                        <a:t>Alarm gas pressure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a:effectLst/>
                        </a:rPr>
                        <a:t>0.30/ 0.27 Mpa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86419908"/>
                  </a:ext>
                </a:extLst>
              </a:tr>
              <a:tr h="364101">
                <a:tc>
                  <a:txBody>
                    <a:bodyPr/>
                    <a:lstStyle/>
                    <a:p>
                      <a:pPr marL="0" marR="0">
                        <a:lnSpc>
                          <a:spcPct val="107000"/>
                        </a:lnSpc>
                        <a:spcBef>
                          <a:spcPts val="0"/>
                        </a:spcBef>
                        <a:spcAft>
                          <a:spcPts val="0"/>
                        </a:spcAft>
                        <a:tabLst>
                          <a:tab pos="381000" algn="l"/>
                          <a:tab pos="5943600" algn="r"/>
                        </a:tabLst>
                      </a:pPr>
                      <a:r>
                        <a:rPr lang="en-US" sz="1600">
                          <a:effectLst/>
                        </a:rPr>
                        <a:t>Lock Air pressure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a:effectLst/>
                        </a:rPr>
                        <a:t>0.22 Mpa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8232690"/>
                  </a:ext>
                </a:extLst>
              </a:tr>
              <a:tr h="364101">
                <a:tc>
                  <a:txBody>
                    <a:bodyPr/>
                    <a:lstStyle/>
                    <a:p>
                      <a:pPr marL="0" marR="0">
                        <a:lnSpc>
                          <a:spcPct val="107000"/>
                        </a:lnSpc>
                        <a:spcBef>
                          <a:spcPts val="0"/>
                        </a:spcBef>
                        <a:spcAft>
                          <a:spcPts val="0"/>
                        </a:spcAft>
                        <a:tabLst>
                          <a:tab pos="381000" algn="l"/>
                          <a:tab pos="5943600" algn="r"/>
                        </a:tabLst>
                      </a:pPr>
                      <a:r>
                        <a:rPr lang="en-US" sz="1600">
                          <a:effectLst/>
                        </a:rPr>
                        <a:t>Working Environment temperature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a:effectLst/>
                        </a:rPr>
                        <a:t>-40 to +70 degree centigrade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16507960"/>
                  </a:ext>
                </a:extLst>
              </a:tr>
              <a:tr h="364101">
                <a:tc>
                  <a:txBody>
                    <a:bodyPr/>
                    <a:lstStyle/>
                    <a:p>
                      <a:pPr marL="0" marR="0">
                        <a:lnSpc>
                          <a:spcPct val="107000"/>
                        </a:lnSpc>
                        <a:spcBef>
                          <a:spcPts val="0"/>
                        </a:spcBef>
                        <a:spcAft>
                          <a:spcPts val="0"/>
                        </a:spcAft>
                        <a:tabLst>
                          <a:tab pos="381000" algn="l"/>
                          <a:tab pos="5943600" algn="r"/>
                        </a:tabLst>
                      </a:pPr>
                      <a:r>
                        <a:rPr lang="en-US" sz="1600">
                          <a:effectLst/>
                        </a:rPr>
                        <a:t>Weight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tabLst>
                          <a:tab pos="381000" algn="l"/>
                          <a:tab pos="5943600" algn="r"/>
                        </a:tabLst>
                      </a:pPr>
                      <a:r>
                        <a:rPr lang="en-US" sz="1600" dirty="0">
                          <a:effectLst/>
                        </a:rPr>
                        <a:t>4000Kg &amp; 330Kg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90869256"/>
                  </a:ext>
                </a:extLst>
              </a:tr>
            </a:tbl>
          </a:graphicData>
        </a:graphic>
      </p:graphicFrame>
    </p:spTree>
    <p:extLst>
      <p:ext uri="{BB962C8B-B14F-4D97-AF65-F5344CB8AC3E}">
        <p14:creationId xmlns:p14="http://schemas.microsoft.com/office/powerpoint/2010/main" val="1238750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377DA-7BEC-4B06-88E5-F9FF1774BAAF}"/>
              </a:ext>
            </a:extLst>
          </p:cNvPr>
          <p:cNvSpPr>
            <a:spLocks noGrp="1"/>
          </p:cNvSpPr>
          <p:nvPr>
            <p:ph type="title"/>
          </p:nvPr>
        </p:nvSpPr>
        <p:spPr>
          <a:xfrm>
            <a:off x="749300" y="200660"/>
            <a:ext cx="8136128" cy="1325562"/>
          </a:xfrm>
        </p:spPr>
        <p:txBody>
          <a:bodyPr/>
          <a:lstStyle/>
          <a:p>
            <a:r>
              <a:rPr lang="en-US" dirty="0"/>
              <a:t>Maintenance Instruction:</a:t>
            </a:r>
          </a:p>
        </p:txBody>
      </p:sp>
      <p:graphicFrame>
        <p:nvGraphicFramePr>
          <p:cNvPr id="4" name="Content Placeholder 3">
            <a:extLst>
              <a:ext uri="{FF2B5EF4-FFF2-40B4-BE49-F238E27FC236}">
                <a16:creationId xmlns:a16="http://schemas.microsoft.com/office/drawing/2014/main" id="{6AA6F083-B0E6-4774-91C3-BDF335E4093A}"/>
              </a:ext>
            </a:extLst>
          </p:cNvPr>
          <p:cNvGraphicFramePr>
            <a:graphicFrameLocks noGrp="1"/>
          </p:cNvGraphicFramePr>
          <p:nvPr>
            <p:ph idx="1"/>
            <p:extLst>
              <p:ext uri="{D42A27DB-BD31-4B8C-83A1-F6EECF244321}">
                <p14:modId xmlns:p14="http://schemas.microsoft.com/office/powerpoint/2010/main" val="1581490669"/>
              </p:ext>
            </p:extLst>
          </p:nvPr>
        </p:nvGraphicFramePr>
        <p:xfrm>
          <a:off x="927100" y="1656522"/>
          <a:ext cx="9359900" cy="4714980"/>
        </p:xfrm>
        <a:graphic>
          <a:graphicData uri="http://schemas.openxmlformats.org/drawingml/2006/table">
            <a:tbl>
              <a:tblPr firstRow="1" firstCol="1" bandRow="1">
                <a:tableStyleId>{5C22544A-7EE6-4342-B048-85BDC9FD1C3A}</a:tableStyleId>
              </a:tblPr>
              <a:tblGrid>
                <a:gridCol w="805853">
                  <a:extLst>
                    <a:ext uri="{9D8B030D-6E8A-4147-A177-3AD203B41FA5}">
                      <a16:colId xmlns:a16="http://schemas.microsoft.com/office/drawing/2014/main" val="3302252337"/>
                    </a:ext>
                  </a:extLst>
                </a:gridCol>
                <a:gridCol w="2902547">
                  <a:extLst>
                    <a:ext uri="{9D8B030D-6E8A-4147-A177-3AD203B41FA5}">
                      <a16:colId xmlns:a16="http://schemas.microsoft.com/office/drawing/2014/main" val="3528910338"/>
                    </a:ext>
                  </a:extLst>
                </a:gridCol>
                <a:gridCol w="1422400">
                  <a:extLst>
                    <a:ext uri="{9D8B030D-6E8A-4147-A177-3AD203B41FA5}">
                      <a16:colId xmlns:a16="http://schemas.microsoft.com/office/drawing/2014/main" val="86859198"/>
                    </a:ext>
                  </a:extLst>
                </a:gridCol>
                <a:gridCol w="4229100">
                  <a:extLst>
                    <a:ext uri="{9D8B030D-6E8A-4147-A177-3AD203B41FA5}">
                      <a16:colId xmlns:a16="http://schemas.microsoft.com/office/drawing/2014/main" val="2244953951"/>
                    </a:ext>
                  </a:extLst>
                </a:gridCol>
              </a:tblGrid>
              <a:tr h="432482">
                <a:tc>
                  <a:txBody>
                    <a:bodyPr/>
                    <a:lstStyle/>
                    <a:p>
                      <a:pPr marL="0" marR="0">
                        <a:lnSpc>
                          <a:spcPct val="107000"/>
                        </a:lnSpc>
                        <a:spcBef>
                          <a:spcPts val="0"/>
                        </a:spcBef>
                        <a:spcAft>
                          <a:spcPts val="0"/>
                        </a:spcAft>
                        <a:tabLst>
                          <a:tab pos="4619625" algn="l"/>
                        </a:tabLst>
                      </a:pPr>
                      <a:r>
                        <a:rPr lang="en-US" sz="2000">
                          <a:effectLst/>
                        </a:rPr>
                        <a:t>Sr#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nSpc>
                          <a:spcPct val="107000"/>
                        </a:lnSpc>
                        <a:spcBef>
                          <a:spcPts val="0"/>
                        </a:spcBef>
                        <a:spcAft>
                          <a:spcPts val="0"/>
                        </a:spcAft>
                        <a:tabLst>
                          <a:tab pos="4619625" algn="l"/>
                        </a:tabLst>
                      </a:pPr>
                      <a:r>
                        <a:rPr lang="en-US" sz="2000">
                          <a:effectLst/>
                        </a:rPr>
                        <a:t>Name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nSpc>
                          <a:spcPct val="107000"/>
                        </a:lnSpc>
                        <a:spcBef>
                          <a:spcPts val="0"/>
                        </a:spcBef>
                        <a:spcAft>
                          <a:spcPts val="0"/>
                        </a:spcAft>
                        <a:tabLst>
                          <a:tab pos="4619625" algn="l"/>
                        </a:tabLst>
                      </a:pPr>
                      <a:r>
                        <a:rPr lang="en-US" sz="2000" dirty="0">
                          <a:effectLst/>
                        </a:rPr>
                        <a:t>Period</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nSpc>
                          <a:spcPct val="107000"/>
                        </a:lnSpc>
                        <a:spcBef>
                          <a:spcPts val="0"/>
                        </a:spcBef>
                        <a:spcAft>
                          <a:spcPts val="0"/>
                        </a:spcAft>
                        <a:tabLst>
                          <a:tab pos="4619625" algn="l"/>
                        </a:tabLst>
                      </a:pPr>
                      <a:r>
                        <a:rPr lang="en-US" sz="2000" dirty="0">
                          <a:effectLst/>
                        </a:rPr>
                        <a:t>Requirement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extLst>
                  <a:ext uri="{0D108BD9-81ED-4DB2-BD59-A6C34878D82A}">
                    <a16:rowId xmlns:a16="http://schemas.microsoft.com/office/drawing/2014/main" val="1437006495"/>
                  </a:ext>
                </a:extLst>
              </a:tr>
              <a:tr h="690101">
                <a:tc>
                  <a:txBody>
                    <a:bodyPr/>
                    <a:lstStyle/>
                    <a:p>
                      <a:pPr marL="0" marR="0">
                        <a:lnSpc>
                          <a:spcPct val="107000"/>
                        </a:lnSpc>
                        <a:spcBef>
                          <a:spcPts val="0"/>
                        </a:spcBef>
                        <a:spcAft>
                          <a:spcPts val="0"/>
                        </a:spcAft>
                        <a:tabLst>
                          <a:tab pos="4619625" algn="l"/>
                        </a:tabLst>
                      </a:pPr>
                      <a:r>
                        <a:rPr lang="en-US" sz="900">
                          <a:effectLst/>
                        </a:rPr>
                        <a:t> </a:t>
                      </a:r>
                      <a:endParaRPr lang="en-US" sz="700">
                        <a:effectLst/>
                      </a:endParaRPr>
                    </a:p>
                    <a:p>
                      <a:pPr marL="0" marR="0">
                        <a:lnSpc>
                          <a:spcPct val="107000"/>
                        </a:lnSpc>
                        <a:spcBef>
                          <a:spcPts val="0"/>
                        </a:spcBef>
                        <a:spcAft>
                          <a:spcPts val="0"/>
                        </a:spcAft>
                        <a:tabLst>
                          <a:tab pos="4619625" algn="l"/>
                        </a:tabLst>
                      </a:pPr>
                      <a:r>
                        <a:rPr lang="en-US" sz="900">
                          <a:effectLst/>
                        </a:rPr>
                        <a:t> </a:t>
                      </a:r>
                      <a:endParaRPr lang="en-US" sz="700">
                        <a:effectLst/>
                      </a:endParaRPr>
                    </a:p>
                    <a:p>
                      <a:pPr marL="0" marR="0">
                        <a:lnSpc>
                          <a:spcPct val="107000"/>
                        </a:lnSpc>
                        <a:spcBef>
                          <a:spcPts val="0"/>
                        </a:spcBef>
                        <a:spcAft>
                          <a:spcPts val="0"/>
                        </a:spcAft>
                        <a:tabLst>
                          <a:tab pos="4619625" algn="l"/>
                        </a:tabLst>
                      </a:pPr>
                      <a:r>
                        <a:rPr lang="en-US" sz="900">
                          <a:effectLst/>
                        </a:rPr>
                        <a:t>1</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gn="ctr">
                        <a:lnSpc>
                          <a:spcPct val="107000"/>
                        </a:lnSpc>
                        <a:spcBef>
                          <a:spcPts val="0"/>
                        </a:spcBef>
                        <a:spcAft>
                          <a:spcPts val="0"/>
                        </a:spcAft>
                        <a:tabLst>
                          <a:tab pos="4619625" algn="l"/>
                        </a:tabLst>
                      </a:pPr>
                      <a:r>
                        <a:rPr lang="en-US" sz="1200">
                          <a:effectLst/>
                        </a:rPr>
                        <a:t> </a:t>
                      </a:r>
                      <a:endParaRPr lang="en-US" sz="1050">
                        <a:effectLst/>
                      </a:endParaRPr>
                    </a:p>
                    <a:p>
                      <a:pPr marL="0" marR="0" algn="ctr">
                        <a:lnSpc>
                          <a:spcPct val="107000"/>
                        </a:lnSpc>
                        <a:spcBef>
                          <a:spcPts val="0"/>
                        </a:spcBef>
                        <a:spcAft>
                          <a:spcPts val="0"/>
                        </a:spcAft>
                        <a:tabLst>
                          <a:tab pos="4619625" algn="l"/>
                        </a:tabLst>
                      </a:pPr>
                      <a:r>
                        <a:rPr lang="en-US" sz="1200">
                          <a:effectLst/>
                        </a:rPr>
                        <a:t> </a:t>
                      </a:r>
                      <a:endParaRPr lang="en-US" sz="1050">
                        <a:effectLst/>
                      </a:endParaRPr>
                    </a:p>
                    <a:p>
                      <a:pPr marL="0" marR="0" algn="ctr">
                        <a:lnSpc>
                          <a:spcPct val="107000"/>
                        </a:lnSpc>
                        <a:spcBef>
                          <a:spcPts val="0"/>
                        </a:spcBef>
                        <a:spcAft>
                          <a:spcPts val="0"/>
                        </a:spcAft>
                        <a:tabLst>
                          <a:tab pos="4619625" algn="l"/>
                        </a:tabLst>
                      </a:pPr>
                      <a:r>
                        <a:rPr lang="en-US" sz="1200">
                          <a:effectLst/>
                        </a:rPr>
                        <a:t>Infrared Temperature Measurement</a:t>
                      </a:r>
                      <a:endParaRPr lang="en-US" sz="105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gn="ctr">
                        <a:lnSpc>
                          <a:spcPct val="107000"/>
                        </a:lnSpc>
                        <a:spcBef>
                          <a:spcPts val="0"/>
                        </a:spcBef>
                        <a:spcAft>
                          <a:spcPts val="0"/>
                        </a:spcAft>
                        <a:tabLst>
                          <a:tab pos="4619625" algn="l"/>
                        </a:tabLst>
                      </a:pPr>
                      <a:r>
                        <a:rPr lang="en-US" sz="1200" dirty="0">
                          <a:effectLst/>
                        </a:rPr>
                        <a:t> </a:t>
                      </a:r>
                      <a:endParaRPr lang="en-US" sz="1050" dirty="0">
                        <a:effectLst/>
                      </a:endParaRPr>
                    </a:p>
                    <a:p>
                      <a:pPr marL="0" marR="0" algn="ctr">
                        <a:lnSpc>
                          <a:spcPct val="107000"/>
                        </a:lnSpc>
                        <a:spcBef>
                          <a:spcPts val="0"/>
                        </a:spcBef>
                        <a:spcAft>
                          <a:spcPts val="0"/>
                        </a:spcAft>
                        <a:tabLst>
                          <a:tab pos="4619625" algn="l"/>
                        </a:tabLst>
                      </a:pPr>
                      <a:r>
                        <a:rPr lang="en-US" sz="1200" dirty="0">
                          <a:effectLst/>
                        </a:rPr>
                        <a:t> </a:t>
                      </a:r>
                      <a:endParaRPr lang="en-US" sz="1050" dirty="0">
                        <a:effectLst/>
                      </a:endParaRPr>
                    </a:p>
                    <a:p>
                      <a:pPr marL="0" marR="0" algn="ctr">
                        <a:lnSpc>
                          <a:spcPct val="107000"/>
                        </a:lnSpc>
                        <a:spcBef>
                          <a:spcPts val="0"/>
                        </a:spcBef>
                        <a:spcAft>
                          <a:spcPts val="0"/>
                        </a:spcAft>
                        <a:tabLst>
                          <a:tab pos="4619625" algn="l"/>
                        </a:tabLst>
                      </a:pPr>
                      <a:r>
                        <a:rPr lang="en-US" sz="1200" dirty="0">
                          <a:effectLst/>
                        </a:rPr>
                        <a:t>1 Month</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nSpc>
                          <a:spcPct val="107000"/>
                        </a:lnSpc>
                        <a:spcBef>
                          <a:spcPts val="0"/>
                        </a:spcBef>
                        <a:spcAft>
                          <a:spcPts val="0"/>
                        </a:spcAft>
                        <a:tabLst>
                          <a:tab pos="4619625" algn="l"/>
                        </a:tabLst>
                      </a:pPr>
                      <a:r>
                        <a:rPr lang="en-US" sz="1400" dirty="0">
                          <a:effectLst/>
                        </a:rPr>
                        <a:t>There shall be no obvious temperature difference between similar equipment’s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extLst>
                  <a:ext uri="{0D108BD9-81ED-4DB2-BD59-A6C34878D82A}">
                    <a16:rowId xmlns:a16="http://schemas.microsoft.com/office/drawing/2014/main" val="1074555515"/>
                  </a:ext>
                </a:extLst>
              </a:tr>
              <a:tr h="852714">
                <a:tc>
                  <a:txBody>
                    <a:bodyPr/>
                    <a:lstStyle/>
                    <a:p>
                      <a:pPr marL="0" marR="0">
                        <a:lnSpc>
                          <a:spcPct val="107000"/>
                        </a:lnSpc>
                        <a:spcBef>
                          <a:spcPts val="0"/>
                        </a:spcBef>
                        <a:spcAft>
                          <a:spcPts val="0"/>
                        </a:spcAft>
                        <a:tabLst>
                          <a:tab pos="4619625" algn="l"/>
                        </a:tabLst>
                      </a:pPr>
                      <a:r>
                        <a:rPr lang="en-US" sz="900">
                          <a:effectLst/>
                        </a:rPr>
                        <a:t> </a:t>
                      </a:r>
                      <a:endParaRPr lang="en-US" sz="700">
                        <a:effectLst/>
                      </a:endParaRPr>
                    </a:p>
                    <a:p>
                      <a:pPr marL="0" marR="0">
                        <a:lnSpc>
                          <a:spcPct val="107000"/>
                        </a:lnSpc>
                        <a:spcBef>
                          <a:spcPts val="0"/>
                        </a:spcBef>
                        <a:spcAft>
                          <a:spcPts val="0"/>
                        </a:spcAft>
                        <a:tabLst>
                          <a:tab pos="4619625" algn="l"/>
                        </a:tabLst>
                      </a:pPr>
                      <a:r>
                        <a:rPr lang="en-US" sz="900">
                          <a:effectLst/>
                        </a:rPr>
                        <a:t> </a:t>
                      </a:r>
                      <a:endParaRPr lang="en-US" sz="700">
                        <a:effectLst/>
                      </a:endParaRPr>
                    </a:p>
                    <a:p>
                      <a:pPr marL="0" marR="0">
                        <a:lnSpc>
                          <a:spcPct val="107000"/>
                        </a:lnSpc>
                        <a:spcBef>
                          <a:spcPts val="0"/>
                        </a:spcBef>
                        <a:spcAft>
                          <a:spcPts val="0"/>
                        </a:spcAft>
                        <a:tabLst>
                          <a:tab pos="4619625" algn="l"/>
                        </a:tabLst>
                      </a:pPr>
                      <a:r>
                        <a:rPr lang="en-US" sz="900">
                          <a:effectLst/>
                        </a:rPr>
                        <a:t> </a:t>
                      </a:r>
                      <a:endParaRPr lang="en-US" sz="700">
                        <a:effectLst/>
                      </a:endParaRPr>
                    </a:p>
                    <a:p>
                      <a:pPr marL="0" marR="0">
                        <a:lnSpc>
                          <a:spcPct val="107000"/>
                        </a:lnSpc>
                        <a:spcBef>
                          <a:spcPts val="0"/>
                        </a:spcBef>
                        <a:spcAft>
                          <a:spcPts val="0"/>
                        </a:spcAft>
                        <a:tabLst>
                          <a:tab pos="4619625" algn="l"/>
                        </a:tabLst>
                      </a:pPr>
                      <a:r>
                        <a:rPr lang="en-US" sz="900">
                          <a:effectLst/>
                        </a:rPr>
                        <a:t>2</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gn="ctr">
                        <a:lnSpc>
                          <a:spcPct val="107000"/>
                        </a:lnSpc>
                        <a:spcBef>
                          <a:spcPts val="0"/>
                        </a:spcBef>
                        <a:spcAft>
                          <a:spcPts val="0"/>
                        </a:spcAft>
                        <a:tabLst>
                          <a:tab pos="4619625" algn="l"/>
                        </a:tabLst>
                      </a:pPr>
                      <a:r>
                        <a:rPr lang="en-US" sz="1200">
                          <a:effectLst/>
                        </a:rPr>
                        <a:t> </a:t>
                      </a:r>
                      <a:endParaRPr lang="en-US" sz="1050">
                        <a:effectLst/>
                      </a:endParaRPr>
                    </a:p>
                    <a:p>
                      <a:pPr marL="0" marR="0" algn="ctr">
                        <a:lnSpc>
                          <a:spcPct val="107000"/>
                        </a:lnSpc>
                        <a:spcBef>
                          <a:spcPts val="0"/>
                        </a:spcBef>
                        <a:spcAft>
                          <a:spcPts val="0"/>
                        </a:spcAft>
                        <a:tabLst>
                          <a:tab pos="4619625" algn="l"/>
                        </a:tabLst>
                      </a:pPr>
                      <a:r>
                        <a:rPr lang="en-US" sz="1200">
                          <a:effectLst/>
                        </a:rPr>
                        <a:t> </a:t>
                      </a:r>
                      <a:endParaRPr lang="en-US" sz="1050">
                        <a:effectLst/>
                      </a:endParaRPr>
                    </a:p>
                    <a:p>
                      <a:pPr marL="0" marR="0" algn="ctr">
                        <a:lnSpc>
                          <a:spcPct val="107000"/>
                        </a:lnSpc>
                        <a:spcBef>
                          <a:spcPts val="0"/>
                        </a:spcBef>
                        <a:spcAft>
                          <a:spcPts val="0"/>
                        </a:spcAft>
                        <a:tabLst>
                          <a:tab pos="4619625" algn="l"/>
                        </a:tabLst>
                      </a:pPr>
                      <a:r>
                        <a:rPr lang="en-US" sz="1200">
                          <a:effectLst/>
                        </a:rPr>
                        <a:t> </a:t>
                      </a:r>
                      <a:endParaRPr lang="en-US" sz="1050">
                        <a:effectLst/>
                      </a:endParaRPr>
                    </a:p>
                    <a:p>
                      <a:pPr marL="0" marR="0" algn="ctr">
                        <a:lnSpc>
                          <a:spcPct val="107000"/>
                        </a:lnSpc>
                        <a:spcBef>
                          <a:spcPts val="0"/>
                        </a:spcBef>
                        <a:spcAft>
                          <a:spcPts val="0"/>
                        </a:spcAft>
                        <a:tabLst>
                          <a:tab pos="4619625" algn="l"/>
                        </a:tabLst>
                      </a:pPr>
                      <a:r>
                        <a:rPr lang="en-US" sz="1200">
                          <a:effectLst/>
                        </a:rPr>
                        <a:t>       Ultraviolet patrol </a:t>
                      </a:r>
                      <a:endParaRPr lang="en-US" sz="105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gn="ctr">
                        <a:lnSpc>
                          <a:spcPct val="107000"/>
                        </a:lnSpc>
                        <a:spcBef>
                          <a:spcPts val="0"/>
                        </a:spcBef>
                        <a:spcAft>
                          <a:spcPts val="0"/>
                        </a:spcAft>
                        <a:tabLst>
                          <a:tab pos="4619625" algn="l"/>
                        </a:tabLst>
                      </a:pPr>
                      <a:r>
                        <a:rPr lang="en-US" sz="1200" dirty="0">
                          <a:effectLst/>
                        </a:rPr>
                        <a:t> </a:t>
                      </a:r>
                      <a:endParaRPr lang="en-US" sz="1050" dirty="0">
                        <a:effectLst/>
                      </a:endParaRPr>
                    </a:p>
                    <a:p>
                      <a:pPr marL="0" marR="0" algn="ctr">
                        <a:lnSpc>
                          <a:spcPct val="107000"/>
                        </a:lnSpc>
                        <a:spcBef>
                          <a:spcPts val="0"/>
                        </a:spcBef>
                        <a:spcAft>
                          <a:spcPts val="0"/>
                        </a:spcAft>
                        <a:tabLst>
                          <a:tab pos="4619625" algn="l"/>
                        </a:tabLst>
                      </a:pPr>
                      <a:r>
                        <a:rPr lang="en-US" sz="1200" dirty="0">
                          <a:effectLst/>
                        </a:rPr>
                        <a:t> </a:t>
                      </a:r>
                    </a:p>
                    <a:p>
                      <a:pPr marL="0" marR="0" algn="ctr">
                        <a:lnSpc>
                          <a:spcPct val="107000"/>
                        </a:lnSpc>
                        <a:spcBef>
                          <a:spcPts val="0"/>
                        </a:spcBef>
                        <a:spcAft>
                          <a:spcPts val="0"/>
                        </a:spcAft>
                        <a:tabLst>
                          <a:tab pos="4619625" algn="l"/>
                        </a:tabLst>
                      </a:pPr>
                      <a:r>
                        <a:rPr lang="en-US" sz="1200" dirty="0">
                          <a:effectLst/>
                        </a:rPr>
                        <a:t>  1 year</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nSpc>
                          <a:spcPct val="107000"/>
                        </a:lnSpc>
                        <a:spcBef>
                          <a:spcPts val="0"/>
                        </a:spcBef>
                        <a:spcAft>
                          <a:spcPts val="0"/>
                        </a:spcAft>
                        <a:tabLst>
                          <a:tab pos="4619625" algn="l"/>
                        </a:tabLst>
                      </a:pPr>
                      <a:r>
                        <a:rPr lang="en-US" sz="1400" dirty="0">
                          <a:effectLst/>
                        </a:rPr>
                        <a:t> </a:t>
                      </a:r>
                      <a:endParaRPr lang="en-US" sz="1100" dirty="0">
                        <a:effectLst/>
                      </a:endParaRPr>
                    </a:p>
                    <a:p>
                      <a:pPr marL="0" marR="0">
                        <a:lnSpc>
                          <a:spcPct val="107000"/>
                        </a:lnSpc>
                        <a:spcBef>
                          <a:spcPts val="0"/>
                        </a:spcBef>
                        <a:spcAft>
                          <a:spcPts val="0"/>
                        </a:spcAft>
                        <a:tabLst>
                          <a:tab pos="4619625" algn="l"/>
                        </a:tabLst>
                      </a:pPr>
                      <a:r>
                        <a:rPr lang="en-US" sz="1400" dirty="0">
                          <a:effectLst/>
                        </a:rPr>
                        <a:t>Ultraviolet control equipment and conductor connection, no obvious discharge point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extLst>
                  <a:ext uri="{0D108BD9-81ED-4DB2-BD59-A6C34878D82A}">
                    <a16:rowId xmlns:a16="http://schemas.microsoft.com/office/drawing/2014/main" val="3099756223"/>
                  </a:ext>
                </a:extLst>
              </a:tr>
              <a:tr h="514627">
                <a:tc>
                  <a:txBody>
                    <a:bodyPr/>
                    <a:lstStyle/>
                    <a:p>
                      <a:pPr marL="0" marR="0">
                        <a:lnSpc>
                          <a:spcPct val="107000"/>
                        </a:lnSpc>
                        <a:spcBef>
                          <a:spcPts val="0"/>
                        </a:spcBef>
                        <a:spcAft>
                          <a:spcPts val="0"/>
                        </a:spcAft>
                        <a:tabLst>
                          <a:tab pos="4619625" algn="l"/>
                        </a:tabLst>
                      </a:pPr>
                      <a:r>
                        <a:rPr lang="en-US" sz="900">
                          <a:effectLst/>
                        </a:rPr>
                        <a:t> </a:t>
                      </a:r>
                      <a:endParaRPr lang="en-US" sz="700">
                        <a:effectLst/>
                      </a:endParaRPr>
                    </a:p>
                    <a:p>
                      <a:pPr marL="0" marR="0">
                        <a:lnSpc>
                          <a:spcPct val="107000"/>
                        </a:lnSpc>
                        <a:spcBef>
                          <a:spcPts val="0"/>
                        </a:spcBef>
                        <a:spcAft>
                          <a:spcPts val="0"/>
                        </a:spcAft>
                        <a:tabLst>
                          <a:tab pos="4619625" algn="l"/>
                        </a:tabLst>
                      </a:pPr>
                      <a:r>
                        <a:rPr lang="en-US" sz="900">
                          <a:effectLst/>
                        </a:rPr>
                        <a:t>3</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gn="ctr">
                        <a:lnSpc>
                          <a:spcPct val="107000"/>
                        </a:lnSpc>
                        <a:spcBef>
                          <a:spcPts val="0"/>
                        </a:spcBef>
                        <a:spcAft>
                          <a:spcPts val="0"/>
                        </a:spcAft>
                        <a:tabLst>
                          <a:tab pos="4619625" algn="l"/>
                        </a:tabLst>
                      </a:pPr>
                      <a:r>
                        <a:rPr lang="en-US" sz="1200">
                          <a:effectLst/>
                        </a:rPr>
                        <a:t> </a:t>
                      </a:r>
                      <a:endParaRPr lang="en-US" sz="1050">
                        <a:effectLst/>
                      </a:endParaRPr>
                    </a:p>
                    <a:p>
                      <a:pPr marL="0" marR="0" algn="ctr">
                        <a:lnSpc>
                          <a:spcPct val="107000"/>
                        </a:lnSpc>
                        <a:spcBef>
                          <a:spcPts val="0"/>
                        </a:spcBef>
                        <a:spcAft>
                          <a:spcPts val="0"/>
                        </a:spcAft>
                        <a:tabLst>
                          <a:tab pos="4619625" algn="l"/>
                        </a:tabLst>
                      </a:pPr>
                      <a:r>
                        <a:rPr lang="en-US" sz="1200">
                          <a:effectLst/>
                        </a:rPr>
                        <a:t>Metal Component Inspection </a:t>
                      </a:r>
                      <a:endParaRPr lang="en-US" sz="105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gn="ctr">
                        <a:lnSpc>
                          <a:spcPct val="107000"/>
                        </a:lnSpc>
                        <a:spcBef>
                          <a:spcPts val="0"/>
                        </a:spcBef>
                        <a:spcAft>
                          <a:spcPts val="0"/>
                        </a:spcAft>
                        <a:tabLst>
                          <a:tab pos="4619625" algn="l"/>
                        </a:tabLst>
                      </a:pPr>
                      <a:r>
                        <a:rPr lang="en-US" sz="1200">
                          <a:effectLst/>
                        </a:rPr>
                        <a:t> </a:t>
                      </a:r>
                      <a:endParaRPr lang="en-US" sz="1050">
                        <a:effectLst/>
                      </a:endParaRPr>
                    </a:p>
                    <a:p>
                      <a:pPr marL="0" marR="0" algn="ctr">
                        <a:lnSpc>
                          <a:spcPct val="107000"/>
                        </a:lnSpc>
                        <a:spcBef>
                          <a:spcPts val="0"/>
                        </a:spcBef>
                        <a:spcAft>
                          <a:spcPts val="0"/>
                        </a:spcAft>
                        <a:tabLst>
                          <a:tab pos="4619625" algn="l"/>
                        </a:tabLst>
                      </a:pPr>
                      <a:r>
                        <a:rPr lang="en-US" sz="1200">
                          <a:effectLst/>
                        </a:rPr>
                        <a:t>   1 Month </a:t>
                      </a:r>
                      <a:endParaRPr lang="en-US" sz="105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nSpc>
                          <a:spcPct val="107000"/>
                        </a:lnSpc>
                        <a:spcBef>
                          <a:spcPts val="0"/>
                        </a:spcBef>
                        <a:spcAft>
                          <a:spcPts val="0"/>
                        </a:spcAft>
                        <a:tabLst>
                          <a:tab pos="4619625" algn="l"/>
                        </a:tabLst>
                      </a:pPr>
                      <a:r>
                        <a:rPr lang="en-US" sz="1400" dirty="0">
                          <a:effectLst/>
                        </a:rPr>
                        <a:t>All the metal components are not rusted, no heat discoloration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extLst>
                  <a:ext uri="{0D108BD9-81ED-4DB2-BD59-A6C34878D82A}">
                    <a16:rowId xmlns:a16="http://schemas.microsoft.com/office/drawing/2014/main" val="1825472690"/>
                  </a:ext>
                </a:extLst>
              </a:tr>
              <a:tr h="445132">
                <a:tc>
                  <a:txBody>
                    <a:bodyPr/>
                    <a:lstStyle/>
                    <a:p>
                      <a:pPr marL="0" marR="0">
                        <a:lnSpc>
                          <a:spcPct val="107000"/>
                        </a:lnSpc>
                        <a:spcBef>
                          <a:spcPts val="0"/>
                        </a:spcBef>
                        <a:spcAft>
                          <a:spcPts val="0"/>
                        </a:spcAft>
                        <a:tabLst>
                          <a:tab pos="4619625" algn="l"/>
                        </a:tabLst>
                      </a:pPr>
                      <a:r>
                        <a:rPr lang="en-US" sz="900">
                          <a:effectLst/>
                        </a:rPr>
                        <a:t> </a:t>
                      </a:r>
                      <a:endParaRPr lang="en-US" sz="700">
                        <a:effectLst/>
                      </a:endParaRPr>
                    </a:p>
                    <a:p>
                      <a:pPr marL="0" marR="0">
                        <a:lnSpc>
                          <a:spcPct val="107000"/>
                        </a:lnSpc>
                        <a:spcBef>
                          <a:spcPts val="0"/>
                        </a:spcBef>
                        <a:spcAft>
                          <a:spcPts val="0"/>
                        </a:spcAft>
                        <a:tabLst>
                          <a:tab pos="4619625" algn="l"/>
                        </a:tabLst>
                      </a:pPr>
                      <a:r>
                        <a:rPr lang="en-US" sz="900">
                          <a:effectLst/>
                        </a:rPr>
                        <a:t>4</a:t>
                      </a:r>
                      <a:endParaRPr lang="en-US" sz="700">
                        <a:effectLst/>
                      </a:endParaRPr>
                    </a:p>
                    <a:p>
                      <a:pPr marL="0" marR="0">
                        <a:lnSpc>
                          <a:spcPct val="107000"/>
                        </a:lnSpc>
                        <a:spcBef>
                          <a:spcPts val="0"/>
                        </a:spcBef>
                        <a:spcAft>
                          <a:spcPts val="0"/>
                        </a:spcAft>
                        <a:tabLst>
                          <a:tab pos="4619625" algn="l"/>
                        </a:tabLst>
                      </a:pPr>
                      <a:r>
                        <a:rPr lang="en-US" sz="900">
                          <a:effectLst/>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gn="ctr">
                        <a:lnSpc>
                          <a:spcPct val="107000"/>
                        </a:lnSpc>
                        <a:spcBef>
                          <a:spcPts val="0"/>
                        </a:spcBef>
                        <a:spcAft>
                          <a:spcPts val="0"/>
                        </a:spcAft>
                        <a:tabLst>
                          <a:tab pos="4619625" algn="l"/>
                        </a:tabLst>
                      </a:pPr>
                      <a:r>
                        <a:rPr lang="en-US" sz="1200">
                          <a:effectLst/>
                        </a:rPr>
                        <a:t> </a:t>
                      </a:r>
                      <a:endParaRPr lang="en-US" sz="1050">
                        <a:effectLst/>
                      </a:endParaRPr>
                    </a:p>
                    <a:p>
                      <a:pPr marL="0" marR="0" algn="ctr">
                        <a:lnSpc>
                          <a:spcPct val="107000"/>
                        </a:lnSpc>
                        <a:spcBef>
                          <a:spcPts val="0"/>
                        </a:spcBef>
                        <a:spcAft>
                          <a:spcPts val="0"/>
                        </a:spcAft>
                        <a:tabLst>
                          <a:tab pos="4619625" algn="l"/>
                        </a:tabLst>
                      </a:pPr>
                      <a:r>
                        <a:rPr lang="en-US" sz="1200">
                          <a:effectLst/>
                        </a:rPr>
                        <a:t>    Earthing flat iron </a:t>
                      </a:r>
                      <a:endParaRPr lang="en-US" sz="105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gn="ctr">
                        <a:lnSpc>
                          <a:spcPct val="107000"/>
                        </a:lnSpc>
                        <a:spcBef>
                          <a:spcPts val="0"/>
                        </a:spcBef>
                        <a:spcAft>
                          <a:spcPts val="0"/>
                        </a:spcAft>
                        <a:tabLst>
                          <a:tab pos="4619625" algn="l"/>
                        </a:tabLst>
                      </a:pPr>
                      <a:r>
                        <a:rPr lang="en-US" sz="1200">
                          <a:effectLst/>
                        </a:rPr>
                        <a:t> </a:t>
                      </a:r>
                      <a:endParaRPr lang="en-US" sz="1050">
                        <a:effectLst/>
                      </a:endParaRPr>
                    </a:p>
                    <a:p>
                      <a:pPr marL="0" marR="0" algn="ctr">
                        <a:lnSpc>
                          <a:spcPct val="107000"/>
                        </a:lnSpc>
                        <a:spcBef>
                          <a:spcPts val="0"/>
                        </a:spcBef>
                        <a:spcAft>
                          <a:spcPts val="0"/>
                        </a:spcAft>
                        <a:tabLst>
                          <a:tab pos="4619625" algn="l"/>
                        </a:tabLst>
                      </a:pPr>
                      <a:r>
                        <a:rPr lang="en-US" sz="1200">
                          <a:effectLst/>
                        </a:rPr>
                        <a:t>  1 Month </a:t>
                      </a:r>
                      <a:endParaRPr lang="en-US" sz="105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nSpc>
                          <a:spcPct val="107000"/>
                        </a:lnSpc>
                        <a:spcBef>
                          <a:spcPts val="0"/>
                        </a:spcBef>
                        <a:spcAft>
                          <a:spcPts val="0"/>
                        </a:spcAft>
                        <a:tabLst>
                          <a:tab pos="4619625" algn="l"/>
                        </a:tabLst>
                      </a:pPr>
                      <a:r>
                        <a:rPr lang="en-US" sz="1400" dirty="0">
                          <a:effectLst/>
                        </a:rPr>
                        <a:t>The earthing metal is well earthed, no corrosion.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extLst>
                  <a:ext uri="{0D108BD9-81ED-4DB2-BD59-A6C34878D82A}">
                    <a16:rowId xmlns:a16="http://schemas.microsoft.com/office/drawing/2014/main" val="3583565771"/>
                  </a:ext>
                </a:extLst>
              </a:tr>
              <a:tr h="490480">
                <a:tc>
                  <a:txBody>
                    <a:bodyPr/>
                    <a:lstStyle/>
                    <a:p>
                      <a:pPr marL="0" marR="0">
                        <a:lnSpc>
                          <a:spcPct val="107000"/>
                        </a:lnSpc>
                        <a:spcBef>
                          <a:spcPts val="0"/>
                        </a:spcBef>
                        <a:spcAft>
                          <a:spcPts val="0"/>
                        </a:spcAft>
                        <a:tabLst>
                          <a:tab pos="4619625" algn="l"/>
                        </a:tabLst>
                      </a:pPr>
                      <a:r>
                        <a:rPr lang="en-US" sz="900">
                          <a:effectLst/>
                        </a:rPr>
                        <a:t> </a:t>
                      </a:r>
                      <a:endParaRPr lang="en-US" sz="700">
                        <a:effectLst/>
                      </a:endParaRPr>
                    </a:p>
                    <a:p>
                      <a:pPr marL="0" marR="0">
                        <a:lnSpc>
                          <a:spcPct val="107000"/>
                        </a:lnSpc>
                        <a:spcBef>
                          <a:spcPts val="0"/>
                        </a:spcBef>
                        <a:spcAft>
                          <a:spcPts val="0"/>
                        </a:spcAft>
                        <a:tabLst>
                          <a:tab pos="4619625" algn="l"/>
                        </a:tabLst>
                      </a:pPr>
                      <a:r>
                        <a:rPr lang="en-US" sz="900">
                          <a:effectLst/>
                        </a:rPr>
                        <a:t>5</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gn="ctr">
                        <a:lnSpc>
                          <a:spcPct val="107000"/>
                        </a:lnSpc>
                        <a:spcBef>
                          <a:spcPts val="0"/>
                        </a:spcBef>
                        <a:spcAft>
                          <a:spcPts val="0"/>
                        </a:spcAft>
                        <a:tabLst>
                          <a:tab pos="4619625" algn="l"/>
                        </a:tabLst>
                      </a:pPr>
                      <a:r>
                        <a:rPr lang="en-US" sz="1200">
                          <a:effectLst/>
                        </a:rPr>
                        <a:t> </a:t>
                      </a:r>
                      <a:endParaRPr lang="en-US" sz="1050">
                        <a:effectLst/>
                      </a:endParaRPr>
                    </a:p>
                    <a:p>
                      <a:pPr marL="0" marR="0" algn="ctr">
                        <a:lnSpc>
                          <a:spcPct val="107000"/>
                        </a:lnSpc>
                        <a:spcBef>
                          <a:spcPts val="0"/>
                        </a:spcBef>
                        <a:spcAft>
                          <a:spcPts val="0"/>
                        </a:spcAft>
                        <a:tabLst>
                          <a:tab pos="4619625" algn="l"/>
                        </a:tabLst>
                      </a:pPr>
                      <a:r>
                        <a:rPr lang="en-US" sz="1200">
                          <a:effectLst/>
                        </a:rPr>
                        <a:t>      Insulator Inspection </a:t>
                      </a:r>
                      <a:endParaRPr lang="en-US" sz="105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gn="ctr">
                        <a:lnSpc>
                          <a:spcPct val="107000"/>
                        </a:lnSpc>
                        <a:spcBef>
                          <a:spcPts val="0"/>
                        </a:spcBef>
                        <a:spcAft>
                          <a:spcPts val="0"/>
                        </a:spcAft>
                        <a:tabLst>
                          <a:tab pos="4619625" algn="l"/>
                        </a:tabLst>
                      </a:pPr>
                      <a:r>
                        <a:rPr lang="en-US" sz="1200">
                          <a:effectLst/>
                        </a:rPr>
                        <a:t> </a:t>
                      </a:r>
                      <a:endParaRPr lang="en-US" sz="1050">
                        <a:effectLst/>
                      </a:endParaRPr>
                    </a:p>
                    <a:p>
                      <a:pPr marL="0" marR="0" algn="ctr">
                        <a:lnSpc>
                          <a:spcPct val="107000"/>
                        </a:lnSpc>
                        <a:spcBef>
                          <a:spcPts val="0"/>
                        </a:spcBef>
                        <a:spcAft>
                          <a:spcPts val="0"/>
                        </a:spcAft>
                        <a:tabLst>
                          <a:tab pos="4619625" algn="l"/>
                        </a:tabLst>
                      </a:pPr>
                      <a:r>
                        <a:rPr lang="en-US" sz="1200">
                          <a:effectLst/>
                        </a:rPr>
                        <a:t>  1 Month </a:t>
                      </a:r>
                      <a:endParaRPr lang="en-US" sz="105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nSpc>
                          <a:spcPct val="107000"/>
                        </a:lnSpc>
                        <a:spcBef>
                          <a:spcPts val="0"/>
                        </a:spcBef>
                        <a:spcAft>
                          <a:spcPts val="0"/>
                        </a:spcAft>
                        <a:tabLst>
                          <a:tab pos="4619625" algn="l"/>
                        </a:tabLst>
                      </a:pPr>
                      <a:r>
                        <a:rPr lang="en-US" sz="1400" dirty="0">
                          <a:effectLst/>
                        </a:rPr>
                        <a:t>No obvious dirt, no trace of discharging flashover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extLst>
                  <a:ext uri="{0D108BD9-81ED-4DB2-BD59-A6C34878D82A}">
                    <a16:rowId xmlns:a16="http://schemas.microsoft.com/office/drawing/2014/main" val="320357037"/>
                  </a:ext>
                </a:extLst>
              </a:tr>
              <a:tr h="644722">
                <a:tc>
                  <a:txBody>
                    <a:bodyPr/>
                    <a:lstStyle/>
                    <a:p>
                      <a:pPr marL="0" marR="0">
                        <a:lnSpc>
                          <a:spcPct val="107000"/>
                        </a:lnSpc>
                        <a:spcBef>
                          <a:spcPts val="0"/>
                        </a:spcBef>
                        <a:spcAft>
                          <a:spcPts val="0"/>
                        </a:spcAft>
                        <a:tabLst>
                          <a:tab pos="4619625" algn="l"/>
                        </a:tabLst>
                      </a:pPr>
                      <a:r>
                        <a:rPr lang="en-US" sz="900">
                          <a:effectLst/>
                        </a:rPr>
                        <a:t> </a:t>
                      </a:r>
                      <a:endParaRPr lang="en-US" sz="700">
                        <a:effectLst/>
                      </a:endParaRPr>
                    </a:p>
                    <a:p>
                      <a:pPr marL="0" marR="0">
                        <a:lnSpc>
                          <a:spcPct val="107000"/>
                        </a:lnSpc>
                        <a:spcBef>
                          <a:spcPts val="0"/>
                        </a:spcBef>
                        <a:spcAft>
                          <a:spcPts val="0"/>
                        </a:spcAft>
                        <a:tabLst>
                          <a:tab pos="4619625" algn="l"/>
                        </a:tabLst>
                      </a:pPr>
                      <a:r>
                        <a:rPr lang="en-US" sz="900">
                          <a:effectLst/>
                        </a:rPr>
                        <a:t> </a:t>
                      </a:r>
                      <a:endParaRPr lang="en-US" sz="700">
                        <a:effectLst/>
                      </a:endParaRPr>
                    </a:p>
                    <a:p>
                      <a:pPr marL="0" marR="0">
                        <a:lnSpc>
                          <a:spcPct val="107000"/>
                        </a:lnSpc>
                        <a:spcBef>
                          <a:spcPts val="0"/>
                        </a:spcBef>
                        <a:spcAft>
                          <a:spcPts val="0"/>
                        </a:spcAft>
                        <a:tabLst>
                          <a:tab pos="4619625" algn="l"/>
                        </a:tabLst>
                      </a:pPr>
                      <a:r>
                        <a:rPr lang="en-US" sz="900">
                          <a:effectLst/>
                        </a:rPr>
                        <a:t>6</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gn="ctr">
                        <a:lnSpc>
                          <a:spcPct val="107000"/>
                        </a:lnSpc>
                        <a:spcBef>
                          <a:spcPts val="0"/>
                        </a:spcBef>
                        <a:spcAft>
                          <a:spcPts val="0"/>
                        </a:spcAft>
                        <a:tabLst>
                          <a:tab pos="4619625" algn="l"/>
                        </a:tabLst>
                      </a:pPr>
                      <a:r>
                        <a:rPr lang="en-US" sz="1200">
                          <a:effectLst/>
                        </a:rPr>
                        <a:t> </a:t>
                      </a:r>
                      <a:endParaRPr lang="en-US" sz="1050">
                        <a:effectLst/>
                      </a:endParaRPr>
                    </a:p>
                    <a:p>
                      <a:pPr marL="0" marR="0" algn="ctr">
                        <a:lnSpc>
                          <a:spcPct val="107000"/>
                        </a:lnSpc>
                        <a:spcBef>
                          <a:spcPts val="0"/>
                        </a:spcBef>
                        <a:spcAft>
                          <a:spcPts val="0"/>
                        </a:spcAft>
                        <a:tabLst>
                          <a:tab pos="4619625" algn="l"/>
                        </a:tabLst>
                      </a:pPr>
                      <a:r>
                        <a:rPr lang="en-US" sz="1200">
                          <a:effectLst/>
                        </a:rPr>
                        <a:t> </a:t>
                      </a:r>
                      <a:endParaRPr lang="en-US" sz="1050">
                        <a:effectLst/>
                      </a:endParaRPr>
                    </a:p>
                    <a:p>
                      <a:pPr marL="0" marR="0" algn="ctr">
                        <a:lnSpc>
                          <a:spcPct val="107000"/>
                        </a:lnSpc>
                        <a:spcBef>
                          <a:spcPts val="0"/>
                        </a:spcBef>
                        <a:spcAft>
                          <a:spcPts val="0"/>
                        </a:spcAft>
                        <a:tabLst>
                          <a:tab pos="4619625" algn="l"/>
                        </a:tabLst>
                      </a:pPr>
                      <a:r>
                        <a:rPr lang="en-US" sz="1200">
                          <a:effectLst/>
                        </a:rPr>
                        <a:t>Operation sound Insoection</a:t>
                      </a:r>
                      <a:endParaRPr lang="en-US" sz="105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gn="ctr">
                        <a:lnSpc>
                          <a:spcPct val="107000"/>
                        </a:lnSpc>
                        <a:spcBef>
                          <a:spcPts val="0"/>
                        </a:spcBef>
                        <a:spcAft>
                          <a:spcPts val="0"/>
                        </a:spcAft>
                        <a:tabLst>
                          <a:tab pos="4619625" algn="l"/>
                        </a:tabLst>
                      </a:pPr>
                      <a:r>
                        <a:rPr lang="en-US" sz="1200">
                          <a:effectLst/>
                        </a:rPr>
                        <a:t> </a:t>
                      </a:r>
                      <a:endParaRPr lang="en-US" sz="1050">
                        <a:effectLst/>
                      </a:endParaRPr>
                    </a:p>
                    <a:p>
                      <a:pPr marL="0" marR="0" algn="ctr">
                        <a:lnSpc>
                          <a:spcPct val="107000"/>
                        </a:lnSpc>
                        <a:spcBef>
                          <a:spcPts val="0"/>
                        </a:spcBef>
                        <a:spcAft>
                          <a:spcPts val="0"/>
                        </a:spcAft>
                        <a:tabLst>
                          <a:tab pos="4619625" algn="l"/>
                        </a:tabLst>
                      </a:pPr>
                      <a:r>
                        <a:rPr lang="en-US" sz="1200">
                          <a:effectLst/>
                        </a:rPr>
                        <a:t> </a:t>
                      </a:r>
                      <a:endParaRPr lang="en-US" sz="1050">
                        <a:effectLst/>
                      </a:endParaRPr>
                    </a:p>
                    <a:p>
                      <a:pPr marL="0" marR="0" algn="ctr">
                        <a:lnSpc>
                          <a:spcPct val="107000"/>
                        </a:lnSpc>
                        <a:spcBef>
                          <a:spcPts val="0"/>
                        </a:spcBef>
                        <a:spcAft>
                          <a:spcPts val="0"/>
                        </a:spcAft>
                        <a:tabLst>
                          <a:tab pos="4619625" algn="l"/>
                        </a:tabLst>
                      </a:pPr>
                      <a:r>
                        <a:rPr lang="en-US" sz="1200">
                          <a:effectLst/>
                        </a:rPr>
                        <a:t>  1 Month </a:t>
                      </a:r>
                      <a:endParaRPr lang="en-US" sz="105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nSpc>
                          <a:spcPct val="107000"/>
                        </a:lnSpc>
                        <a:spcBef>
                          <a:spcPts val="0"/>
                        </a:spcBef>
                        <a:spcAft>
                          <a:spcPts val="0"/>
                        </a:spcAft>
                        <a:tabLst>
                          <a:tab pos="4619625" algn="l"/>
                        </a:tabLst>
                      </a:pPr>
                      <a:r>
                        <a:rPr lang="en-US" sz="1400" dirty="0">
                          <a:effectLst/>
                        </a:rPr>
                        <a:t>There is no discharging sound or other sound inside, no abnormal smell at site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extLst>
                  <a:ext uri="{0D108BD9-81ED-4DB2-BD59-A6C34878D82A}">
                    <a16:rowId xmlns:a16="http://schemas.microsoft.com/office/drawing/2014/main" val="6033517"/>
                  </a:ext>
                </a:extLst>
              </a:tr>
              <a:tr h="644722">
                <a:tc>
                  <a:txBody>
                    <a:bodyPr/>
                    <a:lstStyle/>
                    <a:p>
                      <a:pPr marL="0" marR="0">
                        <a:lnSpc>
                          <a:spcPct val="107000"/>
                        </a:lnSpc>
                        <a:spcBef>
                          <a:spcPts val="0"/>
                        </a:spcBef>
                        <a:spcAft>
                          <a:spcPts val="0"/>
                        </a:spcAft>
                        <a:tabLst>
                          <a:tab pos="4619625" algn="l"/>
                        </a:tabLst>
                      </a:pPr>
                      <a:r>
                        <a:rPr lang="en-US" sz="900">
                          <a:effectLst/>
                        </a:rPr>
                        <a:t> </a:t>
                      </a:r>
                      <a:endParaRPr lang="en-US" sz="700">
                        <a:effectLst/>
                      </a:endParaRPr>
                    </a:p>
                    <a:p>
                      <a:pPr marL="0" marR="0">
                        <a:lnSpc>
                          <a:spcPct val="107000"/>
                        </a:lnSpc>
                        <a:spcBef>
                          <a:spcPts val="0"/>
                        </a:spcBef>
                        <a:spcAft>
                          <a:spcPts val="0"/>
                        </a:spcAft>
                        <a:tabLst>
                          <a:tab pos="4619625" algn="l"/>
                        </a:tabLst>
                      </a:pPr>
                      <a:r>
                        <a:rPr lang="en-US" sz="900">
                          <a:effectLst/>
                        </a:rPr>
                        <a:t> </a:t>
                      </a:r>
                      <a:endParaRPr lang="en-US" sz="700">
                        <a:effectLst/>
                      </a:endParaRPr>
                    </a:p>
                    <a:p>
                      <a:pPr marL="0" marR="0">
                        <a:lnSpc>
                          <a:spcPct val="107000"/>
                        </a:lnSpc>
                        <a:spcBef>
                          <a:spcPts val="0"/>
                        </a:spcBef>
                        <a:spcAft>
                          <a:spcPts val="0"/>
                        </a:spcAft>
                        <a:tabLst>
                          <a:tab pos="4619625" algn="l"/>
                        </a:tabLst>
                      </a:pPr>
                      <a:r>
                        <a:rPr lang="en-US" sz="900">
                          <a:effectLst/>
                        </a:rPr>
                        <a:t>7</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gn="ctr">
                        <a:lnSpc>
                          <a:spcPct val="107000"/>
                        </a:lnSpc>
                        <a:spcBef>
                          <a:spcPts val="0"/>
                        </a:spcBef>
                        <a:spcAft>
                          <a:spcPts val="0"/>
                        </a:spcAft>
                        <a:tabLst>
                          <a:tab pos="4619625" algn="l"/>
                        </a:tabLst>
                      </a:pPr>
                      <a:r>
                        <a:rPr lang="en-US" sz="1200">
                          <a:effectLst/>
                        </a:rPr>
                        <a:t> </a:t>
                      </a:r>
                      <a:endParaRPr lang="en-US" sz="1050">
                        <a:effectLst/>
                      </a:endParaRPr>
                    </a:p>
                    <a:p>
                      <a:pPr marL="0" marR="0" algn="ctr">
                        <a:lnSpc>
                          <a:spcPct val="107000"/>
                        </a:lnSpc>
                        <a:spcBef>
                          <a:spcPts val="0"/>
                        </a:spcBef>
                        <a:spcAft>
                          <a:spcPts val="0"/>
                        </a:spcAft>
                        <a:tabLst>
                          <a:tab pos="4619625" algn="l"/>
                        </a:tabLst>
                      </a:pPr>
                      <a:r>
                        <a:rPr lang="en-US" sz="1200">
                          <a:effectLst/>
                        </a:rPr>
                        <a:t> </a:t>
                      </a:r>
                      <a:endParaRPr lang="en-US" sz="1050">
                        <a:effectLst/>
                      </a:endParaRPr>
                    </a:p>
                    <a:p>
                      <a:pPr marL="0" marR="0" algn="ctr">
                        <a:lnSpc>
                          <a:spcPct val="107000"/>
                        </a:lnSpc>
                        <a:spcBef>
                          <a:spcPts val="0"/>
                        </a:spcBef>
                        <a:spcAft>
                          <a:spcPts val="0"/>
                        </a:spcAft>
                        <a:tabLst>
                          <a:tab pos="4619625" algn="l"/>
                        </a:tabLst>
                      </a:pPr>
                      <a:r>
                        <a:rPr lang="en-US" sz="1200">
                          <a:effectLst/>
                        </a:rPr>
                        <a:t>SF6 gas leakage inspection</a:t>
                      </a:r>
                      <a:endParaRPr lang="en-US" sz="105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gn="ctr">
                        <a:lnSpc>
                          <a:spcPct val="107000"/>
                        </a:lnSpc>
                        <a:spcBef>
                          <a:spcPts val="0"/>
                        </a:spcBef>
                        <a:spcAft>
                          <a:spcPts val="0"/>
                        </a:spcAft>
                        <a:tabLst>
                          <a:tab pos="4619625" algn="l"/>
                        </a:tabLst>
                      </a:pPr>
                      <a:r>
                        <a:rPr lang="en-US" sz="1200" dirty="0">
                          <a:effectLst/>
                        </a:rPr>
                        <a:t> </a:t>
                      </a:r>
                      <a:endParaRPr lang="en-US" sz="1050" dirty="0">
                        <a:effectLst/>
                      </a:endParaRPr>
                    </a:p>
                    <a:p>
                      <a:pPr marL="0" marR="0" algn="ctr">
                        <a:lnSpc>
                          <a:spcPct val="107000"/>
                        </a:lnSpc>
                        <a:spcBef>
                          <a:spcPts val="0"/>
                        </a:spcBef>
                        <a:spcAft>
                          <a:spcPts val="0"/>
                        </a:spcAft>
                        <a:tabLst>
                          <a:tab pos="4619625" algn="l"/>
                        </a:tabLst>
                      </a:pPr>
                      <a:r>
                        <a:rPr lang="en-US" sz="1200" dirty="0">
                          <a:effectLst/>
                        </a:rPr>
                        <a:t> </a:t>
                      </a:r>
                      <a:endParaRPr lang="en-US" sz="1050" dirty="0">
                        <a:effectLst/>
                      </a:endParaRPr>
                    </a:p>
                    <a:p>
                      <a:pPr marL="0" marR="0" algn="ctr">
                        <a:lnSpc>
                          <a:spcPct val="107000"/>
                        </a:lnSpc>
                        <a:spcBef>
                          <a:spcPts val="0"/>
                        </a:spcBef>
                        <a:spcAft>
                          <a:spcPts val="0"/>
                        </a:spcAft>
                        <a:tabLst>
                          <a:tab pos="4619625" algn="l"/>
                        </a:tabLst>
                      </a:pPr>
                      <a:r>
                        <a:rPr lang="en-US" sz="1200" dirty="0">
                          <a:effectLst/>
                        </a:rPr>
                        <a:t>  1 Month </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tc>
                  <a:txBody>
                    <a:bodyPr/>
                    <a:lstStyle/>
                    <a:p>
                      <a:pPr marL="0" marR="0">
                        <a:lnSpc>
                          <a:spcPct val="107000"/>
                        </a:lnSpc>
                        <a:spcBef>
                          <a:spcPts val="0"/>
                        </a:spcBef>
                        <a:spcAft>
                          <a:spcPts val="0"/>
                        </a:spcAft>
                        <a:tabLst>
                          <a:tab pos="4619625" algn="l"/>
                        </a:tabLst>
                      </a:pPr>
                      <a:r>
                        <a:rPr lang="en-US" sz="1400" dirty="0">
                          <a:effectLst/>
                        </a:rPr>
                        <a:t>Check the Gas pressure meter of DC voltage divider, the indication is in normal range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7990" marR="37990" marT="0" marB="0"/>
                </a:tc>
                <a:extLst>
                  <a:ext uri="{0D108BD9-81ED-4DB2-BD59-A6C34878D82A}">
                    <a16:rowId xmlns:a16="http://schemas.microsoft.com/office/drawing/2014/main" val="2409203932"/>
                  </a:ext>
                </a:extLst>
              </a:tr>
            </a:tbl>
          </a:graphicData>
        </a:graphic>
      </p:graphicFrame>
    </p:spTree>
    <p:extLst>
      <p:ext uri="{BB962C8B-B14F-4D97-AF65-F5344CB8AC3E}">
        <p14:creationId xmlns:p14="http://schemas.microsoft.com/office/powerpoint/2010/main" val="4067518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7A260-D5E1-44D9-A6C1-29F672231D16}"/>
              </a:ext>
            </a:extLst>
          </p:cNvPr>
          <p:cNvSpPr>
            <a:spLocks noGrp="1"/>
          </p:cNvSpPr>
          <p:nvPr>
            <p:ph type="ctrTitle"/>
          </p:nvPr>
        </p:nvSpPr>
        <p:spPr>
          <a:xfrm>
            <a:off x="709090" y="2829438"/>
            <a:ext cx="12324521" cy="3094355"/>
          </a:xfrm>
        </p:spPr>
        <p:txBody>
          <a:bodyPr>
            <a:normAutofit fontScale="90000"/>
          </a:bodyPr>
          <a:lstStyle/>
          <a:p>
            <a:r>
              <a:rPr lang="en-US" dirty="0"/>
              <a:t>         THANK  YOU…!</a:t>
            </a:r>
            <a:br>
              <a:rPr lang="en-US" dirty="0"/>
            </a:br>
            <a:r>
              <a:rPr lang="en-US" dirty="0"/>
              <a:t>                     </a:t>
            </a:r>
            <a:r>
              <a:rPr kumimoji="0" lang="zh-CN" altLang="en-US" sz="7200" b="0" i="0" u="none" strike="noStrike" cap="none" normalizeH="0" baseline="0" dirty="0">
                <a:ln>
                  <a:noFill/>
                </a:ln>
                <a:effectLst/>
                <a:latin typeface="Google Sans"/>
              </a:rPr>
              <a:t>谢谢</a:t>
            </a:r>
            <a:r>
              <a:rPr kumimoji="0" lang="zh-CN" altLang="en-US" sz="4800" b="0" i="0" u="none" strike="noStrike" cap="none" normalizeH="0" baseline="0" dirty="0">
                <a:ln>
                  <a:noFill/>
                </a:ln>
                <a:effectLst/>
              </a:rPr>
              <a:t> </a:t>
            </a:r>
            <a:br>
              <a:rPr kumimoji="0" lang="zh-CN" altLang="en-US" sz="7200" b="0" i="0" u="none" strike="noStrike" cap="none" normalizeH="0" baseline="0" dirty="0">
                <a:ln>
                  <a:noFill/>
                </a:ln>
                <a:solidFill>
                  <a:schemeClr val="tx1"/>
                </a:solidFill>
                <a:effectLst/>
                <a:latin typeface="Arial" panose="020B0604020202020204" pitchFamily="34" charset="0"/>
              </a:rPr>
            </a:br>
            <a:br>
              <a:rPr lang="en-US" dirty="0"/>
            </a:br>
            <a:r>
              <a:rPr lang="en-US" dirty="0"/>
              <a:t>            </a:t>
            </a:r>
          </a:p>
        </p:txBody>
      </p:sp>
    </p:spTree>
    <p:extLst>
      <p:ext uri="{BB962C8B-B14F-4D97-AF65-F5344CB8AC3E}">
        <p14:creationId xmlns:p14="http://schemas.microsoft.com/office/powerpoint/2010/main" val="1544723470"/>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
  <TotalTime>2362</TotalTime>
  <Words>1315</Words>
  <Application>Microsoft Office PowerPoint</Application>
  <PresentationFormat>Widescreen</PresentationFormat>
  <Paragraphs>271</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Century Schoolbook</vt:lpstr>
      <vt:lpstr>Google Sans</vt:lpstr>
      <vt:lpstr>Wingdings 2</vt:lpstr>
      <vt:lpstr>View</vt:lpstr>
      <vt:lpstr>Introduction</vt:lpstr>
      <vt:lpstr>    DC Measuring Equipments             直流测量设备 </vt:lpstr>
      <vt:lpstr>Overview(概观 )</vt:lpstr>
      <vt:lpstr>Function of DC Measuring Equipments                (直流测量设备的功能)  </vt:lpstr>
      <vt:lpstr>DC Electronic CT (Optical CT)</vt:lpstr>
      <vt:lpstr>Structure of Optical CT</vt:lpstr>
      <vt:lpstr>Structure of Optical CT</vt:lpstr>
      <vt:lpstr>PowerPoint Presentation</vt:lpstr>
      <vt:lpstr>Place of Installation on Lahore Converter Station </vt:lpstr>
      <vt:lpstr>Place of Installation on Lahore Converter Station </vt:lpstr>
      <vt:lpstr>Technical Parameters of Optical CT</vt:lpstr>
      <vt:lpstr>Maintenance Instruction:</vt:lpstr>
      <vt:lpstr>DC Electronic VT (PCS-9250 EAVD)</vt:lpstr>
      <vt:lpstr>Structure of DCVT</vt:lpstr>
      <vt:lpstr>Place of Installation on Lahore Converter Station </vt:lpstr>
      <vt:lpstr>Technical Parameters of DCVT</vt:lpstr>
      <vt:lpstr>Maintenance Instruction:</vt:lpstr>
      <vt:lpstr>         THANK  YOU…!                      谢谢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DC Measuring Equipments</dc:title>
  <dc:creator>Ahmad Usman Sheikh</dc:creator>
  <cp:lastModifiedBy>Ahmad Usman Sheikh</cp:lastModifiedBy>
  <cp:revision>55</cp:revision>
  <dcterms:created xsi:type="dcterms:W3CDTF">2021-01-05T04:02:25Z</dcterms:created>
  <dcterms:modified xsi:type="dcterms:W3CDTF">2021-01-07T19:21:49Z</dcterms:modified>
</cp:coreProperties>
</file>