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5" r:id="rId1"/>
  </p:sldMasterIdLst>
  <p:sldIdLst>
    <p:sldId id="273" r:id="rId2"/>
    <p:sldId id="259" r:id="rId3"/>
    <p:sldId id="274" r:id="rId4"/>
    <p:sldId id="257" r:id="rId5"/>
    <p:sldId id="260" r:id="rId6"/>
    <p:sldId id="258" r:id="rId7"/>
    <p:sldId id="272" r:id="rId8"/>
    <p:sldId id="256" r:id="rId9"/>
    <p:sldId id="262" r:id="rId10"/>
    <p:sldId id="263" r:id="rId11"/>
    <p:sldId id="264" r:id="rId12"/>
    <p:sldId id="275" r:id="rId13"/>
    <p:sldId id="271" r:id="rId14"/>
    <p:sldId id="266" r:id="rId15"/>
    <p:sldId id="267" r:id="rId16"/>
    <p:sldId id="268" r:id="rId17"/>
    <p:sldId id="269"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143586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796621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059762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80B8E5-86EE-4C79-ABB3-DA5B3993D3D1}" type="datetimeFigureOut">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580494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80B8E5-86EE-4C79-ABB3-DA5B3993D3D1}" type="datetimeFigureOut">
              <a:rPr lang="en-US" smtClean="0"/>
              <a:t>1/21/2021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837079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132761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2440956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399981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80B8E5-86EE-4C79-ABB3-DA5B3993D3D1}" type="datetimeFigureOut">
              <a:rPr lang="en-US" smtClean="0"/>
              <a:t>1/21/2021</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2871238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80B8E5-86EE-4C79-ABB3-DA5B3993D3D1}" type="datetimeFigureOut">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375219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2904338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89282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539777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26494622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323920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638313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3761000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21" Type="http://schemas.openxmlformats.org/officeDocument/2006/relationships/image" Target="../media/image4.png"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3.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image" Target="../media/image5.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180B8E5-86EE-4C79-ABB3-DA5B3993D3D1}" type="datetimeFigureOut">
              <a:rPr lang="en-US" smtClean="0"/>
              <a:t>1/21/2021</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1967F43-9B0D-47A3-AAFD-BBF2B4F45798}" type="slidenum">
              <a:rPr lang="en-US" smtClean="0"/>
              <a:t>‹#›</a:t>
            </a:fld>
            <a:endParaRPr lang="en-US"/>
          </a:p>
        </p:txBody>
      </p:sp>
    </p:spTree>
    <p:extLst>
      <p:ext uri="{BB962C8B-B14F-4D97-AF65-F5344CB8AC3E}">
        <p14:creationId xmlns:p14="http://schemas.microsoft.com/office/powerpoint/2010/main" val="1102166306"/>
      </p:ext>
    </p:extLst>
  </p:cSld>
  <p:clrMap bg1="dk1" tx1="lt1" bg2="dk2" tx2="lt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35" r:id="rId10"/>
    <p:sldLayoutId id="2147484036" r:id="rId11"/>
    <p:sldLayoutId id="2147484037" r:id="rId12"/>
    <p:sldLayoutId id="2147484038" r:id="rId13"/>
    <p:sldLayoutId id="2147484039" r:id="rId14"/>
    <p:sldLayoutId id="2147484040" r:id="rId15"/>
    <p:sldLayoutId id="2147484041" r:id="rId16"/>
    <p:sldLayoutId id="2147484042"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6262" y="2185251"/>
            <a:ext cx="9670473" cy="2487498"/>
          </a:xfrm>
        </p:spPr>
        <p:txBody>
          <a:bodyPr>
            <a:noAutofit/>
          </a:bodyPr>
          <a:lstStyle/>
          <a:p>
            <a:pPr algn="ctr"/>
            <a:r>
              <a:rPr lang="en-GB" sz="6600" b="1" dirty="0"/>
              <a:t>PMLTC</a:t>
            </a:r>
            <a:br>
              <a:rPr lang="en-GB" sz="6600" b="1" dirty="0"/>
            </a:br>
            <a:r>
              <a:rPr lang="en-GB" sz="6600" b="1" dirty="0"/>
              <a:t>Converter Transformer Protection</a:t>
            </a:r>
            <a:endParaRPr lang="en-US" sz="6600" b="1" dirty="0"/>
          </a:p>
        </p:txBody>
      </p:sp>
    </p:spTree>
    <p:extLst>
      <p:ext uri="{BB962C8B-B14F-4D97-AF65-F5344CB8AC3E}">
        <p14:creationId xmlns:p14="http://schemas.microsoft.com/office/powerpoint/2010/main" val="30462441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AE94A-48B4-4365-9996-A7BCB5E69E64}"/>
              </a:ext>
            </a:extLst>
          </p:cNvPr>
          <p:cNvSpPr>
            <a:spLocks noGrp="1"/>
          </p:cNvSpPr>
          <p:nvPr>
            <p:ph type="title"/>
          </p:nvPr>
        </p:nvSpPr>
        <p:spPr>
          <a:xfrm>
            <a:off x="754603" y="371059"/>
            <a:ext cx="9321552" cy="774159"/>
          </a:xfrm>
        </p:spPr>
        <p:txBody>
          <a:bodyPr>
            <a:normAutofit/>
          </a:bodyPr>
          <a:lstStyle/>
          <a:p>
            <a:r>
              <a:rPr lang="en-US" sz="3200" b="1" dirty="0"/>
              <a:t>LV Reactor Control Strategy at </a:t>
            </a:r>
            <a:r>
              <a:rPr lang="en-US" sz="3200" b="1" dirty="0" err="1"/>
              <a:t>Matiari</a:t>
            </a:r>
            <a:r>
              <a:rPr lang="en-US" sz="3200" b="1" dirty="0"/>
              <a:t> Side</a:t>
            </a:r>
          </a:p>
        </p:txBody>
      </p:sp>
      <p:sp>
        <p:nvSpPr>
          <p:cNvPr id="3" name="Content Placeholder 2">
            <a:extLst>
              <a:ext uri="{FF2B5EF4-FFF2-40B4-BE49-F238E27FC236}">
                <a16:creationId xmlns:a16="http://schemas.microsoft.com/office/drawing/2014/main" id="{15C9822A-8210-456B-9045-5FFE134D0FDD}"/>
              </a:ext>
            </a:extLst>
          </p:cNvPr>
          <p:cNvSpPr>
            <a:spLocks noGrp="1"/>
          </p:cNvSpPr>
          <p:nvPr>
            <p:ph idx="1"/>
          </p:nvPr>
        </p:nvSpPr>
        <p:spPr>
          <a:xfrm>
            <a:off x="538965" y="932215"/>
            <a:ext cx="10402955" cy="5696767"/>
          </a:xfrm>
        </p:spPr>
        <p:txBody>
          <a:bodyPr>
            <a:normAutofit/>
          </a:bodyPr>
          <a:lstStyle/>
          <a:p>
            <a:pPr marL="0" indent="0" algn="just">
              <a:buNone/>
            </a:pPr>
            <a:endParaRPr lang="en-US" dirty="0"/>
          </a:p>
          <a:p>
            <a:pPr marL="0" indent="0" algn="just">
              <a:buNone/>
            </a:pPr>
            <a:r>
              <a:rPr lang="en-US" dirty="0"/>
              <a:t>All the LV Reactors always participate in the “converter bus voltage control” instead of “converter station reactive power control “ before and after DC deblocking.</a:t>
            </a:r>
          </a:p>
          <a:p>
            <a:pPr marL="0" indent="0" algn="just">
              <a:buNone/>
            </a:pPr>
            <a:r>
              <a:rPr lang="en-US" dirty="0"/>
              <a:t>At an AC voltage of higher than 532KV, 1 LV reactor bank is connected with a delay of 5s and the selection principle of such a bank is to make the LV reactors tend to be balanced under two tie-in transformers, while the LV reactors participating in reactive power balance of the converter stations do not participate in voltage control. At an AC voltage of lower than 488KV, one LV reactors is disconnected with a delay of 5s and the selection principle of such a reactor is to make the LV reactors tend to be balanced under two tie-in transformers. The LV reactors participate in reactive power balance of the converter stations do not participate in voltage control.</a:t>
            </a:r>
          </a:p>
          <a:p>
            <a:pPr marL="0" indent="0" algn="just">
              <a:buNone/>
            </a:pPr>
            <a:endParaRPr lang="en-US" dirty="0"/>
          </a:p>
        </p:txBody>
      </p:sp>
    </p:spTree>
    <p:extLst>
      <p:ext uri="{BB962C8B-B14F-4D97-AF65-F5344CB8AC3E}">
        <p14:creationId xmlns:p14="http://schemas.microsoft.com/office/powerpoint/2010/main" val="13918414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AE94A-48B4-4365-9996-A7BCB5E69E64}"/>
              </a:ext>
            </a:extLst>
          </p:cNvPr>
          <p:cNvSpPr>
            <a:spLocks noGrp="1"/>
          </p:cNvSpPr>
          <p:nvPr>
            <p:ph type="title"/>
          </p:nvPr>
        </p:nvSpPr>
        <p:spPr>
          <a:xfrm>
            <a:off x="754603" y="371059"/>
            <a:ext cx="9321552" cy="774159"/>
          </a:xfrm>
        </p:spPr>
        <p:txBody>
          <a:bodyPr>
            <a:normAutofit/>
          </a:bodyPr>
          <a:lstStyle/>
          <a:p>
            <a:pPr algn="ctr"/>
            <a:r>
              <a:rPr lang="en-US" sz="3200" b="1" dirty="0"/>
              <a:t>LV Reactor Control Strategy at Lahore Side</a:t>
            </a:r>
          </a:p>
        </p:txBody>
      </p:sp>
      <p:sp>
        <p:nvSpPr>
          <p:cNvPr id="3" name="Content Placeholder 2">
            <a:extLst>
              <a:ext uri="{FF2B5EF4-FFF2-40B4-BE49-F238E27FC236}">
                <a16:creationId xmlns:a16="http://schemas.microsoft.com/office/drawing/2014/main" id="{15C9822A-8210-456B-9045-5FFE134D0FDD}"/>
              </a:ext>
            </a:extLst>
          </p:cNvPr>
          <p:cNvSpPr>
            <a:spLocks noGrp="1"/>
          </p:cNvSpPr>
          <p:nvPr>
            <p:ph idx="1"/>
          </p:nvPr>
        </p:nvSpPr>
        <p:spPr>
          <a:xfrm>
            <a:off x="530088" y="1145218"/>
            <a:ext cx="10402955" cy="5696767"/>
          </a:xfrm>
        </p:spPr>
        <p:txBody>
          <a:bodyPr>
            <a:normAutofit/>
          </a:bodyPr>
          <a:lstStyle/>
          <a:p>
            <a:pPr marL="0" indent="0" algn="just">
              <a:buNone/>
            </a:pPr>
            <a:endParaRPr lang="en-US" dirty="0"/>
          </a:p>
          <a:p>
            <a:pPr marL="0" indent="0" algn="just">
              <a:buNone/>
            </a:pPr>
            <a:r>
              <a:rPr lang="en-US" dirty="0"/>
              <a:t>At an AC voltage of higher than 532KV, 1 LV reactor bank is connected with a delay of 5s and the selection principle of such a bank is to make the LV reactors tend to be balanced under two tie-in transformers, while the LV reactors participating in reactive power balance of the converter stations do not participate in voltage control. At an AC voltage of lower than 488KV, one LV reactors is disconnected with a delay of 5s and the selection principle of such a reactor is to make the LV reactors tend to be balanced under two tie-in transformers. The LV reactors participate in reactive power balance of the converter stations do not participate in voltage control.</a:t>
            </a:r>
          </a:p>
          <a:p>
            <a:pPr marL="0" indent="0" algn="just">
              <a:buNone/>
            </a:pPr>
            <a:endParaRPr lang="en-US" dirty="0"/>
          </a:p>
        </p:txBody>
      </p:sp>
    </p:spTree>
    <p:extLst>
      <p:ext uri="{BB962C8B-B14F-4D97-AF65-F5344CB8AC3E}">
        <p14:creationId xmlns:p14="http://schemas.microsoft.com/office/powerpoint/2010/main" val="22871200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782E9-BDC5-4A5E-B92C-172F96CB0EF0}"/>
              </a:ext>
            </a:extLst>
          </p:cNvPr>
          <p:cNvSpPr>
            <a:spLocks noGrp="1"/>
          </p:cNvSpPr>
          <p:nvPr>
            <p:ph type="title"/>
          </p:nvPr>
        </p:nvSpPr>
        <p:spPr>
          <a:xfrm>
            <a:off x="874642" y="218363"/>
            <a:ext cx="9450087" cy="585853"/>
          </a:xfrm>
        </p:spPr>
        <p:txBody>
          <a:bodyPr>
            <a:normAutofit/>
          </a:bodyPr>
          <a:lstStyle/>
          <a:p>
            <a:pPr algn="ctr"/>
            <a:r>
              <a:rPr lang="en-US" sz="3200" b="1" dirty="0"/>
              <a:t>Control Modes</a:t>
            </a:r>
          </a:p>
        </p:txBody>
      </p:sp>
      <p:sp>
        <p:nvSpPr>
          <p:cNvPr id="3" name="Content Placeholder 2">
            <a:extLst>
              <a:ext uri="{FF2B5EF4-FFF2-40B4-BE49-F238E27FC236}">
                <a16:creationId xmlns:a16="http://schemas.microsoft.com/office/drawing/2014/main" id="{46985F07-0674-493C-BB4A-E5570A5E8FA7}"/>
              </a:ext>
            </a:extLst>
          </p:cNvPr>
          <p:cNvSpPr>
            <a:spLocks noGrp="1"/>
          </p:cNvSpPr>
          <p:nvPr>
            <p:ph idx="1"/>
          </p:nvPr>
        </p:nvSpPr>
        <p:spPr>
          <a:xfrm>
            <a:off x="874642" y="1141567"/>
            <a:ext cx="10686197" cy="6053784"/>
          </a:xfrm>
        </p:spPr>
        <p:txBody>
          <a:bodyPr>
            <a:normAutofit/>
          </a:bodyPr>
          <a:lstStyle/>
          <a:p>
            <a:pPr marL="0" indent="0" algn="just">
              <a:buNone/>
            </a:pPr>
            <a:r>
              <a:rPr lang="en-US" sz="2000" dirty="0"/>
              <a:t>The reactive power control of </a:t>
            </a:r>
            <a:r>
              <a:rPr lang="en-US" sz="2000" dirty="0" err="1"/>
              <a:t>Mitiari</a:t>
            </a:r>
            <a:r>
              <a:rPr lang="en-US" sz="2000" dirty="0"/>
              <a:t> and Lahore Converter Station has the following modes:</a:t>
            </a:r>
          </a:p>
          <a:p>
            <a:pPr marL="0" indent="0" algn="just">
              <a:buNone/>
            </a:pPr>
            <a:r>
              <a:rPr lang="en-US" sz="2000" dirty="0"/>
              <a:t>1)On Mode                              2)   Manual Mode</a:t>
            </a:r>
          </a:p>
          <a:p>
            <a:pPr marL="0" indent="0" algn="just">
              <a:buNone/>
            </a:pPr>
            <a:r>
              <a:rPr lang="en-US" sz="2000" dirty="0"/>
              <a:t>3)Automatic Mode                  4)   Off Mode</a:t>
            </a:r>
          </a:p>
          <a:p>
            <a:pPr marL="0" indent="0" algn="just">
              <a:buNone/>
            </a:pPr>
            <a:r>
              <a:rPr lang="en-US" sz="2000" u="sng" dirty="0"/>
              <a:t>1. On Mode </a:t>
            </a:r>
            <a:r>
              <a:rPr lang="en-US" sz="2000" dirty="0"/>
              <a:t>:-</a:t>
            </a:r>
          </a:p>
          <a:p>
            <a:pPr marL="0" indent="0" algn="just">
              <a:buNone/>
            </a:pPr>
            <a:r>
              <a:rPr lang="en-US" sz="2000" dirty="0"/>
              <a:t>If the reactive power control is in ON mode , the system automatically activates the manual mode. In this case, operators can select the automatic mode.</a:t>
            </a:r>
          </a:p>
          <a:p>
            <a:pPr marL="0" indent="0" algn="just">
              <a:buNone/>
            </a:pPr>
            <a:r>
              <a:rPr lang="en-US" sz="2000" u="sng" dirty="0"/>
              <a:t>2. Manual Mode </a:t>
            </a:r>
            <a:r>
              <a:rPr lang="en-US" sz="2000" dirty="0"/>
              <a:t>:-</a:t>
            </a:r>
          </a:p>
          <a:p>
            <a:pPr marL="0" indent="0" algn="just">
              <a:buNone/>
            </a:pPr>
            <a:r>
              <a:rPr lang="en-US" sz="2000" dirty="0"/>
              <a:t>If the reactive power control is in manual mode, only the connecting/ disconnecting of filters with high priority is automatically completed by reactive Power Control. The connecting/disconnecting of filters with high priority includes:</a:t>
            </a:r>
          </a:p>
          <a:p>
            <a:pPr algn="just">
              <a:spcBef>
                <a:spcPts val="0"/>
              </a:spcBef>
              <a:spcAft>
                <a:spcPts val="0"/>
              </a:spcAft>
              <a:buFont typeface="Wingdings" panose="05000000000000000000" pitchFamily="2" charset="2"/>
              <a:buChar char="Ø"/>
            </a:pPr>
            <a:r>
              <a:rPr lang="en-US" sz="2000" dirty="0"/>
              <a:t>Over voltage control </a:t>
            </a:r>
          </a:p>
          <a:p>
            <a:pPr algn="just">
              <a:spcBef>
                <a:spcPts val="0"/>
              </a:spcBef>
              <a:spcAft>
                <a:spcPts val="0"/>
              </a:spcAft>
              <a:buFont typeface="Wingdings" panose="05000000000000000000" pitchFamily="2" charset="2"/>
              <a:buChar char="Ø"/>
            </a:pPr>
            <a:r>
              <a:rPr lang="en-US" sz="2000" dirty="0"/>
              <a:t>Abs Min Filter </a:t>
            </a:r>
          </a:p>
          <a:p>
            <a:pPr algn="just">
              <a:spcBef>
                <a:spcPts val="0"/>
              </a:spcBef>
              <a:spcAft>
                <a:spcPts val="0"/>
              </a:spcAft>
              <a:buFont typeface="Wingdings" panose="05000000000000000000" pitchFamily="2" charset="2"/>
              <a:buChar char="Ø"/>
            </a:pPr>
            <a:r>
              <a:rPr lang="en-US" sz="2000" dirty="0" err="1"/>
              <a:t>Umax</a:t>
            </a:r>
            <a:endParaRPr lang="en-US" sz="2000" dirty="0"/>
          </a:p>
          <a:p>
            <a:pPr algn="just">
              <a:spcBef>
                <a:spcPts val="0"/>
              </a:spcBef>
              <a:spcAft>
                <a:spcPts val="0"/>
              </a:spcAft>
              <a:buFont typeface="Wingdings" panose="05000000000000000000" pitchFamily="2" charset="2"/>
              <a:buChar char="Ø"/>
            </a:pPr>
            <a:r>
              <a:rPr lang="en-US" sz="2000" dirty="0" err="1"/>
              <a:t>Qmax</a:t>
            </a:r>
            <a:endParaRPr lang="en-US" sz="2000" dirty="0"/>
          </a:p>
        </p:txBody>
      </p:sp>
    </p:spTree>
    <p:extLst>
      <p:ext uri="{BB962C8B-B14F-4D97-AF65-F5344CB8AC3E}">
        <p14:creationId xmlns:p14="http://schemas.microsoft.com/office/powerpoint/2010/main" val="7879823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F58864-01E1-4747-A1C2-AF7C430434A2}"/>
              </a:ext>
            </a:extLst>
          </p:cNvPr>
          <p:cNvSpPr>
            <a:spLocks noGrp="1"/>
          </p:cNvSpPr>
          <p:nvPr>
            <p:ph idx="1"/>
          </p:nvPr>
        </p:nvSpPr>
        <p:spPr>
          <a:xfrm>
            <a:off x="807352" y="332500"/>
            <a:ext cx="10111562" cy="5970645"/>
          </a:xfrm>
        </p:spPr>
        <p:txBody>
          <a:bodyPr>
            <a:normAutofit lnSpcReduction="10000"/>
          </a:bodyPr>
          <a:lstStyle/>
          <a:p>
            <a:pPr marL="0" indent="0" algn="ctr">
              <a:buNone/>
            </a:pPr>
            <a:r>
              <a:rPr lang="en-GB" sz="3200" b="1" dirty="0">
                <a:cs typeface="Times New Roman" panose="02020603050405020304" pitchFamily="18" charset="0"/>
              </a:rPr>
              <a:t>Control Modes</a:t>
            </a:r>
          </a:p>
          <a:p>
            <a:pPr marL="0" indent="0" algn="just">
              <a:buNone/>
            </a:pPr>
            <a:endParaRPr lang="en-GB" sz="3200" b="1" dirty="0">
              <a:cs typeface="Times New Roman" panose="02020603050405020304" pitchFamily="18" charset="0"/>
            </a:endParaRPr>
          </a:p>
          <a:p>
            <a:pPr marL="0" indent="0" algn="just">
              <a:buNone/>
            </a:pPr>
            <a:r>
              <a:rPr lang="en-GB" dirty="0">
                <a:cs typeface="Times New Roman" panose="02020603050405020304" pitchFamily="18" charset="0"/>
              </a:rPr>
              <a:t>There are four control modes for QPC including on mode, manual mode, automatic mode and off mode.</a:t>
            </a:r>
          </a:p>
          <a:p>
            <a:pPr marL="0" indent="0" algn="just">
              <a:buNone/>
            </a:pPr>
            <a:r>
              <a:rPr lang="en-GB" u="sng" dirty="0">
                <a:cs typeface="Times New Roman" panose="02020603050405020304" pitchFamily="18" charset="0"/>
              </a:rPr>
              <a:t>3. Automatic mode:</a:t>
            </a:r>
          </a:p>
          <a:p>
            <a:pPr algn="just"/>
            <a:r>
              <a:rPr lang="en-GB" dirty="0">
                <a:cs typeface="Times New Roman" panose="02020603050405020304" pitchFamily="18" charset="0"/>
              </a:rPr>
              <a:t>Operator set the relevant reference value</a:t>
            </a:r>
          </a:p>
          <a:p>
            <a:pPr algn="just"/>
            <a:r>
              <a:rPr lang="en-GB" dirty="0">
                <a:cs typeface="Times New Roman" panose="02020603050405020304" pitchFamily="18" charset="0"/>
              </a:rPr>
              <a:t>Connecting and disconnecting of filters is automatically completed by QPC</a:t>
            </a:r>
          </a:p>
          <a:p>
            <a:pPr marL="0" indent="0" algn="just">
              <a:buNone/>
            </a:pPr>
            <a:r>
              <a:rPr lang="en-GB" b="1" u="sng" dirty="0">
                <a:cs typeface="Times New Roman" panose="02020603050405020304" pitchFamily="18" charset="0"/>
              </a:rPr>
              <a:t>4</a:t>
            </a:r>
            <a:r>
              <a:rPr lang="en-GB" u="sng" dirty="0">
                <a:cs typeface="Times New Roman" panose="02020603050405020304" pitchFamily="18" charset="0"/>
              </a:rPr>
              <a:t>. Off Mode</a:t>
            </a:r>
          </a:p>
          <a:p>
            <a:pPr algn="just"/>
            <a:r>
              <a:rPr lang="en-GB" dirty="0">
                <a:cs typeface="Times New Roman" panose="02020603050405020304" pitchFamily="18" charset="0"/>
              </a:rPr>
              <a:t>This mode can be manually selected</a:t>
            </a:r>
          </a:p>
          <a:p>
            <a:pPr algn="just"/>
            <a:r>
              <a:rPr lang="en-GB" dirty="0">
                <a:cs typeface="Times New Roman" panose="02020603050405020304" pitchFamily="18" charset="0"/>
              </a:rPr>
              <a:t>Automatic performance operation of QPC is locked</a:t>
            </a:r>
          </a:p>
          <a:p>
            <a:pPr algn="just"/>
            <a:r>
              <a:rPr lang="en-GB" dirty="0">
                <a:cs typeface="Times New Roman" panose="02020603050405020304" pitchFamily="18" charset="0"/>
              </a:rPr>
              <a:t>Operator can perform connecting/disconnecting operation manually</a:t>
            </a:r>
          </a:p>
          <a:p>
            <a:pPr algn="just">
              <a:buFont typeface="Wingdings" panose="05000000000000000000" pitchFamily="2" charset="2"/>
              <a:buChar char="q"/>
            </a:pPr>
            <a:r>
              <a:rPr lang="en-US" b="1" dirty="0">
                <a:cs typeface="Times New Roman" panose="02020603050405020304" pitchFamily="18" charset="0"/>
              </a:rPr>
              <a:t>Other Functions of QPC</a:t>
            </a:r>
          </a:p>
          <a:p>
            <a:pPr algn="just"/>
            <a:r>
              <a:rPr lang="en-US" dirty="0">
                <a:cs typeface="Times New Roman" panose="02020603050405020304" pitchFamily="18" charset="0"/>
              </a:rPr>
              <a:t>According to current operating condition and status of filters QPC can determine the number of filter to be connected or disconnected</a:t>
            </a:r>
          </a:p>
          <a:p>
            <a:pPr algn="just"/>
            <a:endParaRPr lang="en-US" dirty="0">
              <a:cs typeface="Times New Roman" panose="02020603050405020304" pitchFamily="18" charset="0"/>
            </a:endParaRPr>
          </a:p>
          <a:p>
            <a:pPr marL="0" indent="0" algn="just">
              <a:buNone/>
            </a:pPr>
            <a:endParaRPr lang="en-US" dirty="0">
              <a:cs typeface="Times New Roman" panose="02020603050405020304" pitchFamily="18" charset="0"/>
            </a:endParaRPr>
          </a:p>
          <a:p>
            <a:pPr marL="0" indent="0" algn="just">
              <a:buNone/>
            </a:pPr>
            <a:endParaRPr lang="en-US" dirty="0">
              <a:cs typeface="Times New Roman" panose="02020603050405020304" pitchFamily="18" charset="0"/>
            </a:endParaRPr>
          </a:p>
          <a:p>
            <a:pPr marL="0" indent="0" algn="just">
              <a:buNone/>
            </a:pPr>
            <a:endParaRPr lang="en-US" dirty="0">
              <a:cs typeface="Times New Roman" panose="02020603050405020304" pitchFamily="18" charset="0"/>
            </a:endParaRPr>
          </a:p>
        </p:txBody>
      </p:sp>
    </p:spTree>
    <p:extLst>
      <p:ext uri="{BB962C8B-B14F-4D97-AF65-F5344CB8AC3E}">
        <p14:creationId xmlns:p14="http://schemas.microsoft.com/office/powerpoint/2010/main" val="85566944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ECBCCB-ECFC-4277-BCB5-27911DDE9959}"/>
              </a:ext>
            </a:extLst>
          </p:cNvPr>
          <p:cNvSpPr>
            <a:spLocks noGrp="1"/>
          </p:cNvSpPr>
          <p:nvPr>
            <p:ph idx="1"/>
          </p:nvPr>
        </p:nvSpPr>
        <p:spPr>
          <a:xfrm>
            <a:off x="1201479" y="765544"/>
            <a:ext cx="9686262" cy="4933507"/>
          </a:xfrm>
        </p:spPr>
        <p:txBody>
          <a:bodyPr>
            <a:normAutofit/>
          </a:bodyPr>
          <a:lstStyle/>
          <a:p>
            <a:pPr algn="just"/>
            <a:r>
              <a:rPr lang="en-GB" dirty="0">
                <a:latin typeface="Times New Roman" panose="02020603050405020304" pitchFamily="18" charset="0"/>
                <a:cs typeface="Times New Roman" panose="02020603050405020304" pitchFamily="18" charset="0"/>
              </a:rPr>
              <a:t>Filter banks of the same type are connected in cyclic manner</a:t>
            </a:r>
          </a:p>
          <a:p>
            <a:pPr algn="just"/>
            <a:r>
              <a:rPr lang="en-GB" dirty="0">
                <a:latin typeface="Times New Roman" panose="02020603050405020304" pitchFamily="18" charset="0"/>
                <a:cs typeface="Times New Roman" panose="02020603050405020304" pitchFamily="18" charset="0"/>
              </a:rPr>
              <a:t>During power run up/back process ,the connecting and disconnecting of filters shall follow the certain sequence</a:t>
            </a:r>
          </a:p>
          <a:p>
            <a:pPr algn="just"/>
            <a:r>
              <a:rPr lang="en-GB" dirty="0">
                <a:latin typeface="Times New Roman" panose="02020603050405020304" pitchFamily="18" charset="0"/>
                <a:cs typeface="Times New Roman" panose="02020603050405020304" pitchFamily="18" charset="0"/>
              </a:rPr>
              <a:t>Replacement of filter (in result of protection action) is done according to the requirement of  abs min or min filters: if trip belong to abs min and min filter, another filter is connected with in 0.5 and 5 seconds respectively.</a:t>
            </a:r>
          </a:p>
          <a:p>
            <a:pPr algn="just"/>
            <a:r>
              <a:rPr lang="en-GB" dirty="0">
                <a:latin typeface="Times New Roman" panose="02020603050405020304" pitchFamily="18" charset="0"/>
                <a:cs typeface="Times New Roman" panose="02020603050405020304" pitchFamily="18" charset="0"/>
              </a:rPr>
              <a:t>QPC obtain the  information of AC switch yard from station control system as:</a:t>
            </a:r>
          </a:p>
          <a:p>
            <a:pPr lvl="1" algn="just"/>
            <a:r>
              <a:rPr lang="en-GB" sz="2000" dirty="0">
                <a:latin typeface="Times New Roman" panose="02020603050405020304" pitchFamily="18" charset="0"/>
                <a:cs typeface="Times New Roman" panose="02020603050405020304" pitchFamily="18" charset="0"/>
              </a:rPr>
              <a:t>Filters that have been connected</a:t>
            </a:r>
          </a:p>
          <a:p>
            <a:pPr lvl="1" algn="just"/>
            <a:r>
              <a:rPr lang="en-GB" sz="2000" dirty="0">
                <a:latin typeface="Times New Roman" panose="02020603050405020304" pitchFamily="18" charset="0"/>
                <a:cs typeface="Times New Roman" panose="02020603050405020304" pitchFamily="18" charset="0"/>
              </a:rPr>
              <a:t>Filter banks that have been disconnected</a:t>
            </a:r>
          </a:p>
          <a:p>
            <a:pPr lvl="1" algn="just"/>
            <a:r>
              <a:rPr lang="en-GB" sz="2000" dirty="0">
                <a:latin typeface="Times New Roman" panose="02020603050405020304" pitchFamily="18" charset="0"/>
                <a:cs typeface="Times New Roman" panose="02020603050405020304" pitchFamily="18" charset="0"/>
              </a:rPr>
              <a:t>Filter banks that can be connected		</a:t>
            </a:r>
          </a:p>
          <a:p>
            <a:pPr algn="just"/>
            <a:r>
              <a:rPr lang="en-US" dirty="0">
                <a:latin typeface="Times New Roman" panose="02020603050405020304" pitchFamily="18" charset="0"/>
                <a:cs typeface="Times New Roman" panose="02020603050405020304" pitchFamily="18" charset="0"/>
              </a:rPr>
              <a:t>A filter banks is considered unavailable if  it fails to response in a certain period of time </a:t>
            </a:r>
          </a:p>
          <a:p>
            <a:pPr algn="just"/>
            <a:r>
              <a:rPr lang="en-US" dirty="0">
                <a:latin typeface="Times New Roman" panose="02020603050405020304" pitchFamily="18" charset="0"/>
                <a:cs typeface="Times New Roman" panose="02020603050405020304" pitchFamily="18" charset="0"/>
              </a:rPr>
              <a:t>After disconnection of filter bank, it should be discharged for a certain period of time</a:t>
            </a:r>
          </a:p>
        </p:txBody>
      </p:sp>
    </p:spTree>
    <p:extLst>
      <p:ext uri="{BB962C8B-B14F-4D97-AF65-F5344CB8AC3E}">
        <p14:creationId xmlns:p14="http://schemas.microsoft.com/office/powerpoint/2010/main" val="26722238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8862" y="413749"/>
            <a:ext cx="10474275" cy="6186309"/>
          </a:xfrm>
          <a:prstGeom prst="rect">
            <a:avLst/>
          </a:prstGeom>
          <a:noFill/>
        </p:spPr>
        <p:txBody>
          <a:bodyPr wrap="square" rtlCol="0">
            <a:spAutoFit/>
          </a:bodyPr>
          <a:lstStyle/>
          <a:p>
            <a:pPr algn="just"/>
            <a:r>
              <a:rPr lang="en-US" b="1" dirty="0">
                <a:latin typeface="+mj-lt"/>
                <a:cs typeface="Times New Roman" panose="02020603050405020304" pitchFamily="18" charset="0"/>
              </a:rPr>
              <a:t>Anti-oscillation measures:</a:t>
            </a:r>
          </a:p>
          <a:p>
            <a:pPr algn="just"/>
            <a:endParaRPr lang="en-US" b="1" dirty="0">
              <a:latin typeface="+mj-lt"/>
              <a:cs typeface="Times New Roman" panose="02020603050405020304" pitchFamily="18" charset="0"/>
            </a:endParaRPr>
          </a:p>
          <a:p>
            <a:pPr algn="just"/>
            <a:r>
              <a:rPr lang="en-US" dirty="0">
                <a:latin typeface="+mj-lt"/>
              </a:rPr>
              <a:t> </a:t>
            </a:r>
            <a:r>
              <a:rPr lang="en-US" dirty="0">
                <a:latin typeface="+mj-lt"/>
                <a:cs typeface="Times New Roman" panose="02020603050405020304" pitchFamily="18" charset="0"/>
              </a:rPr>
              <a:t>This function measures the connecting/disconnecting time of filter. If connecting/disconnecting time exceeds a certain value, RPC automatically switches to manual control mode.</a:t>
            </a:r>
          </a:p>
          <a:p>
            <a:pPr algn="just"/>
            <a:endParaRPr lang="en-US" dirty="0">
              <a:latin typeface="+mj-lt"/>
              <a:cs typeface="Times New Roman" panose="02020603050405020304" pitchFamily="18" charset="0"/>
            </a:endParaRPr>
          </a:p>
          <a:p>
            <a:pPr algn="just"/>
            <a:r>
              <a:rPr lang="en-US" b="1" dirty="0">
                <a:latin typeface="+mj-lt"/>
                <a:cs typeface="Times New Roman" panose="02020603050405020304" pitchFamily="18" charset="0"/>
              </a:rPr>
              <a:t>Reactive power equipment:</a:t>
            </a:r>
          </a:p>
          <a:p>
            <a:pPr algn="just"/>
            <a:endParaRPr lang="en-US" b="1" dirty="0">
              <a:latin typeface="+mj-lt"/>
              <a:cs typeface="Times New Roman" panose="02020603050405020304" pitchFamily="18" charset="0"/>
            </a:endParaRPr>
          </a:p>
          <a:p>
            <a:pPr algn="just"/>
            <a:r>
              <a:rPr lang="en-US" dirty="0">
                <a:latin typeface="+mj-lt"/>
              </a:rPr>
              <a:t>Total reactive power capacity of LCS is 2480 MVAR. There are total 4 banks which is further divided into 16 sub-banks.</a:t>
            </a:r>
          </a:p>
          <a:p>
            <a:pPr algn="just"/>
            <a:r>
              <a:rPr lang="en-US" dirty="0">
                <a:latin typeface="+mj-lt"/>
              </a:rPr>
              <a:t>Alarm and Events:</a:t>
            </a:r>
          </a:p>
          <a:p>
            <a:pPr algn="just"/>
            <a:r>
              <a:rPr lang="en-US" dirty="0">
                <a:latin typeface="+mj-lt"/>
              </a:rPr>
              <a:t>Following function cause SER that are sent to SCADA:</a:t>
            </a:r>
          </a:p>
          <a:p>
            <a:pPr marL="285750" indent="-285750" algn="just">
              <a:buFont typeface="Wingdings" panose="05000000000000000000" pitchFamily="2" charset="2"/>
              <a:buChar char="Ø"/>
            </a:pPr>
            <a:r>
              <a:rPr lang="en-US" dirty="0">
                <a:latin typeface="+mj-lt"/>
              </a:rPr>
              <a:t>Selection and switching of manual/automatic control mode.</a:t>
            </a:r>
          </a:p>
          <a:p>
            <a:pPr marL="285750" indent="-285750" algn="just">
              <a:buFont typeface="Wingdings" panose="05000000000000000000" pitchFamily="2" charset="2"/>
              <a:buChar char="Ø"/>
            </a:pPr>
            <a:r>
              <a:rPr lang="en-US" dirty="0">
                <a:latin typeface="+mj-lt"/>
              </a:rPr>
              <a:t>Selection and switching of u control/Q control mode.</a:t>
            </a:r>
          </a:p>
          <a:p>
            <a:pPr marL="285750" indent="-285750" algn="just">
              <a:buFont typeface="Wingdings" panose="05000000000000000000" pitchFamily="2" charset="2"/>
              <a:buChar char="Ø"/>
            </a:pPr>
            <a:r>
              <a:rPr lang="en-US" dirty="0">
                <a:latin typeface="+mj-lt"/>
              </a:rPr>
              <a:t>Failure to satisfy the condition of Min. filter</a:t>
            </a:r>
          </a:p>
          <a:p>
            <a:pPr marL="285750" indent="-285750" algn="just">
              <a:buFont typeface="Wingdings" panose="05000000000000000000" pitchFamily="2" charset="2"/>
              <a:buChar char="Ø"/>
            </a:pPr>
            <a:r>
              <a:rPr lang="en-US" dirty="0">
                <a:latin typeface="+mj-lt"/>
              </a:rPr>
              <a:t>Oscillation due to repeated connecting/disconnecting of filter bank.</a:t>
            </a:r>
          </a:p>
          <a:p>
            <a:pPr marL="285750" indent="-285750" algn="just">
              <a:buFont typeface="Wingdings" panose="05000000000000000000" pitchFamily="2" charset="2"/>
              <a:buChar char="Ø"/>
            </a:pPr>
            <a:r>
              <a:rPr lang="en-US" dirty="0">
                <a:latin typeface="+mj-lt"/>
              </a:rPr>
              <a:t>Power drop due to failure to satisfy the condition of Abs Min Filter.</a:t>
            </a:r>
          </a:p>
          <a:p>
            <a:pPr algn="just"/>
            <a:r>
              <a:rPr lang="en-US" dirty="0">
                <a:latin typeface="+mj-lt"/>
              </a:rPr>
              <a:t>  </a:t>
            </a:r>
          </a:p>
          <a:p>
            <a:pPr algn="just"/>
            <a:r>
              <a:rPr lang="en-US" b="1" dirty="0">
                <a:latin typeface="+mj-lt"/>
                <a:cs typeface="Times New Roman" panose="02020603050405020304" pitchFamily="18" charset="0"/>
              </a:rPr>
              <a:t>Measurement of Reactive Power and AC bus voltage:</a:t>
            </a:r>
          </a:p>
          <a:p>
            <a:pPr algn="just"/>
            <a:endParaRPr lang="en-US" dirty="0">
              <a:latin typeface="+mj-lt"/>
            </a:endParaRPr>
          </a:p>
          <a:p>
            <a:pPr algn="just"/>
            <a:r>
              <a:rPr lang="en-US" dirty="0">
                <a:latin typeface="+mj-lt"/>
                <a:cs typeface="Times New Roman" panose="02020603050405020304" pitchFamily="18" charset="0"/>
              </a:rPr>
              <a:t>The reactive power of sub-bank is directly measure by measuring “Sub-bank current” and “Bank Voltage” from CT/PT. Reactive power is measured and calculated through DFU-420. </a:t>
            </a:r>
          </a:p>
        </p:txBody>
      </p:sp>
    </p:spTree>
    <p:extLst>
      <p:ext uri="{BB962C8B-B14F-4D97-AF65-F5344CB8AC3E}">
        <p14:creationId xmlns:p14="http://schemas.microsoft.com/office/powerpoint/2010/main" val="29104278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46111" y="452718"/>
            <a:ext cx="10515600" cy="1400530"/>
          </a:xfrm>
        </p:spPr>
        <p:txBody>
          <a:bodyPr/>
          <a:lstStyle/>
          <a:p>
            <a:pPr algn="ctr"/>
            <a:r>
              <a:rPr lang="en-US" sz="3200" b="1" dirty="0"/>
              <a:t>Selection and Switching of Control Position</a:t>
            </a:r>
          </a:p>
        </p:txBody>
      </p:sp>
      <p:sp>
        <p:nvSpPr>
          <p:cNvPr id="7" name="Content Placeholder 6"/>
          <p:cNvSpPr>
            <a:spLocks noGrp="1"/>
          </p:cNvSpPr>
          <p:nvPr>
            <p:ph idx="1"/>
          </p:nvPr>
        </p:nvSpPr>
        <p:spPr>
          <a:xfrm>
            <a:off x="767179" y="1239697"/>
            <a:ext cx="10515600" cy="5498454"/>
          </a:xfrm>
        </p:spPr>
        <p:txBody>
          <a:bodyPr>
            <a:noAutofit/>
          </a:bodyPr>
          <a:lstStyle/>
          <a:p>
            <a:pPr marL="0" indent="0" algn="just">
              <a:buNone/>
            </a:pPr>
            <a:r>
              <a:rPr lang="en-US" sz="1800" dirty="0"/>
              <a:t>The switching of control position of each functional group:</a:t>
            </a:r>
          </a:p>
          <a:p>
            <a:pPr marL="514350" indent="-514350" algn="just">
              <a:buFont typeface="+mj-lt"/>
              <a:buAutoNum type="arabicPeriod"/>
            </a:pPr>
            <a:r>
              <a:rPr lang="en-US" sz="1800" dirty="0"/>
              <a:t>System Level </a:t>
            </a:r>
          </a:p>
          <a:p>
            <a:pPr marL="514350" indent="-514350" algn="just">
              <a:buFont typeface="+mj-lt"/>
              <a:buAutoNum type="arabicPeriod"/>
            </a:pPr>
            <a:r>
              <a:rPr lang="en-US" sz="1800" dirty="0"/>
              <a:t>Station Level </a:t>
            </a:r>
          </a:p>
          <a:p>
            <a:pPr marL="0" indent="0" algn="just">
              <a:buNone/>
            </a:pPr>
            <a:r>
              <a:rPr lang="en-US" sz="1800" dirty="0"/>
              <a:t>is completed separately in DC station control with position status sent to pole control system.</a:t>
            </a:r>
          </a:p>
          <a:p>
            <a:pPr marL="0" indent="0" algn="just">
              <a:buNone/>
            </a:pPr>
            <a:r>
              <a:rPr lang="en-US" sz="1800" b="1" u="sng" dirty="0"/>
              <a:t>Request-release logic</a:t>
            </a:r>
            <a:r>
              <a:rPr lang="en-US" sz="1800" b="1" dirty="0"/>
              <a:t> </a:t>
            </a:r>
          </a:p>
          <a:p>
            <a:pPr algn="just"/>
            <a:r>
              <a:rPr lang="en-US" sz="1800" dirty="0"/>
              <a:t>The master control position is selected by request-release logic. Switching is executed only if a request is received from other control positions. Master control position must be released within 60 seconds, otherwise the request is considered invalid. </a:t>
            </a:r>
          </a:p>
          <a:p>
            <a:pPr algn="just"/>
            <a:r>
              <a:rPr lang="en-US" sz="1800" dirty="0"/>
              <a:t>If the request is for a remote dispatching center control position, the control position can be switched directly without release so that operators can take over control any time.</a:t>
            </a:r>
          </a:p>
          <a:p>
            <a:pPr algn="just"/>
            <a:r>
              <a:rPr lang="en-US" sz="1800" dirty="0"/>
              <a:t>In case of DC station control system LAN communication fault and communication fault between workstations at effective control positions, control positions are set to an undefined status, SER alarm of respective functional group is generated and the control can be handed over directly without release if there is a request.  </a:t>
            </a:r>
          </a:p>
        </p:txBody>
      </p:sp>
    </p:spTree>
    <p:extLst>
      <p:ext uri="{BB962C8B-B14F-4D97-AF65-F5344CB8AC3E}">
        <p14:creationId xmlns:p14="http://schemas.microsoft.com/office/powerpoint/2010/main" val="23678697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77" y="381697"/>
            <a:ext cx="10317811" cy="1400530"/>
          </a:xfrm>
        </p:spPr>
        <p:txBody>
          <a:bodyPr/>
          <a:lstStyle/>
          <a:p>
            <a:pPr algn="ctr"/>
            <a:r>
              <a:rPr lang="en-US" sz="3200" b="1" dirty="0"/>
              <a:t>Selection and switching of Control Level</a:t>
            </a:r>
          </a:p>
        </p:txBody>
      </p:sp>
      <p:sp>
        <p:nvSpPr>
          <p:cNvPr id="3" name="Content Placeholder 2"/>
          <p:cNvSpPr>
            <a:spLocks noGrp="1"/>
          </p:cNvSpPr>
          <p:nvPr>
            <p:ph idx="1"/>
          </p:nvPr>
        </p:nvSpPr>
        <p:spPr>
          <a:xfrm>
            <a:off x="770877" y="1171852"/>
            <a:ext cx="10442577" cy="5619565"/>
          </a:xfrm>
        </p:spPr>
        <p:txBody>
          <a:bodyPr>
            <a:normAutofit/>
          </a:bodyPr>
          <a:lstStyle/>
          <a:p>
            <a:pPr algn="just"/>
            <a:r>
              <a:rPr lang="en-US" sz="1800" dirty="0"/>
              <a:t>The system control level can be switched in the master control system of any station provided that:</a:t>
            </a:r>
          </a:p>
          <a:p>
            <a:pPr marL="514350" indent="-514350" algn="just">
              <a:buFont typeface="+mj-lt"/>
              <a:buAutoNum type="arabicPeriod"/>
            </a:pPr>
            <a:endParaRPr lang="en-US" sz="1800" b="1" u="sng" dirty="0"/>
          </a:p>
          <a:p>
            <a:pPr marL="514350" indent="-514350" algn="just">
              <a:buFont typeface="+mj-lt"/>
              <a:buAutoNum type="arabicPeriod"/>
            </a:pPr>
            <a:r>
              <a:rPr lang="en-US" sz="1800" b="1" u="sng" dirty="0"/>
              <a:t>DC Station Control Communication is normal:</a:t>
            </a:r>
            <a:r>
              <a:rPr lang="en-US" sz="1800" b="1" dirty="0"/>
              <a:t> </a:t>
            </a:r>
            <a:r>
              <a:rPr lang="en-US" sz="1800" dirty="0"/>
              <a:t>LAN connected to DC Station Control of other station and LAN connected to an effective system control position.</a:t>
            </a:r>
          </a:p>
          <a:p>
            <a:pPr marL="514350" indent="-514350" algn="just">
              <a:buFont typeface="+mj-lt"/>
              <a:buAutoNum type="arabicPeriod"/>
            </a:pPr>
            <a:endParaRPr lang="en-US" sz="1800" b="1" u="sng" dirty="0"/>
          </a:p>
          <a:p>
            <a:pPr marL="514350" indent="-514350" algn="just">
              <a:buFont typeface="+mj-lt"/>
              <a:buAutoNum type="arabicPeriod"/>
            </a:pPr>
            <a:r>
              <a:rPr lang="en-US" sz="1800" b="1" u="sng" dirty="0"/>
              <a:t>Pole 1/2 Control Communication is normal</a:t>
            </a:r>
            <a:r>
              <a:rPr lang="en-US" sz="1800" u="sng" dirty="0"/>
              <a:t>:</a:t>
            </a:r>
            <a:r>
              <a:rPr lang="en-US" sz="1800" dirty="0"/>
              <a:t> IFC communication connected to DC Station Control and LAN connected to an effective system control position. </a:t>
            </a:r>
          </a:p>
          <a:p>
            <a:pPr algn="just"/>
            <a:r>
              <a:rPr lang="en-US" sz="1800" dirty="0"/>
              <a:t>The DC station control receives switching orders from other station. The actual control level is sent to the pole control system for switching of settings and to the HMI system for display.</a:t>
            </a:r>
          </a:p>
          <a:p>
            <a:pPr algn="just"/>
            <a:r>
              <a:rPr lang="en-US" sz="1800" dirty="0"/>
              <a:t>Master/ Slave stations are allocated by station control software through request/ release logic. The slave station can request to act as master station at any time, but the master must release control within 60 seconds of the request for the successful transfer of master station functions.  </a:t>
            </a:r>
          </a:p>
          <a:p>
            <a:pPr algn="just"/>
            <a:endParaRPr lang="en-US" sz="1800" dirty="0"/>
          </a:p>
        </p:txBody>
      </p:sp>
    </p:spTree>
    <p:extLst>
      <p:ext uri="{BB962C8B-B14F-4D97-AF65-F5344CB8AC3E}">
        <p14:creationId xmlns:p14="http://schemas.microsoft.com/office/powerpoint/2010/main" val="33300415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B261B6-AED3-41CA-A5CB-0CB81CFBC042}"/>
              </a:ext>
            </a:extLst>
          </p:cNvPr>
          <p:cNvSpPr>
            <a:spLocks noGrp="1"/>
          </p:cNvSpPr>
          <p:nvPr>
            <p:ph type="title"/>
          </p:nvPr>
        </p:nvSpPr>
        <p:spPr>
          <a:xfrm>
            <a:off x="838200" y="452718"/>
            <a:ext cx="9404723" cy="1400530"/>
          </a:xfrm>
        </p:spPr>
        <p:txBody>
          <a:bodyPr>
            <a:normAutofit/>
          </a:bodyPr>
          <a:lstStyle/>
          <a:p>
            <a:r>
              <a:rPr lang="en-GB" sz="2400" b="1" dirty="0"/>
              <a:t>Data exchange with DC Station Control of the other Station</a:t>
            </a:r>
            <a:endParaRPr lang="en-PK" sz="2400" b="1" dirty="0"/>
          </a:p>
        </p:txBody>
      </p:sp>
      <p:sp>
        <p:nvSpPr>
          <p:cNvPr id="5" name="Content Placeholder 4">
            <a:extLst>
              <a:ext uri="{FF2B5EF4-FFF2-40B4-BE49-F238E27FC236}">
                <a16:creationId xmlns:a16="http://schemas.microsoft.com/office/drawing/2014/main" id="{21B24B5E-AC33-4F01-B3B0-CD08AA48D20E}"/>
              </a:ext>
            </a:extLst>
          </p:cNvPr>
          <p:cNvSpPr>
            <a:spLocks noGrp="1"/>
          </p:cNvSpPr>
          <p:nvPr>
            <p:ph idx="1"/>
          </p:nvPr>
        </p:nvSpPr>
        <p:spPr>
          <a:xfrm>
            <a:off x="838200" y="1253331"/>
            <a:ext cx="10515600" cy="4351338"/>
          </a:xfrm>
        </p:spPr>
        <p:txBody>
          <a:bodyPr>
            <a:normAutofit/>
          </a:bodyPr>
          <a:lstStyle/>
          <a:p>
            <a:pPr marL="0" indent="0" algn="just">
              <a:buNone/>
            </a:pPr>
            <a:r>
              <a:rPr lang="en-GB" sz="1800" dirty="0"/>
              <a:t>Data between Station is realized with LAN1 and LAN2 through LAN/WAN conversion by data router. </a:t>
            </a:r>
          </a:p>
          <a:p>
            <a:pPr marL="0" indent="0" algn="just">
              <a:buNone/>
            </a:pPr>
            <a:r>
              <a:rPr lang="en-GB" sz="1800" dirty="0"/>
              <a:t>Inter-station Communication is divided into two types </a:t>
            </a:r>
          </a:p>
          <a:p>
            <a:pPr marL="457200" indent="-457200" algn="just">
              <a:buFont typeface="+mj-lt"/>
              <a:buAutoNum type="arabicPeriod"/>
            </a:pPr>
            <a:r>
              <a:rPr lang="en-GB" sz="1800" b="1" dirty="0"/>
              <a:t>Slow type:</a:t>
            </a:r>
          </a:p>
          <a:p>
            <a:pPr marL="447675" indent="0" algn="just">
              <a:buNone/>
            </a:pPr>
            <a:r>
              <a:rPr lang="en-GB" sz="1800" dirty="0"/>
              <a:t>A slow type communication is the data transfer of pole control, operator workstation through DC station control. </a:t>
            </a:r>
          </a:p>
          <a:p>
            <a:pPr marL="457200" indent="-457200" algn="just">
              <a:buFont typeface="+mj-lt"/>
              <a:buAutoNum type="arabicPeriod" startAt="2"/>
            </a:pPr>
            <a:r>
              <a:rPr lang="en-GB" sz="1800" b="1" dirty="0"/>
              <a:t>Fast Type:</a:t>
            </a:r>
          </a:p>
          <a:p>
            <a:pPr marL="447675" indent="0" algn="just">
              <a:buNone/>
            </a:pPr>
            <a:r>
              <a:rPr lang="en-GB" sz="1800" dirty="0"/>
              <a:t>If two sets of pole control of relate station fail, a pole control ESOF signal of related station is transmitted to DC station of other station through fast interstation communication.</a:t>
            </a:r>
          </a:p>
          <a:p>
            <a:pPr marL="0" indent="0" algn="just">
              <a:buNone/>
            </a:pPr>
            <a:r>
              <a:rPr lang="en-GB" sz="1800" dirty="0"/>
              <a:t>In case of communication faults between 2 stations all the data that have been transferred to other station marked as invalid using ‘</a:t>
            </a:r>
            <a:r>
              <a:rPr lang="en-GB" sz="1800" b="1" dirty="0"/>
              <a:t>invalid bit</a:t>
            </a:r>
            <a:r>
              <a:rPr lang="en-GB" sz="1800" dirty="0"/>
              <a:t>’</a:t>
            </a:r>
          </a:p>
        </p:txBody>
      </p:sp>
      <p:sp>
        <p:nvSpPr>
          <p:cNvPr id="6" name="Title 3">
            <a:extLst>
              <a:ext uri="{FF2B5EF4-FFF2-40B4-BE49-F238E27FC236}">
                <a16:creationId xmlns:a16="http://schemas.microsoft.com/office/drawing/2014/main" id="{DE0901D0-DD8A-4F9B-A9AC-5C51D0DB8906}"/>
              </a:ext>
            </a:extLst>
          </p:cNvPr>
          <p:cNvSpPr txBox="1">
            <a:spLocks/>
          </p:cNvSpPr>
          <p:nvPr/>
        </p:nvSpPr>
        <p:spPr>
          <a:xfrm>
            <a:off x="838200" y="55901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GB" sz="1800" dirty="0">
                <a:latin typeface="+mn-lt"/>
              </a:rPr>
              <a:t>DC station control handles the events transmitted by I/O unit through fieldbus and those generated by DC station control application software. These functions are implemented in HCM3000 application software</a:t>
            </a:r>
            <a:endParaRPr lang="en-PK" sz="1800" dirty="0">
              <a:latin typeface="+mn-lt"/>
            </a:endParaRPr>
          </a:p>
        </p:txBody>
      </p:sp>
      <p:sp>
        <p:nvSpPr>
          <p:cNvPr id="7" name="TextBox 6">
            <a:extLst>
              <a:ext uri="{FF2B5EF4-FFF2-40B4-BE49-F238E27FC236}">
                <a16:creationId xmlns:a16="http://schemas.microsoft.com/office/drawing/2014/main" id="{FF45F30A-C3CA-458F-B92D-FC9DF0288690}"/>
              </a:ext>
            </a:extLst>
          </p:cNvPr>
          <p:cNvSpPr txBox="1"/>
          <p:nvPr/>
        </p:nvSpPr>
        <p:spPr>
          <a:xfrm>
            <a:off x="838200" y="5112226"/>
            <a:ext cx="6097554" cy="492443"/>
          </a:xfrm>
          <a:prstGeom prst="rect">
            <a:avLst/>
          </a:prstGeom>
          <a:noFill/>
        </p:spPr>
        <p:txBody>
          <a:bodyPr wrap="square">
            <a:spAutoFit/>
          </a:bodyPr>
          <a:lstStyle/>
          <a:p>
            <a:r>
              <a:rPr lang="en-GB" sz="2600" b="1" dirty="0">
                <a:latin typeface="+mj-lt"/>
              </a:rPr>
              <a:t>Sequence of Events Recording</a:t>
            </a:r>
          </a:p>
        </p:txBody>
      </p:sp>
    </p:spTree>
    <p:extLst>
      <p:ext uri="{BB962C8B-B14F-4D97-AF65-F5344CB8AC3E}">
        <p14:creationId xmlns:p14="http://schemas.microsoft.com/office/powerpoint/2010/main" val="19769766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344CCD-D467-417B-9D7D-FC7C6137159B}"/>
              </a:ext>
            </a:extLst>
          </p:cNvPr>
          <p:cNvSpPr txBox="1"/>
          <p:nvPr/>
        </p:nvSpPr>
        <p:spPr>
          <a:xfrm>
            <a:off x="829139" y="311080"/>
            <a:ext cx="9903963" cy="707886"/>
          </a:xfrm>
          <a:prstGeom prst="rect">
            <a:avLst/>
          </a:prstGeom>
          <a:noFill/>
        </p:spPr>
        <p:txBody>
          <a:bodyPr wrap="square">
            <a:spAutoFit/>
          </a:bodyPr>
          <a:lstStyle/>
          <a:p>
            <a:pPr marL="0" indent="0" algn="ctr">
              <a:buNone/>
            </a:pPr>
            <a:r>
              <a:rPr lang="en-PK" sz="4000" b="1" dirty="0">
                <a:latin typeface="+mj-lt"/>
              </a:rPr>
              <a:t>Monitoring Logic and System switching</a:t>
            </a:r>
          </a:p>
        </p:txBody>
      </p:sp>
      <p:sp>
        <p:nvSpPr>
          <p:cNvPr id="7" name="TextBox 6">
            <a:extLst>
              <a:ext uri="{FF2B5EF4-FFF2-40B4-BE49-F238E27FC236}">
                <a16:creationId xmlns:a16="http://schemas.microsoft.com/office/drawing/2014/main" id="{11499002-CFA0-42DA-A574-BD0D65D550D0}"/>
              </a:ext>
            </a:extLst>
          </p:cNvPr>
          <p:cNvSpPr txBox="1"/>
          <p:nvPr/>
        </p:nvSpPr>
        <p:spPr>
          <a:xfrm>
            <a:off x="829139" y="1534029"/>
            <a:ext cx="10657114" cy="4401205"/>
          </a:xfrm>
          <a:prstGeom prst="rect">
            <a:avLst/>
          </a:prstGeom>
          <a:noFill/>
        </p:spPr>
        <p:txBody>
          <a:bodyPr wrap="square">
            <a:spAutoFit/>
          </a:bodyPr>
          <a:lstStyle/>
          <a:p>
            <a:pPr marL="0" indent="0" algn="just">
              <a:buNone/>
            </a:pPr>
            <a:r>
              <a:rPr lang="en-PK" sz="2000" dirty="0"/>
              <a:t>Operation status is monitored through hardware, software &amp; background monitoring.  Hardware monitoring is to determine the fault by observing panels </a:t>
            </a:r>
            <a:r>
              <a:rPr lang="en-GB" sz="2000" dirty="0"/>
              <a:t>LED and instrument clusters. Software monitoring is to determine the cause of fault through application software from station control system. Background monitoring is to determine the fault information through background communication status, software fault, software alarm lamp status and relevant SER. </a:t>
            </a:r>
          </a:p>
          <a:p>
            <a:pPr marL="0" indent="0" algn="just">
              <a:buNone/>
            </a:pPr>
            <a:r>
              <a:rPr lang="en-GB" sz="2000" dirty="0"/>
              <a:t>DC station control system has two switching modes i.e., software switching and hardware switching. If the fault system of slave system is higher than master system through comparison of fault level of redundant systems, software switching is activated. Hardware switching is mainly a result of hardware fault of cabinet, board and fan lamp. If the switching device of master system receives a “hardware not OK” signal of the related system, then this system is marked as slave and a hard contact signal is transmitted to the switching device of redundant systems, to switch the slave system of the redundant systems to the master system. </a:t>
            </a:r>
          </a:p>
        </p:txBody>
      </p:sp>
    </p:spTree>
    <p:extLst>
      <p:ext uri="{BB962C8B-B14F-4D97-AF65-F5344CB8AC3E}">
        <p14:creationId xmlns:p14="http://schemas.microsoft.com/office/powerpoint/2010/main" val="41077617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B182-9429-4B9F-85CD-106330D09959}"/>
              </a:ext>
            </a:extLst>
          </p:cNvPr>
          <p:cNvSpPr>
            <a:spLocks noGrp="1"/>
          </p:cNvSpPr>
          <p:nvPr>
            <p:ph type="title"/>
          </p:nvPr>
        </p:nvSpPr>
        <p:spPr>
          <a:xfrm>
            <a:off x="545055" y="338622"/>
            <a:ext cx="10515600" cy="1325563"/>
          </a:xfrm>
        </p:spPr>
        <p:txBody>
          <a:bodyPr>
            <a:normAutofit/>
          </a:bodyPr>
          <a:lstStyle/>
          <a:p>
            <a:pPr algn="ctr"/>
            <a:r>
              <a:rPr lang="en-PK" sz="4000" b="1" dirty="0"/>
              <a:t>Redundancy function</a:t>
            </a:r>
          </a:p>
        </p:txBody>
      </p:sp>
      <p:sp>
        <p:nvSpPr>
          <p:cNvPr id="8" name="Content Placeholder 7">
            <a:extLst>
              <a:ext uri="{FF2B5EF4-FFF2-40B4-BE49-F238E27FC236}">
                <a16:creationId xmlns:a16="http://schemas.microsoft.com/office/drawing/2014/main" id="{4E6A3FD8-D492-5049-AAA6-4877E31CC34D}"/>
              </a:ext>
            </a:extLst>
          </p:cNvPr>
          <p:cNvSpPr>
            <a:spLocks noGrp="1"/>
          </p:cNvSpPr>
          <p:nvPr>
            <p:ph idx="1"/>
          </p:nvPr>
        </p:nvSpPr>
        <p:spPr>
          <a:xfrm>
            <a:off x="678220" y="1365388"/>
            <a:ext cx="10515600" cy="2936114"/>
          </a:xfrm>
        </p:spPr>
        <p:txBody>
          <a:bodyPr>
            <a:noAutofit/>
          </a:bodyPr>
          <a:lstStyle/>
          <a:p>
            <a:pPr marL="0" indent="0" algn="just">
              <a:buNone/>
            </a:pPr>
            <a:r>
              <a:rPr lang="en-PK" dirty="0"/>
              <a:t>The DC station control system uses HCM3000 hardware with 2 panels, 2 field bus board(with one of each act as redundant) , connected through field bus for communication with redundant local measurement and control devices DFU420. Each system has two LAN Boards for cross commuincation with HMI/RCI and control system. The two redundant control systems exchange data through IFC control bus. </a:t>
            </a:r>
          </a:p>
          <a:p>
            <a:pPr marL="0" indent="0" algn="just">
              <a:buNone/>
            </a:pPr>
            <a:r>
              <a:rPr lang="en-PK" dirty="0"/>
              <a:t>Data received from the slave system is compared with the corresponding data of the related system. If these data are consistent, it is considered valid and used to refresh the corresponding data of the related system.  </a:t>
            </a:r>
          </a:p>
          <a:p>
            <a:pPr marL="0" indent="0" algn="just">
              <a:buNone/>
            </a:pPr>
            <a:r>
              <a:rPr lang="en-PK" dirty="0"/>
              <a:t>Only the operation orders received by the master system of DC station are considered valid, and the master system of DC station control finally issues an order request to the I/O unit for control after processing these orders. The field equipment monitoring signals received and processed by the master and slave systems of DC station are considered valid and finally uploaded to LAN for processing in the HMI system. </a:t>
            </a:r>
          </a:p>
        </p:txBody>
      </p:sp>
    </p:spTree>
    <p:extLst>
      <p:ext uri="{BB962C8B-B14F-4D97-AF65-F5344CB8AC3E}">
        <p14:creationId xmlns:p14="http://schemas.microsoft.com/office/powerpoint/2010/main" val="355712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1868" y="278984"/>
            <a:ext cx="9144000" cy="761028"/>
          </a:xfrm>
        </p:spPr>
        <p:txBody>
          <a:bodyPr>
            <a:normAutofit/>
          </a:bodyPr>
          <a:lstStyle/>
          <a:p>
            <a:pPr algn="l"/>
            <a:r>
              <a:rPr lang="en-US" sz="4000" b="1" dirty="0">
                <a:latin typeface="+mn-lt"/>
              </a:rPr>
              <a:t>Description of Hardware</a:t>
            </a:r>
          </a:p>
        </p:txBody>
      </p:sp>
      <p:sp>
        <p:nvSpPr>
          <p:cNvPr id="3" name="Subtitle 2"/>
          <p:cNvSpPr>
            <a:spLocks noGrp="1"/>
          </p:cNvSpPr>
          <p:nvPr>
            <p:ph type="subTitle" idx="1"/>
          </p:nvPr>
        </p:nvSpPr>
        <p:spPr>
          <a:xfrm>
            <a:off x="1097872" y="1217565"/>
            <a:ext cx="9144000" cy="4162567"/>
          </a:xfrm>
        </p:spPr>
        <p:txBody>
          <a:bodyPr>
            <a:noAutofit/>
          </a:bodyPr>
          <a:lstStyle/>
          <a:p>
            <a:pPr marL="342900" indent="-342900" algn="l">
              <a:buFont typeface="Arial" panose="020B0604020202020204" pitchFamily="34" charset="0"/>
              <a:buChar char="•"/>
            </a:pPr>
            <a:r>
              <a:rPr lang="en-US" dirty="0">
                <a:solidFill>
                  <a:schemeClr val="tx1"/>
                </a:solidFill>
              </a:rPr>
              <a:t>It consists of station control Panel A &amp; panel B and each panel has HCM3000</a:t>
            </a:r>
          </a:p>
          <a:p>
            <a:pPr marL="342900" indent="-342900" algn="l">
              <a:buFont typeface="Arial" panose="020B0604020202020204" pitchFamily="34" charset="0"/>
              <a:buChar char="•"/>
            </a:pPr>
            <a:r>
              <a:rPr lang="en-US" dirty="0">
                <a:solidFill>
                  <a:schemeClr val="tx1"/>
                </a:solidFill>
              </a:rPr>
              <a:t>Each powered by two DC220V supplies</a:t>
            </a:r>
          </a:p>
          <a:p>
            <a:pPr marL="342900" indent="-342900" algn="l">
              <a:buFont typeface="Arial" panose="020B0604020202020204" pitchFamily="34" charset="0"/>
              <a:buChar char="•"/>
            </a:pPr>
            <a:r>
              <a:rPr lang="en-US" dirty="0">
                <a:solidFill>
                  <a:schemeClr val="tx1"/>
                </a:solidFill>
              </a:rPr>
              <a:t>DC220V/DC24V module gives DC24V for Switching logic</a:t>
            </a:r>
          </a:p>
          <a:p>
            <a:pPr marL="342900" indent="-342900" algn="l">
              <a:buFont typeface="Arial" panose="020B0604020202020204" pitchFamily="34" charset="0"/>
              <a:buChar char="•"/>
            </a:pPr>
            <a:r>
              <a:rPr lang="en-US" dirty="0">
                <a:solidFill>
                  <a:schemeClr val="tx1"/>
                </a:solidFill>
              </a:rPr>
              <a:t>In case of power supply failure RED light is there which is powered by AC220V</a:t>
            </a:r>
          </a:p>
          <a:p>
            <a:pPr marL="342900" indent="-342900" algn="l">
              <a:buFont typeface="Arial" panose="020B0604020202020204" pitchFamily="34" charset="0"/>
              <a:buChar char="•"/>
            </a:pPr>
            <a:r>
              <a:rPr lang="en-US" dirty="0">
                <a:solidFill>
                  <a:schemeClr val="tx1"/>
                </a:solidFill>
              </a:rPr>
              <a:t>HCM300 control cabinet further has 3 EPU20B CPU Boards</a:t>
            </a:r>
          </a:p>
          <a:p>
            <a:pPr marL="342900" indent="-342900" algn="l">
              <a:buFont typeface="Arial" panose="020B0604020202020204" pitchFamily="34" charset="0"/>
              <a:buChar char="•"/>
            </a:pPr>
            <a:r>
              <a:rPr lang="en-US" dirty="0">
                <a:solidFill>
                  <a:schemeClr val="tx1"/>
                </a:solidFill>
              </a:rPr>
              <a:t>Functions of 3 EPU20B are:</a:t>
            </a:r>
          </a:p>
          <a:p>
            <a:pPr marL="742950" lvl="1" indent="-285750" algn="l">
              <a:buFont typeface="Arial" panose="020B0604020202020204" pitchFamily="34" charset="0"/>
              <a:buChar char="•"/>
            </a:pPr>
            <a:r>
              <a:rPr lang="en-US" sz="2000" dirty="0">
                <a:solidFill>
                  <a:schemeClr val="tx1"/>
                </a:solidFill>
              </a:rPr>
              <a:t>first is for communication processing and Reactive power control </a:t>
            </a:r>
          </a:p>
          <a:p>
            <a:pPr marL="742950" lvl="1" indent="-285750" algn="l">
              <a:buFont typeface="Arial" panose="020B0604020202020204" pitchFamily="34" charset="0"/>
              <a:buChar char="•"/>
            </a:pPr>
            <a:r>
              <a:rPr lang="en-US" sz="2000" dirty="0">
                <a:solidFill>
                  <a:schemeClr val="tx1"/>
                </a:solidFill>
              </a:rPr>
              <a:t>Second is for DC switchyard sequence control and DC switchyard control and monitoring </a:t>
            </a:r>
          </a:p>
          <a:p>
            <a:pPr marL="742950" lvl="1" indent="-285750" algn="l">
              <a:buFont typeface="Arial" panose="020B0604020202020204" pitchFamily="34" charset="0"/>
              <a:buChar char="•"/>
            </a:pPr>
            <a:r>
              <a:rPr lang="en-US" sz="2000" dirty="0">
                <a:solidFill>
                  <a:schemeClr val="tx1"/>
                </a:solidFill>
              </a:rPr>
              <a:t>third is for external fault recorder communication      </a:t>
            </a:r>
          </a:p>
          <a:p>
            <a:pPr marL="342900" indent="-342900" algn="l">
              <a:buFont typeface="Arial" panose="020B0604020202020204" pitchFamily="34" charset="0"/>
              <a:buChar char="•"/>
            </a:pPr>
            <a:r>
              <a:rPr lang="en-US" dirty="0">
                <a:solidFill>
                  <a:schemeClr val="tx1"/>
                </a:solidFill>
              </a:rPr>
              <a:t>ViGET is software used in HCM3000    </a:t>
            </a:r>
          </a:p>
        </p:txBody>
      </p:sp>
    </p:spTree>
    <p:extLst>
      <p:ext uri="{BB962C8B-B14F-4D97-AF65-F5344CB8AC3E}">
        <p14:creationId xmlns:p14="http://schemas.microsoft.com/office/powerpoint/2010/main" val="8508212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4B75-0B12-4F0B-A263-39248CF23069}"/>
              </a:ext>
            </a:extLst>
          </p:cNvPr>
          <p:cNvSpPr>
            <a:spLocks noGrp="1"/>
          </p:cNvSpPr>
          <p:nvPr>
            <p:ph type="title"/>
          </p:nvPr>
        </p:nvSpPr>
        <p:spPr>
          <a:xfrm>
            <a:off x="2705730" y="470473"/>
            <a:ext cx="9404723" cy="1400530"/>
          </a:xfrm>
        </p:spPr>
        <p:txBody>
          <a:bodyPr/>
          <a:lstStyle/>
          <a:p>
            <a:r>
              <a:rPr lang="en-US" b="1" dirty="0"/>
              <a:t>Software Description</a:t>
            </a:r>
            <a:endParaRPr lang="en-001" b="1" dirty="0"/>
          </a:p>
        </p:txBody>
      </p:sp>
      <p:sp>
        <p:nvSpPr>
          <p:cNvPr id="3" name="Content Placeholder 2">
            <a:extLst>
              <a:ext uri="{FF2B5EF4-FFF2-40B4-BE49-F238E27FC236}">
                <a16:creationId xmlns:a16="http://schemas.microsoft.com/office/drawing/2014/main" id="{5DAFF6E7-ED6C-4A0A-B621-733CD7FC865F}"/>
              </a:ext>
            </a:extLst>
          </p:cNvPr>
          <p:cNvSpPr>
            <a:spLocks noGrp="1"/>
          </p:cNvSpPr>
          <p:nvPr>
            <p:ph idx="1"/>
          </p:nvPr>
        </p:nvSpPr>
        <p:spPr/>
        <p:txBody>
          <a:bodyPr/>
          <a:lstStyle/>
          <a:p>
            <a:r>
              <a:rPr lang="en-US" dirty="0"/>
              <a:t>The DC station control system is realized by the system of the control and protection platform HCM 3000</a:t>
            </a:r>
          </a:p>
          <a:p>
            <a:r>
              <a:rPr lang="en-US" dirty="0"/>
              <a:t>The development tool that is used is </a:t>
            </a:r>
            <a:r>
              <a:rPr lang="en-US" dirty="0" err="1"/>
              <a:t>ViGET</a:t>
            </a:r>
            <a:endParaRPr lang="en-US" dirty="0"/>
          </a:p>
          <a:p>
            <a:r>
              <a:rPr lang="en-US" dirty="0" err="1"/>
              <a:t>ViGET</a:t>
            </a:r>
            <a:r>
              <a:rPr lang="en-US" dirty="0"/>
              <a:t> is an integrated graphical application software development environment can it provide the functions such as engineering project creation, hardware configuration, communication configuration, graphical CFC program editing and downloading and on-line debugging. </a:t>
            </a:r>
          </a:p>
          <a:p>
            <a:r>
              <a:rPr lang="en-US" dirty="0"/>
              <a:t>DC station control system has different function packs. These functions are processed by two processors CPU1 and CPU2</a:t>
            </a:r>
            <a:endParaRPr lang="en-001" dirty="0"/>
          </a:p>
        </p:txBody>
      </p:sp>
    </p:spTree>
    <p:extLst>
      <p:ext uri="{BB962C8B-B14F-4D97-AF65-F5344CB8AC3E}">
        <p14:creationId xmlns:p14="http://schemas.microsoft.com/office/powerpoint/2010/main" val="31537077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6"/>
            <a:ext cx="10515600" cy="567030"/>
          </a:xfrm>
        </p:spPr>
        <p:txBody>
          <a:bodyPr>
            <a:noAutofit/>
          </a:bodyPr>
          <a:lstStyle/>
          <a:p>
            <a:pPr algn="ctr"/>
            <a:r>
              <a:rPr lang="en-US" sz="4000" b="1" dirty="0"/>
              <a:t>Interface</a:t>
            </a:r>
          </a:p>
        </p:txBody>
      </p:sp>
      <p:sp>
        <p:nvSpPr>
          <p:cNvPr id="7" name="Content Placeholder 6"/>
          <p:cNvSpPr>
            <a:spLocks noGrp="1"/>
          </p:cNvSpPr>
          <p:nvPr>
            <p:ph idx="1"/>
          </p:nvPr>
        </p:nvSpPr>
        <p:spPr>
          <a:xfrm>
            <a:off x="838200" y="932156"/>
            <a:ext cx="10515600" cy="5524061"/>
          </a:xfrm>
        </p:spPr>
        <p:txBody>
          <a:bodyPr>
            <a:normAutofit fontScale="92500" lnSpcReduction="10000"/>
          </a:bodyPr>
          <a:lstStyle/>
          <a:p>
            <a:pPr marL="0" indent="0" algn="just">
              <a:buNone/>
            </a:pPr>
            <a:endParaRPr lang="en-US" sz="2200" dirty="0"/>
          </a:p>
          <a:p>
            <a:pPr marL="0" indent="0" algn="just">
              <a:buNone/>
            </a:pPr>
            <a:r>
              <a:rPr lang="en-US" sz="2200" dirty="0"/>
              <a:t>Terminal connection mode is used in the design of interfaces with DC system control</a:t>
            </a:r>
          </a:p>
          <a:p>
            <a:pPr marL="0" indent="0" algn="just">
              <a:buNone/>
            </a:pPr>
            <a:r>
              <a:rPr lang="en-US" sz="2200" dirty="0"/>
              <a:t>Two kind of terminals:</a:t>
            </a:r>
          </a:p>
          <a:p>
            <a:pPr algn="just"/>
            <a:r>
              <a:rPr lang="en-US" sz="2200" dirty="0"/>
              <a:t>Power Supply Terminal</a:t>
            </a:r>
          </a:p>
          <a:p>
            <a:pPr algn="just"/>
            <a:r>
              <a:rPr lang="en-US" sz="2200" dirty="0"/>
              <a:t>Control Circuit Terminal</a:t>
            </a:r>
          </a:p>
          <a:p>
            <a:pPr marL="0" indent="0" algn="just">
              <a:buNone/>
            </a:pPr>
            <a:endParaRPr lang="en-US" sz="2200" dirty="0"/>
          </a:p>
          <a:p>
            <a:pPr marL="0" indent="0" algn="just">
              <a:buNone/>
            </a:pPr>
            <a:r>
              <a:rPr lang="en-US" sz="2200" dirty="0"/>
              <a:t>Special plug connectors are used for the LAN and fieldbus connections.</a:t>
            </a:r>
          </a:p>
          <a:p>
            <a:pPr marL="0" indent="0" algn="just">
              <a:buNone/>
            </a:pPr>
            <a:endParaRPr lang="en-US" sz="2200" dirty="0"/>
          </a:p>
          <a:p>
            <a:pPr marL="0" indent="0" algn="just">
              <a:buNone/>
            </a:pPr>
            <a:r>
              <a:rPr lang="en-US" sz="2200" b="1" dirty="0"/>
              <a:t>LAN: </a:t>
            </a:r>
            <a:r>
              <a:rPr lang="en-US" sz="2200" dirty="0"/>
              <a:t>Two way communication between DC station control system and DC system is done with the interface in LAN and passive contact form.</a:t>
            </a:r>
          </a:p>
          <a:p>
            <a:pPr marL="0" indent="0" algn="just">
              <a:buNone/>
            </a:pPr>
            <a:endParaRPr lang="en-US" sz="2200" dirty="0"/>
          </a:p>
          <a:p>
            <a:pPr marL="0" indent="0" algn="just">
              <a:buNone/>
            </a:pPr>
            <a:r>
              <a:rPr lang="en-US" sz="2200" b="1" dirty="0"/>
              <a:t>Clock Synchronization: </a:t>
            </a:r>
            <a:r>
              <a:rPr lang="en-US" sz="2200" dirty="0"/>
              <a:t>Both Matiari and Lahore converter stations are equipped with dual station master clock systems with GPS. Protection and control system of the station synchronizes with the clock system in form of B code.  </a:t>
            </a:r>
            <a:r>
              <a:rPr lang="en-US" sz="2200" b="1" dirty="0"/>
              <a:t> </a:t>
            </a:r>
          </a:p>
        </p:txBody>
      </p:sp>
    </p:spTree>
    <p:extLst>
      <p:ext uri="{BB962C8B-B14F-4D97-AF65-F5344CB8AC3E}">
        <p14:creationId xmlns:p14="http://schemas.microsoft.com/office/powerpoint/2010/main" val="6809658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6"/>
            <a:ext cx="10515600" cy="691318"/>
          </a:xfrm>
        </p:spPr>
        <p:txBody>
          <a:bodyPr>
            <a:normAutofit/>
          </a:bodyPr>
          <a:lstStyle/>
          <a:p>
            <a:pPr algn="ctr"/>
            <a:r>
              <a:rPr lang="en-US" sz="3600" b="1" dirty="0"/>
              <a:t>Interface with safety stability system</a:t>
            </a:r>
          </a:p>
        </p:txBody>
      </p:sp>
      <p:sp>
        <p:nvSpPr>
          <p:cNvPr id="7" name="Content Placeholder 6"/>
          <p:cNvSpPr>
            <a:spLocks noGrp="1"/>
          </p:cNvSpPr>
          <p:nvPr>
            <p:ph idx="1"/>
          </p:nvPr>
        </p:nvSpPr>
        <p:spPr>
          <a:xfrm>
            <a:off x="838200" y="1322774"/>
            <a:ext cx="10515600" cy="5399773"/>
          </a:xfrm>
        </p:spPr>
        <p:txBody>
          <a:bodyPr>
            <a:normAutofit fontScale="92500" lnSpcReduction="10000"/>
          </a:bodyPr>
          <a:lstStyle/>
          <a:p>
            <a:pPr marL="0" indent="0" algn="just">
              <a:buNone/>
            </a:pPr>
            <a:r>
              <a:rPr lang="en-US" sz="2200" dirty="0"/>
              <a:t>Safety stability system regulates the DC system power by means of continuous analog monitoring. </a:t>
            </a:r>
          </a:p>
          <a:p>
            <a:pPr marL="0" indent="0" algn="just">
              <a:buNone/>
            </a:pPr>
            <a:r>
              <a:rPr lang="en-US" sz="2200" dirty="0"/>
              <a:t>This system output following signals to the DC station Control: </a:t>
            </a:r>
          </a:p>
          <a:p>
            <a:pPr algn="just"/>
            <a:r>
              <a:rPr lang="en-US" sz="2200" dirty="0"/>
              <a:t>Power Run Up</a:t>
            </a:r>
          </a:p>
          <a:p>
            <a:pPr algn="just"/>
            <a:r>
              <a:rPr lang="en-US" sz="2200" dirty="0"/>
              <a:t>Power Run Back</a:t>
            </a:r>
          </a:p>
          <a:p>
            <a:pPr algn="just"/>
            <a:r>
              <a:rPr lang="en-US" sz="2200" dirty="0"/>
              <a:t>Blocking DC Signals</a:t>
            </a:r>
          </a:p>
          <a:p>
            <a:pPr marL="0" indent="0" algn="just">
              <a:buNone/>
            </a:pPr>
            <a:r>
              <a:rPr lang="en-US" sz="2200" dirty="0"/>
              <a:t>While DC system output following signals to the safety stability system:</a:t>
            </a:r>
          </a:p>
          <a:p>
            <a:pPr algn="just"/>
            <a:r>
              <a:rPr lang="en-US" sz="2200" dirty="0"/>
              <a:t>Operating status of pole control</a:t>
            </a:r>
          </a:p>
          <a:p>
            <a:pPr lvl="1" algn="just"/>
            <a:r>
              <a:rPr lang="en-US" sz="1800" dirty="0" err="1"/>
              <a:t>Bipole</a:t>
            </a:r>
            <a:r>
              <a:rPr lang="en-US" sz="1800" dirty="0"/>
              <a:t> power mode</a:t>
            </a:r>
          </a:p>
          <a:p>
            <a:pPr lvl="1" algn="just"/>
            <a:r>
              <a:rPr lang="en-US" sz="1800" dirty="0"/>
              <a:t>Monopolar power mode</a:t>
            </a:r>
          </a:p>
          <a:p>
            <a:pPr algn="just"/>
            <a:r>
              <a:rPr lang="en-US" sz="2200" dirty="0"/>
              <a:t>Abnormal Trip Signals of Double Poles</a:t>
            </a:r>
          </a:p>
          <a:p>
            <a:pPr marL="0" indent="0" algn="just">
              <a:buNone/>
            </a:pPr>
            <a:r>
              <a:rPr lang="en-US" sz="2200" b="1" dirty="0"/>
              <a:t>Diagnose Interface: </a:t>
            </a:r>
            <a:r>
              <a:rPr lang="en-US" sz="2200" dirty="0"/>
              <a:t>LAN ports on each CPU board can be used as program diagnosis ports. Online diagnostic debugging can be done by setting IP address in the program and downloading the program into the concerned CPU board.</a:t>
            </a:r>
            <a:endParaRPr lang="en-US" sz="2200" b="1" dirty="0"/>
          </a:p>
        </p:txBody>
      </p:sp>
    </p:spTree>
    <p:extLst>
      <p:ext uri="{BB962C8B-B14F-4D97-AF65-F5344CB8AC3E}">
        <p14:creationId xmlns:p14="http://schemas.microsoft.com/office/powerpoint/2010/main" val="24234601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55888-2925-4546-9734-6AFC2F37FE7D}"/>
              </a:ext>
            </a:extLst>
          </p:cNvPr>
          <p:cNvSpPr>
            <a:spLocks noGrp="1"/>
          </p:cNvSpPr>
          <p:nvPr>
            <p:ph type="title"/>
          </p:nvPr>
        </p:nvSpPr>
        <p:spPr>
          <a:xfrm>
            <a:off x="646111" y="452718"/>
            <a:ext cx="10300056" cy="1400530"/>
          </a:xfrm>
        </p:spPr>
        <p:txBody>
          <a:bodyPr/>
          <a:lstStyle/>
          <a:p>
            <a:r>
              <a:rPr lang="en-US" b="1" dirty="0"/>
              <a:t>Subsystem Monitoring and Indication</a:t>
            </a:r>
          </a:p>
        </p:txBody>
      </p:sp>
      <p:sp>
        <p:nvSpPr>
          <p:cNvPr id="3" name="Content Placeholder 2">
            <a:extLst>
              <a:ext uri="{FF2B5EF4-FFF2-40B4-BE49-F238E27FC236}">
                <a16:creationId xmlns:a16="http://schemas.microsoft.com/office/drawing/2014/main" id="{791BB674-42B4-4F43-95E2-9965830D1EA7}"/>
              </a:ext>
            </a:extLst>
          </p:cNvPr>
          <p:cNvSpPr>
            <a:spLocks noGrp="1"/>
          </p:cNvSpPr>
          <p:nvPr>
            <p:ph idx="1"/>
          </p:nvPr>
        </p:nvSpPr>
        <p:spPr>
          <a:xfrm>
            <a:off x="838200" y="1355108"/>
            <a:ext cx="10515600" cy="5502892"/>
          </a:xfrm>
        </p:spPr>
        <p:txBody>
          <a:bodyPr>
            <a:normAutofit/>
          </a:bodyPr>
          <a:lstStyle/>
          <a:p>
            <a:pPr marL="0" indent="0" algn="ctr">
              <a:buNone/>
            </a:pPr>
            <a:r>
              <a:rPr lang="en-US" sz="2400" u="sng" dirty="0"/>
              <a:t>Hardware Monitoring function</a:t>
            </a:r>
          </a:p>
          <a:p>
            <a:r>
              <a:rPr lang="en-US" sz="2000" dirty="0"/>
              <a:t>Power Supply Monitoring:</a:t>
            </a:r>
          </a:p>
          <a:p>
            <a:pPr marL="0" indent="0">
              <a:buNone/>
            </a:pPr>
            <a:r>
              <a:rPr lang="en-US" sz="1600" dirty="0"/>
              <a:t>	In case of Power failure, the red alarm lamp on the top of the cubicle is on.</a:t>
            </a:r>
          </a:p>
          <a:p>
            <a:r>
              <a:rPr lang="en-US" sz="2000" dirty="0"/>
              <a:t>Host Hardware Fault Monitoring:</a:t>
            </a:r>
          </a:p>
          <a:p>
            <a:pPr marL="0" indent="0">
              <a:buNone/>
            </a:pPr>
            <a:r>
              <a:rPr lang="en-US" sz="2000" dirty="0"/>
              <a:t>	</a:t>
            </a:r>
            <a:r>
              <a:rPr lang="en-US" sz="1600" dirty="0"/>
              <a:t>There is an LED indicator lamp on the host board to indicate fault diagnosis of the board.</a:t>
            </a:r>
          </a:p>
          <a:p>
            <a:pPr marL="0" indent="0">
              <a:buNone/>
            </a:pPr>
            <a:r>
              <a:rPr lang="en-US" sz="1600" dirty="0"/>
              <a:t>	1. Self-test and monitoring of ECM10A Board:</a:t>
            </a:r>
          </a:p>
          <a:p>
            <a:pPr marL="0" indent="0">
              <a:buNone/>
            </a:pPr>
            <a:r>
              <a:rPr lang="en-US" sz="1600" dirty="0"/>
              <a:t>		In the front of Panel there are 6 Interfaces (X1 - X6) and 6 LED Indicator Lamps (H1 – H6).</a:t>
            </a:r>
          </a:p>
          <a:p>
            <a:pPr marL="0" indent="0">
              <a:buNone/>
            </a:pPr>
            <a:r>
              <a:rPr lang="en-US" sz="1600" dirty="0"/>
              <a:t>		Operating and Fault Status = H1 and H2</a:t>
            </a:r>
          </a:p>
          <a:p>
            <a:pPr marL="0" indent="0">
              <a:buNone/>
            </a:pPr>
            <a:r>
              <a:rPr lang="en-US" sz="1600" dirty="0"/>
              <a:t>		Operating status of two PROFIBUS DP Interfaces = H3 and H4</a:t>
            </a:r>
          </a:p>
          <a:p>
            <a:pPr marL="0" indent="0">
              <a:buNone/>
            </a:pPr>
            <a:r>
              <a:rPr lang="en-US" sz="1600" dirty="0"/>
              <a:t>		Operating Status of two CAN Interfaces = H5 and H6</a:t>
            </a:r>
          </a:p>
          <a:p>
            <a:pPr marL="0" indent="0">
              <a:buNone/>
            </a:pPr>
            <a:r>
              <a:rPr lang="en-US" sz="1600" dirty="0"/>
              <a:t>	2. Self-test and monitoring of ENT10B Board	:</a:t>
            </a:r>
          </a:p>
          <a:p>
            <a:pPr marL="0" indent="0">
              <a:buNone/>
            </a:pPr>
            <a:r>
              <a:rPr lang="en-US" sz="1600" dirty="0"/>
              <a:t>		In the front of Panel there are 4 Interfaces (X2 – X5) and 6 LED indicator Lamps (H1-H6)</a:t>
            </a:r>
          </a:p>
          <a:p>
            <a:pPr marL="0" indent="0">
              <a:buNone/>
            </a:pPr>
            <a:r>
              <a:rPr lang="en-US" sz="1600" dirty="0"/>
              <a:t>		 Operating and Fault Status = H1 and H2</a:t>
            </a:r>
          </a:p>
          <a:p>
            <a:pPr marL="0" indent="0">
              <a:buNone/>
            </a:pPr>
            <a:r>
              <a:rPr lang="en-US" sz="1600" dirty="0"/>
              <a:t>		 Operating Status of four Ethernet Interfaces = H3,H4,H5 and H6</a:t>
            </a:r>
          </a:p>
          <a:p>
            <a:pPr marL="0" indent="0">
              <a:buNone/>
            </a:pPr>
            <a:endParaRPr lang="en-US" sz="1200" dirty="0"/>
          </a:p>
        </p:txBody>
      </p:sp>
    </p:spTree>
    <p:extLst>
      <p:ext uri="{BB962C8B-B14F-4D97-AF65-F5344CB8AC3E}">
        <p14:creationId xmlns:p14="http://schemas.microsoft.com/office/powerpoint/2010/main" val="30861444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F87BE-BD3E-4C66-ABD3-9F0C354CD84F}"/>
              </a:ext>
            </a:extLst>
          </p:cNvPr>
          <p:cNvSpPr>
            <a:spLocks noGrp="1"/>
          </p:cNvSpPr>
          <p:nvPr>
            <p:ph type="title"/>
          </p:nvPr>
        </p:nvSpPr>
        <p:spPr/>
        <p:txBody>
          <a:bodyPr/>
          <a:lstStyle/>
          <a:p>
            <a:r>
              <a:rPr lang="en-US" sz="3600" b="1" dirty="0"/>
              <a:t>Subsystem Monitoring and Indication</a:t>
            </a:r>
          </a:p>
        </p:txBody>
      </p:sp>
      <p:sp>
        <p:nvSpPr>
          <p:cNvPr id="3" name="Content Placeholder 2">
            <a:extLst>
              <a:ext uri="{FF2B5EF4-FFF2-40B4-BE49-F238E27FC236}">
                <a16:creationId xmlns:a16="http://schemas.microsoft.com/office/drawing/2014/main" id="{2361CEE5-E40C-4C85-9D84-88BE1A0BFA3B}"/>
              </a:ext>
            </a:extLst>
          </p:cNvPr>
          <p:cNvSpPr>
            <a:spLocks noGrp="1"/>
          </p:cNvSpPr>
          <p:nvPr>
            <p:ph idx="1"/>
          </p:nvPr>
        </p:nvSpPr>
        <p:spPr>
          <a:xfrm>
            <a:off x="838200" y="1825625"/>
            <a:ext cx="10515600" cy="4486398"/>
          </a:xfrm>
        </p:spPr>
        <p:txBody>
          <a:bodyPr>
            <a:normAutofit lnSpcReduction="10000"/>
          </a:bodyPr>
          <a:lstStyle/>
          <a:p>
            <a:pPr marL="0" indent="0">
              <a:buNone/>
            </a:pPr>
            <a:r>
              <a:rPr lang="en-US" sz="1800" dirty="0"/>
              <a:t>	3. Self-test and monitoring of ESP10C Board:</a:t>
            </a:r>
          </a:p>
          <a:p>
            <a:pPr marL="0" indent="0">
              <a:buNone/>
            </a:pPr>
            <a:r>
              <a:rPr lang="en-US" sz="1800" dirty="0"/>
              <a:t>		This board performs the following functions:</a:t>
            </a:r>
          </a:p>
          <a:p>
            <a:pPr marL="0" indent="0">
              <a:buNone/>
            </a:pPr>
            <a:r>
              <a:rPr lang="en-US" sz="1800" dirty="0"/>
              <a:t>			</a:t>
            </a:r>
            <a:r>
              <a:rPr lang="en-US" sz="1800" dirty="0" err="1"/>
              <a:t>i</a:t>
            </a:r>
            <a:r>
              <a:rPr lang="en-US" sz="1800" dirty="0"/>
              <a:t>. Fault Diagnosis</a:t>
            </a:r>
          </a:p>
          <a:p>
            <a:pPr marL="0" indent="0">
              <a:buNone/>
            </a:pPr>
            <a:r>
              <a:rPr lang="en-US" sz="1800" dirty="0"/>
              <a:t>			ii. Fault Information Collection</a:t>
            </a:r>
          </a:p>
          <a:p>
            <a:pPr marL="0" indent="0">
              <a:buNone/>
            </a:pPr>
            <a:r>
              <a:rPr lang="en-US" sz="1800" dirty="0"/>
              <a:t>			iii. LED Display of Fault Content</a:t>
            </a:r>
          </a:p>
          <a:p>
            <a:pPr marL="0" indent="0">
              <a:buNone/>
            </a:pPr>
            <a:r>
              <a:rPr lang="en-US" sz="1800" dirty="0"/>
              <a:t>		Self test error of Channel 9 during initialization will cause LED A to display.</a:t>
            </a:r>
          </a:p>
          <a:p>
            <a:pPr marL="0" indent="0">
              <a:buNone/>
            </a:pPr>
            <a:r>
              <a:rPr lang="en-US" sz="1800" dirty="0"/>
              <a:t>		Error in reading calibration will cause LED C to display.</a:t>
            </a:r>
          </a:p>
          <a:p>
            <a:pPr marL="0" indent="0">
              <a:buNone/>
            </a:pPr>
            <a:r>
              <a:rPr lang="en-US" sz="1800" dirty="0"/>
              <a:t>		AD self test status error will display No LED.</a:t>
            </a:r>
          </a:p>
          <a:p>
            <a:pPr marL="0" indent="0">
              <a:buNone/>
            </a:pPr>
            <a:r>
              <a:rPr lang="en-US" sz="1800" dirty="0"/>
              <a:t>		Self test error occurring for three consecutive times will cause LED E to display. </a:t>
            </a:r>
          </a:p>
          <a:p>
            <a:pPr marL="0" indent="0">
              <a:buNone/>
            </a:pPr>
            <a:r>
              <a:rPr lang="en-US" sz="1800" dirty="0"/>
              <a:t>		FPGA Loading failure of ESP will cause LED F to displays.</a:t>
            </a:r>
          </a:p>
          <a:p>
            <a:pPr marL="0" indent="0">
              <a:buNone/>
            </a:pPr>
            <a:r>
              <a:rPr lang="en-US" sz="1800" dirty="0"/>
              <a:t>		When CPU detects a fault above ESP, It will give alarm to OWS. When Faults A and F 		are detected, system switching is effected.</a:t>
            </a:r>
          </a:p>
          <a:p>
            <a:pPr marL="0" indent="0">
              <a:buNone/>
            </a:pPr>
            <a:endParaRPr lang="en-US" sz="1800" dirty="0"/>
          </a:p>
          <a:p>
            <a:endParaRPr lang="en-US" dirty="0"/>
          </a:p>
        </p:txBody>
      </p:sp>
    </p:spTree>
    <p:extLst>
      <p:ext uri="{BB962C8B-B14F-4D97-AF65-F5344CB8AC3E}">
        <p14:creationId xmlns:p14="http://schemas.microsoft.com/office/powerpoint/2010/main" val="26431298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1516</TotalTime>
  <Words>2405</Words>
  <Application>Microsoft Office PowerPoint</Application>
  <PresentationFormat>Widescreen</PresentationFormat>
  <Paragraphs>162</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Ion</vt:lpstr>
      <vt:lpstr>PMLTC Converter Transformer Protection</vt:lpstr>
      <vt:lpstr>LV Reactor Control Strategy at Matiari Side</vt:lpstr>
      <vt:lpstr>LV Reactor Control Strategy at Lahore Side</vt:lpstr>
      <vt:lpstr>Control Modes</vt:lpstr>
      <vt:lpstr>PowerPoint Presentation</vt:lpstr>
      <vt:lpstr>PowerPoint Presentation</vt:lpstr>
      <vt:lpstr>PowerPoint Presentation</vt:lpstr>
      <vt:lpstr>Selection and Switching of Control Position</vt:lpstr>
      <vt:lpstr>Selection and switching of Control Level</vt:lpstr>
      <vt:lpstr>Data exchange with DC Station Control of the other Station</vt:lpstr>
      <vt:lpstr>PowerPoint Presentation</vt:lpstr>
      <vt:lpstr>Redundancy function</vt:lpstr>
      <vt:lpstr>Description of Hardware</vt:lpstr>
      <vt:lpstr>Software Description</vt:lpstr>
      <vt:lpstr>Interface</vt:lpstr>
      <vt:lpstr>Interface with safety stability system</vt:lpstr>
      <vt:lpstr>Subsystem Monitoring and Indication</vt:lpstr>
      <vt:lpstr>Subsystem Monitoring and Indication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Measuring Equipments</dc:title>
  <dc:creator>Ahmad Usman Sheikh</dc:creator>
  <cp:lastModifiedBy>Unknown User</cp:lastModifiedBy>
  <cp:revision>33</cp:revision>
  <dcterms:created xsi:type="dcterms:W3CDTF">2021-01-05T04:02:25Z</dcterms:created>
  <dcterms:modified xsi:type="dcterms:W3CDTF">2021-01-21T15:20:05Z</dcterms:modified>
</cp:coreProperties>
</file>